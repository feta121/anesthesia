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notesMasterIdLst>
    <p:notesMasterId r:id="rId135"/>
  </p:notesMasterIdLst>
  <p:sldIdLst>
    <p:sldId id="256" r:id="rId2"/>
    <p:sldId id="360" r:id="rId3"/>
    <p:sldId id="336" r:id="rId4"/>
    <p:sldId id="258" r:id="rId5"/>
    <p:sldId id="344" r:id="rId6"/>
    <p:sldId id="263" r:id="rId7"/>
    <p:sldId id="261" r:id="rId8"/>
    <p:sldId id="264" r:id="rId9"/>
    <p:sldId id="265" r:id="rId10"/>
    <p:sldId id="266" r:id="rId11"/>
    <p:sldId id="267" r:id="rId12"/>
    <p:sldId id="268" r:id="rId13"/>
    <p:sldId id="345" r:id="rId14"/>
    <p:sldId id="395" r:id="rId15"/>
    <p:sldId id="271" r:id="rId16"/>
    <p:sldId id="371" r:id="rId17"/>
    <p:sldId id="372" r:id="rId18"/>
    <p:sldId id="269" r:id="rId19"/>
    <p:sldId id="273" r:id="rId20"/>
    <p:sldId id="274" r:id="rId21"/>
    <p:sldId id="348" r:id="rId22"/>
    <p:sldId id="275" r:id="rId23"/>
    <p:sldId id="346" r:id="rId24"/>
    <p:sldId id="347" r:id="rId25"/>
    <p:sldId id="281" r:id="rId26"/>
    <p:sldId id="283" r:id="rId27"/>
    <p:sldId id="349" r:id="rId28"/>
    <p:sldId id="284" r:id="rId29"/>
    <p:sldId id="367" r:id="rId30"/>
    <p:sldId id="368" r:id="rId31"/>
    <p:sldId id="396" r:id="rId32"/>
    <p:sldId id="410" r:id="rId33"/>
    <p:sldId id="411" r:id="rId34"/>
    <p:sldId id="369" r:id="rId35"/>
    <p:sldId id="370" r:id="rId36"/>
    <p:sldId id="277" r:id="rId37"/>
    <p:sldId id="285" r:id="rId38"/>
    <p:sldId id="350" r:id="rId39"/>
    <p:sldId id="276" r:id="rId40"/>
    <p:sldId id="351" r:id="rId41"/>
    <p:sldId id="270" r:id="rId42"/>
    <p:sldId id="286" r:id="rId43"/>
    <p:sldId id="417" r:id="rId44"/>
    <p:sldId id="278" r:id="rId45"/>
    <p:sldId id="279" r:id="rId46"/>
    <p:sldId id="397" r:id="rId47"/>
    <p:sldId id="287" r:id="rId48"/>
    <p:sldId id="280" r:id="rId49"/>
    <p:sldId id="352" r:id="rId50"/>
    <p:sldId id="353" r:id="rId51"/>
    <p:sldId id="288" r:id="rId52"/>
    <p:sldId id="289" r:id="rId53"/>
    <p:sldId id="378" r:id="rId54"/>
    <p:sldId id="290" r:id="rId55"/>
    <p:sldId id="291" r:id="rId56"/>
    <p:sldId id="292" r:id="rId57"/>
    <p:sldId id="293" r:id="rId58"/>
    <p:sldId id="354" r:id="rId59"/>
    <p:sldId id="418" r:id="rId60"/>
    <p:sldId id="295" r:id="rId61"/>
    <p:sldId id="297" r:id="rId62"/>
    <p:sldId id="298" r:id="rId63"/>
    <p:sldId id="355" r:id="rId64"/>
    <p:sldId id="300" r:id="rId65"/>
    <p:sldId id="302" r:id="rId66"/>
    <p:sldId id="303" r:id="rId67"/>
    <p:sldId id="304" r:id="rId68"/>
    <p:sldId id="306" r:id="rId69"/>
    <p:sldId id="307" r:id="rId70"/>
    <p:sldId id="356" r:id="rId71"/>
    <p:sldId id="385" r:id="rId72"/>
    <p:sldId id="308" r:id="rId73"/>
    <p:sldId id="309" r:id="rId74"/>
    <p:sldId id="357" r:id="rId75"/>
    <p:sldId id="311" r:id="rId76"/>
    <p:sldId id="387" r:id="rId77"/>
    <p:sldId id="321" r:id="rId78"/>
    <p:sldId id="358" r:id="rId79"/>
    <p:sldId id="312" r:id="rId80"/>
    <p:sldId id="423" r:id="rId81"/>
    <p:sldId id="388" r:id="rId82"/>
    <p:sldId id="381" r:id="rId83"/>
    <p:sldId id="382" r:id="rId84"/>
    <p:sldId id="398" r:id="rId85"/>
    <p:sldId id="383" r:id="rId86"/>
    <p:sldId id="384" r:id="rId87"/>
    <p:sldId id="389" r:id="rId88"/>
    <p:sldId id="400" r:id="rId89"/>
    <p:sldId id="390" r:id="rId90"/>
    <p:sldId id="421" r:id="rId91"/>
    <p:sldId id="420" r:id="rId92"/>
    <p:sldId id="380" r:id="rId93"/>
    <p:sldId id="359" r:id="rId94"/>
    <p:sldId id="407" r:id="rId95"/>
    <p:sldId id="322" r:id="rId96"/>
    <p:sldId id="403" r:id="rId97"/>
    <p:sldId id="404" r:id="rId98"/>
    <p:sldId id="415" r:id="rId99"/>
    <p:sldId id="430" r:id="rId100"/>
    <p:sldId id="405" r:id="rId101"/>
    <p:sldId id="408" r:id="rId102"/>
    <p:sldId id="361" r:id="rId103"/>
    <p:sldId id="323" r:id="rId104"/>
    <p:sldId id="363" r:id="rId105"/>
    <p:sldId id="413" r:id="rId106"/>
    <p:sldId id="406" r:id="rId107"/>
    <p:sldId id="364" r:id="rId108"/>
    <p:sldId id="324" r:id="rId109"/>
    <p:sldId id="326" r:id="rId110"/>
    <p:sldId id="331" r:id="rId111"/>
    <p:sldId id="431" r:id="rId112"/>
    <p:sldId id="327" r:id="rId113"/>
    <p:sldId id="328" r:id="rId114"/>
    <p:sldId id="375" r:id="rId115"/>
    <p:sldId id="376" r:id="rId116"/>
    <p:sldId id="377" r:id="rId117"/>
    <p:sldId id="333" r:id="rId118"/>
    <p:sldId id="424" r:id="rId119"/>
    <p:sldId id="334" r:id="rId120"/>
    <p:sldId id="330" r:id="rId121"/>
    <p:sldId id="339" r:id="rId122"/>
    <p:sldId id="393" r:id="rId123"/>
    <p:sldId id="425" r:id="rId124"/>
    <p:sldId id="394" r:id="rId125"/>
    <p:sldId id="340" r:id="rId126"/>
    <p:sldId id="426" r:id="rId127"/>
    <p:sldId id="341" r:id="rId128"/>
    <p:sldId id="432" r:id="rId129"/>
    <p:sldId id="427" r:id="rId130"/>
    <p:sldId id="428" r:id="rId131"/>
    <p:sldId id="416" r:id="rId132"/>
    <p:sldId id="342" r:id="rId133"/>
    <p:sldId id="343" r:id="rId1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62" autoAdjust="0"/>
  </p:normalViewPr>
  <p:slideViewPr>
    <p:cSldViewPr>
      <p:cViewPr>
        <p:scale>
          <a:sx n="70" d="100"/>
          <a:sy n="70" d="100"/>
        </p:scale>
        <p:origin x="-1160" y="136"/>
      </p:cViewPr>
      <p:guideLst>
        <p:guide orient="horz" pos="2160"/>
        <p:guide pos="2880"/>
      </p:guideLst>
    </p:cSldViewPr>
  </p:slideViewPr>
  <p:notesTextViewPr>
    <p:cViewPr>
      <p:scale>
        <a:sx n="1" d="1"/>
        <a:sy n="1" d="1"/>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DC5345E-0885-4269-9137-1EA92DF38400}" type="datetimeFigureOut">
              <a:rPr lang="en-US" smtClean="0"/>
              <a:t>1/29/2023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AB4F990-1F91-47D0-8203-9923866C6DAA}" type="slidenum">
              <a:rPr lang="en-US" smtClean="0"/>
              <a:t>‹#›</a:t>
            </a:fld>
            <a:endParaRPr lang="en-US"/>
          </a:p>
        </p:txBody>
      </p:sp>
    </p:spTree>
    <p:extLst>
      <p:ext uri="{BB962C8B-B14F-4D97-AF65-F5344CB8AC3E}">
        <p14:creationId xmlns:p14="http://schemas.microsoft.com/office/powerpoint/2010/main" val="2551328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Steroidal compounds can be </a:t>
            </a:r>
            <a:r>
              <a:rPr lang="en-US" dirty="0" err="1" smtClean="0"/>
              <a:t>vagolytic</a:t>
            </a:r>
            <a:r>
              <a:rPr lang="en-US" dirty="0" smtClean="0"/>
              <a:t>, most notably with </a:t>
            </a:r>
            <a:r>
              <a:rPr lang="en-US" dirty="0" err="1" smtClean="0"/>
              <a:t>pancuronium</a:t>
            </a:r>
            <a:r>
              <a:rPr lang="en-US" dirty="0" smtClean="0"/>
              <a:t> but</a:t>
            </a:r>
          </a:p>
          <a:p>
            <a:r>
              <a:rPr lang="en-US" dirty="0" smtClean="0"/>
              <a:t> </a:t>
            </a:r>
            <a:r>
              <a:rPr lang="en-US" dirty="0" err="1" smtClean="0"/>
              <a:t>Benzylisoquinolines</a:t>
            </a:r>
            <a:r>
              <a:rPr lang="en-US" dirty="0" smtClean="0"/>
              <a:t> tend to release histamine.</a:t>
            </a:r>
          </a:p>
          <a:p>
            <a:r>
              <a:rPr lang="en-US" dirty="0" smtClean="0"/>
              <a:t>Histamine release from mast cells can result in bronchospasm, skin flushing, and hypotension from peripheral vasodilation</a:t>
            </a:r>
            <a:endParaRPr lang="en-US" dirty="0"/>
          </a:p>
        </p:txBody>
      </p:sp>
      <p:sp>
        <p:nvSpPr>
          <p:cNvPr id="4" name="Slide Number Placeholder 3"/>
          <p:cNvSpPr>
            <a:spLocks noGrp="1"/>
          </p:cNvSpPr>
          <p:nvPr>
            <p:ph type="sldNum" sz="quarter" idx="10"/>
          </p:nvPr>
        </p:nvSpPr>
        <p:spPr/>
        <p:txBody>
          <a:bodyPr/>
          <a:lstStyle/>
          <a:p>
            <a:fld id="{5AB4F990-1F91-47D0-8203-9923866C6DAA}" type="slidenum">
              <a:rPr lang="en-US" smtClean="0"/>
              <a:t>55</a:t>
            </a:fld>
            <a:endParaRPr lang="en-US"/>
          </a:p>
        </p:txBody>
      </p:sp>
    </p:spTree>
    <p:extLst>
      <p:ext uri="{BB962C8B-B14F-4D97-AF65-F5344CB8AC3E}">
        <p14:creationId xmlns:p14="http://schemas.microsoft.com/office/powerpoint/2010/main" val="537304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AB4F990-1F91-47D0-8203-9923866C6DAA}" type="slidenum">
              <a:rPr lang="en-US" smtClean="0"/>
              <a:t>104</a:t>
            </a:fld>
            <a:endParaRPr lang="en-US"/>
          </a:p>
        </p:txBody>
      </p:sp>
    </p:spTree>
    <p:extLst>
      <p:ext uri="{BB962C8B-B14F-4D97-AF65-F5344CB8AC3E}">
        <p14:creationId xmlns:p14="http://schemas.microsoft.com/office/powerpoint/2010/main" val="2590361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fld id="{F87F6527-54F0-4D83-81DF-FC51491FE032}" type="datetimeFigureOut">
              <a:rPr lang="en-US" smtClean="0"/>
              <a:t>1/29/2023</a:t>
            </a:fld>
            <a:endParaRPr lang="en-US"/>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endParaRPr lang="en-US"/>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fld id="{AA29DFF0-A8C8-4152-9E95-3D2A2E5D316C}" type="slidenum">
              <a:rPr lang="en-US" smtClean="0"/>
              <a:t>‹#›</a:t>
            </a:fld>
            <a:endParaRPr lang="en-US"/>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headEnd/>
            <a:tailEnd/>
          </a:ln>
        </p:spPr>
      </p:sp>
    </p:spTree>
    <p:extLst>
      <p:ext uri="{BB962C8B-B14F-4D97-AF65-F5344CB8AC3E}">
        <p14:creationId xmlns:p14="http://schemas.microsoft.com/office/powerpoint/2010/main" val="3575483938"/>
      </p:ext>
    </p:extLst>
  </p:cSld>
  <p:clrMapOvr>
    <a:masterClrMapping/>
  </p:clrMapOvr>
  <p:extLst mod="1">
    <p:ext uri="{DCECCB84-F9BA-43D5-87BE-67443E8EF086}">
      <p15:sldGuideLst xmlns:p15="http://schemas.microsoft.com/office/powerpoint/2012/main" xmlns="">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7F6527-54F0-4D83-81DF-FC51491FE032}"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1050052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fld id="{F87F6527-54F0-4D83-81DF-FC51491FE032}" type="datetimeFigureOut">
              <a:rPr lang="en-US" smtClean="0"/>
              <a:t>1/29/2023</a:t>
            </a:fld>
            <a:endParaRPr lang="en-US"/>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endParaRPr lang="en-US"/>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fld id="{AA29DFF0-A8C8-4152-9E95-3D2A2E5D316C}" type="slidenum">
              <a:rPr lang="en-US" smtClean="0"/>
              <a:t>‹#›</a:t>
            </a:fld>
            <a:endParaRPr lang="en-US"/>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Tree>
    <p:extLst>
      <p:ext uri="{BB962C8B-B14F-4D97-AF65-F5344CB8AC3E}">
        <p14:creationId xmlns:p14="http://schemas.microsoft.com/office/powerpoint/2010/main" val="3140009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87F6527-54F0-4D83-81DF-FC51491FE032}" type="datetimeFigureOut">
              <a:rPr lang="en-US" smtClean="0"/>
              <a:t>1/29/2023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3267520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2200276" y="3316640"/>
            <a:ext cx="3136392"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5641811" y="3316640"/>
            <a:ext cx="3136392" cy="277936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87F6527-54F0-4D83-81DF-FC51491FE032}" type="datetimeFigureOut">
              <a:rPr lang="en-US" smtClean="0"/>
              <a:t>1/29/2023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2665361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87F6527-54F0-4D83-81DF-FC51491FE032}" type="datetimeFigureOut">
              <a:rPr lang="en-US" smtClean="0"/>
              <a:t>1/29/2023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3343594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F87F6527-54F0-4D83-81DF-FC51491FE032}" type="datetimeFigureOut">
              <a:rPr lang="en-US" smtClean="0"/>
              <a:t>1/29/2023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321544200"/>
      </p:ext>
    </p:extLst>
  </p:cSld>
  <p:clrMapOvr>
    <a:masterClrMapping/>
  </p:clrMapOvr>
  <p:extLst mod="1">
    <p:ext uri="{DCECCB84-F9BA-43D5-87BE-67443E8EF086}">
      <p15:sldGuideLst xmlns:p15="http://schemas.microsoft.com/office/powerpoint/2012/main" xmlns="">
        <p15:guide id="1" pos="5400">
          <p15:clr>
            <a:srgbClr val="FBAE40"/>
          </p15:clr>
        </p15:guide>
        <p15:guide id="2" pos="405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smtClean="0"/>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fld id="{F87F6527-54F0-4D83-81DF-FC51491FE032}" type="datetimeFigureOut">
              <a:rPr lang="en-US" smtClean="0"/>
              <a:t>1/29/2023</a:t>
            </a:fld>
            <a:endParaRPr lang="en-US"/>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fld id="{AA29DFF0-A8C8-4152-9E95-3D2A2E5D316C}" type="slidenum">
              <a:rPr lang="en-US" smtClean="0"/>
              <a:t>‹#›</a:t>
            </a:fld>
            <a:endParaRPr lang="en-US"/>
          </a:p>
        </p:txBody>
      </p:sp>
    </p:spTree>
    <p:extLst>
      <p:ext uri="{BB962C8B-B14F-4D97-AF65-F5344CB8AC3E}">
        <p14:creationId xmlns:p14="http://schemas.microsoft.com/office/powerpoint/2010/main" val="4177187623"/>
      </p:ext>
    </p:extLst>
  </p:cSld>
  <p:clrMapOvr>
    <a:masterClrMapping/>
  </p:clrMapOvr>
  <p:extLst mod="1">
    <p:ext uri="{DCECCB84-F9BA-43D5-87BE-67443E8EF086}">
      <p15:sldGuideLst xmlns:p15="http://schemas.microsoft.com/office/powerpoint/2012/main" xmlns="">
        <p15:guide id="1" pos="5400">
          <p15:clr>
            <a:srgbClr val="FBAE40"/>
          </p15:clr>
        </p15:guide>
        <p15:guide id="2" pos="405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fld id="{F87F6527-54F0-4D83-81DF-FC51491FE032}" type="datetimeFigureOut">
              <a:rPr lang="en-US" smtClean="0"/>
              <a:t>1/29/2023</a:t>
            </a:fld>
            <a:endParaRPr lang="en-US"/>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endParaRPr lang="en-US"/>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fld id="{AA29DFF0-A8C8-4152-9E95-3D2A2E5D316C}" type="slidenum">
              <a:rPr lang="en-US" smtClean="0"/>
              <a:t>‹#›</a:t>
            </a:fld>
            <a:endParaRPr lang="en-US"/>
          </a:p>
        </p:txBody>
      </p:sp>
    </p:spTree>
    <p:extLst>
      <p:ext uri="{BB962C8B-B14F-4D97-AF65-F5344CB8AC3E}">
        <p14:creationId xmlns:p14="http://schemas.microsoft.com/office/powerpoint/2010/main" val="2149448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87F6527-54F0-4D83-81DF-FC51491FE032}" type="datetimeFigureOut">
              <a:rPr lang="en-US" smtClean="0"/>
              <a:t>1/29/2023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29DFF0-A8C8-4152-9E95-3D2A2E5D316C}" type="slidenum">
              <a:rPr lang="en-US" smtClean="0"/>
              <a:t>‹#›</a:t>
            </a:fld>
            <a:endParaRPr lang="en-US"/>
          </a:p>
        </p:txBody>
      </p:sp>
    </p:spTree>
    <p:extLst>
      <p:ext uri="{BB962C8B-B14F-4D97-AF65-F5344CB8AC3E}">
        <p14:creationId xmlns:p14="http://schemas.microsoft.com/office/powerpoint/2010/main" val="942849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fld id="{F87F6527-54F0-4D83-81DF-FC51491FE032}" type="datetimeFigureOut">
              <a:rPr lang="en-US" smtClean="0"/>
              <a:t>1/29/2023</a:t>
            </a:fld>
            <a:endParaRPr lang="en-US"/>
          </a:p>
        </p:txBody>
      </p:sp>
      <p:sp>
        <p:nvSpPr>
          <p:cNvPr id="5" name="Footer Placeholder 4"/>
          <p:cNvSpPr>
            <a:spLocks noGrp="1"/>
          </p:cNvSpPr>
          <p:nvPr>
            <p:ph type="ftr" sz="quarter" idx="11"/>
          </p:nvPr>
        </p:nvSpPr>
        <p:spPr>
          <a:xfrm>
            <a:off x="2200275" y="6296616"/>
            <a:ext cx="4469683" cy="365125"/>
          </a:xfrm>
        </p:spPr>
        <p:txBody>
          <a:bodyPr/>
          <a:lstStyle/>
          <a:p>
            <a:endParaRPr lang="en-US"/>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fld id="{AA29DFF0-A8C8-4152-9E95-3D2A2E5D316C}" type="slidenum">
              <a:rPr lang="en-US" smtClean="0"/>
              <a:t>‹#›</a:t>
            </a:fld>
            <a:endParaRPr lang="en-US"/>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0042854"/>
      </p:ext>
    </p:extLst>
  </p:cSld>
  <p:clrMapOvr>
    <a:masterClrMapping/>
  </p:clrMapOvr>
  <p:extLst mod="1">
    <p:ext uri="{DCECCB84-F9BA-43D5-87BE-67443E8EF086}">
      <p15:sldGuideLst xmlns:p15="http://schemas.microsoft.com/office/powerpoint/2012/main" xmlns=""/>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fld id="{F87F6527-54F0-4D83-81DF-FC51491FE032}" type="datetimeFigureOut">
              <a:rPr lang="en-US" smtClean="0"/>
              <a:t>1/29/2023</a:t>
            </a:fld>
            <a:endParaRPr lang="en-US"/>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AA29DFF0-A8C8-4152-9E95-3D2A2E5D316C}" type="slidenum">
              <a:rPr lang="en-US" smtClean="0"/>
              <a:t>‹#›</a:t>
            </a:fld>
            <a:endParaRPr lang="en-US"/>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2573181"/>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mod="1">
    <p:ext uri="{27BBF7A9-308A-43DC-89C8-2F10F3537804}">
      <p15:sldGuideLst xmlns:p15="http://schemas.microsoft.com/office/powerpoint/2012/main" xmlns="">
        <p15:guide id="1" pos="1848">
          <p15:clr>
            <a:srgbClr val="F26B43"/>
          </p15:clr>
        </p15:guide>
        <p15:guide id="2" pos="4416">
          <p15:clr>
            <a:srgbClr val="F26B43"/>
          </p15:clr>
        </p15:guide>
        <p15:guide id="3" pos="4800">
          <p15:clr>
            <a:srgbClr val="F26B43"/>
          </p15:clr>
        </p15:guide>
        <p15:guide id="4" pos="7368">
          <p15:clr>
            <a:srgbClr val="F26B43"/>
          </p15:clr>
        </p15:guide>
        <p15:guide id="5" pos="240">
          <p15:clr>
            <a:srgbClr val="F26B43"/>
          </p15:clr>
        </p15:guide>
        <p15:guide id="6" pos="1386">
          <p15:clr>
            <a:srgbClr val="F26B43"/>
          </p15:clr>
        </p15:guide>
        <p15:guide id="7" orient="horz" pos="3960">
          <p15:clr>
            <a:srgbClr val="F26B43"/>
          </p15:clr>
        </p15:guide>
        <p15:guide id="8" orient="horz" pos="3840">
          <p15:clr>
            <a:srgbClr val="F26B43"/>
          </p15:clr>
        </p15:guide>
        <p15:guide id="9" pos="3312">
          <p15:clr>
            <a:srgbClr val="F26B43"/>
          </p15:clr>
        </p15:guide>
        <p15:guide id="10" pos="3600">
          <p15:clr>
            <a:srgbClr val="F26B43"/>
          </p15:clr>
        </p15:guide>
        <p15:guide id="11" orient="horz" pos="360">
          <p15:clr>
            <a:srgbClr val="F26B43"/>
          </p15:clr>
        </p15:guide>
        <p15:guide id="12" pos="5526">
          <p15:clr>
            <a:srgbClr val="F26B43"/>
          </p15:clr>
        </p15:guide>
        <p15:guide id="13" pos="180">
          <p15:clr>
            <a:srgbClr val="F26B43"/>
          </p15:clr>
        </p15:guide>
        <p15:guide id="14" orient="horz" pos="216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4294967295"/>
          </p:nvPr>
        </p:nvSpPr>
        <p:spPr>
          <a:xfrm>
            <a:off x="685800" y="1463675"/>
            <a:ext cx="8458200" cy="4724400"/>
          </a:xfrm>
        </p:spPr>
        <p:txBody>
          <a:bodyPr>
            <a:normAutofit/>
          </a:bodyPr>
          <a:lstStyle/>
          <a:p>
            <a:pPr marL="0" indent="0">
              <a:buNone/>
            </a:pPr>
            <a:r>
              <a:rPr lang="en-US" sz="4800" b="1" i="1" dirty="0" smtClean="0"/>
              <a:t>Pharmacology of Muscle Relaxants, Reversal and anticholinergic</a:t>
            </a:r>
            <a:r>
              <a:rPr lang="en-US" sz="4800" b="1" i="1" dirty="0"/>
              <a:t> </a:t>
            </a:r>
            <a:r>
              <a:rPr lang="en-US" sz="4800" b="1" i="1" dirty="0" smtClean="0"/>
              <a:t>Agents </a:t>
            </a:r>
          </a:p>
          <a:p>
            <a:pPr marL="0" indent="0">
              <a:buNone/>
            </a:pPr>
            <a:r>
              <a:rPr lang="en-US" sz="4800" b="1" i="1" dirty="0" smtClean="0"/>
              <a:t>for anesthesia Bsc,2022/23</a:t>
            </a:r>
            <a:endParaRPr lang="en-US" sz="4800" b="1" i="1" dirty="0"/>
          </a:p>
        </p:txBody>
      </p:sp>
    </p:spTree>
    <p:extLst>
      <p:ext uri="{BB962C8B-B14F-4D97-AF65-F5344CB8AC3E}">
        <p14:creationId xmlns:p14="http://schemas.microsoft.com/office/powerpoint/2010/main" val="247003203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914400"/>
            <a:ext cx="7620000" cy="5273675"/>
          </a:xfrm>
        </p:spPr>
        <p:txBody>
          <a:bodyPr>
            <a:normAutofit/>
          </a:bodyPr>
          <a:lstStyle/>
          <a:p>
            <a:r>
              <a:rPr lang="en-US" sz="3600" b="1" dirty="0" smtClean="0">
                <a:solidFill>
                  <a:srgbClr val="00B0F0"/>
                </a:solidFill>
                <a:sym typeface="Symbol"/>
              </a:rPr>
              <a:t>.</a:t>
            </a:r>
            <a:r>
              <a:rPr lang="en-US" sz="3600" b="1" dirty="0" smtClean="0">
                <a:solidFill>
                  <a:srgbClr val="00B0F0"/>
                </a:solidFill>
              </a:rPr>
              <a:t>Neuromuscular junction physiology</a:t>
            </a:r>
          </a:p>
          <a:p>
            <a:r>
              <a:rPr lang="en-US" sz="3600" b="1" dirty="0" smtClean="0">
                <a:solidFill>
                  <a:srgbClr val="00B0F0"/>
                </a:solidFill>
                <a:sym typeface="Symbol"/>
              </a:rPr>
              <a:t></a:t>
            </a:r>
            <a:r>
              <a:rPr lang="en-US" sz="3600" b="1" dirty="0" smtClean="0">
                <a:solidFill>
                  <a:srgbClr val="00B0F0"/>
                </a:solidFill>
              </a:rPr>
              <a:t> .Depolarizing&amp; Non depolarizing      muscle </a:t>
            </a:r>
            <a:r>
              <a:rPr lang="en-US" sz="3600" b="1" dirty="0">
                <a:solidFill>
                  <a:srgbClr val="00B0F0"/>
                </a:solidFill>
              </a:rPr>
              <a:t>relaxant </a:t>
            </a:r>
            <a:endParaRPr lang="en-US" sz="3600" b="1" dirty="0" smtClean="0">
              <a:solidFill>
                <a:srgbClr val="00B0F0"/>
              </a:solidFill>
            </a:endParaRPr>
          </a:p>
          <a:p>
            <a:r>
              <a:rPr lang="en-US" sz="3600" b="1" dirty="0" smtClean="0">
                <a:solidFill>
                  <a:srgbClr val="00B0F0"/>
                </a:solidFill>
                <a:sym typeface="Symbol"/>
              </a:rPr>
              <a:t>.</a:t>
            </a:r>
            <a:r>
              <a:rPr lang="en-US" sz="3600" b="1" dirty="0" smtClean="0">
                <a:solidFill>
                  <a:srgbClr val="00B0F0"/>
                </a:solidFill>
              </a:rPr>
              <a:t>Reversal Agents</a:t>
            </a:r>
          </a:p>
          <a:p>
            <a:r>
              <a:rPr lang="en-US" sz="3600" b="1" dirty="0">
                <a:solidFill>
                  <a:srgbClr val="00B0F0"/>
                </a:solidFill>
                <a:latin typeface="Sitka Subheading"/>
                <a:sym typeface="Symbol"/>
              </a:rPr>
              <a:t>V</a:t>
            </a:r>
            <a:r>
              <a:rPr lang="en-US" sz="3600" b="1" dirty="0" smtClean="0">
                <a:solidFill>
                  <a:srgbClr val="00B0F0"/>
                </a:solidFill>
                <a:sym typeface="Symbol"/>
              </a:rPr>
              <a:t></a:t>
            </a:r>
            <a:r>
              <a:rPr lang="en-US" sz="3600" b="1" dirty="0">
                <a:solidFill>
                  <a:srgbClr val="00B0F0"/>
                </a:solidFill>
                <a:sym typeface="Symbol"/>
              </a:rPr>
              <a:t>. </a:t>
            </a:r>
            <a:r>
              <a:rPr lang="en-US" sz="3600" b="1" dirty="0" smtClean="0">
                <a:solidFill>
                  <a:srgbClr val="00B0F0"/>
                </a:solidFill>
                <a:sym typeface="Symbol"/>
              </a:rPr>
              <a:t>Anticholinergic drugs</a:t>
            </a:r>
            <a:endParaRPr lang="en-US" sz="3600" b="1" dirty="0">
              <a:solidFill>
                <a:srgbClr val="00B0F0"/>
              </a:solidFill>
            </a:endParaRPr>
          </a:p>
        </p:txBody>
      </p:sp>
    </p:spTree>
    <p:extLst>
      <p:ext uri="{BB962C8B-B14F-4D97-AF65-F5344CB8AC3E}">
        <p14:creationId xmlns:p14="http://schemas.microsoft.com/office/powerpoint/2010/main" val="5634018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990600" y="1295400"/>
            <a:ext cx="8153400" cy="4892675"/>
          </a:xfrm>
        </p:spPr>
        <p:txBody>
          <a:bodyPr>
            <a:normAutofit/>
          </a:bodyPr>
          <a:lstStyle/>
          <a:p>
            <a:r>
              <a:rPr lang="en-US" sz="3600" b="1" dirty="0"/>
              <a:t>Muscle relaxant (MR) can be produced by regional anesthesia, inhalation </a:t>
            </a:r>
            <a:r>
              <a:rPr lang="en-US" sz="3600" b="1" dirty="0" smtClean="0"/>
              <a:t> anesthesia and </a:t>
            </a:r>
            <a:r>
              <a:rPr lang="en-US" sz="3600" b="1" dirty="0"/>
              <a:t>drugs</a:t>
            </a:r>
          </a:p>
          <a:p>
            <a:r>
              <a:rPr lang="en-US" sz="3600" b="1" dirty="0"/>
              <a:t>First muscle relaxant used In 1942, by Harold Griffith an extract of </a:t>
            </a:r>
            <a:r>
              <a:rPr lang="en-US" sz="3600" b="1" dirty="0" err="1" smtClean="0"/>
              <a:t>curare,tubocurarine</a:t>
            </a:r>
            <a:r>
              <a:rPr lang="en-US" sz="3600" b="1" dirty="0" smtClean="0"/>
              <a:t> </a:t>
            </a:r>
            <a:r>
              <a:rPr lang="en-US" sz="3600" b="1" dirty="0"/>
              <a:t>during anesthesia</a:t>
            </a:r>
          </a:p>
        </p:txBody>
      </p:sp>
    </p:spTree>
    <p:extLst>
      <p:ext uri="{BB962C8B-B14F-4D97-AF65-F5344CB8AC3E}">
        <p14:creationId xmlns:p14="http://schemas.microsoft.com/office/powerpoint/2010/main" val="9502456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7652386" cy="1219200"/>
          </a:xfrm>
        </p:spPr>
        <p:txBody>
          <a:bodyPr>
            <a:noAutofit/>
          </a:bodyPr>
          <a:lstStyle/>
          <a:p>
            <a:r>
              <a:rPr lang="en-US" sz="3600" b="1" spc="30" dirty="0">
                <a:solidFill>
                  <a:srgbClr val="00B0F0"/>
                </a:solidFill>
                <a:cs typeface="Tahoma" pitchFamily="34" charset="0"/>
                <a:sym typeface="Symbol"/>
              </a:rPr>
              <a:t>.</a:t>
            </a:r>
            <a:r>
              <a:rPr lang="en-US" sz="3600" b="1" spc="30" dirty="0">
                <a:solidFill>
                  <a:srgbClr val="00B0F0"/>
                </a:solidFill>
                <a:cs typeface="Tahoma" pitchFamily="34" charset="0"/>
              </a:rPr>
              <a:t>Neuromuscular junction physiology</a:t>
            </a:r>
            <a:endParaRPr lang="en-US" b="1" dirty="0"/>
          </a:p>
        </p:txBody>
      </p:sp>
      <p:sp>
        <p:nvSpPr>
          <p:cNvPr id="3" name="Content Placeholder 2"/>
          <p:cNvSpPr>
            <a:spLocks noGrp="1"/>
          </p:cNvSpPr>
          <p:nvPr>
            <p:ph idx="1"/>
          </p:nvPr>
        </p:nvSpPr>
        <p:spPr>
          <a:xfrm>
            <a:off x="381000" y="2133600"/>
            <a:ext cx="8305800" cy="4053840"/>
          </a:xfrm>
        </p:spPr>
        <p:txBody>
          <a:bodyPr>
            <a:normAutofit fontScale="92500"/>
          </a:bodyPr>
          <a:lstStyle/>
          <a:p>
            <a:pPr marL="0" indent="0">
              <a:buNone/>
            </a:pPr>
            <a:r>
              <a:rPr lang="en-US" sz="3600" b="1" dirty="0" smtClean="0"/>
              <a:t>The </a:t>
            </a:r>
            <a:r>
              <a:rPr lang="en-US" sz="3600" b="1" dirty="0"/>
              <a:t>neuromuscular junction (NMJ) forms a chemical bridge between the motor </a:t>
            </a:r>
            <a:r>
              <a:rPr lang="en-US" sz="3600" b="1" dirty="0" err="1" smtClean="0"/>
              <a:t>neurone</a:t>
            </a:r>
            <a:r>
              <a:rPr lang="en-US" sz="3600" b="1" dirty="0" smtClean="0"/>
              <a:t> and </a:t>
            </a:r>
            <a:r>
              <a:rPr lang="en-US" sz="3600" b="1" dirty="0"/>
              <a:t>skeletal muscle. </a:t>
            </a:r>
            <a:r>
              <a:rPr lang="en-US" sz="3600" b="1" dirty="0" smtClean="0"/>
              <a:t>The </a:t>
            </a:r>
            <a:r>
              <a:rPr lang="en-US" sz="3600" b="1" dirty="0"/>
              <a:t>cell membranes of the neuron </a:t>
            </a:r>
            <a:r>
              <a:rPr lang="en-US" sz="3600" b="1" dirty="0" smtClean="0"/>
              <a:t>and</a:t>
            </a:r>
            <a:r>
              <a:rPr lang="en-US" sz="3600" b="1" dirty="0"/>
              <a:t> </a:t>
            </a:r>
            <a:r>
              <a:rPr lang="en-US" sz="3600" b="1" dirty="0" smtClean="0"/>
              <a:t>muscle </a:t>
            </a:r>
            <a:r>
              <a:rPr lang="en-US" sz="3600" b="1" dirty="0"/>
              <a:t>fiber are separated by a narrow (20-nm) gap, the synaptic cleft</a:t>
            </a:r>
            <a:r>
              <a:rPr lang="en-US" sz="3600" b="1" dirty="0" smtClean="0"/>
              <a:t>.</a:t>
            </a:r>
          </a:p>
          <a:p>
            <a:pPr marL="0" indent="0">
              <a:buNone/>
            </a:pPr>
            <a:r>
              <a:rPr lang="en-US" sz="3600" b="1" dirty="0" smtClean="0"/>
              <a:t> </a:t>
            </a:r>
            <a:endParaRPr lang="en-US" sz="3600" b="1" dirty="0"/>
          </a:p>
        </p:txBody>
      </p:sp>
    </p:spTree>
    <p:extLst>
      <p:ext uri="{BB962C8B-B14F-4D97-AF65-F5344CB8AC3E}">
        <p14:creationId xmlns:p14="http://schemas.microsoft.com/office/powerpoint/2010/main" val="11308250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143000"/>
            <a:ext cx="7467600" cy="5045075"/>
          </a:xfrm>
        </p:spPr>
        <p:txBody>
          <a:bodyPr>
            <a:normAutofit/>
          </a:bodyPr>
          <a:lstStyle/>
          <a:p>
            <a:r>
              <a:rPr lang="en-US" sz="3600" b="1" dirty="0"/>
              <a:t>As a nerve’s action potential depolarizes its terminal, an influx of calcium ions through voltage-gated calcium channels into the nerve cytoplasm allows storage vesicles to fuse with the terminal plasma membrane and release their contents acetylcholine [</a:t>
            </a:r>
            <a:r>
              <a:rPr lang="en-US" sz="3600" b="1" dirty="0" err="1"/>
              <a:t>ACh</a:t>
            </a:r>
            <a:r>
              <a:rPr lang="en-US" sz="3600" b="1" dirty="0"/>
              <a:t>].</a:t>
            </a:r>
          </a:p>
        </p:txBody>
      </p:sp>
    </p:spTree>
    <p:extLst>
      <p:ext uri="{BB962C8B-B14F-4D97-AF65-F5344CB8AC3E}">
        <p14:creationId xmlns:p14="http://schemas.microsoft.com/office/powerpoint/2010/main" val="18033472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762000"/>
            <a:ext cx="8153400" cy="5426075"/>
          </a:xfrm>
        </p:spPr>
        <p:txBody>
          <a:bodyPr>
            <a:noAutofit/>
          </a:bodyPr>
          <a:lstStyle/>
          <a:p>
            <a:pPr marL="0" indent="0">
              <a:buNone/>
            </a:pPr>
            <a:r>
              <a:rPr lang="en-US" sz="4000" dirty="0" smtClean="0"/>
              <a:t>The </a:t>
            </a:r>
            <a:r>
              <a:rPr lang="en-US" sz="4000" dirty="0" err="1" smtClean="0"/>
              <a:t>ACh</a:t>
            </a:r>
            <a:r>
              <a:rPr lang="en-US" sz="4000" dirty="0" smtClean="0"/>
              <a:t> molecules diffuse across the synaptic cleft to bind with nicotinic cholinergic receptors on a specialized portion of the muscle membrane, the motor end-plate. activation of only about 500,000 receptors is required for normal muscle contraction</a:t>
            </a:r>
            <a:endParaRPr lang="en-US" sz="4000" dirty="0"/>
          </a:p>
        </p:txBody>
      </p:sp>
    </p:spTree>
    <p:extLst>
      <p:ext uri="{BB962C8B-B14F-4D97-AF65-F5344CB8AC3E}">
        <p14:creationId xmlns:p14="http://schemas.microsoft.com/office/powerpoint/2010/main" val="24556933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8335" t="7284" r="15555" b="10008"/>
          <a:stretch/>
        </p:blipFill>
        <p:spPr bwMode="auto">
          <a:xfrm>
            <a:off x="685800" y="274025"/>
            <a:ext cx="8077200" cy="620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68176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762000"/>
            <a:ext cx="8305800" cy="5426075"/>
          </a:xfrm>
        </p:spPr>
        <p:txBody>
          <a:bodyPr>
            <a:noAutofit/>
          </a:bodyPr>
          <a:lstStyle/>
          <a:p>
            <a:pPr marL="0" indent="0">
              <a:buNone/>
            </a:pPr>
            <a:r>
              <a:rPr lang="en-US" sz="3600" b="1" dirty="0" smtClean="0"/>
              <a:t>Each </a:t>
            </a:r>
            <a:r>
              <a:rPr lang="en-US" sz="3600" b="1" dirty="0" err="1" smtClean="0"/>
              <a:t>ACh</a:t>
            </a:r>
            <a:r>
              <a:rPr lang="en-US" sz="3600" b="1" dirty="0" smtClean="0"/>
              <a:t> receptor in the neuromuscular junction normally consists of five protein subunits: two α subunits, and single β, δ, and ε subunits. Only the two identical α subunits are capable of binding Ach molecules. If both binding sites are occupied by </a:t>
            </a:r>
            <a:r>
              <a:rPr lang="en-US" sz="3600" b="1" dirty="0" err="1" smtClean="0"/>
              <a:t>ACh</a:t>
            </a:r>
            <a:r>
              <a:rPr lang="en-US" sz="3600" b="1" dirty="0" smtClean="0"/>
              <a:t>, a conformational change in the subunits briefly (1 </a:t>
            </a:r>
            <a:r>
              <a:rPr lang="en-US" sz="3600" b="1" dirty="0" err="1" smtClean="0"/>
              <a:t>ms</a:t>
            </a:r>
            <a:r>
              <a:rPr lang="en-US" sz="3600" b="1" dirty="0" smtClean="0"/>
              <a:t>) opens an ion channel in the core of the receptor</a:t>
            </a:r>
            <a:endParaRPr lang="en-US" sz="3600" b="1" dirty="0"/>
          </a:p>
        </p:txBody>
      </p:sp>
    </p:spTree>
    <p:extLst>
      <p:ext uri="{BB962C8B-B14F-4D97-AF65-F5344CB8AC3E}">
        <p14:creationId xmlns:p14="http://schemas.microsoft.com/office/powerpoint/2010/main" val="3350327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7185" t="10057" r="25631"/>
          <a:stretch/>
        </p:blipFill>
        <p:spPr bwMode="auto">
          <a:xfrm>
            <a:off x="762000" y="228600"/>
            <a:ext cx="7772400" cy="6042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47730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762000"/>
            <a:ext cx="8458200" cy="5426075"/>
          </a:xfrm>
        </p:spPr>
        <p:txBody>
          <a:bodyPr>
            <a:noAutofit/>
          </a:bodyPr>
          <a:lstStyle/>
          <a:p>
            <a:pPr marL="0" indent="0">
              <a:buNone/>
            </a:pPr>
            <a:r>
              <a:rPr lang="en-US" sz="3600" b="1" dirty="0" err="1" smtClean="0"/>
              <a:t>Cations</a:t>
            </a:r>
            <a:r>
              <a:rPr lang="en-US" sz="3600" b="1" dirty="0" smtClean="0"/>
              <a:t> flow through the open </a:t>
            </a:r>
            <a:r>
              <a:rPr lang="en-US" sz="3600" b="1" dirty="0" err="1" smtClean="0"/>
              <a:t>ACh</a:t>
            </a:r>
            <a:r>
              <a:rPr lang="en-US" sz="3600" b="1" dirty="0" smtClean="0"/>
              <a:t> receptor channel (Na and </a:t>
            </a:r>
            <a:r>
              <a:rPr lang="en-US" sz="3600" b="1" dirty="0" err="1" smtClean="0"/>
              <a:t>Ca</a:t>
            </a:r>
            <a:r>
              <a:rPr lang="en-US" sz="3600" b="1" dirty="0" smtClean="0"/>
              <a:t> in; K  out), generating an end-plate potential. The number of </a:t>
            </a:r>
            <a:r>
              <a:rPr lang="en-US" sz="3600" b="1" i="1" dirty="0" smtClean="0">
                <a:solidFill>
                  <a:srgbClr val="00B0F0"/>
                </a:solidFill>
              </a:rPr>
              <a:t>quanta</a:t>
            </a:r>
            <a:r>
              <a:rPr lang="en-US" sz="3600" b="1" dirty="0" smtClean="0"/>
              <a:t> released by each depolarized nerve fiber, normally at least 200,it is very sensitive to extracellular ionized </a:t>
            </a:r>
            <a:r>
              <a:rPr lang="en-US" sz="3600" b="1" dirty="0" err="1" smtClean="0"/>
              <a:t>Ca</a:t>
            </a:r>
            <a:r>
              <a:rPr lang="en-US" sz="3600" b="1" dirty="0" smtClean="0"/>
              <a:t> concentration;</a:t>
            </a:r>
            <a:r>
              <a:rPr lang="en-US" sz="3600" b="1" dirty="0" smtClean="0">
                <a:sym typeface="Symbol"/>
              </a:rPr>
              <a:t></a:t>
            </a:r>
            <a:r>
              <a:rPr lang="en-US" sz="3600" b="1" dirty="0" smtClean="0"/>
              <a:t> </a:t>
            </a:r>
            <a:r>
              <a:rPr lang="en-US" sz="3600" b="1" dirty="0" err="1" smtClean="0"/>
              <a:t>Ca</a:t>
            </a:r>
            <a:r>
              <a:rPr lang="en-US" sz="3600" b="1" dirty="0" smtClean="0"/>
              <a:t> </a:t>
            </a:r>
            <a:r>
              <a:rPr lang="en-US" sz="3600" b="1" dirty="0" err="1" smtClean="0"/>
              <a:t>concen</a:t>
            </a:r>
            <a:r>
              <a:rPr lang="en-US" sz="3600" b="1" dirty="0" smtClean="0"/>
              <a:t>..  increases the number of quanta released </a:t>
            </a:r>
            <a:endParaRPr lang="en-US" sz="3600" b="1" dirty="0"/>
          </a:p>
        </p:txBody>
      </p:sp>
    </p:spTree>
    <p:extLst>
      <p:ext uri="{BB962C8B-B14F-4D97-AF65-F5344CB8AC3E}">
        <p14:creationId xmlns:p14="http://schemas.microsoft.com/office/powerpoint/2010/main" val="13391323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914400" y="1143000"/>
            <a:ext cx="8229600" cy="5045075"/>
          </a:xfrm>
        </p:spPr>
        <p:txBody>
          <a:bodyPr>
            <a:normAutofit/>
          </a:bodyPr>
          <a:lstStyle/>
          <a:p>
            <a:pPr marL="0" indent="0">
              <a:buNone/>
            </a:pPr>
            <a:r>
              <a:rPr lang="en-US" sz="3600" dirty="0" smtClean="0">
                <a:effectLst/>
                <a:latin typeface="Times New Roman"/>
              </a:rPr>
              <a:t>When sufficient receptors are occupied by </a:t>
            </a:r>
            <a:r>
              <a:rPr lang="en-US" sz="3600" dirty="0" err="1" smtClean="0">
                <a:effectLst/>
                <a:latin typeface="Times New Roman"/>
              </a:rPr>
              <a:t>ACh</a:t>
            </a:r>
            <a:r>
              <a:rPr lang="en-US" sz="3600" dirty="0" smtClean="0">
                <a:effectLst/>
                <a:latin typeface="Times New Roman"/>
              </a:rPr>
              <a:t>, the end-plate potential</a:t>
            </a:r>
            <a:r>
              <a:rPr lang="en-US" sz="3600" dirty="0" smtClean="0"/>
              <a:t/>
            </a:r>
            <a:br>
              <a:rPr lang="en-US" sz="3600" dirty="0" smtClean="0"/>
            </a:br>
            <a:r>
              <a:rPr lang="en-US" sz="3600" dirty="0" smtClean="0">
                <a:effectLst/>
                <a:latin typeface="Times New Roman"/>
              </a:rPr>
              <a:t>will be strong enough to depolarize the </a:t>
            </a:r>
            <a:r>
              <a:rPr lang="en-US" sz="3600" dirty="0" err="1" smtClean="0">
                <a:effectLst/>
                <a:latin typeface="Times New Roman"/>
              </a:rPr>
              <a:t>perijunctional</a:t>
            </a:r>
            <a:r>
              <a:rPr lang="en-US" sz="3600" dirty="0" smtClean="0">
                <a:effectLst/>
                <a:latin typeface="Times New Roman"/>
              </a:rPr>
              <a:t> membrane. Voltage-gated</a:t>
            </a:r>
            <a:r>
              <a:rPr lang="en-US" sz="3600" dirty="0" smtClean="0"/>
              <a:t> </a:t>
            </a:r>
            <a:r>
              <a:rPr lang="en-US" sz="3600" dirty="0" smtClean="0">
                <a:effectLst/>
                <a:latin typeface="Times New Roman"/>
              </a:rPr>
              <a:t>sodium channels within this portion of the muscle membrane open when a</a:t>
            </a:r>
            <a:r>
              <a:rPr lang="en-US" sz="3600" dirty="0"/>
              <a:t> </a:t>
            </a:r>
            <a:r>
              <a:rPr lang="en-US" sz="3600" dirty="0" smtClean="0">
                <a:effectLst/>
                <a:latin typeface="Times New Roman"/>
              </a:rPr>
              <a:t>threshold voltage is developed across them</a:t>
            </a:r>
            <a:endParaRPr lang="en-US" sz="3600" dirty="0"/>
          </a:p>
        </p:txBody>
      </p:sp>
    </p:spTree>
    <p:extLst>
      <p:ext uri="{BB962C8B-B14F-4D97-AF65-F5344CB8AC3E}">
        <p14:creationId xmlns:p14="http://schemas.microsoft.com/office/powerpoint/2010/main" val="30793801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685800"/>
            <a:ext cx="7772400" cy="4953000"/>
          </a:xfrm>
        </p:spPr>
        <p:txBody>
          <a:bodyPr>
            <a:noAutofit/>
          </a:bodyPr>
          <a:lstStyle/>
          <a:p>
            <a:pPr marL="0" indent="0">
              <a:buNone/>
            </a:pPr>
            <a:r>
              <a:rPr lang="en-US" sz="3600" b="1" dirty="0" smtClean="0"/>
              <a:t>The resulting action potential propagates along the muscle membrane and T-tubule system, opening sodium channels and releasing calcium from the sarcoplasmic reticulum. </a:t>
            </a:r>
          </a:p>
          <a:p>
            <a:pPr marL="0" indent="0">
              <a:buNone/>
            </a:pPr>
            <a:r>
              <a:rPr lang="en-US" sz="3600" b="1" dirty="0" smtClean="0"/>
              <a:t>This intracellular calcium allows the contractile proteins </a:t>
            </a:r>
            <a:r>
              <a:rPr lang="en-US" sz="3600" b="1" i="1" dirty="0" smtClean="0">
                <a:solidFill>
                  <a:srgbClr val="00B0F0"/>
                </a:solidFill>
              </a:rPr>
              <a:t>actin</a:t>
            </a:r>
            <a:r>
              <a:rPr lang="en-US" sz="3600" b="1" dirty="0" smtClean="0"/>
              <a:t> and </a:t>
            </a:r>
            <a:r>
              <a:rPr lang="en-US" sz="3600" b="1" i="1" dirty="0" smtClean="0">
                <a:solidFill>
                  <a:srgbClr val="00B0F0"/>
                </a:solidFill>
              </a:rPr>
              <a:t>myosin</a:t>
            </a:r>
            <a:r>
              <a:rPr lang="en-US" sz="3600" b="1" dirty="0" smtClean="0"/>
              <a:t> to interact, bringing about muscle contraction. </a:t>
            </a:r>
            <a:endParaRPr lang="en-US" sz="3600" b="1" dirty="0"/>
          </a:p>
          <a:p>
            <a:pPr marL="0" indent="0">
              <a:buNone/>
            </a:pPr>
            <a:r>
              <a:rPr lang="en-US" sz="3600" b="1" dirty="0" smtClean="0"/>
              <a:t> </a:t>
            </a:r>
            <a:endParaRPr lang="en-US" sz="3600" b="1" dirty="0"/>
          </a:p>
        </p:txBody>
      </p:sp>
    </p:spTree>
    <p:extLst>
      <p:ext uri="{BB962C8B-B14F-4D97-AF65-F5344CB8AC3E}">
        <p14:creationId xmlns:p14="http://schemas.microsoft.com/office/powerpoint/2010/main" val="325812691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85800" y="762000"/>
            <a:ext cx="8458200" cy="5426075"/>
          </a:xfrm>
        </p:spPr>
        <p:txBody>
          <a:bodyPr>
            <a:noAutofit/>
          </a:bodyPr>
          <a:lstStyle/>
          <a:p>
            <a:r>
              <a:rPr lang="en-US" sz="3600" b="1" dirty="0"/>
              <a:t>The amount of </a:t>
            </a:r>
            <a:r>
              <a:rPr lang="en-US" sz="3600" b="1" dirty="0" err="1"/>
              <a:t>ACh</a:t>
            </a:r>
            <a:r>
              <a:rPr lang="en-US" sz="3600" b="1" dirty="0"/>
              <a:t> released and the number of receptors subsequently activated with efferent nerve depolarization will normally far exceed the minimum required for the initiation of an action potential in the muscle</a:t>
            </a:r>
            <a:r>
              <a:rPr lang="en-US" sz="2800" b="1" dirty="0" smtClean="0"/>
              <a:t>.</a:t>
            </a:r>
            <a:endParaRPr lang="en-US" sz="2800" b="1" dirty="0"/>
          </a:p>
        </p:txBody>
      </p:sp>
    </p:spTree>
    <p:extLst>
      <p:ext uri="{BB962C8B-B14F-4D97-AF65-F5344CB8AC3E}">
        <p14:creationId xmlns:p14="http://schemas.microsoft.com/office/powerpoint/2010/main" val="2887197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447800" y="838200"/>
            <a:ext cx="7696200" cy="5349875"/>
          </a:xfrm>
        </p:spPr>
        <p:txBody>
          <a:bodyPr>
            <a:normAutofit/>
          </a:bodyPr>
          <a:lstStyle/>
          <a:p>
            <a:pPr lvl="0">
              <a:buClr>
                <a:srgbClr val="838995"/>
              </a:buClr>
            </a:pPr>
            <a:r>
              <a:rPr lang="en-US" sz="3200" b="1" dirty="0">
                <a:solidFill>
                  <a:schemeClr val="tx1"/>
                </a:solidFill>
              </a:rPr>
              <a:t>Eaton–Lambert </a:t>
            </a:r>
            <a:r>
              <a:rPr lang="en-US" sz="3200" b="1" dirty="0" err="1">
                <a:solidFill>
                  <a:schemeClr val="tx1"/>
                </a:solidFill>
              </a:rPr>
              <a:t>myasthenic</a:t>
            </a:r>
            <a:r>
              <a:rPr lang="en-US" sz="3200" b="1" dirty="0">
                <a:solidFill>
                  <a:schemeClr val="tx1"/>
                </a:solidFill>
              </a:rPr>
              <a:t> syndrome  is neuromuscular disease  w/c is characterize by  muscle weakness b/c of decreased release of </a:t>
            </a:r>
            <a:r>
              <a:rPr lang="en-US" sz="3200" b="1" dirty="0" smtClean="0">
                <a:solidFill>
                  <a:schemeClr val="tx1"/>
                </a:solidFill>
              </a:rPr>
              <a:t>Ach (</a:t>
            </a:r>
            <a:r>
              <a:rPr lang="en-US" sz="3200" b="1" dirty="0" smtClean="0">
                <a:solidFill>
                  <a:schemeClr val="tx1"/>
                </a:solidFill>
                <a:latin typeface="Times New Roman"/>
                <a:cs typeface="Times New Roman"/>
              </a:rPr>
              <a:t>↓</a:t>
            </a:r>
            <a:r>
              <a:rPr lang="en-US" sz="3200" b="1" dirty="0" smtClean="0">
                <a:solidFill>
                  <a:schemeClr val="tx1"/>
                </a:solidFill>
                <a:cs typeface="Times New Roman"/>
              </a:rPr>
              <a:t>signal)</a:t>
            </a:r>
            <a:r>
              <a:rPr lang="en-US" sz="3200" b="1" dirty="0">
                <a:solidFill>
                  <a:schemeClr val="tx1"/>
                </a:solidFill>
                <a:latin typeface="Times New Roman"/>
                <a:cs typeface="Times New Roman"/>
              </a:rPr>
              <a:t> </a:t>
            </a:r>
            <a:r>
              <a:rPr lang="en-US" sz="3200" b="1" dirty="0" smtClean="0">
                <a:solidFill>
                  <a:schemeClr val="tx1"/>
                </a:solidFill>
              </a:rPr>
              <a:t>this </a:t>
            </a:r>
            <a:r>
              <a:rPr lang="en-US" sz="3200" b="1" dirty="0">
                <a:solidFill>
                  <a:schemeClr val="tx1"/>
                </a:solidFill>
              </a:rPr>
              <a:t>occur  when tenfold margin of safety is reduced </a:t>
            </a:r>
          </a:p>
          <a:p>
            <a:pPr lvl="0">
              <a:buClr>
                <a:srgbClr val="838995"/>
              </a:buClr>
            </a:pPr>
            <a:r>
              <a:rPr lang="en-US" sz="3200" b="1" dirty="0">
                <a:solidFill>
                  <a:schemeClr val="tx1"/>
                </a:solidFill>
              </a:rPr>
              <a:t>Myasthenia gravis is also neuromuscular disorder in w/c the skeletal muscle fail to contract  b/c of decreased number of receptors.</a:t>
            </a:r>
          </a:p>
        </p:txBody>
      </p:sp>
    </p:spTree>
    <p:extLst>
      <p:ext uri="{BB962C8B-B14F-4D97-AF65-F5344CB8AC3E}">
        <p14:creationId xmlns:p14="http://schemas.microsoft.com/office/powerpoint/2010/main" val="26092293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838200" y="685800"/>
            <a:ext cx="8305800" cy="5502275"/>
          </a:xfrm>
        </p:spPr>
        <p:txBody>
          <a:bodyPr>
            <a:noAutofit/>
          </a:bodyPr>
          <a:lstStyle/>
          <a:p>
            <a:pPr marL="0" indent="0">
              <a:buNone/>
            </a:pPr>
            <a:r>
              <a:rPr lang="en-US" sz="3600" b="1" dirty="0" err="1" smtClean="0"/>
              <a:t>ACh</a:t>
            </a:r>
            <a:r>
              <a:rPr lang="en-US" sz="3600" b="1" dirty="0" smtClean="0"/>
              <a:t> is rapidly hydrolyzed into acetate and choline by enzyme </a:t>
            </a:r>
            <a:r>
              <a:rPr lang="en-US" sz="3600" b="1" i="1" dirty="0" err="1" smtClean="0">
                <a:solidFill>
                  <a:schemeClr val="accent1">
                    <a:lumMod val="60000"/>
                    <a:lumOff val="40000"/>
                  </a:schemeClr>
                </a:solidFill>
              </a:rPr>
              <a:t>acetylcholinesterase</a:t>
            </a:r>
            <a:r>
              <a:rPr lang="en-US" sz="3600" b="1" i="1" dirty="0" smtClean="0">
                <a:solidFill>
                  <a:schemeClr val="accent1">
                    <a:lumMod val="60000"/>
                    <a:lumOff val="40000"/>
                  </a:schemeClr>
                </a:solidFill>
              </a:rPr>
              <a:t> (</a:t>
            </a:r>
            <a:r>
              <a:rPr lang="en-US" sz="3600" b="1" i="1" dirty="0" err="1" smtClean="0">
                <a:solidFill>
                  <a:schemeClr val="accent1">
                    <a:lumMod val="60000"/>
                    <a:lumOff val="40000"/>
                  </a:schemeClr>
                </a:solidFill>
              </a:rPr>
              <a:t>AchE</a:t>
            </a:r>
            <a:r>
              <a:rPr lang="en-US" sz="3600" b="1" i="1" dirty="0" smtClean="0">
                <a:solidFill>
                  <a:schemeClr val="accent1">
                    <a:lumMod val="60000"/>
                    <a:lumOff val="40000"/>
                  </a:schemeClr>
                </a:solidFill>
              </a:rPr>
              <a:t>)</a:t>
            </a:r>
            <a:r>
              <a:rPr lang="en-US" sz="3600" b="1" dirty="0" smtClean="0"/>
              <a:t> which is embedded into the motor end plate membrane. After unbinding </a:t>
            </a:r>
            <a:r>
              <a:rPr lang="en-US" sz="3600" b="1" dirty="0" err="1" smtClean="0"/>
              <a:t>ACh</a:t>
            </a:r>
            <a:r>
              <a:rPr lang="en-US" sz="3600" b="1" dirty="0" smtClean="0"/>
              <a:t>, the receptors’ ion channels close, permitting the end-plate to repolarize. </a:t>
            </a:r>
            <a:r>
              <a:rPr lang="en-US" sz="3600" b="1" dirty="0" err="1" smtClean="0"/>
              <a:t>Ca</a:t>
            </a:r>
            <a:r>
              <a:rPr lang="en-US" sz="3600" b="1" dirty="0" smtClean="0"/>
              <a:t> is </a:t>
            </a:r>
            <a:r>
              <a:rPr lang="en-US" sz="3600" b="1" dirty="0" err="1" smtClean="0"/>
              <a:t>resequestered</a:t>
            </a:r>
            <a:r>
              <a:rPr lang="en-US" sz="3600" b="1" dirty="0" smtClean="0"/>
              <a:t> in the sarcoplasmic reticulum, and the muscle cell relaxes</a:t>
            </a:r>
            <a:endParaRPr lang="en-US" sz="3600" b="1" dirty="0"/>
          </a:p>
        </p:txBody>
      </p:sp>
    </p:spTree>
    <p:extLst>
      <p:ext uri="{BB962C8B-B14F-4D97-AF65-F5344CB8AC3E}">
        <p14:creationId xmlns:p14="http://schemas.microsoft.com/office/powerpoint/2010/main" val="40451217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524000" y="1066800"/>
            <a:ext cx="7620000" cy="5121275"/>
          </a:xfrm>
        </p:spPr>
        <p:txBody>
          <a:bodyPr/>
          <a:lstStyle/>
          <a:p>
            <a:endParaRPr lang="en-US" dirty="0"/>
          </a:p>
          <a:p>
            <a:r>
              <a:rPr lang="en-US" sz="3200" b="1" dirty="0"/>
              <a:t>Acetylcholine is synthesized in the </a:t>
            </a:r>
            <a:r>
              <a:rPr lang="en-US" sz="3200" b="1" dirty="0" smtClean="0"/>
              <a:t>                nerve </a:t>
            </a:r>
            <a:r>
              <a:rPr lang="en-US" sz="3200" b="1" dirty="0"/>
              <a:t>terminal by the </a:t>
            </a:r>
            <a:r>
              <a:rPr lang="en-US" sz="3200" b="1" dirty="0" smtClean="0"/>
              <a:t>enzyme </a:t>
            </a:r>
            <a:r>
              <a:rPr lang="en-US" sz="3200" b="1" dirty="0" err="1" smtClean="0"/>
              <a:t>cholineacetyltransferase</a:t>
            </a:r>
            <a:r>
              <a:rPr lang="en-US" sz="3200" b="1" dirty="0"/>
              <a:t>, which catalyzes the reaction between </a:t>
            </a:r>
            <a:r>
              <a:rPr lang="en-US" sz="3200" b="1" dirty="0" err="1" smtClean="0"/>
              <a:t>acetylcoenzyme</a:t>
            </a:r>
            <a:r>
              <a:rPr lang="en-US" sz="3200" b="1" dirty="0"/>
              <a:t> </a:t>
            </a:r>
            <a:r>
              <a:rPr lang="en-US" sz="3200" b="1" dirty="0" smtClean="0"/>
              <a:t>A </a:t>
            </a:r>
            <a:r>
              <a:rPr lang="en-US" sz="3200" b="1" dirty="0"/>
              <a:t>and </a:t>
            </a:r>
            <a:r>
              <a:rPr lang="en-US" sz="3200" b="1" dirty="0" smtClean="0"/>
              <a:t>choline.</a:t>
            </a:r>
            <a:endParaRPr lang="en-US" sz="3200" b="1" dirty="0"/>
          </a:p>
        </p:txBody>
      </p:sp>
    </p:spTree>
    <p:extLst>
      <p:ext uri="{BB962C8B-B14F-4D97-AF65-F5344CB8AC3E}">
        <p14:creationId xmlns:p14="http://schemas.microsoft.com/office/powerpoint/2010/main" val="14988692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42310" t="4994" r="28258" b="3664"/>
          <a:stretch/>
        </p:blipFill>
        <p:spPr bwMode="auto">
          <a:xfrm>
            <a:off x="914400" y="818866"/>
            <a:ext cx="6537279" cy="5495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2006793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MECHANISM OF ACTION  OF NMBD</a:t>
            </a:r>
            <a:endParaRPr lang="en-US" dirty="0"/>
          </a:p>
        </p:txBody>
      </p:sp>
      <p:sp>
        <p:nvSpPr>
          <p:cNvPr id="3" name="Content Placeholder 2"/>
          <p:cNvSpPr>
            <a:spLocks noGrp="1"/>
          </p:cNvSpPr>
          <p:nvPr>
            <p:ph idx="1"/>
          </p:nvPr>
        </p:nvSpPr>
        <p:spPr>
          <a:xfrm>
            <a:off x="152400" y="1463040"/>
            <a:ext cx="8686800" cy="4724400"/>
          </a:xfrm>
        </p:spPr>
        <p:txBody>
          <a:bodyPr>
            <a:noAutofit/>
          </a:bodyPr>
          <a:lstStyle/>
          <a:p>
            <a:pPr marL="0" indent="0">
              <a:buNone/>
            </a:pPr>
            <a:r>
              <a:rPr lang="en-US" sz="3600" b="1" dirty="0" smtClean="0"/>
              <a:t>Depolarizing MR very closely resemble </a:t>
            </a:r>
            <a:r>
              <a:rPr lang="en-US" sz="3600" b="1" dirty="0" err="1" smtClean="0"/>
              <a:t>ACh</a:t>
            </a:r>
            <a:r>
              <a:rPr lang="en-US" sz="3600" b="1" dirty="0" smtClean="0"/>
              <a:t> and readily bind to </a:t>
            </a:r>
            <a:r>
              <a:rPr lang="en-US" sz="3600" b="1" dirty="0" err="1" smtClean="0"/>
              <a:t>ACh</a:t>
            </a:r>
            <a:r>
              <a:rPr lang="en-US" sz="3600" b="1" dirty="0" smtClean="0"/>
              <a:t> receptors, generating a muscle action potential. Unlike </a:t>
            </a:r>
            <a:r>
              <a:rPr lang="en-US" sz="3600" b="1" dirty="0" err="1" smtClean="0"/>
              <a:t>ACh</a:t>
            </a:r>
            <a:r>
              <a:rPr lang="en-US" sz="3600" b="1" dirty="0" smtClean="0"/>
              <a:t>, </a:t>
            </a:r>
            <a:r>
              <a:rPr lang="en-US" sz="3600" b="1" dirty="0" err="1" smtClean="0"/>
              <a:t>however,these</a:t>
            </a:r>
            <a:r>
              <a:rPr lang="en-US" sz="3600" b="1" dirty="0" smtClean="0"/>
              <a:t> drugs are not metabolized by acetylcholinesterase, and their concentration in the synaptic cleft </a:t>
            </a:r>
            <a:r>
              <a:rPr lang="en-US" sz="3600" b="1" dirty="0" err="1" smtClean="0"/>
              <a:t>does</a:t>
            </a:r>
            <a:r>
              <a:rPr lang="en-US" sz="3600" b="1" dirty="0" err="1" smtClean="0">
                <a:latin typeface="Times New Roman"/>
                <a:cs typeface="Times New Roman"/>
              </a:rPr>
              <a:t>‘t↓</a:t>
            </a:r>
            <a:r>
              <a:rPr lang="en-US" sz="3600" b="1" dirty="0" err="1" smtClean="0"/>
              <a:t>rapidly</a:t>
            </a:r>
            <a:r>
              <a:rPr lang="en-US" sz="3600" b="1" dirty="0" smtClean="0"/>
              <a:t>, resulting in prolonged depolarization of the muscle end-plate.</a:t>
            </a:r>
            <a:endParaRPr lang="en-US" sz="3600" b="1" dirty="0"/>
          </a:p>
        </p:txBody>
      </p:sp>
    </p:spTree>
    <p:extLst>
      <p:ext uri="{BB962C8B-B14F-4D97-AF65-F5344CB8AC3E}">
        <p14:creationId xmlns:p14="http://schemas.microsoft.com/office/powerpoint/2010/main" val="378227207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371600" y="914400"/>
            <a:ext cx="7772400" cy="5273675"/>
          </a:xfrm>
        </p:spPr>
        <p:txBody>
          <a:bodyPr>
            <a:normAutofit/>
          </a:bodyPr>
          <a:lstStyle/>
          <a:p>
            <a:pPr marL="0" indent="0">
              <a:buNone/>
            </a:pPr>
            <a:r>
              <a:rPr lang="en-US" sz="3600" b="1" dirty="0" smtClean="0"/>
              <a:t>Continuous end-plate depolarization causes muscle relaxation because opening of </a:t>
            </a:r>
            <a:r>
              <a:rPr lang="en-US" sz="3600" b="1" dirty="0" err="1" smtClean="0"/>
              <a:t>perijunctional</a:t>
            </a:r>
            <a:r>
              <a:rPr lang="en-US" sz="3600" b="1" dirty="0" smtClean="0"/>
              <a:t> sodium channels is time limited (sodium channels rapidly “inactivate” with continuing depolarization; </a:t>
            </a:r>
          </a:p>
          <a:p>
            <a:endParaRPr lang="en-US" dirty="0"/>
          </a:p>
          <a:p>
            <a:endParaRPr lang="en-US" dirty="0"/>
          </a:p>
        </p:txBody>
      </p:sp>
    </p:spTree>
    <p:extLst>
      <p:ext uri="{BB962C8B-B14F-4D97-AF65-F5344CB8AC3E}">
        <p14:creationId xmlns:p14="http://schemas.microsoft.com/office/powerpoint/2010/main" val="22145665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143000" y="533400"/>
            <a:ext cx="8001000" cy="5654675"/>
          </a:xfrm>
        </p:spPr>
        <p:txBody>
          <a:bodyPr>
            <a:noAutofit/>
          </a:bodyPr>
          <a:lstStyle/>
          <a:p>
            <a:pPr marL="0" indent="0">
              <a:buNone/>
            </a:pPr>
            <a:r>
              <a:rPr lang="en-US" sz="3600" b="1" dirty="0" smtClean="0"/>
              <a:t>After the initial excitation and </a:t>
            </a:r>
            <a:r>
              <a:rPr lang="en-US" sz="3600" b="1" dirty="0" err="1" smtClean="0"/>
              <a:t>opening.these</a:t>
            </a:r>
            <a:r>
              <a:rPr lang="en-US" sz="3600" b="1" dirty="0" smtClean="0"/>
              <a:t> sodium channels inactivate and cannot reopen until the end-plate repolarizes. </a:t>
            </a:r>
          </a:p>
          <a:p>
            <a:pPr marL="0" indent="0">
              <a:buNone/>
            </a:pPr>
            <a:r>
              <a:rPr lang="en-US" sz="3600" b="1" dirty="0" smtClean="0"/>
              <a:t>The end-plate cannot repolarize as long as the depolarizing muscle relaxant continues to bind to </a:t>
            </a:r>
            <a:r>
              <a:rPr lang="en-US" sz="3600" b="1" dirty="0" err="1" smtClean="0"/>
              <a:t>ACh</a:t>
            </a:r>
            <a:r>
              <a:rPr lang="en-US" sz="3600" b="1" dirty="0" smtClean="0"/>
              <a:t> receptors; this is called a phase I block. </a:t>
            </a:r>
          </a:p>
        </p:txBody>
      </p:sp>
    </p:spTree>
    <p:extLst>
      <p:ext uri="{BB962C8B-B14F-4D97-AF65-F5344CB8AC3E}">
        <p14:creationId xmlns:p14="http://schemas.microsoft.com/office/powerpoint/2010/main" val="154803900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1371600"/>
            <a:ext cx="7467600" cy="3416320"/>
          </a:xfrm>
          <a:prstGeom prst="rect">
            <a:avLst/>
          </a:prstGeom>
        </p:spPr>
        <p:txBody>
          <a:bodyPr wrap="square">
            <a:spAutoFit/>
          </a:bodyPr>
          <a:lstStyle/>
          <a:p>
            <a:pPr lvl="0">
              <a:spcBef>
                <a:spcPts val="1200"/>
              </a:spcBef>
              <a:buClr>
                <a:srgbClr val="838995"/>
              </a:buClr>
            </a:pPr>
            <a:r>
              <a:rPr lang="en-US" sz="3600" b="1" spc="30" dirty="0">
                <a:cs typeface="Tahoma" pitchFamily="34" charset="0"/>
              </a:rPr>
              <a:t>More prolonged end-plate depolarization can cause poorly understood changes in the </a:t>
            </a:r>
            <a:r>
              <a:rPr lang="en-US" sz="3600" b="1" spc="30" dirty="0" err="1">
                <a:cs typeface="Tahoma" pitchFamily="34" charset="0"/>
              </a:rPr>
              <a:t>ACh</a:t>
            </a:r>
            <a:r>
              <a:rPr lang="en-US" sz="3600" b="1" spc="30" dirty="0">
                <a:cs typeface="Tahoma" pitchFamily="34" charset="0"/>
              </a:rPr>
              <a:t> receptor that result in a phase II block, which clinically resembles that of non depolarizing muscle relaxants</a:t>
            </a:r>
            <a:r>
              <a:rPr lang="en-US" sz="3600" b="1" spc="30" dirty="0">
                <a:solidFill>
                  <a:srgbClr val="FFFFFF"/>
                </a:solidFill>
                <a:cs typeface="Tahoma" pitchFamily="34" charset="0"/>
              </a:rPr>
              <a:t>.</a:t>
            </a:r>
          </a:p>
        </p:txBody>
      </p:sp>
    </p:spTree>
    <p:extLst>
      <p:ext uri="{BB962C8B-B14F-4D97-AF65-F5344CB8AC3E}">
        <p14:creationId xmlns:p14="http://schemas.microsoft.com/office/powerpoint/2010/main" val="31372401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838200" y="609600"/>
            <a:ext cx="8305800" cy="5791200"/>
          </a:xfrm>
        </p:spPr>
        <p:txBody>
          <a:bodyPr>
            <a:noAutofit/>
          </a:bodyPr>
          <a:lstStyle/>
          <a:p>
            <a:pPr marL="0" indent="0">
              <a:buNone/>
            </a:pPr>
            <a:r>
              <a:rPr lang="en-US" sz="3600" b="1" dirty="0" smtClean="0"/>
              <a:t>Non depolarizing muscle relaxants bind </a:t>
            </a:r>
            <a:r>
              <a:rPr lang="en-US" sz="3600" b="1" dirty="0" err="1" smtClean="0"/>
              <a:t>ACh</a:t>
            </a:r>
            <a:r>
              <a:rPr lang="en-US" sz="3600" b="1" dirty="0" smtClean="0"/>
              <a:t> receptors but are incapable of inducing the conformational change necessary for ion channel opening. Because </a:t>
            </a:r>
            <a:r>
              <a:rPr lang="en-US" sz="3600" b="1" dirty="0" err="1" smtClean="0"/>
              <a:t>ACh</a:t>
            </a:r>
            <a:r>
              <a:rPr lang="en-US" sz="3600" b="1" dirty="0" smtClean="0"/>
              <a:t> is prevented from binding to its receptors, no end-plate potential develops. </a:t>
            </a:r>
            <a:endParaRPr lang="en-US" sz="3600" b="1" dirty="0"/>
          </a:p>
        </p:txBody>
      </p:sp>
    </p:spTree>
    <p:extLst>
      <p:ext uri="{BB962C8B-B14F-4D97-AF65-F5344CB8AC3E}">
        <p14:creationId xmlns:p14="http://schemas.microsoft.com/office/powerpoint/2010/main" val="17182416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463675"/>
            <a:ext cx="7924800" cy="4724400"/>
          </a:xfrm>
        </p:spPr>
        <p:txBody>
          <a:bodyPr/>
          <a:lstStyle/>
          <a:p>
            <a:pPr lvl="0">
              <a:buClr>
                <a:srgbClr val="838995"/>
              </a:buClr>
            </a:pPr>
            <a:r>
              <a:rPr lang="en-US" sz="3600" b="1" dirty="0">
                <a:solidFill>
                  <a:schemeClr val="tx1"/>
                </a:solidFill>
              </a:rPr>
              <a:t>depolarizing muscle relaxants act as </a:t>
            </a:r>
            <a:r>
              <a:rPr lang="en-US" sz="3600" b="1" dirty="0" err="1">
                <a:solidFill>
                  <a:schemeClr val="tx1"/>
                </a:solidFill>
              </a:rPr>
              <a:t>ACh</a:t>
            </a:r>
            <a:r>
              <a:rPr lang="en-US" sz="3600" b="1" dirty="0">
                <a:solidFill>
                  <a:schemeClr val="tx1"/>
                </a:solidFill>
              </a:rPr>
              <a:t> receptor </a:t>
            </a:r>
            <a:r>
              <a:rPr lang="en-US" sz="3600" b="1" i="1" dirty="0" smtClean="0">
                <a:solidFill>
                  <a:schemeClr val="tx1"/>
                </a:solidFill>
              </a:rPr>
              <a:t>agonists. </a:t>
            </a:r>
            <a:endParaRPr lang="en-US" sz="3600" b="1" i="1" dirty="0">
              <a:solidFill>
                <a:schemeClr val="tx1"/>
              </a:solidFill>
            </a:endParaRPr>
          </a:p>
          <a:p>
            <a:pPr lvl="0">
              <a:buClr>
                <a:srgbClr val="838995"/>
              </a:buClr>
            </a:pPr>
            <a:r>
              <a:rPr lang="en-US" sz="3600" b="1" dirty="0" smtClean="0">
                <a:solidFill>
                  <a:schemeClr val="tx1"/>
                </a:solidFill>
              </a:rPr>
              <a:t>Whereas Non </a:t>
            </a:r>
            <a:r>
              <a:rPr lang="en-US" sz="3600" b="1" dirty="0">
                <a:solidFill>
                  <a:schemeClr val="tx1"/>
                </a:solidFill>
              </a:rPr>
              <a:t>depolarizing muscle relaxants function as competitive </a:t>
            </a:r>
            <a:r>
              <a:rPr lang="en-US" sz="3600" b="1" i="1" dirty="0">
                <a:solidFill>
                  <a:schemeClr val="tx1"/>
                </a:solidFill>
              </a:rPr>
              <a:t>antagonists.</a:t>
            </a:r>
            <a:r>
              <a:rPr lang="en-US" sz="3600" b="1" dirty="0">
                <a:solidFill>
                  <a:schemeClr val="tx1"/>
                </a:solidFill>
              </a:rPr>
              <a:t> </a:t>
            </a:r>
            <a:r>
              <a:rPr lang="en-US" sz="3600" b="1" dirty="0" smtClean="0">
                <a:solidFill>
                  <a:schemeClr val="tx1"/>
                </a:solidFill>
              </a:rPr>
              <a:t>                                                                 </a:t>
            </a:r>
            <a:endParaRPr lang="en-US" sz="3600" b="1" dirty="0">
              <a:solidFill>
                <a:schemeClr val="tx1"/>
              </a:solidFill>
            </a:endParaRPr>
          </a:p>
        </p:txBody>
      </p:sp>
    </p:spTree>
    <p:extLst>
      <p:ext uri="{BB962C8B-B14F-4D97-AF65-F5344CB8AC3E}">
        <p14:creationId xmlns:p14="http://schemas.microsoft.com/office/powerpoint/2010/main" val="42122888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143000" y="228600"/>
            <a:ext cx="8001000" cy="1066800"/>
          </a:xfrm>
        </p:spPr>
        <p:txBody>
          <a:bodyPr>
            <a:noAutofit/>
          </a:bodyPr>
          <a:lstStyle/>
          <a:p>
            <a:r>
              <a:rPr lang="en-US" b="1" dirty="0" smtClean="0"/>
              <a:t>      Distinctions Between                 Depolarizing and NDMB</a:t>
            </a:r>
            <a:endParaRPr lang="en-US" b="1" dirty="0"/>
          </a:p>
        </p:txBody>
      </p:sp>
      <p:pic>
        <p:nvPicPr>
          <p:cNvPr id="3074" name="Picture 2"/>
          <p:cNvPicPr>
            <a:picLocks noChangeAspect="1" noChangeArrowheads="1"/>
          </p:cNvPicPr>
          <p:nvPr/>
        </p:nvPicPr>
        <p:blipFill rotWithShape="1">
          <a:blip r:embed="rId2">
            <a:duotone>
              <a:prstClr val="black"/>
              <a:srgbClr val="00B0F0">
                <a:tint val="45000"/>
                <a:satMod val="400000"/>
              </a:srgbClr>
            </a:duotone>
            <a:extLst>
              <a:ext uri="{28A0092B-C50C-407E-A947-70E740481C1C}">
                <a14:useLocalDpi xmlns:a14="http://schemas.microsoft.com/office/drawing/2010/main" val="0"/>
              </a:ext>
            </a:extLst>
          </a:blip>
          <a:srcRect l="27063" t="33454" r="20072" b="4820"/>
          <a:stretch/>
        </p:blipFill>
        <p:spPr bwMode="auto">
          <a:xfrm>
            <a:off x="449773" y="1752600"/>
            <a:ext cx="8084627" cy="41614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604436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Metabolism</a:t>
            </a:r>
          </a:p>
        </p:txBody>
      </p:sp>
      <p:sp>
        <p:nvSpPr>
          <p:cNvPr id="2" name="Content Placeholder 1"/>
          <p:cNvSpPr>
            <a:spLocks noGrp="1"/>
          </p:cNvSpPr>
          <p:nvPr>
            <p:ph idx="1"/>
          </p:nvPr>
        </p:nvSpPr>
        <p:spPr>
          <a:xfrm>
            <a:off x="533400" y="1752600"/>
            <a:ext cx="8153400" cy="4434840"/>
          </a:xfrm>
        </p:spPr>
        <p:txBody>
          <a:bodyPr>
            <a:normAutofit/>
          </a:bodyPr>
          <a:lstStyle/>
          <a:p>
            <a:r>
              <a:rPr lang="en-US" dirty="0" smtClean="0"/>
              <a:t> </a:t>
            </a:r>
            <a:r>
              <a:rPr lang="en-US" sz="3200" b="1" dirty="0" err="1" smtClean="0"/>
              <a:t>AChE</a:t>
            </a:r>
            <a:r>
              <a:rPr lang="en-US" sz="3200" b="1" dirty="0" smtClean="0"/>
              <a:t> has an anionic and an </a:t>
            </a:r>
            <a:r>
              <a:rPr lang="en-US" sz="3200" b="1" dirty="0" err="1" smtClean="0"/>
              <a:t>esteratic</a:t>
            </a:r>
            <a:r>
              <a:rPr lang="en-US" sz="3200" b="1" dirty="0" smtClean="0"/>
              <a:t> binding site. The anionic site binds with the </a:t>
            </a:r>
            <a:r>
              <a:rPr lang="en-US" sz="3200" b="1" dirty="0"/>
              <a:t>positively charged quaternary ammonium moiety while the </a:t>
            </a:r>
            <a:r>
              <a:rPr lang="en-US" sz="3200" b="1" dirty="0" err="1"/>
              <a:t>esteratic</a:t>
            </a:r>
            <a:r>
              <a:rPr lang="en-US" sz="3200" b="1" dirty="0"/>
              <a:t> site binds the </a:t>
            </a:r>
            <a:r>
              <a:rPr lang="en-US" sz="3200" b="1" dirty="0" smtClean="0"/>
              <a:t>ester group </a:t>
            </a:r>
            <a:r>
              <a:rPr lang="en-US" sz="3200" b="1" dirty="0"/>
              <a:t>of </a:t>
            </a:r>
            <a:r>
              <a:rPr lang="en-US" sz="3200" b="1" dirty="0" err="1"/>
              <a:t>ACh</a:t>
            </a:r>
            <a:r>
              <a:rPr lang="en-US" sz="3200" b="1" dirty="0"/>
              <a:t>. At the point of </a:t>
            </a:r>
            <a:r>
              <a:rPr lang="en-US" sz="3200" b="1" dirty="0" err="1"/>
              <a:t>ACh</a:t>
            </a:r>
            <a:r>
              <a:rPr lang="en-US" sz="3200" b="1" dirty="0"/>
              <a:t> breakdown choline is released and </a:t>
            </a:r>
            <a:r>
              <a:rPr lang="en-US" sz="3200" b="1" dirty="0" err="1"/>
              <a:t>AChE</a:t>
            </a:r>
            <a:r>
              <a:rPr lang="en-US" sz="3200" b="1" dirty="0"/>
              <a:t> </a:t>
            </a:r>
            <a:r>
              <a:rPr lang="en-US" sz="3200" b="1" dirty="0" smtClean="0"/>
              <a:t>becomes  acetylated</a:t>
            </a:r>
            <a:r>
              <a:rPr lang="en-US" sz="3200" b="1" dirty="0"/>
              <a:t>. The acetylated enzyme is rapidly </a:t>
            </a:r>
            <a:r>
              <a:rPr lang="en-US" sz="3200" b="1" dirty="0" err="1"/>
              <a:t>hydrolysed</a:t>
            </a:r>
            <a:r>
              <a:rPr lang="en-US" sz="3200" b="1" dirty="0"/>
              <a:t> and acetic acid is produced</a:t>
            </a:r>
            <a:r>
              <a:rPr lang="en-US" dirty="0"/>
              <a:t>.</a:t>
            </a:r>
          </a:p>
        </p:txBody>
      </p:sp>
    </p:spTree>
    <p:extLst>
      <p:ext uri="{BB962C8B-B14F-4D97-AF65-F5344CB8AC3E}">
        <p14:creationId xmlns:p14="http://schemas.microsoft.com/office/powerpoint/2010/main" val="1925601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Monitoring Neuromuscular Block</a:t>
            </a:r>
          </a:p>
        </p:txBody>
      </p:sp>
      <p:sp>
        <p:nvSpPr>
          <p:cNvPr id="2" name="Content Placeholder 1"/>
          <p:cNvSpPr>
            <a:spLocks noGrp="1"/>
          </p:cNvSpPr>
          <p:nvPr>
            <p:ph idx="1"/>
          </p:nvPr>
        </p:nvSpPr>
        <p:spPr>
          <a:xfrm>
            <a:off x="352426" y="1463040"/>
            <a:ext cx="8486774" cy="4724400"/>
          </a:xfrm>
        </p:spPr>
        <p:txBody>
          <a:bodyPr>
            <a:noAutofit/>
          </a:bodyPr>
          <a:lstStyle/>
          <a:p>
            <a:r>
              <a:rPr lang="en-US" sz="3200" b="1" dirty="0" smtClean="0"/>
              <a:t>Muscle </a:t>
            </a:r>
            <a:r>
              <a:rPr lang="en-US" sz="3200" b="1" dirty="0"/>
              <a:t>relaxants are monitored by examining the effect they have on muscle </a:t>
            </a:r>
            <a:r>
              <a:rPr lang="en-US" sz="3200" b="1" dirty="0" smtClean="0"/>
              <a:t>contraction following </a:t>
            </a:r>
            <a:r>
              <a:rPr lang="en-US" sz="3200" b="1" dirty="0"/>
              <a:t>stimulation of the relevant nerve. Nerve stimulators must </a:t>
            </a:r>
            <a:r>
              <a:rPr lang="en-US" sz="3200" b="1" dirty="0" smtClean="0"/>
              <a:t>generate a </a:t>
            </a:r>
            <a:r>
              <a:rPr lang="en-US" sz="3200" b="1" dirty="0" err="1"/>
              <a:t>supramaximal</a:t>
            </a:r>
            <a:r>
              <a:rPr lang="en-US" sz="3200" b="1" dirty="0"/>
              <a:t> stimulus (60–80 mA) to ensure that all the composite nerve </a:t>
            </a:r>
            <a:r>
              <a:rPr lang="en-US" sz="3200" b="1" dirty="0" err="1"/>
              <a:t>fibres</a:t>
            </a:r>
            <a:r>
              <a:rPr lang="en-US" sz="3200" b="1" dirty="0"/>
              <a:t> </a:t>
            </a:r>
            <a:r>
              <a:rPr lang="en-US" sz="3200" b="1" dirty="0" smtClean="0"/>
              <a:t>are </a:t>
            </a:r>
            <a:r>
              <a:rPr lang="en-US" sz="3200" b="1" dirty="0" err="1" smtClean="0"/>
              <a:t>depolarised</a:t>
            </a:r>
            <a:r>
              <a:rPr lang="en-US" sz="3200" b="1" dirty="0"/>
              <a:t>. </a:t>
            </a:r>
          </a:p>
        </p:txBody>
      </p:sp>
    </p:spTree>
    <p:extLst>
      <p:ext uri="{BB962C8B-B14F-4D97-AF65-F5344CB8AC3E}">
        <p14:creationId xmlns:p14="http://schemas.microsoft.com/office/powerpoint/2010/main" val="11364896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33400" y="914400"/>
            <a:ext cx="8382000" cy="4800600"/>
          </a:xfrm>
          <a:prstGeom prst="rect">
            <a:avLst/>
          </a:prstGeom>
        </p:spPr>
        <p:txBody>
          <a:bodyPr wrap="square">
            <a:spAutoFit/>
          </a:bodyPr>
          <a:lstStyle/>
          <a:p>
            <a:pPr lvl="0">
              <a:spcBef>
                <a:spcPts val="1200"/>
              </a:spcBef>
              <a:buClr>
                <a:srgbClr val="838995"/>
              </a:buClr>
            </a:pPr>
            <a:r>
              <a:rPr lang="en-US" sz="3200" b="1" spc="30" dirty="0">
                <a:cs typeface="Tahoma" pitchFamily="34" charset="0"/>
              </a:rPr>
              <a:t>The duration of the stimulus is 0.1 milliseconds. The negative electrode should be directly over the nerve while the positive electrode should be placed where it cannot affect the muscle in question.</a:t>
            </a:r>
          </a:p>
          <a:p>
            <a:pPr lvl="0">
              <a:spcBef>
                <a:spcPts val="1200"/>
              </a:spcBef>
              <a:buClr>
                <a:srgbClr val="838995"/>
              </a:buClr>
            </a:pPr>
            <a:r>
              <a:rPr lang="en-US" sz="3200" b="1" spc="30" dirty="0">
                <a:cs typeface="Tahoma" pitchFamily="34" charset="0"/>
              </a:rPr>
              <a:t>There are five main patterns of stimulation that are used and the characteristic responses observed in the relevant muscle reveal information about the block</a:t>
            </a:r>
          </a:p>
        </p:txBody>
      </p:sp>
    </p:spTree>
    <p:extLst>
      <p:ext uri="{BB962C8B-B14F-4D97-AF65-F5344CB8AC3E}">
        <p14:creationId xmlns:p14="http://schemas.microsoft.com/office/powerpoint/2010/main" val="119892301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1923" t="42813" r="22589" b="13956"/>
          <a:stretch/>
        </p:blipFill>
        <p:spPr bwMode="auto">
          <a:xfrm>
            <a:off x="533400" y="990599"/>
            <a:ext cx="8142612" cy="50187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167955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6613525" cy="1066800"/>
          </a:xfrm>
        </p:spPr>
        <p:txBody>
          <a:bodyPr>
            <a:normAutofit fontScale="90000"/>
          </a:bodyPr>
          <a:lstStyle/>
          <a:p>
            <a:r>
              <a:rPr lang="en-US" dirty="0" smtClean="0"/>
              <a:t>Sequence of onset of neuromuscular blockade </a:t>
            </a:r>
            <a:endParaRPr lang="en-US" dirty="0"/>
          </a:p>
        </p:txBody>
      </p:sp>
      <p:sp>
        <p:nvSpPr>
          <p:cNvPr id="4" name="Right Arrow Callout 3"/>
          <p:cNvSpPr/>
          <p:nvPr/>
        </p:nvSpPr>
        <p:spPr>
          <a:xfrm>
            <a:off x="533400" y="2438400"/>
            <a:ext cx="2286000" cy="91440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Eye and digits</a:t>
            </a:r>
            <a:endParaRPr lang="en-US" b="1" dirty="0"/>
          </a:p>
        </p:txBody>
      </p:sp>
      <p:sp>
        <p:nvSpPr>
          <p:cNvPr id="5" name="Right Arrow Callout 4"/>
          <p:cNvSpPr/>
          <p:nvPr/>
        </p:nvSpPr>
        <p:spPr>
          <a:xfrm>
            <a:off x="3048000" y="2836460"/>
            <a:ext cx="2057400" cy="91440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Trunk &amp;</a:t>
            </a:r>
          </a:p>
          <a:p>
            <a:pPr algn="ctr"/>
            <a:r>
              <a:rPr lang="en-US" sz="2000" b="1" dirty="0" smtClean="0"/>
              <a:t>abdomen</a:t>
            </a:r>
            <a:endParaRPr lang="en-US" sz="2000" b="1" dirty="0"/>
          </a:p>
        </p:txBody>
      </p:sp>
      <p:sp>
        <p:nvSpPr>
          <p:cNvPr id="6" name="Right Arrow Callout 5"/>
          <p:cNvSpPr/>
          <p:nvPr/>
        </p:nvSpPr>
        <p:spPr>
          <a:xfrm>
            <a:off x="5410200" y="3352800"/>
            <a:ext cx="2438400" cy="914400"/>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t>Intercostal muscle and diaphragm</a:t>
            </a:r>
            <a:endParaRPr lang="en-US" sz="2000" b="1" dirty="0"/>
          </a:p>
        </p:txBody>
      </p:sp>
      <p:sp>
        <p:nvSpPr>
          <p:cNvPr id="7" name="TextBox 6"/>
          <p:cNvSpPr txBox="1"/>
          <p:nvPr/>
        </p:nvSpPr>
        <p:spPr>
          <a:xfrm>
            <a:off x="2286000" y="5562600"/>
            <a:ext cx="6501716" cy="584775"/>
          </a:xfrm>
          <a:prstGeom prst="rect">
            <a:avLst/>
          </a:prstGeom>
          <a:noFill/>
        </p:spPr>
        <p:txBody>
          <a:bodyPr wrap="none" rtlCol="0">
            <a:spAutoFit/>
          </a:bodyPr>
          <a:lstStyle/>
          <a:p>
            <a:r>
              <a:rPr lang="en-US" sz="3200" b="1" dirty="0" smtClean="0"/>
              <a:t>The reverse is true while recovering </a:t>
            </a:r>
            <a:endParaRPr lang="en-US" sz="3200" b="1" dirty="0"/>
          </a:p>
        </p:txBody>
      </p:sp>
    </p:spTree>
    <p:extLst>
      <p:ext uri="{BB962C8B-B14F-4D97-AF65-F5344CB8AC3E}">
        <p14:creationId xmlns:p14="http://schemas.microsoft.com/office/powerpoint/2010/main" val="32708796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4294967295"/>
          </p:nvPr>
        </p:nvSpPr>
        <p:spPr>
          <a:xfrm>
            <a:off x="685800" y="1371600"/>
            <a:ext cx="8458200" cy="4816475"/>
          </a:xfrm>
        </p:spPr>
        <p:txBody>
          <a:bodyPr>
            <a:normAutofit/>
          </a:bodyPr>
          <a:lstStyle/>
          <a:p>
            <a:r>
              <a:rPr lang="en-US" sz="3900" b="1" dirty="0" smtClean="0"/>
              <a:t>Cholinergic receptors </a:t>
            </a:r>
            <a:r>
              <a:rPr lang="en-US" sz="3900" b="1" dirty="0"/>
              <a:t>subdivided into two major groups based </a:t>
            </a:r>
            <a:r>
              <a:rPr lang="en-US" sz="3900" b="1" dirty="0" smtClean="0"/>
              <a:t>on their </a:t>
            </a:r>
            <a:r>
              <a:rPr lang="en-US" sz="3900" b="1" dirty="0"/>
              <a:t>reaction to the </a:t>
            </a:r>
            <a:r>
              <a:rPr lang="en-US" sz="3900" b="1" dirty="0" smtClean="0"/>
              <a:t> </a:t>
            </a:r>
            <a:r>
              <a:rPr lang="en-US" sz="3900" b="1" dirty="0" err="1"/>
              <a:t>muscarine</a:t>
            </a:r>
            <a:r>
              <a:rPr lang="en-US" sz="3900" b="1" dirty="0"/>
              <a:t> &amp;</a:t>
            </a:r>
            <a:r>
              <a:rPr lang="en-US" sz="3900" b="1" dirty="0" smtClean="0"/>
              <a:t>nicotine . Nicotine stimulates </a:t>
            </a:r>
            <a:r>
              <a:rPr lang="en-US" sz="3900" b="1" dirty="0"/>
              <a:t>the autonomic ganglia and skeletal muscle receptors (</a:t>
            </a:r>
            <a:r>
              <a:rPr lang="en-US" sz="3900" b="1" dirty="0" smtClean="0"/>
              <a:t>nicotinic receptors). </a:t>
            </a:r>
            <a:endParaRPr lang="en-US" sz="3900" b="1" dirty="0"/>
          </a:p>
        </p:txBody>
      </p:sp>
    </p:spTree>
    <p:extLst>
      <p:ext uri="{BB962C8B-B14F-4D97-AF65-F5344CB8AC3E}">
        <p14:creationId xmlns:p14="http://schemas.microsoft.com/office/powerpoint/2010/main" val="231370883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066800"/>
            <a:ext cx="8077200" cy="5121275"/>
          </a:xfrm>
        </p:spPr>
        <p:txBody>
          <a:bodyPr>
            <a:noAutofit/>
          </a:bodyPr>
          <a:lstStyle/>
          <a:p>
            <a:r>
              <a:rPr lang="en-US" sz="3200" b="1" dirty="0"/>
              <a:t>whereas </a:t>
            </a:r>
            <a:r>
              <a:rPr lang="en-US" sz="3200" b="1" dirty="0" err="1"/>
              <a:t>muscarine</a:t>
            </a:r>
            <a:r>
              <a:rPr lang="en-US" sz="3200" b="1" dirty="0"/>
              <a:t> activates end-organ effector cells in </a:t>
            </a:r>
            <a:r>
              <a:rPr lang="en-US" sz="3200" b="1" dirty="0" smtClean="0"/>
              <a:t>bronchia smooth </a:t>
            </a:r>
            <a:r>
              <a:rPr lang="en-US" sz="3200" b="1" dirty="0"/>
              <a:t>muscle, salivary glands, and the </a:t>
            </a:r>
            <a:r>
              <a:rPr lang="en-US" sz="3200" b="1" dirty="0" err="1"/>
              <a:t>sinoatrial</a:t>
            </a:r>
            <a:r>
              <a:rPr lang="en-US" sz="3200" b="1" dirty="0"/>
              <a:t> node (muscarinic receptors</a:t>
            </a:r>
            <a:r>
              <a:rPr lang="en-US" sz="3200" b="1" dirty="0" smtClean="0"/>
              <a:t>).</a:t>
            </a:r>
            <a:endParaRPr lang="en-US" sz="3200" b="1" dirty="0"/>
          </a:p>
          <a:p>
            <a:r>
              <a:rPr lang="en-US" sz="3200" b="1" dirty="0"/>
              <a:t>Nicotinic receptors are blocked by muscle relaxants and muscarinic receptors are blocked by anticholinergic drugs.</a:t>
            </a:r>
          </a:p>
        </p:txBody>
      </p:sp>
    </p:spTree>
    <p:extLst>
      <p:ext uri="{BB962C8B-B14F-4D97-AF65-F5344CB8AC3E}">
        <p14:creationId xmlns:p14="http://schemas.microsoft.com/office/powerpoint/2010/main" val="24450660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762000"/>
            <a:ext cx="7848600" cy="5426075"/>
          </a:xfrm>
        </p:spPr>
        <p:txBody>
          <a:bodyPr>
            <a:normAutofit/>
          </a:bodyPr>
          <a:lstStyle/>
          <a:p>
            <a:r>
              <a:rPr lang="en-US" sz="3200" b="1" dirty="0"/>
              <a:t>Acetylcholine is the neurotransmitter for the entire </a:t>
            </a:r>
            <a:r>
              <a:rPr lang="en-US" sz="3200" b="1" dirty="0" smtClean="0"/>
              <a:t>parasympathetic nervous </a:t>
            </a:r>
            <a:r>
              <a:rPr lang="en-US" sz="3200" b="1" dirty="0"/>
              <a:t>system (parasympathetic ganglions and effector cells), parts </a:t>
            </a:r>
            <a:r>
              <a:rPr lang="en-US" sz="3200" b="1" dirty="0" smtClean="0"/>
              <a:t>of the </a:t>
            </a:r>
            <a:r>
              <a:rPr lang="en-US" sz="3200" b="1" dirty="0"/>
              <a:t>sympathetic nervous system (sympathetic ganglions, </a:t>
            </a:r>
            <a:r>
              <a:rPr lang="en-US" sz="3200" b="1" dirty="0" smtClean="0"/>
              <a:t>adrenal medulla</a:t>
            </a:r>
            <a:r>
              <a:rPr lang="en-US" sz="3200" b="1" dirty="0"/>
              <a:t>, and sweat glands), some neurons in the central </a:t>
            </a:r>
            <a:r>
              <a:rPr lang="en-US" sz="3200" b="1" dirty="0" smtClean="0"/>
              <a:t>nervous system</a:t>
            </a:r>
            <a:r>
              <a:rPr lang="en-US" sz="3200" b="1" dirty="0"/>
              <a:t>, and somatic nerves innervating skeletal muscle</a:t>
            </a:r>
            <a:r>
              <a:rPr lang="en-US" dirty="0"/>
              <a:t>.</a:t>
            </a:r>
          </a:p>
          <a:p>
            <a:endParaRPr lang="en-US" dirty="0"/>
          </a:p>
        </p:txBody>
      </p:sp>
    </p:spTree>
    <p:extLst>
      <p:ext uri="{BB962C8B-B14F-4D97-AF65-F5344CB8AC3E}">
        <p14:creationId xmlns:p14="http://schemas.microsoft.com/office/powerpoint/2010/main" val="37514792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457200" y="533400"/>
            <a:ext cx="8382000" cy="5578475"/>
          </a:xfrm>
        </p:spPr>
        <p:txBody>
          <a:bodyPr>
            <a:noAutofit/>
          </a:bodyPr>
          <a:lstStyle/>
          <a:p>
            <a:r>
              <a:rPr lang="en-US" sz="3200" b="1" dirty="0"/>
              <a:t>Neuromuscular transmission is blocked when </a:t>
            </a:r>
            <a:r>
              <a:rPr lang="en-US" sz="3200" b="1" dirty="0" smtClean="0"/>
              <a:t>non depolarizing muscle relaxants </a:t>
            </a:r>
            <a:r>
              <a:rPr lang="en-US" sz="3200" b="1" dirty="0"/>
              <a:t>compete with acetylcholine to bind to nicotinic </a:t>
            </a:r>
            <a:r>
              <a:rPr lang="en-US" sz="3200" b="1" dirty="0" smtClean="0"/>
              <a:t>cholinergic receptors</a:t>
            </a:r>
            <a:r>
              <a:rPr lang="en-US" sz="3200" b="1" dirty="0"/>
              <a:t>. The cholinesterase inhibitors indirectly increase the </a:t>
            </a:r>
            <a:r>
              <a:rPr lang="en-US" sz="3200" b="1" dirty="0" smtClean="0"/>
              <a:t>amount of </a:t>
            </a:r>
            <a:r>
              <a:rPr lang="en-US" sz="3200" b="1" dirty="0"/>
              <a:t>acetylcholine available to compete with the </a:t>
            </a:r>
            <a:r>
              <a:rPr lang="en-US" sz="3200" b="1" dirty="0" err="1"/>
              <a:t>nondepolarizing</a:t>
            </a:r>
            <a:r>
              <a:rPr lang="en-US" sz="3200" b="1" dirty="0"/>
              <a:t> </a:t>
            </a:r>
            <a:r>
              <a:rPr lang="en-US" sz="3200" b="1" dirty="0" err="1" smtClean="0"/>
              <a:t>agent,thereby</a:t>
            </a:r>
            <a:r>
              <a:rPr lang="en-US" sz="3200" b="1" dirty="0" smtClean="0"/>
              <a:t> </a:t>
            </a:r>
            <a:r>
              <a:rPr lang="en-US" sz="3200" b="1" dirty="0"/>
              <a:t>reestablishing neuromuscular transmission.</a:t>
            </a:r>
          </a:p>
        </p:txBody>
      </p:sp>
    </p:spTree>
    <p:extLst>
      <p:ext uri="{BB962C8B-B14F-4D97-AF65-F5344CB8AC3E}">
        <p14:creationId xmlns:p14="http://schemas.microsoft.com/office/powerpoint/2010/main" val="28545047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5903" t="11146" r="23243"/>
          <a:stretch/>
        </p:blipFill>
        <p:spPr bwMode="auto">
          <a:xfrm>
            <a:off x="457200" y="152401"/>
            <a:ext cx="8229600" cy="594758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1676400" y="6324600"/>
            <a:ext cx="3657600" cy="369332"/>
          </a:xfrm>
          <a:prstGeom prst="rect">
            <a:avLst/>
          </a:prstGeom>
          <a:noFill/>
        </p:spPr>
        <p:txBody>
          <a:bodyPr wrap="square" rtlCol="0">
            <a:spAutoFit/>
          </a:bodyPr>
          <a:lstStyle/>
          <a:p>
            <a:endParaRPr lang="en-US" dirty="0"/>
          </a:p>
        </p:txBody>
      </p:sp>
      <p:sp>
        <p:nvSpPr>
          <p:cNvPr id="7" name="TextBox 6"/>
          <p:cNvSpPr txBox="1"/>
          <p:nvPr/>
        </p:nvSpPr>
        <p:spPr>
          <a:xfrm>
            <a:off x="1828800" y="6477000"/>
            <a:ext cx="3657600" cy="369332"/>
          </a:xfrm>
          <a:prstGeom prst="rect">
            <a:avLst/>
          </a:prstGeom>
          <a:noFill/>
        </p:spPr>
        <p:txBody>
          <a:bodyPr wrap="square" rtlCol="0">
            <a:spAutoFit/>
          </a:bodyPr>
          <a:lstStyle/>
          <a:p>
            <a:endParaRPr lang="en-US" dirty="0"/>
          </a:p>
        </p:txBody>
      </p:sp>
      <p:sp>
        <p:nvSpPr>
          <p:cNvPr id="8" name="TextBox 7"/>
          <p:cNvSpPr txBox="1"/>
          <p:nvPr/>
        </p:nvSpPr>
        <p:spPr>
          <a:xfrm>
            <a:off x="838200" y="6172200"/>
            <a:ext cx="7848600" cy="646331"/>
          </a:xfrm>
          <a:prstGeom prst="rect">
            <a:avLst/>
          </a:prstGeom>
          <a:noFill/>
        </p:spPr>
        <p:txBody>
          <a:bodyPr wrap="square" rtlCol="0">
            <a:spAutoFit/>
          </a:bodyPr>
          <a:lstStyle/>
          <a:p>
            <a:r>
              <a:rPr lang="en-US" dirty="0" smtClean="0"/>
              <a:t>The parasympathetic </a:t>
            </a:r>
            <a:r>
              <a:rPr lang="en-US" dirty="0"/>
              <a:t>nervous system uses acetylcholine as a</a:t>
            </a:r>
          </a:p>
          <a:p>
            <a:r>
              <a:rPr lang="en-US" dirty="0"/>
              <a:t>preganglionic and postganglionic neurotransmitter. </a:t>
            </a:r>
          </a:p>
        </p:txBody>
      </p:sp>
    </p:spTree>
    <p:extLst>
      <p:ext uri="{BB962C8B-B14F-4D97-AF65-F5344CB8AC3E}">
        <p14:creationId xmlns:p14="http://schemas.microsoft.com/office/powerpoint/2010/main" val="259416752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4366" t="11116" r="32786" b="5646"/>
          <a:stretch/>
        </p:blipFill>
        <p:spPr bwMode="auto">
          <a:xfrm>
            <a:off x="609600" y="548272"/>
            <a:ext cx="7162800" cy="58644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520397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33400" y="304800"/>
            <a:ext cx="7985760" cy="1219200"/>
          </a:xfrm>
        </p:spPr>
        <p:txBody>
          <a:bodyPr>
            <a:normAutofit/>
          </a:bodyPr>
          <a:lstStyle/>
          <a:p>
            <a:r>
              <a:rPr lang="en-US" sz="3200" dirty="0" smtClean="0">
                <a:sym typeface="Symbol"/>
              </a:rPr>
              <a:t>.</a:t>
            </a:r>
            <a:r>
              <a:rPr lang="en-US" sz="3200" dirty="0" smtClean="0"/>
              <a:t>Depolarizing muscle relaxant </a:t>
            </a:r>
            <a:r>
              <a:rPr lang="en-US" sz="3200" dirty="0" smtClean="0"/>
              <a:t>SUCCINYLCHOLINE/ </a:t>
            </a:r>
            <a:r>
              <a:rPr lang="en-US" sz="3200" dirty="0" err="1" smtClean="0"/>
              <a:t>suxamethonium</a:t>
            </a:r>
            <a:endParaRPr lang="en-US" sz="3200" dirty="0"/>
          </a:p>
        </p:txBody>
      </p:sp>
      <p:sp>
        <p:nvSpPr>
          <p:cNvPr id="3" name="Content Placeholder 2"/>
          <p:cNvSpPr>
            <a:spLocks noGrp="1"/>
          </p:cNvSpPr>
          <p:nvPr>
            <p:ph sz="half" idx="1"/>
          </p:nvPr>
        </p:nvSpPr>
        <p:spPr>
          <a:xfrm>
            <a:off x="152400" y="1752600"/>
            <a:ext cx="4572000" cy="4632960"/>
          </a:xfrm>
        </p:spPr>
        <p:txBody>
          <a:bodyPr>
            <a:noAutofit/>
          </a:bodyPr>
          <a:lstStyle/>
          <a:p>
            <a:r>
              <a:rPr lang="en-US" sz="2800" b="1" dirty="0" smtClean="0"/>
              <a:t>The </a:t>
            </a:r>
            <a:r>
              <a:rPr lang="en-US" sz="2800" b="1" dirty="0" smtClean="0"/>
              <a:t>only depolarizing muscle relaxant in clinical use. </a:t>
            </a:r>
          </a:p>
          <a:p>
            <a:r>
              <a:rPr lang="en-US" sz="2800" b="1" dirty="0" smtClean="0"/>
              <a:t>suxamethonium consists of two joined Ach Molecule </a:t>
            </a:r>
            <a:r>
              <a:rPr lang="en-US" sz="2800" b="1" dirty="0"/>
              <a:t>which </a:t>
            </a:r>
            <a:r>
              <a:rPr lang="en-US" sz="2800" b="1" dirty="0" smtClean="0"/>
              <a:t>are joined                             </a:t>
            </a:r>
            <a:r>
              <a:rPr lang="en-US" sz="2800" b="1" dirty="0"/>
              <a:t>back-to-back through their acetyl groups</a:t>
            </a:r>
          </a:p>
          <a:p>
            <a:pPr marL="0" indent="0">
              <a:buNone/>
            </a:pPr>
            <a:endParaRPr lang="en-US" sz="2800" b="1" dirty="0" smtClean="0"/>
          </a:p>
        </p:txBody>
      </p:sp>
      <p:sp>
        <p:nvSpPr>
          <p:cNvPr id="5" name="Content Placeholder 4"/>
          <p:cNvSpPr>
            <a:spLocks noGrp="1"/>
          </p:cNvSpPr>
          <p:nvPr>
            <p:ph sz="half" idx="2"/>
          </p:nvPr>
        </p:nvSpPr>
        <p:spPr/>
        <p:txBody>
          <a:bodyPr/>
          <a:lstStyle/>
          <a:p>
            <a:pPr marL="0" indent="0">
              <a:buNone/>
            </a:pP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00600" y="1981200"/>
            <a:ext cx="4038600" cy="457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0053380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4294967295"/>
          </p:nvPr>
        </p:nvSpPr>
        <p:spPr>
          <a:xfrm>
            <a:off x="838200" y="1143000"/>
            <a:ext cx="8305800" cy="5045075"/>
          </a:xfrm>
        </p:spPr>
        <p:txBody>
          <a:bodyPr>
            <a:normAutofit fontScale="92500"/>
          </a:bodyPr>
          <a:lstStyle/>
          <a:p>
            <a:r>
              <a:rPr lang="en-US" sz="3600" b="1" dirty="0"/>
              <a:t>a </a:t>
            </a:r>
            <a:r>
              <a:rPr lang="en-US" sz="3600" b="1" dirty="0" err="1" smtClean="0"/>
              <a:t>colour</a:t>
            </a:r>
            <a:r>
              <a:rPr lang="en-US" sz="3600" b="1" dirty="0" smtClean="0"/>
              <a:t> less </a:t>
            </a:r>
            <a:r>
              <a:rPr lang="en-US" sz="3600" b="1" dirty="0"/>
              <a:t>solution containing </a:t>
            </a:r>
            <a:r>
              <a:rPr lang="en-US" sz="3600" b="1" dirty="0" smtClean="0"/>
              <a:t>50 mg/ml</a:t>
            </a:r>
            <a:endParaRPr lang="en-US" sz="3600" b="1" dirty="0"/>
          </a:p>
          <a:p>
            <a:r>
              <a:rPr lang="en-US" sz="3600" b="1" dirty="0" smtClean="0"/>
              <a:t>Must be stored </a:t>
            </a:r>
            <a:r>
              <a:rPr lang="en-US" sz="3600" b="1" dirty="0"/>
              <a:t>at </a:t>
            </a:r>
            <a:r>
              <a:rPr lang="en-US" sz="3600" b="1" dirty="0" smtClean="0"/>
              <a:t>4°C.   Dose 1-2mg/kg </a:t>
            </a:r>
            <a:endParaRPr lang="en-US" sz="3600" b="1" dirty="0"/>
          </a:p>
          <a:p>
            <a:r>
              <a:rPr lang="en-US" sz="3600" b="1" dirty="0" smtClean="0"/>
              <a:t>used </a:t>
            </a:r>
            <a:r>
              <a:rPr lang="en-US" sz="3600" b="1" dirty="0"/>
              <a:t>to achieve rapid muscle relaxation required during rapid </a:t>
            </a:r>
            <a:r>
              <a:rPr lang="en-US" sz="3600" b="1" dirty="0" smtClean="0"/>
              <a:t>sequence induction </a:t>
            </a:r>
          </a:p>
          <a:p>
            <a:r>
              <a:rPr lang="en-US" sz="3600" b="1" dirty="0" smtClean="0"/>
              <a:t>mechanism </a:t>
            </a:r>
            <a:r>
              <a:rPr lang="en-US" sz="3600" b="1" dirty="0"/>
              <a:t>of </a:t>
            </a:r>
            <a:r>
              <a:rPr lang="en-US" sz="3600" b="1" dirty="0" smtClean="0"/>
              <a:t>Action</a:t>
            </a:r>
          </a:p>
          <a:p>
            <a:r>
              <a:rPr lang="en-US" sz="3600" b="1" dirty="0"/>
              <a:t>Suxamethonium mimics the action of </a:t>
            </a:r>
            <a:r>
              <a:rPr lang="en-US" sz="3600" b="1" dirty="0" err="1"/>
              <a:t>ACh</a:t>
            </a:r>
            <a:r>
              <a:rPr lang="en-US" sz="3600" b="1" dirty="0"/>
              <a:t> by attaching to the nicotinic </a:t>
            </a:r>
            <a:r>
              <a:rPr lang="en-US" sz="3600" b="1" dirty="0" err="1"/>
              <a:t>ACh</a:t>
            </a:r>
            <a:r>
              <a:rPr lang="en-US" sz="3600" b="1" dirty="0"/>
              <a:t> receptor and causing membrane </a:t>
            </a:r>
            <a:r>
              <a:rPr lang="en-US" sz="3600" b="1" dirty="0" err="1"/>
              <a:t>depolarisation</a:t>
            </a:r>
            <a:r>
              <a:rPr lang="en-US" dirty="0"/>
              <a:t>. </a:t>
            </a:r>
          </a:p>
        </p:txBody>
      </p:sp>
    </p:spTree>
    <p:extLst>
      <p:ext uri="{BB962C8B-B14F-4D97-AF65-F5344CB8AC3E}">
        <p14:creationId xmlns:p14="http://schemas.microsoft.com/office/powerpoint/2010/main" val="344321689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457200" y="1295400"/>
            <a:ext cx="8686800" cy="4876800"/>
          </a:xfrm>
        </p:spPr>
        <p:txBody>
          <a:bodyPr>
            <a:noAutofit/>
          </a:bodyPr>
          <a:lstStyle/>
          <a:p>
            <a:r>
              <a:rPr lang="en-US" sz="3200" b="1" dirty="0" smtClean="0"/>
              <a:t>However</a:t>
            </a:r>
            <a:r>
              <a:rPr lang="en-US" sz="3200" b="1" dirty="0"/>
              <a:t>, because its </a:t>
            </a:r>
            <a:r>
              <a:rPr lang="en-US" sz="3200" b="1" dirty="0" err="1"/>
              <a:t>hydrolysing</a:t>
            </a:r>
            <a:r>
              <a:rPr lang="en-US" sz="3200" b="1" dirty="0"/>
              <a:t> enzyme (plasma or pseudo-cholinesterase) is not present at the NMJ its duration of action is longer than that of </a:t>
            </a:r>
            <a:r>
              <a:rPr lang="en-US" sz="3200" b="1" dirty="0" err="1"/>
              <a:t>ACh</a:t>
            </a:r>
            <a:r>
              <a:rPr lang="en-US" sz="3200" b="1" dirty="0"/>
              <a:t>. </a:t>
            </a:r>
            <a:r>
              <a:rPr lang="en-US" sz="3200" b="1" dirty="0" smtClean="0"/>
              <a:t>The </a:t>
            </a:r>
            <a:r>
              <a:rPr lang="en-US" sz="3200" b="1" dirty="0"/>
              <a:t>persistent </a:t>
            </a:r>
            <a:r>
              <a:rPr lang="en-US" sz="3200" b="1" dirty="0" err="1"/>
              <a:t>depolarisation</a:t>
            </a:r>
            <a:r>
              <a:rPr lang="en-US" sz="3200" b="1" dirty="0"/>
              <a:t> produced initiates local current circuits that render the voltage-sensitive Na+ channels within 1–2 </a:t>
            </a:r>
            <a:r>
              <a:rPr lang="en-US" sz="3200" b="1" dirty="0" err="1"/>
              <a:t>millimetres</a:t>
            </a:r>
            <a:r>
              <a:rPr lang="en-US" sz="3200" b="1" dirty="0"/>
              <a:t> inactive prevents the transmission of further action potentials resulting in muscle relaxation</a:t>
            </a:r>
          </a:p>
        </p:txBody>
      </p:sp>
    </p:spTree>
    <p:extLst>
      <p:ext uri="{BB962C8B-B14F-4D97-AF65-F5344CB8AC3E}">
        <p14:creationId xmlns:p14="http://schemas.microsoft.com/office/powerpoint/2010/main" val="126061941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Metabolism &amp; Excretion</a:t>
            </a:r>
          </a:p>
        </p:txBody>
      </p:sp>
      <p:sp>
        <p:nvSpPr>
          <p:cNvPr id="3" name="Content Placeholder 2"/>
          <p:cNvSpPr>
            <a:spLocks noGrp="1"/>
          </p:cNvSpPr>
          <p:nvPr>
            <p:ph idx="1"/>
          </p:nvPr>
        </p:nvSpPr>
        <p:spPr>
          <a:xfrm>
            <a:off x="352426" y="1463040"/>
            <a:ext cx="8334374" cy="4724400"/>
          </a:xfrm>
        </p:spPr>
        <p:txBody>
          <a:bodyPr>
            <a:noAutofit/>
          </a:bodyPr>
          <a:lstStyle/>
          <a:p>
            <a:pPr lvl="0"/>
            <a:r>
              <a:rPr lang="en-US" sz="3600" b="1" dirty="0" smtClean="0"/>
              <a:t>Succinylcholine remains popular due to its rapid onset of action (30–60 s) and short duration of </a:t>
            </a:r>
            <a:r>
              <a:rPr lang="en-US" sz="3600" b="1" dirty="0" smtClean="0">
                <a:solidFill>
                  <a:schemeClr val="tx1"/>
                </a:solidFill>
              </a:rPr>
              <a:t>action </a:t>
            </a:r>
            <a:r>
              <a:rPr lang="en-US" sz="3600" b="1" dirty="0">
                <a:solidFill>
                  <a:schemeClr val="tx1"/>
                </a:solidFill>
              </a:rPr>
              <a:t> </a:t>
            </a:r>
            <a:r>
              <a:rPr lang="en-US" sz="3600" b="1" dirty="0">
                <a:solidFill>
                  <a:schemeClr val="tx1"/>
                </a:solidFill>
                <a:sym typeface="Symbol"/>
              </a:rPr>
              <a:t>&lt;</a:t>
            </a:r>
            <a:r>
              <a:rPr lang="en-US" sz="3600" b="1" dirty="0" smtClean="0">
                <a:solidFill>
                  <a:schemeClr val="tx1"/>
                </a:solidFill>
              </a:rPr>
              <a:t>10 min). As succinylcholine enters the </a:t>
            </a:r>
            <a:r>
              <a:rPr lang="en-US" sz="3600" b="1" dirty="0" err="1" smtClean="0">
                <a:solidFill>
                  <a:schemeClr val="tx1"/>
                </a:solidFill>
              </a:rPr>
              <a:t>circulation,most</a:t>
            </a:r>
            <a:r>
              <a:rPr lang="en-US" sz="3600" b="1" dirty="0" smtClean="0">
                <a:solidFill>
                  <a:schemeClr val="tx1"/>
                </a:solidFill>
              </a:rPr>
              <a:t> </a:t>
            </a:r>
            <a:r>
              <a:rPr lang="en-US" sz="3600" b="1" dirty="0">
                <a:solidFill>
                  <a:schemeClr val="tx1"/>
                </a:solidFill>
              </a:rPr>
              <a:t>of it is rapidly metabolized by plasma or  pseudo </a:t>
            </a:r>
            <a:r>
              <a:rPr lang="en-US" sz="3600" b="1" dirty="0" smtClean="0">
                <a:solidFill>
                  <a:schemeClr val="tx1"/>
                </a:solidFill>
              </a:rPr>
              <a:t>cholinesterase into </a:t>
            </a:r>
            <a:r>
              <a:rPr lang="en-US" sz="3600" b="1" dirty="0">
                <a:solidFill>
                  <a:schemeClr val="tx1"/>
                </a:solidFill>
              </a:rPr>
              <a:t>choline and  </a:t>
            </a:r>
            <a:r>
              <a:rPr lang="en-US" sz="3600" b="1" dirty="0" err="1">
                <a:solidFill>
                  <a:schemeClr val="tx1"/>
                </a:solidFill>
              </a:rPr>
              <a:t>succinylmonocholine</a:t>
            </a:r>
            <a:r>
              <a:rPr lang="en-US" sz="3600" b="1" dirty="0">
                <a:solidFill>
                  <a:schemeClr val="tx1"/>
                </a:solidFill>
              </a:rPr>
              <a:t>.</a:t>
            </a:r>
          </a:p>
          <a:p>
            <a:endParaRPr lang="en-US" sz="3600" b="1" dirty="0"/>
          </a:p>
        </p:txBody>
      </p:sp>
    </p:spTree>
    <p:extLst>
      <p:ext uri="{BB962C8B-B14F-4D97-AF65-F5344CB8AC3E}">
        <p14:creationId xmlns:p14="http://schemas.microsoft.com/office/powerpoint/2010/main" val="9369716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463675"/>
            <a:ext cx="7419975" cy="4724400"/>
          </a:xfrm>
        </p:spPr>
        <p:txBody>
          <a:bodyPr>
            <a:normAutofit/>
          </a:bodyPr>
          <a:lstStyle/>
          <a:p>
            <a:pPr lvl="0">
              <a:buClr>
                <a:srgbClr val="838995"/>
              </a:buClr>
            </a:pPr>
            <a:r>
              <a:rPr lang="en-US" sz="3600" b="1" dirty="0" smtClean="0">
                <a:solidFill>
                  <a:schemeClr val="tx1"/>
                </a:solidFill>
              </a:rPr>
              <a:t>only </a:t>
            </a:r>
            <a:r>
              <a:rPr lang="en-US" sz="3600" b="1" dirty="0">
                <a:solidFill>
                  <a:schemeClr val="tx1"/>
                </a:solidFill>
              </a:rPr>
              <a:t>20% of the initial intravenous dose reaches the NMJ, so that the rate of hydrolysis becomes a critical factor in determining the duration of the neuromuscular block. </a:t>
            </a:r>
          </a:p>
        </p:txBody>
      </p:sp>
    </p:spTree>
    <p:extLst>
      <p:ext uri="{BB962C8B-B14F-4D97-AF65-F5344CB8AC3E}">
        <p14:creationId xmlns:p14="http://schemas.microsoft.com/office/powerpoint/2010/main" val="165082253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990600"/>
            <a:ext cx="7572375" cy="5197475"/>
          </a:xfrm>
        </p:spPr>
        <p:txBody>
          <a:bodyPr>
            <a:normAutofit/>
          </a:bodyPr>
          <a:lstStyle/>
          <a:p>
            <a:r>
              <a:rPr lang="en-US" sz="3200" b="1" dirty="0"/>
              <a:t> </a:t>
            </a:r>
            <a:r>
              <a:rPr lang="en-US" sz="3200" b="1" dirty="0" smtClean="0"/>
              <a:t> </a:t>
            </a:r>
            <a:r>
              <a:rPr lang="en-US" sz="3200" b="1" dirty="0"/>
              <a:t>Succinylmonocholine </a:t>
            </a:r>
            <a:r>
              <a:rPr lang="en-US" sz="3200" b="1" dirty="0" smtClean="0"/>
              <a:t>is metabolized </a:t>
            </a:r>
            <a:r>
              <a:rPr lang="en-US" sz="3200" b="1" dirty="0"/>
              <a:t>further by plasma cholinesterase to succinic acid and choline. Because </a:t>
            </a:r>
            <a:r>
              <a:rPr lang="en-US" sz="3200" b="1" dirty="0" smtClean="0"/>
              <a:t>metabolism </a:t>
            </a:r>
            <a:r>
              <a:rPr lang="en-US" sz="3200" b="1" dirty="0"/>
              <a:t>is rapid, less than 10% is excreted in the urine             </a:t>
            </a:r>
            <a:endParaRPr lang="en-US" sz="3200" b="1" dirty="0" smtClean="0"/>
          </a:p>
          <a:p>
            <a:r>
              <a:rPr lang="en-US" sz="3200" b="1" dirty="0" smtClean="0"/>
              <a:t>  As drug levels fall in blood, succinylcholine molecules diffuse away from the neuromuscular </a:t>
            </a:r>
            <a:r>
              <a:rPr lang="en-US" sz="3200" b="1" dirty="0" err="1" smtClean="0"/>
              <a:t>junction,limiting</a:t>
            </a:r>
            <a:r>
              <a:rPr lang="en-US" sz="3200" b="1" dirty="0" smtClean="0"/>
              <a:t> the duration of action.</a:t>
            </a:r>
            <a:endParaRPr lang="en-US" sz="3200" b="1" dirty="0"/>
          </a:p>
        </p:txBody>
      </p:sp>
    </p:spTree>
    <p:extLst>
      <p:ext uri="{BB962C8B-B14F-4D97-AF65-F5344CB8AC3E}">
        <p14:creationId xmlns:p14="http://schemas.microsoft.com/office/powerpoint/2010/main" val="398911232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70" t="5600" r="26260" b="3260"/>
          <a:stretch/>
        </p:blipFill>
        <p:spPr bwMode="auto">
          <a:xfrm>
            <a:off x="838200" y="590266"/>
            <a:ext cx="7620000" cy="55819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946513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838200" y="1219200"/>
            <a:ext cx="6765925" cy="4968875"/>
          </a:xfrm>
        </p:spPr>
        <p:txBody>
          <a:bodyPr/>
          <a:lstStyle/>
          <a:p>
            <a:r>
              <a:rPr lang="en-US" sz="4400" spc="0" dirty="0" smtClean="0">
                <a:solidFill>
                  <a:schemeClr val="tx1"/>
                </a:solidFill>
                <a:ea typeface="+mj-ea"/>
              </a:rPr>
              <a:t>What will be the effect of decrease plasma  pseudo </a:t>
            </a:r>
            <a:r>
              <a:rPr lang="en-US" sz="4400" spc="0" dirty="0">
                <a:solidFill>
                  <a:schemeClr val="tx1"/>
                </a:solidFill>
                <a:ea typeface="+mj-ea"/>
              </a:rPr>
              <a:t>cholinesterase ?</a:t>
            </a:r>
            <a:endParaRPr lang="en-US" sz="4400" dirty="0">
              <a:solidFill>
                <a:schemeClr val="tx1"/>
              </a:solidFill>
            </a:endParaRPr>
          </a:p>
        </p:txBody>
      </p:sp>
    </p:spTree>
    <p:extLst>
      <p:ext uri="{BB962C8B-B14F-4D97-AF65-F5344CB8AC3E}">
        <p14:creationId xmlns:p14="http://schemas.microsoft.com/office/powerpoint/2010/main" val="316520505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7848600" cy="1066800"/>
          </a:xfrm>
        </p:spPr>
        <p:txBody>
          <a:bodyPr>
            <a:normAutofit fontScale="90000"/>
          </a:bodyPr>
          <a:lstStyle/>
          <a:p>
            <a:r>
              <a:rPr lang="en-US" dirty="0" smtClean="0"/>
              <a:t>Drugs known to decrease pseudo cholinesterase activity.</a:t>
            </a:r>
            <a:endParaRPr lang="en-US" dirty="0"/>
          </a:p>
        </p:txBody>
      </p:sp>
      <p:pic>
        <p:nvPicPr>
          <p:cNvPr id="5122"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6853" t="11840" r="28883"/>
          <a:stretch/>
        </p:blipFill>
        <p:spPr bwMode="auto">
          <a:xfrm>
            <a:off x="685800" y="1447800"/>
            <a:ext cx="82296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19859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219200"/>
            <a:ext cx="8686800" cy="4953000"/>
          </a:xfrm>
        </p:spPr>
        <p:txBody>
          <a:bodyPr>
            <a:noAutofit/>
          </a:bodyPr>
          <a:lstStyle/>
          <a:p>
            <a:r>
              <a:rPr lang="en-US" sz="3200" b="1" dirty="0" smtClean="0"/>
              <a:t>1.Arrhythmias </a:t>
            </a:r>
            <a:r>
              <a:rPr lang="en-US" sz="3200" b="1" dirty="0"/>
              <a:t>– </a:t>
            </a:r>
            <a:r>
              <a:rPr lang="en-US" sz="3200" b="1" dirty="0" smtClean="0"/>
              <a:t> </a:t>
            </a:r>
            <a:r>
              <a:rPr lang="en-US" sz="3200" b="1" dirty="0" err="1"/>
              <a:t>bradycardia</a:t>
            </a:r>
            <a:r>
              <a:rPr lang="en-US" sz="3200" b="1" dirty="0"/>
              <a:t>, and </a:t>
            </a:r>
            <a:r>
              <a:rPr lang="en-US" sz="3200" b="1" dirty="0" err="1" smtClean="0"/>
              <a:t>V.arrhythmia</a:t>
            </a:r>
            <a:endParaRPr lang="en-US" sz="3200" b="1" dirty="0" smtClean="0"/>
          </a:p>
          <a:p>
            <a:r>
              <a:rPr lang="en-US" sz="3200" b="1" dirty="0" smtClean="0"/>
              <a:t>2.Hyperkalaemia </a:t>
            </a:r>
            <a:r>
              <a:rPr lang="en-US" sz="3200" b="1" dirty="0"/>
              <a:t>– a small rise in serum K+ is expected </a:t>
            </a:r>
            <a:r>
              <a:rPr lang="en-US" sz="3200" b="1" dirty="0" smtClean="0"/>
              <a:t>.</a:t>
            </a:r>
          </a:p>
          <a:p>
            <a:r>
              <a:rPr lang="en-US" sz="3200" b="1" dirty="0" smtClean="0"/>
              <a:t>3.Myalgia </a:t>
            </a:r>
            <a:r>
              <a:rPr lang="en-US" sz="3200" b="1" dirty="0"/>
              <a:t>– muscle pains are commonest in young </a:t>
            </a:r>
            <a:r>
              <a:rPr lang="en-US" sz="3200" b="1" dirty="0" smtClean="0"/>
              <a:t>females                                                </a:t>
            </a:r>
            <a:r>
              <a:rPr lang="en-US" sz="3200" b="1" i="1" dirty="0" err="1" smtClean="0">
                <a:solidFill>
                  <a:schemeClr val="accent3">
                    <a:lumMod val="60000"/>
                    <a:lumOff val="40000"/>
                  </a:schemeClr>
                </a:solidFill>
              </a:rPr>
              <a:t>fasciculations</a:t>
            </a:r>
            <a:r>
              <a:rPr lang="en-US" sz="3200" b="1" dirty="0"/>
              <a:t> </a:t>
            </a:r>
            <a:r>
              <a:rPr lang="en-US" sz="3200" b="1" dirty="0" smtClean="0"/>
              <a:t>is a brief spontaneous contraction affecting a small number of muscle </a:t>
            </a:r>
            <a:r>
              <a:rPr lang="en-US" sz="3200" b="1" dirty="0" err="1" smtClean="0"/>
              <a:t>fiber,often</a:t>
            </a:r>
            <a:r>
              <a:rPr lang="en-US" sz="3200" b="1" dirty="0" smtClean="0"/>
              <a:t> </a:t>
            </a:r>
            <a:r>
              <a:rPr lang="en-US" sz="3200" b="1" dirty="0" err="1" smtClean="0"/>
              <a:t>causeing</a:t>
            </a:r>
            <a:r>
              <a:rPr lang="en-US" sz="3200" b="1" dirty="0" smtClean="0"/>
              <a:t> a flicker of movement under the skin.</a:t>
            </a:r>
          </a:p>
        </p:txBody>
      </p:sp>
      <p:sp>
        <p:nvSpPr>
          <p:cNvPr id="2" name="Title 1"/>
          <p:cNvSpPr>
            <a:spLocks noGrp="1"/>
          </p:cNvSpPr>
          <p:nvPr>
            <p:ph type="title" idx="4294967295"/>
          </p:nvPr>
        </p:nvSpPr>
        <p:spPr>
          <a:xfrm>
            <a:off x="0" y="228600"/>
            <a:ext cx="7680325" cy="1066800"/>
          </a:xfrm>
        </p:spPr>
        <p:txBody>
          <a:bodyPr/>
          <a:lstStyle/>
          <a:p>
            <a:r>
              <a:rPr lang="en-US" dirty="0"/>
              <a:t>Other Effects</a:t>
            </a:r>
          </a:p>
        </p:txBody>
      </p:sp>
    </p:spTree>
    <p:extLst>
      <p:ext uri="{BB962C8B-B14F-4D97-AF65-F5344CB8AC3E}">
        <p14:creationId xmlns:p14="http://schemas.microsoft.com/office/powerpoint/2010/main" val="282499967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524000" y="1143000"/>
            <a:ext cx="7620000" cy="5045075"/>
          </a:xfrm>
        </p:spPr>
        <p:txBody>
          <a:bodyPr/>
          <a:lstStyle/>
          <a:p>
            <a:pPr lvl="0">
              <a:buClr>
                <a:srgbClr val="838995"/>
              </a:buClr>
            </a:pPr>
            <a:r>
              <a:rPr lang="en-US" sz="3200" b="1" dirty="0">
                <a:solidFill>
                  <a:schemeClr val="tx1"/>
                </a:solidFill>
              </a:rPr>
              <a:t>4. IOP – </a:t>
            </a:r>
            <a:r>
              <a:rPr lang="en-US" sz="3200" b="1" dirty="0">
                <a:solidFill>
                  <a:schemeClr val="tx1"/>
                </a:solidFill>
                <a:sym typeface="Symbol"/>
              </a:rPr>
              <a:t> </a:t>
            </a:r>
            <a:r>
              <a:rPr lang="en-US" sz="3200" b="1" dirty="0">
                <a:solidFill>
                  <a:schemeClr val="tx1"/>
                </a:solidFill>
              </a:rPr>
              <a:t>by about 10 mmHg for a matter of minutes and it is  significant in the presence of  global </a:t>
            </a:r>
            <a:r>
              <a:rPr lang="en-US" sz="3200" b="1" dirty="0" smtClean="0">
                <a:solidFill>
                  <a:schemeClr val="tx1"/>
                </a:solidFill>
              </a:rPr>
              <a:t>perforation.so C/I for open eye injury. </a:t>
            </a:r>
            <a:endParaRPr lang="en-US" sz="3200" b="1" dirty="0">
              <a:solidFill>
                <a:schemeClr val="tx1"/>
              </a:solidFill>
            </a:endParaRPr>
          </a:p>
        </p:txBody>
      </p:sp>
    </p:spTree>
    <p:extLst>
      <p:ext uri="{BB962C8B-B14F-4D97-AF65-F5344CB8AC3E}">
        <p14:creationId xmlns:p14="http://schemas.microsoft.com/office/powerpoint/2010/main" val="216522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219200" y="838200"/>
            <a:ext cx="7924800" cy="5349875"/>
          </a:xfrm>
        </p:spPr>
        <p:txBody>
          <a:bodyPr>
            <a:normAutofit fontScale="92500" lnSpcReduction="20000"/>
          </a:bodyPr>
          <a:lstStyle/>
          <a:p>
            <a:r>
              <a:rPr lang="en-US" sz="3600" b="1" dirty="0" smtClean="0"/>
              <a:t>5.Intragastric </a:t>
            </a:r>
            <a:r>
              <a:rPr lang="en-US" sz="3600" b="1" dirty="0"/>
              <a:t>pressure – rises by about 10 cmH2O, but as the lower </a:t>
            </a:r>
            <a:r>
              <a:rPr lang="en-US" sz="3600" b="1" dirty="0" err="1"/>
              <a:t>oesophageal</a:t>
            </a:r>
            <a:r>
              <a:rPr lang="en-US" sz="3600" b="1" dirty="0"/>
              <a:t> </a:t>
            </a:r>
            <a:r>
              <a:rPr lang="en-US" sz="3600" b="1" dirty="0" smtClean="0"/>
              <a:t>sphincter tone </a:t>
            </a:r>
            <a:r>
              <a:rPr lang="en-US" sz="3600" b="1" dirty="0"/>
              <a:t>increases simultaneously there is no increased risk of reflux</a:t>
            </a:r>
            <a:r>
              <a:rPr lang="en-US" sz="3600" b="1" dirty="0" smtClean="0"/>
              <a:t>.</a:t>
            </a:r>
          </a:p>
          <a:p>
            <a:r>
              <a:rPr lang="en-US" sz="3600" b="1" dirty="0"/>
              <a:t>6. Anaphylaxis – suxamethonium is twice as likely to cause anaphylaxis compared </a:t>
            </a:r>
            <a:r>
              <a:rPr lang="en-US" sz="3600" b="1" dirty="0" smtClean="0"/>
              <a:t>to NDMRs</a:t>
            </a:r>
            <a:r>
              <a:rPr lang="en-US" sz="3600" b="1" dirty="0"/>
              <a:t>, </a:t>
            </a:r>
            <a:endParaRPr lang="en-US" sz="3600" b="1" dirty="0" smtClean="0"/>
          </a:p>
          <a:p>
            <a:r>
              <a:rPr lang="en-US" sz="3600" b="1" dirty="0"/>
              <a:t>7. Malignant </a:t>
            </a:r>
            <a:r>
              <a:rPr lang="en-US" sz="3600" b="1" dirty="0" smtClean="0"/>
              <a:t>hyperthermia</a:t>
            </a:r>
          </a:p>
          <a:p>
            <a:r>
              <a:rPr lang="en-US" sz="3600" b="1" dirty="0" smtClean="0"/>
              <a:t>8.Prolonged </a:t>
            </a:r>
            <a:r>
              <a:rPr lang="en-US" sz="3600" b="1" dirty="0"/>
              <a:t>neuromuscular </a:t>
            </a:r>
            <a:r>
              <a:rPr lang="en-US" sz="3600" b="1" dirty="0" smtClean="0"/>
              <a:t>block</a:t>
            </a:r>
          </a:p>
          <a:p>
            <a:r>
              <a:rPr lang="en-US" sz="3600" b="1" dirty="0" smtClean="0"/>
              <a:t>9.Transite increase in ICP</a:t>
            </a:r>
          </a:p>
          <a:p>
            <a:endParaRPr lang="en-US" dirty="0"/>
          </a:p>
        </p:txBody>
      </p:sp>
    </p:spTree>
    <p:extLst>
      <p:ext uri="{BB962C8B-B14F-4D97-AF65-F5344CB8AC3E}">
        <p14:creationId xmlns:p14="http://schemas.microsoft.com/office/powerpoint/2010/main" val="41840595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Prolonged Block (Suxamethonium </a:t>
            </a:r>
            <a:r>
              <a:rPr lang="en-US" dirty="0" err="1"/>
              <a:t>Apnoea</a:t>
            </a:r>
            <a:r>
              <a:rPr lang="en-US" dirty="0"/>
              <a:t>)</a:t>
            </a:r>
          </a:p>
        </p:txBody>
      </p:sp>
      <p:sp>
        <p:nvSpPr>
          <p:cNvPr id="3" name="Content Placeholder 2"/>
          <p:cNvSpPr>
            <a:spLocks noGrp="1"/>
          </p:cNvSpPr>
          <p:nvPr>
            <p:ph idx="1"/>
          </p:nvPr>
        </p:nvSpPr>
        <p:spPr>
          <a:xfrm>
            <a:off x="352426" y="1524000"/>
            <a:ext cx="8258174" cy="4724400"/>
          </a:xfrm>
        </p:spPr>
        <p:txBody>
          <a:bodyPr>
            <a:noAutofit/>
          </a:bodyPr>
          <a:lstStyle/>
          <a:p>
            <a:r>
              <a:rPr lang="en-US" sz="3200" b="1" dirty="0"/>
              <a:t>Plasma cholinesterase activity may be reduced due to genetic variability or acquired </a:t>
            </a:r>
            <a:r>
              <a:rPr lang="en-US" sz="3200" b="1" dirty="0" smtClean="0"/>
              <a:t>conditions</a:t>
            </a:r>
            <a:r>
              <a:rPr lang="en-US" sz="3200" b="1" dirty="0"/>
              <a:t>, leading to prolonged neuromuscular block. </a:t>
            </a:r>
            <a:endParaRPr lang="en-US" sz="3200" b="1" dirty="0" smtClean="0"/>
          </a:p>
          <a:p>
            <a:r>
              <a:rPr lang="en-US" sz="3200" b="1" dirty="0" smtClean="0"/>
              <a:t>Single </a:t>
            </a:r>
            <a:r>
              <a:rPr lang="en-US" sz="3200" b="1" dirty="0"/>
              <a:t>amino acid substitutions </a:t>
            </a:r>
            <a:r>
              <a:rPr lang="en-US" sz="3200" b="1" dirty="0" smtClean="0"/>
              <a:t>are responsible </a:t>
            </a:r>
            <a:r>
              <a:rPr lang="en-US" sz="3200" b="1" dirty="0"/>
              <a:t>for genetically altered enzymatic </a:t>
            </a:r>
            <a:r>
              <a:rPr lang="en-US" sz="3200" b="1" dirty="0" smtClean="0"/>
              <a:t>activity.96%  </a:t>
            </a:r>
            <a:r>
              <a:rPr lang="en-US" sz="3200" b="1" dirty="0"/>
              <a:t>of the population is homozygous for the normal </a:t>
            </a:r>
            <a:r>
              <a:rPr lang="en-US" sz="3200" b="1" dirty="0" err="1"/>
              <a:t>Eu</a:t>
            </a:r>
            <a:r>
              <a:rPr lang="en-US" sz="3200" b="1" dirty="0"/>
              <a:t> gene </a:t>
            </a:r>
            <a:r>
              <a:rPr lang="en-US" sz="3200" b="1" dirty="0" smtClean="0"/>
              <a:t>and </a:t>
            </a:r>
            <a:r>
              <a:rPr lang="en-US" sz="3200" b="1" dirty="0" err="1" smtClean="0"/>
              <a:t>metabolise</a:t>
            </a:r>
            <a:r>
              <a:rPr lang="en-US" sz="3200" b="1" dirty="0" smtClean="0"/>
              <a:t> </a:t>
            </a:r>
            <a:r>
              <a:rPr lang="en-US" sz="3200" b="1" dirty="0"/>
              <a:t>suxamethonium </a:t>
            </a:r>
            <a:r>
              <a:rPr lang="en-US" sz="3200" b="1" dirty="0" smtClean="0"/>
              <a:t>rapidly </a:t>
            </a:r>
            <a:endParaRPr lang="en-US" sz="3200" b="1" dirty="0"/>
          </a:p>
        </p:txBody>
      </p:sp>
    </p:spTree>
    <p:extLst>
      <p:ext uri="{BB962C8B-B14F-4D97-AF65-F5344CB8AC3E}">
        <p14:creationId xmlns:p14="http://schemas.microsoft.com/office/powerpoint/2010/main" val="63528464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09600" y="1219200"/>
            <a:ext cx="7696200" cy="4724400"/>
          </a:xfrm>
        </p:spPr>
        <p:txBody>
          <a:bodyPr>
            <a:normAutofit lnSpcReduction="10000"/>
          </a:bodyPr>
          <a:lstStyle/>
          <a:p>
            <a:r>
              <a:rPr lang="en-US" sz="3600" b="1" dirty="0" smtClean="0"/>
              <a:t>Up </a:t>
            </a:r>
            <a:r>
              <a:rPr lang="en-US" sz="3600" b="1" dirty="0"/>
              <a:t>to 4% may be heterozygotes resulting in a mildly prolonged block of up to 10 minutes, while a very small fraction may have a genotype that confers a block of a few hours. This prolonged block may be reversed by administration </a:t>
            </a:r>
            <a:r>
              <a:rPr lang="en-US" sz="3600" b="1" dirty="0" smtClean="0"/>
              <a:t>of fresh </a:t>
            </a:r>
            <a:r>
              <a:rPr lang="en-US" sz="3600" b="1" dirty="0"/>
              <a:t>frozen plasma</a:t>
            </a:r>
            <a:r>
              <a:rPr lang="en-US" dirty="0"/>
              <a:t>,</a:t>
            </a:r>
          </a:p>
        </p:txBody>
      </p:sp>
    </p:spTree>
    <p:extLst>
      <p:ext uri="{BB962C8B-B14F-4D97-AF65-F5344CB8AC3E}">
        <p14:creationId xmlns:p14="http://schemas.microsoft.com/office/powerpoint/2010/main" val="246554822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457200" y="609600"/>
            <a:ext cx="7451725" cy="5334000"/>
          </a:xfrm>
        </p:spPr>
        <p:txBody>
          <a:bodyPr>
            <a:normAutofit/>
          </a:bodyPr>
          <a:lstStyle/>
          <a:p>
            <a:pPr lvl="0">
              <a:buClr>
                <a:srgbClr val="838995"/>
              </a:buClr>
            </a:pPr>
            <a:r>
              <a:rPr lang="en-US" sz="3600" b="1" dirty="0" err="1">
                <a:solidFill>
                  <a:schemeClr val="tx1"/>
                </a:solidFill>
              </a:rPr>
              <a:t>Dibucaine</a:t>
            </a:r>
            <a:r>
              <a:rPr lang="en-US" sz="3600" b="1" dirty="0">
                <a:solidFill>
                  <a:schemeClr val="tx1"/>
                </a:solidFill>
              </a:rPr>
              <a:t> (</a:t>
            </a:r>
            <a:r>
              <a:rPr lang="en-US" sz="3600" b="1" dirty="0" err="1">
                <a:solidFill>
                  <a:schemeClr val="tx1"/>
                </a:solidFill>
              </a:rPr>
              <a:t>cinchocaine</a:t>
            </a:r>
            <a:r>
              <a:rPr lang="en-US" sz="3600" b="1" dirty="0">
                <a:solidFill>
                  <a:schemeClr val="tx1"/>
                </a:solidFill>
              </a:rPr>
              <a:t>) is an amide local </a:t>
            </a:r>
            <a:r>
              <a:rPr lang="en-US" sz="3600" b="1" dirty="0" err="1">
                <a:solidFill>
                  <a:schemeClr val="tx1"/>
                </a:solidFill>
              </a:rPr>
              <a:t>anaesthetic</a:t>
            </a:r>
            <a:r>
              <a:rPr lang="en-US" sz="3600" b="1" dirty="0">
                <a:solidFill>
                  <a:schemeClr val="tx1"/>
                </a:solidFill>
              </a:rPr>
              <a:t> that inhibits normal plasma cholinesterase. However, it inhibits the variant forms of plasma cholinesterase less effectively </a:t>
            </a:r>
          </a:p>
        </p:txBody>
      </p:sp>
    </p:spTree>
    <p:extLst>
      <p:ext uri="{BB962C8B-B14F-4D97-AF65-F5344CB8AC3E}">
        <p14:creationId xmlns:p14="http://schemas.microsoft.com/office/powerpoint/2010/main" val="352628601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381000" y="609600"/>
            <a:ext cx="8305800" cy="4953000"/>
          </a:xfrm>
        </p:spPr>
        <p:txBody>
          <a:bodyPr>
            <a:noAutofit/>
          </a:bodyPr>
          <a:lstStyle/>
          <a:p>
            <a:r>
              <a:rPr lang="en-US" sz="3200" b="1" dirty="0" err="1" smtClean="0"/>
              <a:t>Dibucaine</a:t>
            </a:r>
            <a:r>
              <a:rPr lang="en-US" sz="3200" b="1" dirty="0" smtClean="0"/>
              <a:t> inhibits </a:t>
            </a:r>
            <a:r>
              <a:rPr lang="en-US" sz="3200" b="1" dirty="0"/>
              <a:t>the </a:t>
            </a:r>
            <a:r>
              <a:rPr lang="en-US" sz="3200" b="1" dirty="0" err="1"/>
              <a:t>Eu:Eu</a:t>
            </a:r>
            <a:r>
              <a:rPr lang="en-US" sz="3200" b="1" dirty="0"/>
              <a:t> form by 80% but the </a:t>
            </a:r>
            <a:r>
              <a:rPr lang="en-US" sz="3200" b="1" dirty="0" err="1"/>
              <a:t>Ea:Ea</a:t>
            </a:r>
            <a:r>
              <a:rPr lang="en-US" sz="3200" b="1" dirty="0"/>
              <a:t> form by only 20%. Other combinations </a:t>
            </a:r>
            <a:r>
              <a:rPr lang="en-US" sz="3200" b="1" dirty="0" smtClean="0"/>
              <a:t>are inhibited </a:t>
            </a:r>
            <a:r>
              <a:rPr lang="en-US" sz="3200" b="1" dirty="0"/>
              <a:t>by 20–80% depending on the type involved. The percentage inhibition is known as</a:t>
            </a:r>
          </a:p>
          <a:p>
            <a:r>
              <a:rPr lang="en-US" sz="3200" b="1" dirty="0"/>
              <a:t>the ‘</a:t>
            </a:r>
            <a:r>
              <a:rPr lang="en-US" sz="3200" b="1" dirty="0" err="1"/>
              <a:t>Dibucaine</a:t>
            </a:r>
            <a:r>
              <a:rPr lang="en-US" sz="3200" b="1" dirty="0"/>
              <a:t> number’ and indicates the genetic makeup for an </a:t>
            </a:r>
            <a:r>
              <a:rPr lang="en-US" sz="3200" b="1" dirty="0" smtClean="0"/>
              <a:t>individual</a:t>
            </a:r>
          </a:p>
          <a:p>
            <a:r>
              <a:rPr lang="en-US" sz="3200" b="1" dirty="0" smtClean="0"/>
              <a:t>As </a:t>
            </a:r>
            <a:r>
              <a:rPr lang="en-US" sz="3200" b="1" dirty="0"/>
              <a:t>example </a:t>
            </a:r>
            <a:r>
              <a:rPr lang="en-US" sz="3200" b="1" dirty="0" err="1"/>
              <a:t>Dibucaine</a:t>
            </a:r>
            <a:r>
              <a:rPr lang="en-US" sz="3200" b="1" dirty="0"/>
              <a:t> </a:t>
            </a:r>
            <a:r>
              <a:rPr lang="en-US" sz="3200" b="1" dirty="0" smtClean="0"/>
              <a:t>number 80 is normal enzyme deficiencies, </a:t>
            </a:r>
            <a:r>
              <a:rPr lang="en-US" sz="3200" b="1" dirty="0"/>
              <a:t>patient with </a:t>
            </a:r>
            <a:r>
              <a:rPr lang="en-US" sz="3200" b="1" dirty="0" smtClean="0"/>
              <a:t>homozygous atypical </a:t>
            </a:r>
            <a:r>
              <a:rPr lang="en-US" sz="3200" b="1" dirty="0" err="1" smtClean="0"/>
              <a:t>pseudocholinesterase</a:t>
            </a:r>
            <a:r>
              <a:rPr lang="en-US" sz="3200" b="1" dirty="0"/>
              <a:t>) </a:t>
            </a:r>
          </a:p>
        </p:txBody>
      </p:sp>
    </p:spTree>
    <p:extLst>
      <p:ext uri="{BB962C8B-B14F-4D97-AF65-F5344CB8AC3E}">
        <p14:creationId xmlns:p14="http://schemas.microsoft.com/office/powerpoint/2010/main" val="1902276232"/>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85800"/>
            <a:ext cx="8305800" cy="5638800"/>
          </a:xfrm>
        </p:spPr>
        <p:txBody>
          <a:bodyPr>
            <a:noAutofit/>
          </a:bodyPr>
          <a:lstStyle/>
          <a:p>
            <a:r>
              <a:rPr lang="en-US" sz="3200" b="1" dirty="0"/>
              <a:t>Acquired factors associated with reduced plasma cholinesterase activity include:</a:t>
            </a:r>
          </a:p>
          <a:p>
            <a:r>
              <a:rPr lang="en-US" sz="3200" b="1" dirty="0"/>
              <a:t>• Pregnancy</a:t>
            </a:r>
          </a:p>
          <a:p>
            <a:r>
              <a:rPr lang="en-US" sz="3200" b="1" dirty="0" smtClean="0"/>
              <a:t>• </a:t>
            </a:r>
            <a:r>
              <a:rPr lang="en-US" sz="3200" b="1" dirty="0"/>
              <a:t>Liver </a:t>
            </a:r>
            <a:r>
              <a:rPr lang="en-US" sz="3200" b="1" dirty="0" smtClean="0"/>
              <a:t>disease</a:t>
            </a:r>
          </a:p>
          <a:p>
            <a:r>
              <a:rPr lang="en-US" sz="3200" b="1" dirty="0"/>
              <a:t>Renal failure</a:t>
            </a:r>
          </a:p>
          <a:p>
            <a:r>
              <a:rPr lang="en-US" sz="3200" b="1" dirty="0"/>
              <a:t>• Cardiac failure</a:t>
            </a:r>
          </a:p>
          <a:p>
            <a:r>
              <a:rPr lang="en-US" sz="3200" b="1" dirty="0"/>
              <a:t>• Thyrotoxicosis</a:t>
            </a:r>
          </a:p>
          <a:p>
            <a:r>
              <a:rPr lang="en-US" sz="3200" b="1" dirty="0"/>
              <a:t>• Cancer</a:t>
            </a:r>
          </a:p>
          <a:p>
            <a:r>
              <a:rPr lang="en-US" sz="3200" b="1" dirty="0"/>
              <a:t>• Drugs </a:t>
            </a:r>
            <a:r>
              <a:rPr lang="en-US" sz="3200" b="1" dirty="0" smtClean="0"/>
              <a:t>– </a:t>
            </a:r>
            <a:r>
              <a:rPr lang="en-US" sz="3200" b="1" dirty="0"/>
              <a:t>inhibitor to </a:t>
            </a:r>
            <a:r>
              <a:rPr lang="en-US" sz="3200" b="1" dirty="0" err="1" smtClean="0"/>
              <a:t>AChE</a:t>
            </a:r>
            <a:r>
              <a:rPr lang="en-US" sz="3200" b="1" dirty="0" smtClean="0"/>
              <a:t>. </a:t>
            </a:r>
            <a:endParaRPr lang="en-US" sz="3200" b="1" dirty="0"/>
          </a:p>
        </p:txBody>
      </p:sp>
    </p:spTree>
    <p:extLst>
      <p:ext uri="{BB962C8B-B14F-4D97-AF65-F5344CB8AC3E}">
        <p14:creationId xmlns:p14="http://schemas.microsoft.com/office/powerpoint/2010/main" val="287691760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218" t="8831" r="18305" b="3420"/>
          <a:stretch/>
        </p:blipFill>
        <p:spPr bwMode="auto">
          <a:xfrm>
            <a:off x="360122" y="762000"/>
            <a:ext cx="8250478"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1106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2426" y="228600"/>
            <a:ext cx="8639174" cy="1066800"/>
          </a:xfrm>
        </p:spPr>
        <p:txBody>
          <a:bodyPr>
            <a:normAutofit fontScale="90000"/>
          </a:bodyPr>
          <a:lstStyle/>
          <a:p>
            <a:r>
              <a:rPr lang="en-US" b="1" dirty="0"/>
              <a:t>Non-</a:t>
            </a:r>
            <a:r>
              <a:rPr lang="en-US" b="1" dirty="0" err="1"/>
              <a:t>Depolarising</a:t>
            </a:r>
            <a:r>
              <a:rPr lang="en-US" dirty="0"/>
              <a:t> Muscle </a:t>
            </a:r>
            <a:r>
              <a:rPr lang="en-US" dirty="0" smtClean="0"/>
              <a:t>Relaxants(NDMR)</a:t>
            </a:r>
            <a:endParaRPr lang="en-US" dirty="0"/>
          </a:p>
        </p:txBody>
      </p:sp>
      <p:sp>
        <p:nvSpPr>
          <p:cNvPr id="2" name="Content Placeholder 1"/>
          <p:cNvSpPr>
            <a:spLocks noGrp="1"/>
          </p:cNvSpPr>
          <p:nvPr>
            <p:ph idx="1"/>
          </p:nvPr>
        </p:nvSpPr>
        <p:spPr>
          <a:xfrm>
            <a:off x="381000" y="1295400"/>
            <a:ext cx="8382000" cy="4892040"/>
          </a:xfrm>
        </p:spPr>
        <p:txBody>
          <a:bodyPr>
            <a:noAutofit/>
          </a:bodyPr>
          <a:lstStyle/>
          <a:p>
            <a:r>
              <a:rPr lang="en-US" sz="3200" b="1" dirty="0" smtClean="0"/>
              <a:t>It  </a:t>
            </a:r>
            <a:r>
              <a:rPr lang="en-US" sz="3200" b="1" dirty="0"/>
              <a:t>inhibit the actions of </a:t>
            </a:r>
            <a:r>
              <a:rPr lang="en-US" sz="3200" b="1" dirty="0" err="1"/>
              <a:t>ACh</a:t>
            </a:r>
            <a:r>
              <a:rPr lang="en-US" sz="3200" b="1" dirty="0"/>
              <a:t> at the NMJ by </a:t>
            </a:r>
            <a:r>
              <a:rPr lang="en-US" sz="3200" b="1" dirty="0" smtClean="0"/>
              <a:t>binding competitively </a:t>
            </a:r>
            <a:r>
              <a:rPr lang="en-US" sz="3200" b="1" dirty="0"/>
              <a:t>to the α subunit of the nicotinic </a:t>
            </a:r>
            <a:r>
              <a:rPr lang="en-US" sz="3200" b="1" dirty="0" err="1"/>
              <a:t>ACh</a:t>
            </a:r>
            <a:r>
              <a:rPr lang="en-US" sz="3200" b="1" dirty="0"/>
              <a:t> receptor on the </a:t>
            </a:r>
            <a:r>
              <a:rPr lang="en-US" sz="3200" b="1" dirty="0" smtClean="0"/>
              <a:t>post-</a:t>
            </a:r>
            <a:r>
              <a:rPr lang="en-US" sz="3200" b="1" dirty="0" err="1" smtClean="0"/>
              <a:t>junctional</a:t>
            </a:r>
            <a:r>
              <a:rPr lang="en-US" sz="3200" b="1" dirty="0"/>
              <a:t> </a:t>
            </a:r>
            <a:r>
              <a:rPr lang="en-US" sz="3200" b="1" dirty="0" smtClean="0"/>
              <a:t>membrane, more than 70</a:t>
            </a:r>
            <a:r>
              <a:rPr lang="en-US" sz="3200" b="1" dirty="0"/>
              <a:t>% of receptors need to be occupied by muscle relaxant before neuromuscular </a:t>
            </a:r>
            <a:r>
              <a:rPr lang="en-US" sz="3200" b="1" dirty="0" smtClean="0"/>
              <a:t>blockade can </a:t>
            </a:r>
            <a:r>
              <a:rPr lang="en-US" sz="3200" b="1" dirty="0"/>
              <a:t>be detected by a peripheral nerve </a:t>
            </a:r>
            <a:r>
              <a:rPr lang="en-US" sz="3200" b="1" dirty="0" smtClean="0"/>
              <a:t>stimulator</a:t>
            </a:r>
          </a:p>
          <a:p>
            <a:r>
              <a:rPr lang="en-US" sz="3200" b="1" dirty="0"/>
              <a:t>The non-</a:t>
            </a:r>
            <a:r>
              <a:rPr lang="en-US" sz="3200" b="1" dirty="0" err="1"/>
              <a:t>depolarising</a:t>
            </a:r>
            <a:r>
              <a:rPr lang="en-US" sz="3200" b="1" dirty="0"/>
              <a:t> block has </a:t>
            </a:r>
            <a:r>
              <a:rPr lang="en-US" sz="3200" b="1" dirty="0" smtClean="0"/>
              <a:t>essentially the </a:t>
            </a:r>
            <a:r>
              <a:rPr lang="en-US" sz="3200" b="1" dirty="0"/>
              <a:t>same characteristics as the Phase II block</a:t>
            </a:r>
          </a:p>
        </p:txBody>
      </p:sp>
    </p:spTree>
    <p:extLst>
      <p:ext uri="{BB962C8B-B14F-4D97-AF65-F5344CB8AC3E}">
        <p14:creationId xmlns:p14="http://schemas.microsoft.com/office/powerpoint/2010/main" val="21593602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381000" y="152400"/>
            <a:ext cx="8763000" cy="6477000"/>
          </a:xfrm>
        </p:spPr>
        <p:txBody>
          <a:bodyPr>
            <a:noAutofit/>
          </a:bodyPr>
          <a:lstStyle/>
          <a:p>
            <a:r>
              <a:rPr lang="en-US" sz="3600" b="1" dirty="0"/>
              <a:t>NDMRs </a:t>
            </a:r>
            <a:r>
              <a:rPr lang="en-US" sz="3600" b="1" dirty="0" smtClean="0"/>
              <a:t>fall in one of 2 chemical </a:t>
            </a:r>
            <a:r>
              <a:rPr lang="en-US" sz="3600" b="1" dirty="0"/>
              <a:t>groupings:</a:t>
            </a:r>
          </a:p>
          <a:p>
            <a:r>
              <a:rPr lang="en-US" sz="3600" b="1" dirty="0"/>
              <a:t>• </a:t>
            </a:r>
            <a:r>
              <a:rPr lang="en-US" sz="3600" b="1" i="1" dirty="0" err="1">
                <a:solidFill>
                  <a:srgbClr val="FFC000"/>
                </a:solidFill>
              </a:rPr>
              <a:t>Aminosteroidal</a:t>
            </a:r>
            <a:r>
              <a:rPr lang="en-US" sz="3600" b="1" i="1" dirty="0">
                <a:solidFill>
                  <a:srgbClr val="FFC000"/>
                </a:solidFill>
              </a:rPr>
              <a:t> </a:t>
            </a:r>
            <a:r>
              <a:rPr lang="en-US" sz="3600" b="1" dirty="0"/>
              <a:t>compounds </a:t>
            </a:r>
            <a:r>
              <a:rPr lang="en-US" sz="3600" b="1" dirty="0" smtClean="0"/>
              <a:t>  </a:t>
            </a:r>
            <a:r>
              <a:rPr lang="en-US" sz="3600" b="1" dirty="0" err="1"/>
              <a:t>vecuronium</a:t>
            </a:r>
            <a:r>
              <a:rPr lang="en-US" sz="3600" b="1" dirty="0"/>
              <a:t>, </a:t>
            </a:r>
            <a:r>
              <a:rPr lang="en-US" sz="3600" b="1" dirty="0" err="1"/>
              <a:t>rocuronium</a:t>
            </a:r>
            <a:r>
              <a:rPr lang="en-US" sz="3600" b="1" dirty="0"/>
              <a:t>, </a:t>
            </a:r>
            <a:r>
              <a:rPr lang="en-US" sz="3600" b="1" dirty="0" err="1"/>
              <a:t>pancuronium</a:t>
            </a:r>
            <a:endParaRPr lang="en-US" sz="3600" b="1" dirty="0"/>
          </a:p>
          <a:p>
            <a:r>
              <a:rPr lang="en-US" sz="3600" b="1" dirty="0"/>
              <a:t>• </a:t>
            </a:r>
            <a:r>
              <a:rPr lang="en-US" sz="3600" b="1" i="1" dirty="0" err="1">
                <a:solidFill>
                  <a:srgbClr val="FFC000"/>
                </a:solidFill>
              </a:rPr>
              <a:t>Benzylisoquinolinium</a:t>
            </a:r>
            <a:r>
              <a:rPr lang="en-US" sz="3600" b="1" dirty="0"/>
              <a:t> compounds – </a:t>
            </a:r>
            <a:r>
              <a:rPr lang="en-US" sz="3600" b="1" dirty="0" err="1"/>
              <a:t>atracurium</a:t>
            </a:r>
            <a:r>
              <a:rPr lang="en-US" sz="3600" b="1" dirty="0"/>
              <a:t>, </a:t>
            </a:r>
            <a:r>
              <a:rPr lang="en-US" sz="3600" b="1" dirty="0" err="1"/>
              <a:t>mivacurium</a:t>
            </a:r>
            <a:r>
              <a:rPr lang="en-US" sz="3600" b="1" dirty="0"/>
              <a:t>, </a:t>
            </a:r>
            <a:r>
              <a:rPr lang="en-US" sz="3600" b="1" dirty="0" err="1"/>
              <a:t>tubocurarine</a:t>
            </a:r>
            <a:endParaRPr lang="en-US" sz="3600" b="1" dirty="0"/>
          </a:p>
          <a:p>
            <a:r>
              <a:rPr lang="en-US" sz="3600" b="1" dirty="0" smtClean="0"/>
              <a:t>Also can </a:t>
            </a:r>
            <a:r>
              <a:rPr lang="en-US" sz="3600" b="1" dirty="0"/>
              <a:t>be divided according to their duration </a:t>
            </a:r>
            <a:r>
              <a:rPr lang="en-US" sz="3600" b="1" dirty="0" smtClean="0"/>
              <a:t>of action:                                                  • </a:t>
            </a:r>
            <a:r>
              <a:rPr lang="en-US" sz="3600" b="1" dirty="0"/>
              <a:t>Short – </a:t>
            </a:r>
            <a:r>
              <a:rPr lang="en-US" sz="3600" b="1" dirty="0" smtClean="0"/>
              <a:t> </a:t>
            </a:r>
            <a:r>
              <a:rPr lang="en-US" sz="3600" b="1" dirty="0" err="1" smtClean="0"/>
              <a:t>mivacurium</a:t>
            </a:r>
            <a:endParaRPr lang="en-US" sz="3600" b="1" dirty="0"/>
          </a:p>
          <a:p>
            <a:r>
              <a:rPr lang="en-US" sz="3600" b="1" dirty="0"/>
              <a:t>• Intermediate – </a:t>
            </a:r>
            <a:r>
              <a:rPr lang="en-US" sz="3600" b="1" dirty="0" err="1"/>
              <a:t>atracurium</a:t>
            </a:r>
            <a:endParaRPr lang="en-US" sz="3600" b="1" dirty="0"/>
          </a:p>
          <a:p>
            <a:r>
              <a:rPr lang="en-US" sz="3600" b="1" dirty="0"/>
              <a:t>• Long – </a:t>
            </a:r>
            <a:r>
              <a:rPr lang="en-US" sz="3600" b="1" dirty="0" err="1"/>
              <a:t>pancuronium</a:t>
            </a:r>
            <a:r>
              <a:rPr lang="en-US" sz="3600" b="1" dirty="0"/>
              <a:t>.</a:t>
            </a:r>
          </a:p>
        </p:txBody>
      </p:sp>
    </p:spTree>
    <p:extLst>
      <p:ext uri="{BB962C8B-B14F-4D97-AF65-F5344CB8AC3E}">
        <p14:creationId xmlns:p14="http://schemas.microsoft.com/office/powerpoint/2010/main" val="92369424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533400"/>
            <a:ext cx="8153400" cy="5654675"/>
          </a:xfrm>
        </p:spPr>
        <p:txBody>
          <a:bodyPr>
            <a:normAutofit/>
          </a:bodyPr>
          <a:lstStyle/>
          <a:p>
            <a:r>
              <a:rPr lang="en-US" sz="3200" b="1" dirty="0" smtClean="0"/>
              <a:t>NDMR are </a:t>
            </a:r>
            <a:r>
              <a:rPr lang="en-US" sz="3200" b="1" dirty="0"/>
              <a:t>relatively polar </a:t>
            </a:r>
            <a:r>
              <a:rPr lang="en-US" sz="3200" b="1" dirty="0" smtClean="0"/>
              <a:t>in nature</a:t>
            </a:r>
            <a:r>
              <a:rPr lang="en-US" sz="3200" b="1" dirty="0"/>
              <a:t>, non-</a:t>
            </a:r>
            <a:r>
              <a:rPr lang="en-US" sz="3200" b="1" dirty="0" err="1"/>
              <a:t>depolarising</a:t>
            </a:r>
            <a:r>
              <a:rPr lang="en-US" sz="3200" b="1" dirty="0"/>
              <a:t> drugs are unable to cross </a:t>
            </a:r>
            <a:r>
              <a:rPr lang="en-US" sz="3200" b="1" dirty="0" smtClean="0"/>
              <a:t>lipid membranes</a:t>
            </a:r>
            <a:r>
              <a:rPr lang="en-US" sz="3200" b="1" dirty="0"/>
              <a:t>, resulting in a small volume of distribution. Some are </a:t>
            </a:r>
            <a:r>
              <a:rPr lang="en-US" sz="3200" b="1" dirty="0" err="1"/>
              <a:t>hydrolysed</a:t>
            </a:r>
            <a:r>
              <a:rPr lang="en-US" sz="3200" b="1" dirty="0"/>
              <a:t> in the </a:t>
            </a:r>
            <a:r>
              <a:rPr lang="en-US" sz="3200" b="1" dirty="0" smtClean="0"/>
              <a:t>plasma </a:t>
            </a:r>
            <a:r>
              <a:rPr lang="en-US" sz="3200" b="1" dirty="0"/>
              <a:t>while others undergo a degree of hepatic </a:t>
            </a:r>
            <a:r>
              <a:rPr lang="en-US" sz="3200" b="1" dirty="0" smtClean="0"/>
              <a:t>metabolism, The </a:t>
            </a:r>
            <a:r>
              <a:rPr lang="en-US" sz="3200" b="1" dirty="0" err="1" smtClean="0"/>
              <a:t>unmetabolized</a:t>
            </a:r>
            <a:r>
              <a:rPr lang="en-US" sz="3200" b="1" dirty="0" smtClean="0"/>
              <a:t> </a:t>
            </a:r>
            <a:r>
              <a:rPr lang="en-US" sz="3200" b="1" dirty="0"/>
              <a:t>fraction is excreted in the urine or bile.</a:t>
            </a:r>
          </a:p>
        </p:txBody>
      </p:sp>
    </p:spTree>
    <p:extLst>
      <p:ext uri="{BB962C8B-B14F-4D97-AF65-F5344CB8AC3E}">
        <p14:creationId xmlns:p14="http://schemas.microsoft.com/office/powerpoint/2010/main" val="3129530126"/>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152400"/>
            <a:ext cx="6673174" cy="609600"/>
          </a:xfrm>
        </p:spPr>
        <p:txBody>
          <a:bodyPr>
            <a:normAutofit fontScale="90000"/>
          </a:bodyPr>
          <a:lstStyle/>
          <a:p>
            <a:r>
              <a:rPr lang="en-US" dirty="0"/>
              <a:t>Vecuronium</a:t>
            </a:r>
          </a:p>
        </p:txBody>
      </p:sp>
      <p:sp>
        <p:nvSpPr>
          <p:cNvPr id="2" name="Content Placeholder 1"/>
          <p:cNvSpPr>
            <a:spLocks noGrp="1"/>
          </p:cNvSpPr>
          <p:nvPr>
            <p:ph idx="1"/>
          </p:nvPr>
        </p:nvSpPr>
        <p:spPr>
          <a:xfrm>
            <a:off x="1066800" y="1143000"/>
            <a:ext cx="6577928" cy="4565904"/>
          </a:xfrm>
        </p:spPr>
        <p:txBody>
          <a:bodyPr>
            <a:noAutofit/>
          </a:bodyPr>
          <a:lstStyle/>
          <a:p>
            <a:r>
              <a:rPr lang="en-US" sz="3200" b="1" dirty="0" smtClean="0"/>
              <a:t>It  </a:t>
            </a:r>
            <a:r>
              <a:rPr lang="en-US" sz="3200" b="1" dirty="0"/>
              <a:t>is </a:t>
            </a:r>
            <a:r>
              <a:rPr lang="en-US" sz="3200" b="1" dirty="0" smtClean="0"/>
              <a:t>usually called ‘clean</a:t>
            </a:r>
            <a:r>
              <a:rPr lang="en-US" sz="3200" b="1" dirty="0"/>
              <a:t>’ </a:t>
            </a:r>
            <a:r>
              <a:rPr lang="en-US" sz="3200" b="1" dirty="0" smtClean="0"/>
              <a:t>drug.  </a:t>
            </a:r>
            <a:endParaRPr lang="en-US" sz="3200" b="1" dirty="0"/>
          </a:p>
          <a:p>
            <a:r>
              <a:rPr lang="en-US" sz="3200" b="1" dirty="0" smtClean="0"/>
              <a:t>Its </a:t>
            </a:r>
            <a:r>
              <a:rPr lang="en-US" sz="3200" b="1" dirty="0"/>
              <a:t>chemical structure differs from </a:t>
            </a:r>
            <a:r>
              <a:rPr lang="en-US" sz="3200" b="1" dirty="0" err="1"/>
              <a:t>pancuronium</a:t>
            </a:r>
            <a:r>
              <a:rPr lang="en-US" sz="3200" b="1" dirty="0"/>
              <a:t> </a:t>
            </a:r>
            <a:r>
              <a:rPr lang="en-US" sz="3200" b="1" dirty="0" smtClean="0"/>
              <a:t>by a </a:t>
            </a:r>
            <a:r>
              <a:rPr lang="en-US" sz="3200" b="1" dirty="0"/>
              <a:t>single methyl group, making it the </a:t>
            </a:r>
            <a:r>
              <a:rPr lang="en-US" sz="3200" b="1" dirty="0" err="1"/>
              <a:t>monoquaternary</a:t>
            </a:r>
            <a:r>
              <a:rPr lang="en-US" sz="3200" b="1" dirty="0"/>
              <a:t> </a:t>
            </a:r>
            <a:r>
              <a:rPr lang="en-US" sz="3200" b="1" dirty="0" smtClean="0"/>
              <a:t>analogue.</a:t>
            </a:r>
          </a:p>
          <a:p>
            <a:r>
              <a:rPr lang="en-US" sz="3200" b="1" dirty="0" smtClean="0"/>
              <a:t>Presentation </a:t>
            </a:r>
            <a:r>
              <a:rPr lang="en-US" sz="3200" b="1" dirty="0"/>
              <a:t>and Uses</a:t>
            </a:r>
          </a:p>
          <a:p>
            <a:r>
              <a:rPr lang="en-US" sz="3200" b="1" dirty="0"/>
              <a:t>Vecuronium is potentially unstable in solution and so is presented as 10 mg </a:t>
            </a:r>
            <a:r>
              <a:rPr lang="en-US" sz="3200" b="1" dirty="0" smtClean="0"/>
              <a:t>freeze-dried</a:t>
            </a:r>
            <a:endParaRPr lang="en-US" sz="3200" b="1" dirty="0"/>
          </a:p>
        </p:txBody>
      </p:sp>
    </p:spTree>
    <p:extLst>
      <p:ext uri="{BB962C8B-B14F-4D97-AF65-F5344CB8AC3E}">
        <p14:creationId xmlns:p14="http://schemas.microsoft.com/office/powerpoint/2010/main" val="258878647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09600"/>
            <a:ext cx="8077200" cy="5578475"/>
          </a:xfrm>
        </p:spPr>
        <p:txBody>
          <a:bodyPr>
            <a:normAutofit/>
          </a:bodyPr>
          <a:lstStyle/>
          <a:p>
            <a:r>
              <a:rPr lang="en-US" sz="3600" b="1" dirty="0"/>
              <a:t>powder containing </a:t>
            </a:r>
            <a:r>
              <a:rPr lang="en-US" sz="3600" b="1" dirty="0" err="1"/>
              <a:t>mannitol</a:t>
            </a:r>
            <a:r>
              <a:rPr lang="en-US" sz="3600" b="1" dirty="0"/>
              <a:t> and sodium hydroxide and is dissolved in 5 ml water before administration.</a:t>
            </a:r>
          </a:p>
          <a:p>
            <a:r>
              <a:rPr lang="en-US" sz="3600" b="1" dirty="0"/>
              <a:t> At 0.1 </a:t>
            </a:r>
            <a:r>
              <a:rPr lang="en-US" sz="3600" b="1" dirty="0" smtClean="0"/>
              <a:t>mg/kg− </a:t>
            </a:r>
            <a:r>
              <a:rPr lang="en-US" sz="3600" b="1" dirty="0"/>
              <a:t>satisfactory intubating conditions are reached in about</a:t>
            </a:r>
          </a:p>
          <a:p>
            <a:r>
              <a:rPr lang="en-US" sz="3600" b="1" dirty="0"/>
              <a:t>90–120 seconds. It has a medium duration of action </a:t>
            </a:r>
          </a:p>
        </p:txBody>
      </p:sp>
    </p:spTree>
    <p:extLst>
      <p:ext uri="{BB962C8B-B14F-4D97-AF65-F5344CB8AC3E}">
        <p14:creationId xmlns:p14="http://schemas.microsoft.com/office/powerpoint/2010/main" val="536185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219200" y="990600"/>
            <a:ext cx="7924800" cy="5197475"/>
          </a:xfrm>
        </p:spPr>
        <p:txBody>
          <a:bodyPr>
            <a:normAutofit/>
          </a:bodyPr>
          <a:lstStyle/>
          <a:p>
            <a:r>
              <a:rPr lang="en-US" sz="3600" b="1" dirty="0" smtClean="0"/>
              <a:t>A 42 years </a:t>
            </a:r>
            <a:r>
              <a:rPr lang="en-US" sz="3600" b="1" dirty="0"/>
              <a:t>old  </a:t>
            </a:r>
            <a:r>
              <a:rPr lang="en-US" sz="3600" b="1" dirty="0" smtClean="0"/>
              <a:t>lady with CBD obstruction is in OR table for exploration . her weight is 65kg ,the anesthesia team dilute powder vecroniem with 10ml distilled water and want to do ETTI with vecroniem how many mg and ml is required? </a:t>
            </a:r>
            <a:endParaRPr lang="en-US" sz="3600" b="1" dirty="0"/>
          </a:p>
        </p:txBody>
      </p:sp>
    </p:spTree>
    <p:extLst>
      <p:ext uri="{BB962C8B-B14F-4D97-AF65-F5344CB8AC3E}">
        <p14:creationId xmlns:p14="http://schemas.microsoft.com/office/powerpoint/2010/main" val="268847353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838200"/>
            <a:ext cx="8305800" cy="5349875"/>
          </a:xfrm>
        </p:spPr>
        <p:txBody>
          <a:bodyPr>
            <a:noAutofit/>
          </a:bodyPr>
          <a:lstStyle/>
          <a:p>
            <a:r>
              <a:rPr lang="en-US" sz="3200" b="1" dirty="0" err="1"/>
              <a:t>vecuronium</a:t>
            </a:r>
            <a:r>
              <a:rPr lang="en-US" sz="3200" b="1" dirty="0"/>
              <a:t> is </a:t>
            </a:r>
            <a:r>
              <a:rPr lang="en-US" sz="3200" b="1" dirty="0" err="1"/>
              <a:t>metabolised</a:t>
            </a:r>
            <a:r>
              <a:rPr lang="en-US" sz="3200" b="1" dirty="0"/>
              <a:t> in the liver by </a:t>
            </a:r>
            <a:r>
              <a:rPr lang="en-US" sz="3200" b="1" dirty="0" smtClean="0"/>
              <a:t>         de-acetylation </a:t>
            </a:r>
            <a:r>
              <a:rPr lang="en-US" sz="3200" b="1" dirty="0"/>
              <a:t>to 3- and </a:t>
            </a:r>
            <a:r>
              <a:rPr lang="en-US" sz="3200" b="1" dirty="0" smtClean="0"/>
              <a:t>17-hydroxy </a:t>
            </a:r>
            <a:r>
              <a:rPr lang="en-US" sz="3200" b="1" dirty="0"/>
              <a:t>and 3,17-dihydroxy-vecuronium. Again the 3-hydroxy metabolite carries </a:t>
            </a:r>
            <a:r>
              <a:rPr lang="en-US" sz="3200" b="1" dirty="0" smtClean="0"/>
              <a:t>significant </a:t>
            </a:r>
            <a:r>
              <a:rPr lang="en-US" sz="3200" b="1" dirty="0"/>
              <a:t>muscle-relaxant </a:t>
            </a:r>
            <a:r>
              <a:rPr lang="en-US" sz="3200" b="1" dirty="0" smtClean="0"/>
              <a:t>properties but little </a:t>
            </a:r>
            <a:r>
              <a:rPr lang="en-US" sz="3200" b="1" dirty="0"/>
              <a:t>clinical significance with normal renal </a:t>
            </a:r>
            <a:r>
              <a:rPr lang="en-US" sz="3200" b="1" dirty="0" smtClean="0"/>
              <a:t>function it </a:t>
            </a:r>
            <a:r>
              <a:rPr lang="en-US" sz="3200" b="1" dirty="0"/>
              <a:t>is more lipid-soluble than </a:t>
            </a:r>
            <a:r>
              <a:rPr lang="en-US" sz="3200" b="1" dirty="0" err="1"/>
              <a:t>pancuronium</a:t>
            </a:r>
            <a:r>
              <a:rPr lang="en-US" sz="3200" b="1" dirty="0"/>
              <a:t> and, despite the metabolism of a similar proportion in the liver, a far greater proportion </a:t>
            </a:r>
            <a:r>
              <a:rPr lang="en-US" sz="3200" b="1" dirty="0" smtClean="0"/>
              <a:t>is excreted </a:t>
            </a:r>
            <a:r>
              <a:rPr lang="en-US" sz="3200" b="1" dirty="0"/>
              <a:t>in the bile. It may accumulate during administration by infusion</a:t>
            </a:r>
          </a:p>
        </p:txBody>
      </p:sp>
    </p:spTree>
    <p:extLst>
      <p:ext uri="{BB962C8B-B14F-4D97-AF65-F5344CB8AC3E}">
        <p14:creationId xmlns:p14="http://schemas.microsoft.com/office/powerpoint/2010/main" val="209524260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228600"/>
            <a:ext cx="6673174" cy="609600"/>
          </a:xfrm>
        </p:spPr>
        <p:txBody>
          <a:bodyPr>
            <a:normAutofit fontScale="90000"/>
          </a:bodyPr>
          <a:lstStyle/>
          <a:p>
            <a:r>
              <a:rPr lang="en-US" dirty="0" err="1"/>
              <a:t>Rocuronium</a:t>
            </a:r>
            <a:endParaRPr lang="en-US" dirty="0"/>
          </a:p>
        </p:txBody>
      </p:sp>
      <p:sp>
        <p:nvSpPr>
          <p:cNvPr id="2" name="Content Placeholder 1"/>
          <p:cNvSpPr>
            <a:spLocks noGrp="1"/>
          </p:cNvSpPr>
          <p:nvPr>
            <p:ph idx="1"/>
          </p:nvPr>
        </p:nvSpPr>
        <p:spPr>
          <a:xfrm>
            <a:off x="381000" y="838200"/>
            <a:ext cx="8562974" cy="4968240"/>
          </a:xfrm>
        </p:spPr>
        <p:txBody>
          <a:bodyPr>
            <a:noAutofit/>
          </a:bodyPr>
          <a:lstStyle/>
          <a:p>
            <a:r>
              <a:rPr lang="en-US" sz="3200" b="1" dirty="0" smtClean="0"/>
              <a:t>It </a:t>
            </a:r>
            <a:r>
              <a:rPr lang="en-US" sz="3200" b="1" dirty="0"/>
              <a:t>was developed from </a:t>
            </a:r>
            <a:r>
              <a:rPr lang="en-US" sz="3200" b="1" dirty="0" err="1" smtClean="0"/>
              <a:t>vecuronium</a:t>
            </a:r>
            <a:r>
              <a:rPr lang="en-US" sz="3200" b="1" dirty="0" smtClean="0"/>
              <a:t> </a:t>
            </a:r>
          </a:p>
          <a:p>
            <a:r>
              <a:rPr lang="en-US" sz="3200" b="1" dirty="0" smtClean="0"/>
              <a:t>rapid onset with intubating conditions 60–90S. Its effects are reversed not only by anticholinesterases but also by </a:t>
            </a:r>
            <a:r>
              <a:rPr lang="en-US" sz="3200" b="1" dirty="0" err="1" smtClean="0"/>
              <a:t>sugammadex</a:t>
            </a:r>
            <a:endParaRPr lang="en-US" sz="3200" b="1" dirty="0" smtClean="0"/>
          </a:p>
          <a:p>
            <a:r>
              <a:rPr lang="en-US" sz="3200" b="1" dirty="0" smtClean="0"/>
              <a:t>A  MR </a:t>
            </a:r>
            <a:r>
              <a:rPr lang="en-US" sz="3200" b="1" dirty="0"/>
              <a:t>with a low potency must be given at a higher dose to </a:t>
            </a:r>
            <a:r>
              <a:rPr lang="en-US" sz="3200" b="1" dirty="0" smtClean="0"/>
              <a:t>achieve a </a:t>
            </a:r>
            <a:r>
              <a:rPr lang="en-US" sz="3200" b="1" dirty="0"/>
              <a:t>clinically significant effect. A higher number of molecules result in a greater </a:t>
            </a:r>
            <a:r>
              <a:rPr lang="en-US" sz="3200" b="1" dirty="0" smtClean="0"/>
              <a:t>concentration gradient </a:t>
            </a:r>
            <a:r>
              <a:rPr lang="en-US" sz="3200" b="1" dirty="0"/>
              <a:t>from the plasma to the NMJ so that diffusion is faster and onset time is reduced.</a:t>
            </a:r>
          </a:p>
        </p:txBody>
      </p:sp>
    </p:spTree>
    <p:extLst>
      <p:ext uri="{BB962C8B-B14F-4D97-AF65-F5344CB8AC3E}">
        <p14:creationId xmlns:p14="http://schemas.microsoft.com/office/powerpoint/2010/main" val="7458987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Presentation and Uses</a:t>
            </a:r>
          </a:p>
        </p:txBody>
      </p:sp>
      <p:sp>
        <p:nvSpPr>
          <p:cNvPr id="2" name="Content Placeholder 1"/>
          <p:cNvSpPr>
            <a:spLocks noGrp="1"/>
          </p:cNvSpPr>
          <p:nvPr>
            <p:ph idx="1"/>
          </p:nvPr>
        </p:nvSpPr>
        <p:spPr>
          <a:xfrm>
            <a:off x="228600" y="1295400"/>
            <a:ext cx="8534400" cy="4892040"/>
          </a:xfrm>
        </p:spPr>
        <p:txBody>
          <a:bodyPr>
            <a:noAutofit/>
          </a:bodyPr>
          <a:lstStyle/>
          <a:p>
            <a:r>
              <a:rPr lang="en-US" sz="3200" b="1" dirty="0" err="1"/>
              <a:t>Rocuronium</a:t>
            </a:r>
            <a:r>
              <a:rPr lang="en-US" sz="3200" b="1" dirty="0"/>
              <a:t> is prepared as a </a:t>
            </a:r>
            <a:r>
              <a:rPr lang="en-US" sz="3200" b="1" dirty="0" err="1"/>
              <a:t>colourless</a:t>
            </a:r>
            <a:r>
              <a:rPr lang="en-US" sz="3200" b="1" dirty="0"/>
              <a:t> solution containing 50 mg in 5 ml. </a:t>
            </a:r>
            <a:endParaRPr lang="en-US" sz="3200" b="1" dirty="0" smtClean="0"/>
          </a:p>
          <a:p>
            <a:r>
              <a:rPr lang="en-US" sz="3200" b="1" dirty="0" smtClean="0"/>
              <a:t>At </a:t>
            </a:r>
            <a:r>
              <a:rPr lang="en-US" sz="3200" b="1" dirty="0"/>
              <a:t>0.6 </a:t>
            </a:r>
            <a:r>
              <a:rPr lang="en-US" sz="3200" b="1" dirty="0" smtClean="0"/>
              <a:t>mg/kg intubating </a:t>
            </a:r>
            <a:r>
              <a:rPr lang="en-US" sz="3200" b="1" dirty="0"/>
              <a:t>conditions are reached within 100–120 seconds</a:t>
            </a:r>
            <a:r>
              <a:rPr lang="en-US" sz="3200" b="1" dirty="0" smtClean="0"/>
              <a:t>,</a:t>
            </a:r>
            <a:endParaRPr lang="en-US" sz="3200" b="1" dirty="0"/>
          </a:p>
          <a:p>
            <a:r>
              <a:rPr lang="en-US" sz="3200" b="1" dirty="0" smtClean="0"/>
              <a:t>higher </a:t>
            </a:r>
            <a:r>
              <a:rPr lang="en-US" sz="3200" b="1" dirty="0"/>
              <a:t>doses (0.9–1.2 mg.kg−1). </a:t>
            </a:r>
            <a:r>
              <a:rPr lang="en-US" sz="3200" b="1" dirty="0" smtClean="0"/>
              <a:t>60 S.</a:t>
            </a:r>
            <a:endParaRPr lang="en-US" sz="3200" b="1" dirty="0"/>
          </a:p>
          <a:p>
            <a:r>
              <a:rPr lang="en-US" sz="3200" b="1" dirty="0" smtClean="0"/>
              <a:t>  </a:t>
            </a:r>
            <a:r>
              <a:rPr lang="en-US" sz="3200" b="1" dirty="0"/>
              <a:t>Its duration of action is similar to that </a:t>
            </a:r>
            <a:r>
              <a:rPr lang="en-US" sz="3200" b="1" dirty="0" smtClean="0"/>
              <a:t>of </a:t>
            </a:r>
            <a:r>
              <a:rPr lang="en-US" sz="3200" b="1" dirty="0" err="1" smtClean="0"/>
              <a:t>vecuronium</a:t>
            </a:r>
            <a:r>
              <a:rPr lang="en-US" sz="3200" b="1" dirty="0" smtClean="0"/>
              <a:t> but higher </a:t>
            </a:r>
            <a:r>
              <a:rPr lang="en-US" sz="3200" b="1" dirty="0"/>
              <a:t>doses </a:t>
            </a:r>
            <a:r>
              <a:rPr lang="en-US" sz="3200" b="1" dirty="0">
                <a:sym typeface="Symbol"/>
              </a:rPr>
              <a:t></a:t>
            </a:r>
            <a:r>
              <a:rPr lang="en-US" sz="3200" b="1" dirty="0" smtClean="0"/>
              <a:t>  </a:t>
            </a:r>
            <a:r>
              <a:rPr lang="en-US" sz="3200" b="1" dirty="0"/>
              <a:t>significantly</a:t>
            </a:r>
            <a:r>
              <a:rPr lang="en-US" sz="3200" b="1" dirty="0" smtClean="0"/>
              <a:t>.</a:t>
            </a:r>
            <a:endParaRPr lang="en-US" sz="3200" b="1" dirty="0"/>
          </a:p>
          <a:p>
            <a:r>
              <a:rPr lang="en-US" sz="3200" b="1" dirty="0" smtClean="0"/>
              <a:t>Cardiovascular </a:t>
            </a:r>
            <a:r>
              <a:rPr lang="en-US" sz="3200" b="1" dirty="0"/>
              <a:t>– </a:t>
            </a:r>
            <a:r>
              <a:rPr lang="en-US" sz="3200" b="1" dirty="0" smtClean="0"/>
              <a:t>minimal </a:t>
            </a:r>
            <a:r>
              <a:rPr lang="en-US" sz="3200" b="1" dirty="0"/>
              <a:t>cardiovascular effects, </a:t>
            </a:r>
            <a:r>
              <a:rPr lang="en-US" sz="3200" b="1" dirty="0" smtClean="0"/>
              <a:t> </a:t>
            </a:r>
            <a:r>
              <a:rPr lang="en-US" sz="3200" b="1" dirty="0"/>
              <a:t>at </a:t>
            </a:r>
            <a:r>
              <a:rPr lang="en-US" sz="3200" b="1" dirty="0" smtClean="0"/>
              <a:t>high doses may </a:t>
            </a:r>
            <a:r>
              <a:rPr lang="en-US" sz="3200" b="1" dirty="0" smtClean="0">
                <a:sym typeface="Symbol"/>
              </a:rPr>
              <a:t> HR</a:t>
            </a:r>
            <a:endParaRPr lang="en-US" sz="3200" b="1" dirty="0"/>
          </a:p>
          <a:p>
            <a:r>
              <a:rPr lang="en-US" sz="3200" b="1" dirty="0" smtClean="0"/>
              <a:t>.</a:t>
            </a:r>
            <a:endParaRPr lang="en-US" sz="3200" b="1" dirty="0"/>
          </a:p>
        </p:txBody>
      </p:sp>
    </p:spTree>
    <p:extLst>
      <p:ext uri="{BB962C8B-B14F-4D97-AF65-F5344CB8AC3E}">
        <p14:creationId xmlns:p14="http://schemas.microsoft.com/office/powerpoint/2010/main" val="247305760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295400"/>
            <a:ext cx="8153400" cy="4892675"/>
          </a:xfrm>
        </p:spPr>
        <p:txBody>
          <a:bodyPr>
            <a:normAutofit/>
          </a:bodyPr>
          <a:lstStyle/>
          <a:p>
            <a:r>
              <a:rPr lang="en-US" sz="3600" dirty="0" err="1"/>
              <a:t>Metabolisem</a:t>
            </a:r>
            <a:r>
              <a:rPr lang="en-US" sz="3600" dirty="0"/>
              <a:t> </a:t>
            </a:r>
          </a:p>
          <a:p>
            <a:r>
              <a:rPr lang="en-US" sz="3600" dirty="0" err="1"/>
              <a:t>Rocuronium</a:t>
            </a:r>
            <a:r>
              <a:rPr lang="en-US" sz="3600" dirty="0"/>
              <a:t> is mainly excreted unchanged in the bile and to a lesser extent in the </a:t>
            </a:r>
            <a:r>
              <a:rPr lang="en-US" sz="3600" dirty="0" err="1"/>
              <a:t>urine,although</a:t>
            </a:r>
            <a:r>
              <a:rPr lang="en-US" sz="3600" dirty="0"/>
              <a:t> some de-acetylated metabolites may be produced. Its duration of action may be prolonged in hepatic and renal failure</a:t>
            </a:r>
          </a:p>
        </p:txBody>
      </p:sp>
    </p:spTree>
    <p:extLst>
      <p:ext uri="{BB962C8B-B14F-4D97-AF65-F5344CB8AC3E}">
        <p14:creationId xmlns:p14="http://schemas.microsoft.com/office/powerpoint/2010/main" val="2983431858"/>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Pancuronium</a:t>
            </a:r>
            <a:endParaRPr lang="en-US" dirty="0"/>
          </a:p>
        </p:txBody>
      </p:sp>
      <p:sp>
        <p:nvSpPr>
          <p:cNvPr id="2" name="Content Placeholder 1"/>
          <p:cNvSpPr>
            <a:spLocks noGrp="1"/>
          </p:cNvSpPr>
          <p:nvPr>
            <p:ph idx="1"/>
          </p:nvPr>
        </p:nvSpPr>
        <p:spPr>
          <a:xfrm>
            <a:off x="352426" y="1463040"/>
            <a:ext cx="8562974" cy="4724400"/>
          </a:xfrm>
        </p:spPr>
        <p:txBody>
          <a:bodyPr>
            <a:noAutofit/>
          </a:bodyPr>
          <a:lstStyle/>
          <a:p>
            <a:r>
              <a:rPr lang="en-US" sz="3200" b="1" dirty="0" err="1"/>
              <a:t>Pancuronium</a:t>
            </a:r>
            <a:r>
              <a:rPr lang="en-US" sz="3200" b="1" dirty="0"/>
              <a:t> is a </a:t>
            </a:r>
            <a:r>
              <a:rPr lang="en-US" sz="3200" b="1" dirty="0" err="1"/>
              <a:t>bisquaternary</a:t>
            </a:r>
            <a:r>
              <a:rPr lang="en-US" sz="3200" b="1" dirty="0"/>
              <a:t> </a:t>
            </a:r>
            <a:r>
              <a:rPr lang="en-US" sz="3200" b="1" dirty="0" err="1"/>
              <a:t>aminosteroidal</a:t>
            </a:r>
            <a:r>
              <a:rPr lang="en-US" sz="3200" b="1" dirty="0"/>
              <a:t> compound</a:t>
            </a:r>
            <a:r>
              <a:rPr lang="en-US" sz="3200" b="1" dirty="0" smtClean="0"/>
              <a:t>.</a:t>
            </a:r>
            <a:endParaRPr lang="en-US" sz="3200" b="1" dirty="0"/>
          </a:p>
          <a:p>
            <a:r>
              <a:rPr lang="en-US" sz="3200" b="1" dirty="0" smtClean="0"/>
              <a:t> </a:t>
            </a:r>
            <a:r>
              <a:rPr lang="en-US" sz="3200" b="1" dirty="0"/>
              <a:t>a </a:t>
            </a:r>
            <a:r>
              <a:rPr lang="en-US" sz="3200" b="1" dirty="0" err="1"/>
              <a:t>colourless</a:t>
            </a:r>
            <a:r>
              <a:rPr lang="en-US" sz="3200" b="1" dirty="0"/>
              <a:t> solution containing 4 mg in 2 ml </a:t>
            </a:r>
            <a:r>
              <a:rPr lang="en-US" sz="3200" b="1" dirty="0" smtClean="0"/>
              <a:t>stored </a:t>
            </a:r>
            <a:r>
              <a:rPr lang="en-US" sz="3200" b="1" dirty="0"/>
              <a:t>at 4°C</a:t>
            </a:r>
            <a:r>
              <a:rPr lang="en-US" sz="3200" b="1" dirty="0" smtClean="0"/>
              <a:t>.</a:t>
            </a:r>
          </a:p>
          <a:p>
            <a:r>
              <a:rPr lang="en-US" sz="3200" b="1" dirty="0" smtClean="0"/>
              <a:t> </a:t>
            </a:r>
            <a:r>
              <a:rPr lang="en-US" sz="3200" b="1" dirty="0"/>
              <a:t>At 0.1 </a:t>
            </a:r>
            <a:r>
              <a:rPr lang="en-US" sz="3200" b="1" dirty="0" smtClean="0"/>
              <a:t>mg/kg </a:t>
            </a:r>
            <a:r>
              <a:rPr lang="en-US" sz="3200" b="1" dirty="0"/>
              <a:t>intubating </a:t>
            </a:r>
            <a:r>
              <a:rPr lang="en-US" sz="3200" b="1" dirty="0" smtClean="0"/>
              <a:t>conditions after </a:t>
            </a:r>
            <a:r>
              <a:rPr lang="en-US" sz="3200" b="1" dirty="0"/>
              <a:t>90–150 seconds</a:t>
            </a:r>
            <a:r>
              <a:rPr lang="en-US" sz="3200" b="1" dirty="0" smtClean="0"/>
              <a:t>.</a:t>
            </a:r>
          </a:p>
          <a:p>
            <a:r>
              <a:rPr lang="en-US" sz="3200" b="1" dirty="0" smtClean="0"/>
              <a:t> Its duration </a:t>
            </a:r>
            <a:r>
              <a:rPr lang="en-US" sz="3200" b="1" dirty="0"/>
              <a:t>of action is about 45 minutes. </a:t>
            </a:r>
          </a:p>
        </p:txBody>
      </p:sp>
    </p:spTree>
    <p:extLst>
      <p:ext uri="{BB962C8B-B14F-4D97-AF65-F5344CB8AC3E}">
        <p14:creationId xmlns:p14="http://schemas.microsoft.com/office/powerpoint/2010/main" val="2761230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381000" y="685800"/>
            <a:ext cx="7696200" cy="5334000"/>
          </a:xfrm>
        </p:spPr>
        <p:txBody>
          <a:bodyPr>
            <a:normAutofit fontScale="92500" lnSpcReduction="20000"/>
          </a:bodyPr>
          <a:lstStyle/>
          <a:p>
            <a:pPr lvl="0">
              <a:buClr>
                <a:srgbClr val="838995"/>
              </a:buClr>
            </a:pPr>
            <a:r>
              <a:rPr lang="en-US" sz="3600" b="1" dirty="0">
                <a:solidFill>
                  <a:schemeClr val="tx1"/>
                </a:solidFill>
              </a:rPr>
              <a:t>Other Effects</a:t>
            </a:r>
          </a:p>
          <a:p>
            <a:pPr lvl="0">
              <a:buClr>
                <a:srgbClr val="838995"/>
              </a:buClr>
            </a:pPr>
            <a:r>
              <a:rPr lang="en-US" sz="3600" b="1" dirty="0">
                <a:solidFill>
                  <a:schemeClr val="tx1"/>
                </a:solidFill>
              </a:rPr>
              <a:t>• Cardiovascular –</a:t>
            </a:r>
            <a:r>
              <a:rPr lang="en-US" sz="3600" b="1" dirty="0">
                <a:solidFill>
                  <a:schemeClr val="tx1"/>
                </a:solidFill>
                <a:sym typeface="Symbol"/>
              </a:rPr>
              <a:t> HR </a:t>
            </a:r>
            <a:r>
              <a:rPr lang="en-US" sz="3600" b="1" dirty="0">
                <a:solidFill>
                  <a:schemeClr val="tx1"/>
                </a:solidFill>
              </a:rPr>
              <a:t> blocking cardiac </a:t>
            </a:r>
            <a:r>
              <a:rPr lang="en-US" sz="3600" b="1" dirty="0" smtClean="0">
                <a:solidFill>
                  <a:schemeClr val="tx1"/>
                </a:solidFill>
              </a:rPr>
              <a:t>muscarinic receptors</a:t>
            </a:r>
            <a:r>
              <a:rPr lang="en-US" sz="3600" b="1" dirty="0">
                <a:solidFill>
                  <a:schemeClr val="tx1"/>
                </a:solidFill>
              </a:rPr>
              <a:t>.  have indirect sympathomimetic actions by preventing the uptake of noradrenaline at post-ganglionic nerve endings</a:t>
            </a:r>
            <a:r>
              <a:rPr lang="en-US" sz="3600" b="1" dirty="0" smtClean="0">
                <a:solidFill>
                  <a:schemeClr val="tx1"/>
                </a:solidFill>
              </a:rPr>
              <a:t>.                    </a:t>
            </a:r>
            <a:r>
              <a:rPr lang="en-US" sz="3600" b="1" dirty="0" err="1">
                <a:solidFill>
                  <a:schemeClr val="tx1"/>
                </a:solidFill>
              </a:rPr>
              <a:t>pancuronium</a:t>
            </a:r>
            <a:r>
              <a:rPr lang="en-US" sz="3600" b="1" dirty="0">
                <a:solidFill>
                  <a:schemeClr val="tx1"/>
                </a:solidFill>
              </a:rPr>
              <a:t> blocks vagal </a:t>
            </a:r>
            <a:r>
              <a:rPr lang="en-US" sz="3600" b="1" dirty="0" smtClean="0">
                <a:solidFill>
                  <a:schemeClr val="tx1"/>
                </a:solidFill>
              </a:rPr>
              <a:t>muscarinic receptors </a:t>
            </a:r>
            <a:r>
              <a:rPr lang="en-US" sz="3600" b="1" dirty="0">
                <a:solidFill>
                  <a:schemeClr val="tx1"/>
                </a:solidFill>
              </a:rPr>
              <a:t>in the </a:t>
            </a:r>
            <a:r>
              <a:rPr lang="en-US" sz="3600" b="1" dirty="0" err="1">
                <a:solidFill>
                  <a:schemeClr val="tx1"/>
                </a:solidFill>
              </a:rPr>
              <a:t>sinoatrial</a:t>
            </a:r>
            <a:r>
              <a:rPr lang="en-US" sz="3600" b="1" dirty="0">
                <a:solidFill>
                  <a:schemeClr val="tx1"/>
                </a:solidFill>
              </a:rPr>
              <a:t> node, resulting in </a:t>
            </a:r>
            <a:r>
              <a:rPr lang="en-US" sz="3600" b="1" dirty="0" smtClean="0">
                <a:solidFill>
                  <a:schemeClr val="tx1"/>
                </a:solidFill>
              </a:rPr>
              <a:t>tachycardia and </a:t>
            </a:r>
            <a:r>
              <a:rPr lang="en-US" sz="3600" b="1" dirty="0" smtClean="0">
                <a:solidFill>
                  <a:schemeClr val="tx1"/>
                </a:solidFill>
                <a:sym typeface="Symbol"/>
              </a:rPr>
              <a:t>BP</a:t>
            </a:r>
          </a:p>
          <a:p>
            <a:pPr lvl="0">
              <a:buClr>
                <a:srgbClr val="838995"/>
              </a:buClr>
            </a:pPr>
            <a:r>
              <a:rPr lang="en-US" sz="3600" b="1" dirty="0" smtClean="0">
                <a:solidFill>
                  <a:schemeClr val="tx1"/>
                </a:solidFill>
                <a:sym typeface="Symbol"/>
              </a:rPr>
              <a:t>Some </a:t>
            </a:r>
            <a:r>
              <a:rPr lang="en-US" sz="3600" b="1" dirty="0" err="1" smtClean="0">
                <a:solidFill>
                  <a:schemeClr val="tx1"/>
                </a:solidFill>
                <a:sym typeface="Symbol"/>
              </a:rPr>
              <a:t>arrythmia</a:t>
            </a:r>
            <a:r>
              <a:rPr lang="en-US" sz="3600" b="1" dirty="0" smtClean="0">
                <a:solidFill>
                  <a:schemeClr val="tx1"/>
                </a:solidFill>
                <a:sym typeface="Symbol"/>
              </a:rPr>
              <a:t> </a:t>
            </a:r>
            <a:r>
              <a:rPr lang="en-US" sz="3600" b="1" dirty="0" smtClean="0">
                <a:solidFill>
                  <a:schemeClr val="tx1"/>
                </a:solidFill>
                <a:sym typeface="Symbol"/>
              </a:rPr>
              <a:t>may </a:t>
            </a:r>
            <a:r>
              <a:rPr lang="en-US" sz="3600" b="1" dirty="0" smtClean="0">
                <a:solidFill>
                  <a:schemeClr val="tx1"/>
                </a:solidFill>
                <a:sym typeface="Symbol"/>
              </a:rPr>
              <a:t>occur </a:t>
            </a:r>
            <a:endParaRPr lang="en-US" sz="3600" b="1" dirty="0">
              <a:solidFill>
                <a:schemeClr val="tx1"/>
              </a:solidFill>
            </a:endParaRPr>
          </a:p>
        </p:txBody>
      </p:sp>
    </p:spTree>
    <p:extLst>
      <p:ext uri="{BB962C8B-B14F-4D97-AF65-F5344CB8AC3E}">
        <p14:creationId xmlns:p14="http://schemas.microsoft.com/office/powerpoint/2010/main" val="404514338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57225" y="1463675"/>
            <a:ext cx="8486775" cy="4724400"/>
          </a:xfrm>
        </p:spPr>
        <p:txBody>
          <a:bodyPr>
            <a:normAutofit lnSpcReduction="10000"/>
          </a:bodyPr>
          <a:lstStyle/>
          <a:p>
            <a:r>
              <a:rPr lang="en-US" sz="3200" b="1" dirty="0" smtClean="0"/>
              <a:t>10</a:t>
            </a:r>
            <a:r>
              <a:rPr lang="en-US" sz="3200" b="1" dirty="0"/>
              <a:t>% and 40% is plasma </a:t>
            </a:r>
            <a:r>
              <a:rPr lang="en-US" sz="3200" b="1" dirty="0" smtClean="0"/>
              <a:t>protein-bound </a:t>
            </a:r>
            <a:endParaRPr lang="en-US" sz="3200" b="1" dirty="0"/>
          </a:p>
          <a:p>
            <a:r>
              <a:rPr lang="en-US" sz="3200" b="1" dirty="0" smtClean="0"/>
              <a:t> </a:t>
            </a:r>
            <a:r>
              <a:rPr lang="en-US" sz="3200" b="1" dirty="0"/>
              <a:t>has a low volume of distribution</a:t>
            </a:r>
            <a:r>
              <a:rPr lang="en-US" sz="3200" b="1" dirty="0" smtClean="0"/>
              <a:t>.</a:t>
            </a:r>
          </a:p>
          <a:p>
            <a:r>
              <a:rPr lang="en-US" sz="3200" b="1" dirty="0" smtClean="0"/>
              <a:t> </a:t>
            </a:r>
            <a:r>
              <a:rPr lang="en-US" sz="3200" b="1" dirty="0"/>
              <a:t>35% is </a:t>
            </a:r>
            <a:r>
              <a:rPr lang="en-US" sz="3200" b="1" dirty="0" err="1"/>
              <a:t>metabolised</a:t>
            </a:r>
            <a:r>
              <a:rPr lang="en-US" sz="3200" b="1" dirty="0"/>
              <a:t> in the liver by </a:t>
            </a:r>
            <a:r>
              <a:rPr lang="en-US" sz="3200" b="1" dirty="0" smtClean="0"/>
              <a:t>de-acetylation to 3- and 17-hydroxy and 3,17-dihydroxy-pancuronium, the former of which is half </a:t>
            </a:r>
            <a:r>
              <a:rPr lang="en-US" sz="3200" b="1" dirty="0"/>
              <a:t>as potent as </a:t>
            </a:r>
            <a:r>
              <a:rPr lang="en-US" sz="3200" b="1" dirty="0" err="1"/>
              <a:t>pancuronium</a:t>
            </a:r>
            <a:r>
              <a:rPr lang="en-US" sz="3200" b="1" dirty="0"/>
              <a:t>. Unchanged drug is eliminated mainly in the </a:t>
            </a:r>
            <a:r>
              <a:rPr lang="en-US" sz="3200" b="1" dirty="0" smtClean="0"/>
              <a:t>urine.</a:t>
            </a:r>
            <a:endParaRPr lang="en-US" sz="3200" b="1" dirty="0"/>
          </a:p>
          <a:p>
            <a:r>
              <a:rPr lang="en-US" sz="3200" b="1" dirty="0"/>
              <a:t>metabolites are excreted in bile</a:t>
            </a:r>
          </a:p>
        </p:txBody>
      </p:sp>
    </p:spTree>
    <p:extLst>
      <p:ext uri="{BB962C8B-B14F-4D97-AF65-F5344CB8AC3E}">
        <p14:creationId xmlns:p14="http://schemas.microsoft.com/office/powerpoint/2010/main" val="343761931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Atracurium</a:t>
            </a:r>
            <a:endParaRPr lang="en-US" dirty="0"/>
          </a:p>
        </p:txBody>
      </p:sp>
      <p:sp>
        <p:nvSpPr>
          <p:cNvPr id="2" name="Content Placeholder 1"/>
          <p:cNvSpPr>
            <a:spLocks noGrp="1"/>
          </p:cNvSpPr>
          <p:nvPr>
            <p:ph idx="1"/>
          </p:nvPr>
        </p:nvSpPr>
        <p:spPr>
          <a:xfrm>
            <a:off x="838200" y="1524000"/>
            <a:ext cx="6577928" cy="4267200"/>
          </a:xfrm>
        </p:spPr>
        <p:txBody>
          <a:bodyPr>
            <a:normAutofit fontScale="92500" lnSpcReduction="10000"/>
          </a:bodyPr>
          <a:lstStyle/>
          <a:p>
            <a:r>
              <a:rPr lang="en-US" sz="3200" b="1" dirty="0" smtClean="0"/>
              <a:t>It </a:t>
            </a:r>
            <a:r>
              <a:rPr lang="en-US" sz="3200" b="1" dirty="0"/>
              <a:t>is a </a:t>
            </a:r>
            <a:r>
              <a:rPr lang="en-US" sz="3200" b="1" dirty="0" err="1"/>
              <a:t>benzylisoquinolinium</a:t>
            </a:r>
            <a:r>
              <a:rPr lang="en-US" sz="3200" b="1" dirty="0"/>
              <a:t> </a:t>
            </a:r>
            <a:r>
              <a:rPr lang="en-US" sz="3200" b="1" dirty="0" smtClean="0"/>
              <a:t>compound.</a:t>
            </a:r>
            <a:endParaRPr lang="en-US" sz="3200" b="1" dirty="0"/>
          </a:p>
          <a:p>
            <a:r>
              <a:rPr lang="en-US" sz="3200" b="1" dirty="0"/>
              <a:t>Presentation and Uses</a:t>
            </a:r>
          </a:p>
          <a:p>
            <a:r>
              <a:rPr lang="en-US" sz="3200" b="1" dirty="0" smtClean="0"/>
              <a:t> </a:t>
            </a:r>
            <a:r>
              <a:rPr lang="en-US" sz="3200" b="1" dirty="0" err="1"/>
              <a:t>colourless</a:t>
            </a:r>
            <a:r>
              <a:rPr lang="en-US" sz="3200" b="1" dirty="0"/>
              <a:t> solution containing 10 </a:t>
            </a:r>
            <a:r>
              <a:rPr lang="en-US" sz="3200" b="1" dirty="0" smtClean="0"/>
              <a:t>mg/ml/ in 2.5/ </a:t>
            </a:r>
            <a:r>
              <a:rPr lang="en-US" sz="3200" b="1" dirty="0"/>
              <a:t>5 </a:t>
            </a:r>
            <a:r>
              <a:rPr lang="en-US" sz="3200" b="1" dirty="0" smtClean="0"/>
              <a:t>/25ml vials. stored </a:t>
            </a:r>
            <a:r>
              <a:rPr lang="en-US" sz="3200" b="1" dirty="0"/>
              <a:t>at 4°C</a:t>
            </a:r>
            <a:r>
              <a:rPr lang="en-US" sz="3200" b="1" dirty="0" smtClean="0"/>
              <a:t>.                                                                                                                                     </a:t>
            </a:r>
            <a:r>
              <a:rPr lang="en-US" sz="3200" b="1" dirty="0"/>
              <a:t>At 0.5 </a:t>
            </a:r>
            <a:r>
              <a:rPr lang="en-US" sz="3200" b="1" dirty="0" smtClean="0"/>
              <a:t>mg/kg </a:t>
            </a:r>
            <a:r>
              <a:rPr lang="en-US" sz="3200" b="1" dirty="0"/>
              <a:t>intubating conditions are reached </a:t>
            </a:r>
            <a:r>
              <a:rPr lang="en-US" sz="3200" b="1" dirty="0" smtClean="0"/>
              <a:t>within 90–120 </a:t>
            </a:r>
            <a:r>
              <a:rPr lang="en-US" sz="3200" b="1" dirty="0"/>
              <a:t>seconds.</a:t>
            </a:r>
          </a:p>
        </p:txBody>
      </p:sp>
    </p:spTree>
    <p:extLst>
      <p:ext uri="{BB962C8B-B14F-4D97-AF65-F5344CB8AC3E}">
        <p14:creationId xmlns:p14="http://schemas.microsoft.com/office/powerpoint/2010/main" val="199710761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914400"/>
            <a:ext cx="7162800" cy="5273675"/>
          </a:xfrm>
        </p:spPr>
        <p:txBody>
          <a:bodyPr>
            <a:normAutofit fontScale="85000" lnSpcReduction="20000"/>
          </a:bodyPr>
          <a:lstStyle/>
          <a:p>
            <a:endParaRPr lang="en-US" dirty="0"/>
          </a:p>
          <a:p>
            <a:r>
              <a:rPr lang="en-US" sz="3600" b="1" dirty="0"/>
              <a:t>• </a:t>
            </a:r>
            <a:r>
              <a:rPr lang="en-US" sz="3600" b="1" dirty="0" smtClean="0"/>
              <a:t>rapid </a:t>
            </a:r>
            <a:r>
              <a:rPr lang="en-US" sz="3600" b="1" dirty="0"/>
              <a:t>administration it may precipitate the release </a:t>
            </a:r>
            <a:r>
              <a:rPr lang="en-US" sz="3600" b="1" dirty="0" smtClean="0"/>
              <a:t>of histamine</a:t>
            </a:r>
            <a:r>
              <a:rPr lang="en-US" sz="3600" b="1" dirty="0"/>
              <a:t>, which may be </a:t>
            </a:r>
            <a:r>
              <a:rPr lang="en-US" sz="3600" b="1" dirty="0" err="1"/>
              <a:t>localised</a:t>
            </a:r>
            <a:r>
              <a:rPr lang="en-US" sz="3600" b="1" dirty="0"/>
              <a:t> to the site of injection but may be </a:t>
            </a:r>
            <a:r>
              <a:rPr lang="en-US" sz="3600" b="1" dirty="0" err="1" smtClean="0"/>
              <a:t>generalised</a:t>
            </a:r>
            <a:r>
              <a:rPr lang="en-US" sz="3600" b="1" dirty="0"/>
              <a:t> </a:t>
            </a:r>
            <a:r>
              <a:rPr lang="en-US" sz="3600" b="1" dirty="0" smtClean="0"/>
              <a:t>resulting </a:t>
            </a:r>
            <a:r>
              <a:rPr lang="en-US" sz="3600" b="1" dirty="0"/>
              <a:t>in bronchospasm and hypotension. Slow intravenous injection </a:t>
            </a:r>
            <a:r>
              <a:rPr lang="en-US" sz="3600" b="1" dirty="0" smtClean="0"/>
              <a:t>minimizes these </a:t>
            </a:r>
            <a:r>
              <a:rPr lang="en-US" sz="3600" b="1" dirty="0"/>
              <a:t>effects.</a:t>
            </a:r>
          </a:p>
          <a:p>
            <a:r>
              <a:rPr lang="en-US" sz="3600" b="1" dirty="0"/>
              <a:t>• Myopathy – in a manner similar to that of </a:t>
            </a:r>
            <a:r>
              <a:rPr lang="en-US" sz="3600" b="1" dirty="0" err="1"/>
              <a:t>vecuronium</a:t>
            </a:r>
            <a:r>
              <a:rPr lang="en-US" sz="3600" b="1" dirty="0"/>
              <a:t>, </a:t>
            </a:r>
            <a:r>
              <a:rPr lang="en-US" sz="3600" b="1" dirty="0" err="1"/>
              <a:t>atracurium</a:t>
            </a:r>
            <a:r>
              <a:rPr lang="en-US" sz="3600" b="1" dirty="0"/>
              <a:t> is associated </a:t>
            </a:r>
            <a:r>
              <a:rPr lang="en-US" sz="3600" b="1" dirty="0" smtClean="0"/>
              <a:t>with critical </a:t>
            </a:r>
            <a:r>
              <a:rPr lang="en-US" sz="3600" b="1" dirty="0"/>
              <a:t>illness myopathy</a:t>
            </a:r>
          </a:p>
        </p:txBody>
      </p:sp>
    </p:spTree>
    <p:extLst>
      <p:ext uri="{BB962C8B-B14F-4D97-AF65-F5344CB8AC3E}">
        <p14:creationId xmlns:p14="http://schemas.microsoft.com/office/powerpoint/2010/main" val="205383167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85800"/>
            <a:ext cx="8229600" cy="5502275"/>
          </a:xfrm>
        </p:spPr>
        <p:txBody>
          <a:bodyPr>
            <a:normAutofit fontScale="25000" lnSpcReduction="20000"/>
          </a:bodyPr>
          <a:lstStyle/>
          <a:p>
            <a:r>
              <a:rPr lang="en-US" sz="12800" b="1" dirty="0" err="1" smtClean="0"/>
              <a:t>Metabolisem</a:t>
            </a:r>
            <a:r>
              <a:rPr lang="en-US" sz="12800" b="1" dirty="0" smtClean="0"/>
              <a:t> </a:t>
            </a:r>
          </a:p>
          <a:p>
            <a:r>
              <a:rPr lang="en-US" sz="12800" b="1" dirty="0"/>
              <a:t>less than 10% is </a:t>
            </a:r>
            <a:r>
              <a:rPr lang="en-US" sz="12800" b="1" dirty="0" smtClean="0"/>
              <a:t>excreted unchanged </a:t>
            </a:r>
            <a:r>
              <a:rPr lang="en-US" sz="12800" b="1" dirty="0"/>
              <a:t>by renal and biliary routes.</a:t>
            </a:r>
          </a:p>
          <a:p>
            <a:r>
              <a:rPr lang="en-US" sz="12800" b="1" dirty="0" smtClean="0"/>
              <a:t> </a:t>
            </a:r>
            <a:r>
              <a:rPr lang="en-US" sz="12800" b="1" dirty="0"/>
              <a:t>undergoing </a:t>
            </a:r>
            <a:r>
              <a:rPr lang="en-US" sz="12800" b="1" i="1" dirty="0">
                <a:solidFill>
                  <a:schemeClr val="tx1"/>
                </a:solidFill>
              </a:rPr>
              <a:t>ester hydrolysis </a:t>
            </a:r>
            <a:r>
              <a:rPr lang="en-US" sz="12800" b="1" dirty="0">
                <a:solidFill>
                  <a:schemeClr val="tx1"/>
                </a:solidFill>
              </a:rPr>
              <a:t>and </a:t>
            </a:r>
            <a:r>
              <a:rPr lang="en-US" sz="12800" b="1" dirty="0" smtClean="0">
                <a:solidFill>
                  <a:schemeClr val="tx1"/>
                </a:solidFill>
              </a:rPr>
              <a:t>Hofmann elimination</a:t>
            </a:r>
            <a:r>
              <a:rPr lang="en-US" sz="12800" b="1" dirty="0">
                <a:solidFill>
                  <a:schemeClr val="tx1"/>
                </a:solidFill>
              </a:rPr>
              <a:t>.</a:t>
            </a:r>
          </a:p>
          <a:p>
            <a:r>
              <a:rPr lang="en-US" sz="12800" b="1" dirty="0">
                <a:solidFill>
                  <a:schemeClr val="tx1"/>
                </a:solidFill>
              </a:rPr>
              <a:t>• Ester hydrolysis </a:t>
            </a:r>
            <a:r>
              <a:rPr lang="en-US" sz="12800" b="1" dirty="0"/>
              <a:t>– non-specific </a:t>
            </a:r>
            <a:r>
              <a:rPr lang="en-US" sz="12800" b="1" dirty="0" err="1" smtClean="0"/>
              <a:t>esterases</a:t>
            </a:r>
            <a:r>
              <a:rPr lang="en-US" sz="12800" b="1" dirty="0" smtClean="0"/>
              <a:t> </a:t>
            </a:r>
            <a:r>
              <a:rPr lang="en-US" sz="12800" b="1" dirty="0"/>
              <a:t>hydrolysis </a:t>
            </a:r>
            <a:r>
              <a:rPr lang="en-US" sz="12800" b="1" dirty="0" smtClean="0"/>
              <a:t>about  </a:t>
            </a:r>
            <a:r>
              <a:rPr lang="en-US" sz="12800" b="1" dirty="0"/>
              <a:t>60% of </a:t>
            </a:r>
            <a:r>
              <a:rPr lang="en-US" sz="12800" b="1" dirty="0" smtClean="0"/>
              <a:t>it                                                                                                                     The</a:t>
            </a:r>
            <a:r>
              <a:rPr lang="en-US" sz="12800" b="1" dirty="0"/>
              <a:t> </a:t>
            </a:r>
            <a:r>
              <a:rPr lang="en-US" sz="12800" b="1" dirty="0" smtClean="0"/>
              <a:t>breakdown </a:t>
            </a:r>
            <a:r>
              <a:rPr lang="en-US" sz="12800" b="1" dirty="0"/>
              <a:t>products are a quaternary alcohol, a quaternary acid and </a:t>
            </a:r>
            <a:r>
              <a:rPr lang="en-US" sz="12800" b="1" dirty="0" err="1" smtClean="0"/>
              <a:t>laudanosine</a:t>
            </a:r>
            <a:r>
              <a:rPr lang="en-US" sz="12800" b="1" dirty="0" smtClean="0"/>
              <a:t>. acidic </a:t>
            </a:r>
            <a:r>
              <a:rPr lang="en-US" sz="12800" b="1" dirty="0"/>
              <a:t>conditions accelerate this metabolic </a:t>
            </a:r>
            <a:r>
              <a:rPr lang="en-US" sz="12800" b="1" dirty="0" err="1" smtClean="0"/>
              <a:t>pathway.hydrolysis</a:t>
            </a:r>
            <a:r>
              <a:rPr lang="en-US" sz="12800" b="1" dirty="0" smtClean="0"/>
              <a:t> </a:t>
            </a:r>
            <a:r>
              <a:rPr lang="en-US" sz="12800" b="1" dirty="0"/>
              <a:t>of </a:t>
            </a:r>
            <a:r>
              <a:rPr lang="en-US" sz="12800" b="1" dirty="0" err="1"/>
              <a:t>atracurium</a:t>
            </a:r>
            <a:r>
              <a:rPr lang="en-US" sz="12800" b="1" dirty="0" smtClean="0"/>
              <a:t>.</a:t>
            </a:r>
            <a:endParaRPr lang="en-US" sz="12800" b="1" dirty="0"/>
          </a:p>
        </p:txBody>
      </p:sp>
    </p:spTree>
    <p:extLst>
      <p:ext uri="{BB962C8B-B14F-4D97-AF65-F5344CB8AC3E}">
        <p14:creationId xmlns:p14="http://schemas.microsoft.com/office/powerpoint/2010/main" val="225659864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38200" y="1219200"/>
            <a:ext cx="7543800" cy="4247317"/>
          </a:xfrm>
          <a:prstGeom prst="rect">
            <a:avLst/>
          </a:prstGeom>
        </p:spPr>
        <p:txBody>
          <a:bodyPr wrap="square">
            <a:spAutoFit/>
          </a:bodyPr>
          <a:lstStyle/>
          <a:p>
            <a:r>
              <a:rPr lang="en-US" sz="3600" b="1" dirty="0" smtClean="0"/>
              <a:t>Hofmann </a:t>
            </a:r>
            <a:r>
              <a:rPr lang="en-US" sz="3600" b="1" dirty="0"/>
              <a:t>elimination – while </a:t>
            </a:r>
            <a:r>
              <a:rPr lang="en-US" sz="3600" b="1" dirty="0" err="1"/>
              <a:t>atracurium</a:t>
            </a:r>
            <a:r>
              <a:rPr lang="en-US" sz="3600" b="1" dirty="0"/>
              <a:t> is stable at pH 4 and at 4°C, Hofmann elimination describes its spontaneous breakdown to </a:t>
            </a:r>
            <a:r>
              <a:rPr lang="en-US" sz="3600" b="1" dirty="0" err="1"/>
              <a:t>laudanosine</a:t>
            </a:r>
            <a:r>
              <a:rPr lang="en-US" sz="3600" b="1" dirty="0"/>
              <a:t> and </a:t>
            </a:r>
            <a:r>
              <a:rPr lang="en-US" sz="3600" b="1" dirty="0" err="1"/>
              <a:t>aquaternary</a:t>
            </a:r>
            <a:r>
              <a:rPr lang="en-US" sz="3600" b="1" dirty="0"/>
              <a:t> </a:t>
            </a:r>
            <a:r>
              <a:rPr lang="en-US" sz="3600" b="1" dirty="0" err="1"/>
              <a:t>monoacrylate</a:t>
            </a:r>
            <a:r>
              <a:rPr lang="en-US" sz="3600" b="1" dirty="0"/>
              <a:t> when placed at normal body temperature and </a:t>
            </a:r>
            <a:r>
              <a:rPr lang="en-US" sz="3600" b="1" dirty="0" err="1"/>
              <a:t>pH</a:t>
            </a:r>
            <a:r>
              <a:rPr lang="en-US" dirty="0" err="1"/>
              <a:t>.</a:t>
            </a:r>
            <a:endParaRPr lang="en-US" dirty="0"/>
          </a:p>
          <a:p>
            <a:endParaRPr lang="en-US" dirty="0"/>
          </a:p>
        </p:txBody>
      </p:sp>
    </p:spTree>
    <p:extLst>
      <p:ext uri="{BB962C8B-B14F-4D97-AF65-F5344CB8AC3E}">
        <p14:creationId xmlns:p14="http://schemas.microsoft.com/office/powerpoint/2010/main" val="3647592673"/>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838200" y="609600"/>
            <a:ext cx="8305800" cy="5486400"/>
          </a:xfrm>
        </p:spPr>
        <p:txBody>
          <a:bodyPr>
            <a:noAutofit/>
          </a:bodyPr>
          <a:lstStyle/>
          <a:p>
            <a:r>
              <a:rPr lang="en-US" sz="4000" b="1" dirty="0" smtClean="0"/>
              <a:t> </a:t>
            </a:r>
            <a:r>
              <a:rPr lang="en-US" sz="4000" b="1" dirty="0" err="1"/>
              <a:t>Laudanosine</a:t>
            </a:r>
            <a:r>
              <a:rPr lang="en-US" sz="4000" b="1" dirty="0"/>
              <a:t> </a:t>
            </a:r>
            <a:r>
              <a:rPr lang="en-US" sz="4000" b="1" dirty="0" err="1" smtClean="0"/>
              <a:t>Toxicity,a</a:t>
            </a:r>
            <a:r>
              <a:rPr lang="en-US" sz="4000" b="1" dirty="0" smtClean="0"/>
              <a:t> </a:t>
            </a:r>
            <a:r>
              <a:rPr lang="en-US" sz="4000" b="1" dirty="0"/>
              <a:t>tertiary amine, is a breakdown product of </a:t>
            </a:r>
            <a:r>
              <a:rPr lang="en-US" sz="4000" b="1" dirty="0" err="1"/>
              <a:t>atracurium’s</a:t>
            </a:r>
            <a:r>
              <a:rPr lang="en-US" sz="4000" b="1" dirty="0"/>
              <a:t> </a:t>
            </a:r>
            <a:r>
              <a:rPr lang="en-US" sz="4000" b="1" dirty="0" smtClean="0"/>
              <a:t>Hofmann elimination </a:t>
            </a:r>
            <a:r>
              <a:rPr lang="en-US" sz="4000" b="1" dirty="0"/>
              <a:t>and has been associated with </a:t>
            </a:r>
            <a:r>
              <a:rPr lang="en-US" sz="4000" b="1" dirty="0" smtClean="0"/>
              <a:t>CNS </a:t>
            </a:r>
            <a:r>
              <a:rPr lang="en-US" sz="4000" b="1" dirty="0" err="1" smtClean="0"/>
              <a:t>excitation,resulting</a:t>
            </a:r>
            <a:r>
              <a:rPr lang="en-US" sz="4000" b="1" dirty="0" smtClean="0"/>
              <a:t> </a:t>
            </a:r>
            <a:r>
              <a:rPr lang="en-US" sz="4000" b="1" dirty="0"/>
              <a:t>in elevation of </a:t>
            </a:r>
            <a:r>
              <a:rPr lang="en-US" sz="4000" b="1" dirty="0" smtClean="0"/>
              <a:t>the MAC </a:t>
            </a:r>
            <a:r>
              <a:rPr lang="en-US" sz="4000" b="1" dirty="0"/>
              <a:t>and </a:t>
            </a:r>
            <a:r>
              <a:rPr lang="en-US" sz="4000" b="1" dirty="0" smtClean="0"/>
              <a:t>even precipitation </a:t>
            </a:r>
            <a:r>
              <a:rPr lang="en-US" sz="4000" b="1" dirty="0"/>
              <a:t>of seizures.</a:t>
            </a:r>
          </a:p>
        </p:txBody>
      </p:sp>
    </p:spTree>
    <p:extLst>
      <p:ext uri="{BB962C8B-B14F-4D97-AF65-F5344CB8AC3E}">
        <p14:creationId xmlns:p14="http://schemas.microsoft.com/office/powerpoint/2010/main" val="218230232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533400" y="838200"/>
            <a:ext cx="8610600" cy="5349875"/>
          </a:xfrm>
        </p:spPr>
        <p:txBody>
          <a:bodyPr>
            <a:noAutofit/>
          </a:bodyPr>
          <a:lstStyle/>
          <a:p>
            <a:r>
              <a:rPr lang="en-US" sz="3200" b="1" dirty="0" smtClean="0"/>
              <a:t>Acidosis </a:t>
            </a:r>
            <a:r>
              <a:rPr lang="en-US" sz="3200" b="1" dirty="0"/>
              <a:t>and hypothermia </a:t>
            </a:r>
            <a:r>
              <a:rPr lang="en-US" sz="3200" b="1" dirty="0" smtClean="0"/>
              <a:t> </a:t>
            </a:r>
            <a:r>
              <a:rPr lang="en-US" sz="3200" b="1" dirty="0"/>
              <a:t>slow the process.  </a:t>
            </a:r>
            <a:r>
              <a:rPr lang="en-US" sz="3200" b="1" dirty="0" smtClean="0"/>
              <a:t>                                           </a:t>
            </a:r>
          </a:p>
          <a:p>
            <a:r>
              <a:rPr lang="en-US" sz="3200" b="1" dirty="0" smtClean="0"/>
              <a:t>breakdown </a:t>
            </a:r>
            <a:r>
              <a:rPr lang="en-US" sz="3200" b="1" dirty="0"/>
              <a:t>products </a:t>
            </a:r>
            <a:r>
              <a:rPr lang="en-US" sz="3200" b="1" dirty="0" smtClean="0"/>
              <a:t>may </a:t>
            </a:r>
            <a:r>
              <a:rPr lang="en-US" sz="3200" b="1" dirty="0"/>
              <a:t>have potentially serious side effects </a:t>
            </a:r>
            <a:r>
              <a:rPr lang="en-US" sz="3200" b="1" dirty="0" smtClean="0"/>
              <a:t>like seizure. </a:t>
            </a:r>
            <a:r>
              <a:rPr lang="en-US" sz="3200" b="1" dirty="0" err="1"/>
              <a:t>Laudanosine</a:t>
            </a:r>
            <a:r>
              <a:rPr lang="en-US" sz="3200" b="1" dirty="0" smtClean="0"/>
              <a:t>, being </a:t>
            </a:r>
            <a:r>
              <a:rPr lang="en-US" sz="3200" b="1" dirty="0"/>
              <a:t>a glycine antagonist, has no neuromuscular-blocking properties and </a:t>
            </a:r>
            <a:r>
              <a:rPr lang="en-US" sz="3200" b="1" dirty="0" smtClean="0"/>
              <a:t>is cleared </a:t>
            </a:r>
            <a:r>
              <a:rPr lang="en-US" sz="3200" b="1" dirty="0"/>
              <a:t>by the kidneys.</a:t>
            </a:r>
          </a:p>
          <a:p>
            <a:r>
              <a:rPr lang="en-US" sz="3200" b="1" dirty="0"/>
              <a:t>These metabolic </a:t>
            </a:r>
            <a:r>
              <a:rPr lang="en-US" sz="3200" b="1" dirty="0" smtClean="0"/>
              <a:t>pathways are independent </a:t>
            </a:r>
            <a:r>
              <a:rPr lang="en-US" sz="3200" b="1" dirty="0"/>
              <a:t>of </a:t>
            </a:r>
            <a:r>
              <a:rPr lang="en-US" sz="3200" b="1" dirty="0" smtClean="0"/>
              <a:t>hepatic or </a:t>
            </a:r>
            <a:r>
              <a:rPr lang="en-US" sz="3200" b="1" dirty="0"/>
              <a:t>renal function</a:t>
            </a:r>
            <a:r>
              <a:rPr lang="en-US" sz="3200" b="1" dirty="0" smtClean="0"/>
              <a:t>,                                              </a:t>
            </a:r>
            <a:endParaRPr lang="en-US" sz="3200" b="1" dirty="0"/>
          </a:p>
        </p:txBody>
      </p:sp>
    </p:spTree>
    <p:extLst>
      <p:ext uri="{BB962C8B-B14F-4D97-AF65-F5344CB8AC3E}">
        <p14:creationId xmlns:p14="http://schemas.microsoft.com/office/powerpoint/2010/main" val="3731431627"/>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28600"/>
            <a:ext cx="7423786" cy="838200"/>
          </a:xfrm>
        </p:spPr>
        <p:txBody>
          <a:bodyPr/>
          <a:lstStyle/>
          <a:p>
            <a:r>
              <a:rPr lang="en-US" dirty="0" err="1"/>
              <a:t>Cisatracurium</a:t>
            </a:r>
            <a:endParaRPr lang="en-US" dirty="0"/>
          </a:p>
        </p:txBody>
      </p:sp>
      <p:sp>
        <p:nvSpPr>
          <p:cNvPr id="2" name="Content Placeholder 1"/>
          <p:cNvSpPr>
            <a:spLocks noGrp="1"/>
          </p:cNvSpPr>
          <p:nvPr>
            <p:ph idx="1"/>
          </p:nvPr>
        </p:nvSpPr>
        <p:spPr>
          <a:xfrm>
            <a:off x="352426" y="1219200"/>
            <a:ext cx="8562974" cy="4968240"/>
          </a:xfrm>
        </p:spPr>
        <p:txBody>
          <a:bodyPr>
            <a:noAutofit/>
          </a:bodyPr>
          <a:lstStyle/>
          <a:p>
            <a:r>
              <a:rPr lang="en-US" sz="3200" b="1" dirty="0" err="1">
                <a:latin typeface="Times New Roman"/>
              </a:rPr>
              <a:t>Cisatracurium</a:t>
            </a:r>
            <a:r>
              <a:rPr lang="en-US" sz="3200" b="1" dirty="0">
                <a:latin typeface="Times New Roman"/>
              </a:rPr>
              <a:t> is one of the 10 stereoisomers present in </a:t>
            </a:r>
            <a:r>
              <a:rPr lang="en-US" sz="3200" b="1" dirty="0" err="1">
                <a:latin typeface="Times New Roman"/>
              </a:rPr>
              <a:t>atracurium</a:t>
            </a:r>
            <a:r>
              <a:rPr lang="en-US" sz="3200" b="1" dirty="0">
                <a:latin typeface="Times New Roman"/>
              </a:rPr>
              <a:t>.</a:t>
            </a:r>
            <a:r>
              <a:rPr lang="en-US" sz="3200" b="1" dirty="0"/>
              <a:t/>
            </a:r>
            <a:br>
              <a:rPr lang="en-US" sz="3200" b="1" dirty="0"/>
            </a:br>
            <a:r>
              <a:rPr lang="en-US" sz="3200" b="1" dirty="0">
                <a:latin typeface="Arial"/>
              </a:rPr>
              <a:t>Presentation and </a:t>
            </a:r>
            <a:r>
              <a:rPr lang="en-US" sz="3200" b="1" dirty="0" smtClean="0">
                <a:latin typeface="Arial"/>
              </a:rPr>
              <a:t>Use                                                                                </a:t>
            </a:r>
            <a:r>
              <a:rPr lang="en-US" sz="3200" b="1" dirty="0" smtClean="0">
                <a:latin typeface="Times New Roman"/>
              </a:rPr>
              <a:t> </a:t>
            </a:r>
            <a:r>
              <a:rPr lang="en-US" sz="3200" b="1" dirty="0">
                <a:latin typeface="Times New Roman"/>
              </a:rPr>
              <a:t>presented as a </a:t>
            </a:r>
            <a:r>
              <a:rPr lang="en-US" sz="3200" b="1" dirty="0" err="1">
                <a:latin typeface="Times New Roman"/>
              </a:rPr>
              <a:t>colourless</a:t>
            </a:r>
            <a:r>
              <a:rPr lang="en-US" sz="3200" b="1" dirty="0">
                <a:latin typeface="Times New Roman"/>
              </a:rPr>
              <a:t> solution containing 2 or 5 </a:t>
            </a:r>
            <a:r>
              <a:rPr lang="en-US" sz="3200" b="1" dirty="0" smtClean="0">
                <a:latin typeface="Times New Roman"/>
              </a:rPr>
              <a:t>mg/ml</a:t>
            </a:r>
            <a:r>
              <a:rPr lang="en-US" sz="3200" b="1" dirty="0">
                <a:latin typeface="Arial"/>
              </a:rPr>
              <a:t> </a:t>
            </a:r>
            <a:r>
              <a:rPr lang="en-US" sz="3200" b="1" dirty="0" smtClean="0">
                <a:latin typeface="Times New Roman"/>
              </a:rPr>
              <a:t>and </a:t>
            </a:r>
            <a:r>
              <a:rPr lang="en-US" sz="3200" b="1" dirty="0">
                <a:latin typeface="Times New Roman"/>
              </a:rPr>
              <a:t>should be</a:t>
            </a:r>
            <a:r>
              <a:rPr lang="en-US" sz="3200" b="1" dirty="0"/>
              <a:t/>
            </a:r>
            <a:br>
              <a:rPr lang="en-US" sz="3200" b="1" dirty="0"/>
            </a:br>
            <a:r>
              <a:rPr lang="en-US" sz="3200" b="1" dirty="0">
                <a:latin typeface="Times New Roman"/>
              </a:rPr>
              <a:t>stored at 4°C. It is </a:t>
            </a:r>
            <a:r>
              <a:rPr lang="en-US" sz="3200" b="1" dirty="0" smtClean="0">
                <a:latin typeface="Times New Roman"/>
              </a:rPr>
              <a:t>3 to 4</a:t>
            </a:r>
            <a:r>
              <a:rPr lang="en-US" sz="3200" b="1" dirty="0" smtClean="0">
                <a:latin typeface="Times New Roman"/>
                <a:cs typeface="Times New Roman"/>
              </a:rPr>
              <a:t>X</a:t>
            </a:r>
            <a:r>
              <a:rPr lang="en-US" sz="3200" b="1" dirty="0" smtClean="0">
                <a:latin typeface="Times New Roman"/>
              </a:rPr>
              <a:t> </a:t>
            </a:r>
            <a:r>
              <a:rPr lang="en-US" sz="3200" b="1" dirty="0">
                <a:latin typeface="Times New Roman"/>
              </a:rPr>
              <a:t>more potent than </a:t>
            </a:r>
            <a:r>
              <a:rPr lang="en-US" sz="3200" b="1" dirty="0" err="1">
                <a:latin typeface="Times New Roman"/>
              </a:rPr>
              <a:t>atracurium</a:t>
            </a:r>
            <a:r>
              <a:rPr lang="en-US" sz="3200" b="1" dirty="0">
                <a:latin typeface="Times New Roman"/>
              </a:rPr>
              <a:t> and, therefore, has</a:t>
            </a:r>
            <a:r>
              <a:rPr lang="en-US" sz="3200" b="1" dirty="0"/>
              <a:t/>
            </a:r>
            <a:br>
              <a:rPr lang="en-US" sz="3200" b="1" dirty="0"/>
            </a:br>
            <a:r>
              <a:rPr lang="en-US" sz="3200" b="1" dirty="0">
                <a:latin typeface="Times New Roman"/>
              </a:rPr>
              <a:t>a slower onset time</a:t>
            </a:r>
            <a:r>
              <a:rPr lang="en-US" sz="3200" b="1" dirty="0" smtClean="0">
                <a:latin typeface="Times New Roman"/>
              </a:rPr>
              <a:t>.                                                                                                             onset </a:t>
            </a:r>
            <a:r>
              <a:rPr lang="en-US" sz="3200" b="1" dirty="0">
                <a:latin typeface="Times New Roman"/>
              </a:rPr>
              <a:t>time can be improved </a:t>
            </a:r>
            <a:r>
              <a:rPr lang="en-US" sz="3200" b="1" dirty="0" smtClean="0">
                <a:latin typeface="Times New Roman"/>
              </a:rPr>
              <a:t>by </a:t>
            </a:r>
            <a:r>
              <a:rPr lang="en-US" sz="3200" b="1" dirty="0" smtClean="0">
                <a:latin typeface="Times New Roman"/>
                <a:sym typeface="Symbol"/>
              </a:rPr>
              <a:t></a:t>
            </a:r>
            <a:r>
              <a:rPr lang="en-US" sz="3200" b="1" dirty="0" smtClean="0">
                <a:latin typeface="Times New Roman"/>
              </a:rPr>
              <a:t> </a:t>
            </a:r>
            <a:r>
              <a:rPr lang="en-US" sz="3200" b="1" dirty="0">
                <a:latin typeface="Times New Roman"/>
              </a:rPr>
              <a:t>the dose  </a:t>
            </a:r>
            <a:r>
              <a:rPr lang="en-US" sz="3200" b="1" dirty="0" smtClean="0">
                <a:latin typeface="Times New Roman"/>
              </a:rPr>
              <a:t>                                                         </a:t>
            </a:r>
            <a:r>
              <a:rPr lang="en-US" sz="3200" b="1" dirty="0"/>
              <a:t/>
            </a:r>
            <a:br>
              <a:rPr lang="en-US" sz="3200" b="1" dirty="0"/>
            </a:br>
            <a:r>
              <a:rPr lang="en-US" sz="3200" b="1" dirty="0" smtClean="0"/>
              <a:t>it</a:t>
            </a:r>
            <a:r>
              <a:rPr lang="en-US" sz="3200" b="1" dirty="0" smtClean="0">
                <a:latin typeface="Times New Roman"/>
              </a:rPr>
              <a:t> </a:t>
            </a:r>
            <a:r>
              <a:rPr lang="en-US" sz="3200" b="1" dirty="0">
                <a:latin typeface="Times New Roman"/>
              </a:rPr>
              <a:t>extremely </a:t>
            </a:r>
            <a:r>
              <a:rPr lang="en-US" sz="3200" b="1" dirty="0" smtClean="0">
                <a:latin typeface="Times New Roman"/>
              </a:rPr>
              <a:t>low histamine </a:t>
            </a:r>
            <a:r>
              <a:rPr lang="en-US" sz="3200" b="1" dirty="0" err="1" smtClean="0">
                <a:latin typeface="Times New Roman"/>
              </a:rPr>
              <a:t>releas</a:t>
            </a:r>
            <a:r>
              <a:rPr lang="en-US" sz="3200" b="1" dirty="0" smtClean="0">
                <a:latin typeface="Times New Roman"/>
              </a:rPr>
              <a:t> </a:t>
            </a:r>
            <a:endParaRPr lang="en-US" sz="3200" b="1" dirty="0"/>
          </a:p>
        </p:txBody>
      </p:sp>
    </p:spTree>
    <p:extLst>
      <p:ext uri="{BB962C8B-B14F-4D97-AF65-F5344CB8AC3E}">
        <p14:creationId xmlns:p14="http://schemas.microsoft.com/office/powerpoint/2010/main" val="4238554609"/>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066800" y="762000"/>
            <a:ext cx="8077200" cy="5426075"/>
          </a:xfrm>
        </p:spPr>
        <p:txBody>
          <a:bodyPr>
            <a:normAutofit lnSpcReduction="10000"/>
          </a:bodyPr>
          <a:lstStyle/>
          <a:p>
            <a:r>
              <a:rPr lang="en-US" sz="3200" b="1" dirty="0"/>
              <a:t>T</a:t>
            </a:r>
            <a:r>
              <a:rPr lang="en-US" sz="3200" b="1" dirty="0" smtClean="0"/>
              <a:t>he </a:t>
            </a:r>
            <a:r>
              <a:rPr lang="en-US" sz="3200" b="1" dirty="0"/>
              <a:t>predominant pathway for its elimination </a:t>
            </a:r>
            <a:r>
              <a:rPr lang="en-US" sz="3200" b="1" dirty="0" smtClean="0"/>
              <a:t>is Hofmann </a:t>
            </a:r>
            <a:r>
              <a:rPr lang="en-US" sz="3200" b="1" dirty="0"/>
              <a:t>elimination to </a:t>
            </a:r>
            <a:r>
              <a:rPr lang="en-US" sz="3200" b="1" dirty="0" err="1"/>
              <a:t>laudanosine</a:t>
            </a:r>
            <a:r>
              <a:rPr lang="en-US" sz="3200" b="1" dirty="0"/>
              <a:t> and a </a:t>
            </a:r>
            <a:r>
              <a:rPr lang="en-US" sz="3200" b="1" dirty="0" err="1"/>
              <a:t>monoquaternary</a:t>
            </a:r>
            <a:r>
              <a:rPr lang="en-US" sz="3200" b="1" dirty="0"/>
              <a:t> acrylate. </a:t>
            </a:r>
            <a:r>
              <a:rPr lang="en-US" sz="3200" b="1" dirty="0" smtClean="0"/>
              <a:t>                                                                                 This </a:t>
            </a:r>
            <a:r>
              <a:rPr lang="en-US" sz="3200" b="1" dirty="0"/>
              <a:t>is then </a:t>
            </a:r>
            <a:r>
              <a:rPr lang="en-US" sz="3200" b="1" dirty="0" err="1"/>
              <a:t>hydrolysed</a:t>
            </a:r>
            <a:r>
              <a:rPr lang="en-US" sz="3200" b="1" dirty="0"/>
              <a:t> by non-specific plasma </a:t>
            </a:r>
            <a:r>
              <a:rPr lang="en-US" sz="3200" b="1" dirty="0" err="1"/>
              <a:t>esterases</a:t>
            </a:r>
            <a:r>
              <a:rPr lang="en-US" sz="3200" b="1" dirty="0"/>
              <a:t> to a </a:t>
            </a:r>
            <a:r>
              <a:rPr lang="en-US" sz="3200" b="1" dirty="0" err="1"/>
              <a:t>monoquaternary</a:t>
            </a:r>
            <a:r>
              <a:rPr lang="en-US" sz="3200" b="1" dirty="0"/>
              <a:t> alcohol and acrylic </a:t>
            </a:r>
            <a:r>
              <a:rPr lang="en-US" sz="3200" b="1" dirty="0" smtClean="0"/>
              <a:t>acid.no NMB property.                                                                                                             </a:t>
            </a:r>
            <a:r>
              <a:rPr lang="en-US" sz="3200" b="1" dirty="0"/>
              <a:t/>
            </a:r>
            <a:br>
              <a:rPr lang="en-US" sz="3200" b="1" dirty="0"/>
            </a:br>
            <a:r>
              <a:rPr lang="en-US" sz="3200" b="1" dirty="0"/>
              <a:t>Safe for children from 2 years of age and in elderly patients.</a:t>
            </a:r>
            <a:br>
              <a:rPr lang="en-US" sz="3200" b="1" dirty="0"/>
            </a:br>
            <a:r>
              <a:rPr lang="en-US" sz="3200" b="1" dirty="0"/>
              <a:t> can be used in end-stage renal or hepatic </a:t>
            </a:r>
            <a:r>
              <a:rPr lang="en-US" sz="3200" b="1" dirty="0" smtClean="0"/>
              <a:t>impairment</a:t>
            </a:r>
            <a:endParaRPr lang="en-US" dirty="0"/>
          </a:p>
        </p:txBody>
      </p:sp>
    </p:spTree>
    <p:extLst>
      <p:ext uri="{BB962C8B-B14F-4D97-AF65-F5344CB8AC3E}">
        <p14:creationId xmlns:p14="http://schemas.microsoft.com/office/powerpoint/2010/main" val="371462055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228600"/>
            <a:ext cx="7423786" cy="685800"/>
          </a:xfrm>
        </p:spPr>
        <p:txBody>
          <a:bodyPr>
            <a:normAutofit/>
          </a:bodyPr>
          <a:lstStyle/>
          <a:p>
            <a:r>
              <a:rPr lang="en-US" sz="3600" b="1" dirty="0" err="1"/>
              <a:t>Mivacurium</a:t>
            </a:r>
            <a:endParaRPr lang="en-US" sz="3600" b="1" dirty="0"/>
          </a:p>
        </p:txBody>
      </p:sp>
      <p:sp>
        <p:nvSpPr>
          <p:cNvPr id="2" name="Content Placeholder 1"/>
          <p:cNvSpPr>
            <a:spLocks noGrp="1"/>
          </p:cNvSpPr>
          <p:nvPr>
            <p:ph idx="1"/>
          </p:nvPr>
        </p:nvSpPr>
        <p:spPr>
          <a:xfrm>
            <a:off x="304800" y="838200"/>
            <a:ext cx="8610600" cy="5334000"/>
          </a:xfrm>
        </p:spPr>
        <p:txBody>
          <a:bodyPr>
            <a:noAutofit/>
          </a:bodyPr>
          <a:lstStyle/>
          <a:p>
            <a:r>
              <a:rPr lang="en-US" sz="3200" b="1" dirty="0" err="1"/>
              <a:t>Mivacurium</a:t>
            </a:r>
            <a:r>
              <a:rPr lang="en-US" sz="3200" b="1" dirty="0"/>
              <a:t> (a </a:t>
            </a:r>
            <a:r>
              <a:rPr lang="en-US" sz="3200" b="1" dirty="0" err="1"/>
              <a:t>benzylisoquinolinium</a:t>
            </a:r>
            <a:r>
              <a:rPr lang="en-US" sz="3200" b="1" dirty="0"/>
              <a:t> ester – similar to </a:t>
            </a:r>
            <a:r>
              <a:rPr lang="en-US" sz="3200" b="1" dirty="0" err="1"/>
              <a:t>atracurium</a:t>
            </a:r>
            <a:r>
              <a:rPr lang="en-US" sz="3200" b="1" dirty="0"/>
              <a:t>) is a chiral mixture </a:t>
            </a:r>
            <a:r>
              <a:rPr lang="en-US" sz="3200" b="1" dirty="0" smtClean="0"/>
              <a:t>of three </a:t>
            </a:r>
            <a:r>
              <a:rPr lang="en-US" sz="3200" b="1" dirty="0"/>
              <a:t>stereospecific isomers in the following proportions:</a:t>
            </a:r>
          </a:p>
          <a:p>
            <a:r>
              <a:rPr lang="en-US" sz="3200" b="1" dirty="0"/>
              <a:t>• 36% </a:t>
            </a:r>
            <a:r>
              <a:rPr lang="en-US" sz="3200" b="1" dirty="0" err="1"/>
              <a:t>cis</a:t>
            </a:r>
            <a:r>
              <a:rPr lang="en-US" sz="3200" b="1" dirty="0"/>
              <a:t>-trans</a:t>
            </a:r>
          </a:p>
          <a:p>
            <a:r>
              <a:rPr lang="en-US" sz="3200" b="1" dirty="0"/>
              <a:t>• 58% trans-trans</a:t>
            </a:r>
          </a:p>
          <a:p>
            <a:r>
              <a:rPr lang="en-US" sz="3200" b="1" dirty="0"/>
              <a:t>• 6% </a:t>
            </a:r>
            <a:r>
              <a:rPr lang="en-US" sz="3200" b="1" dirty="0" err="1"/>
              <a:t>cis-cis</a:t>
            </a:r>
            <a:r>
              <a:rPr lang="en-US" sz="3200" b="1" dirty="0" smtClean="0"/>
              <a:t>.</a:t>
            </a:r>
            <a:endParaRPr lang="en-US" sz="3200" b="1" dirty="0"/>
          </a:p>
        </p:txBody>
      </p:sp>
    </p:spTree>
    <p:extLst>
      <p:ext uri="{BB962C8B-B14F-4D97-AF65-F5344CB8AC3E}">
        <p14:creationId xmlns:p14="http://schemas.microsoft.com/office/powerpoint/2010/main" val="2887772603"/>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295400" y="609600"/>
            <a:ext cx="7848600" cy="5578475"/>
          </a:xfrm>
        </p:spPr>
        <p:txBody>
          <a:bodyPr>
            <a:noAutofit/>
          </a:bodyPr>
          <a:lstStyle/>
          <a:p>
            <a:r>
              <a:rPr lang="en-US" sz="3200" b="1" dirty="0" err="1"/>
              <a:t>Mivacurium</a:t>
            </a:r>
            <a:r>
              <a:rPr lang="en-US" sz="3200" b="1" dirty="0"/>
              <a:t>, like succinylcholine, is metabolized by </a:t>
            </a:r>
            <a:r>
              <a:rPr lang="en-US" sz="3200" b="1" dirty="0" err="1"/>
              <a:t>pseudocholinesterase</a:t>
            </a:r>
            <a:r>
              <a:rPr lang="en-US" sz="3200" b="1" dirty="0" smtClean="0"/>
              <a:t>.</a:t>
            </a:r>
          </a:p>
          <a:p>
            <a:r>
              <a:rPr lang="en-US" sz="3200" b="1" dirty="0"/>
              <a:t>However, like other </a:t>
            </a:r>
            <a:r>
              <a:rPr lang="en-US" sz="3200" b="1" dirty="0" err="1"/>
              <a:t>nondepolarizing</a:t>
            </a:r>
            <a:r>
              <a:rPr lang="en-US" sz="3200" b="1" dirty="0"/>
              <a:t> agents, </a:t>
            </a:r>
            <a:r>
              <a:rPr lang="en-US" sz="3200" b="1" dirty="0" smtClean="0"/>
              <a:t>cholinesterase inhibitors </a:t>
            </a:r>
            <a:r>
              <a:rPr lang="en-US" sz="3200" b="1" dirty="0"/>
              <a:t>will antagonize </a:t>
            </a:r>
            <a:r>
              <a:rPr lang="en-US" sz="3200" b="1" dirty="0" err="1"/>
              <a:t>mivacurium</a:t>
            </a:r>
            <a:r>
              <a:rPr lang="en-US" sz="3200" b="1" dirty="0"/>
              <a:t>-induced neuromuscular blockade.</a:t>
            </a:r>
          </a:p>
          <a:p>
            <a:r>
              <a:rPr lang="en-US" sz="3200" b="1" dirty="0" err="1"/>
              <a:t>Edrophonium</a:t>
            </a:r>
            <a:r>
              <a:rPr lang="en-US" sz="3200" b="1" dirty="0"/>
              <a:t> more effectively reverses </a:t>
            </a:r>
            <a:r>
              <a:rPr lang="en-US" sz="3200" b="1" dirty="0" err="1"/>
              <a:t>mivacurium</a:t>
            </a:r>
            <a:r>
              <a:rPr lang="en-US" sz="3200" b="1" dirty="0"/>
              <a:t> blockade than </a:t>
            </a:r>
            <a:r>
              <a:rPr lang="en-US" sz="3200" b="1" dirty="0" smtClean="0"/>
              <a:t>neostigmine because </a:t>
            </a:r>
            <a:r>
              <a:rPr lang="en-US" sz="3200" b="1" dirty="0"/>
              <a:t>neostigmine inhibits plasma cholinesterase activity.</a:t>
            </a:r>
          </a:p>
        </p:txBody>
      </p:sp>
    </p:spTree>
    <p:extLst>
      <p:ext uri="{BB962C8B-B14F-4D97-AF65-F5344CB8AC3E}">
        <p14:creationId xmlns:p14="http://schemas.microsoft.com/office/powerpoint/2010/main" val="34057368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524000" y="1219200"/>
            <a:ext cx="7620000" cy="4968875"/>
          </a:xfrm>
        </p:spPr>
        <p:txBody>
          <a:bodyPr>
            <a:normAutofit/>
          </a:bodyPr>
          <a:lstStyle/>
          <a:p>
            <a:r>
              <a:rPr lang="en-US" sz="3200" b="1" dirty="0"/>
              <a:t>The main advantage of </a:t>
            </a:r>
            <a:r>
              <a:rPr lang="en-US" sz="3200" b="1" dirty="0" err="1"/>
              <a:t>mivacurium</a:t>
            </a:r>
            <a:r>
              <a:rPr lang="en-US" sz="3200" b="1" dirty="0"/>
              <a:t> is its short duration of action</a:t>
            </a:r>
            <a:r>
              <a:rPr lang="en-US" sz="3200" b="1" dirty="0" smtClean="0"/>
              <a:t>.                                    </a:t>
            </a:r>
            <a:r>
              <a:rPr lang="en-US" sz="3200" b="1" dirty="0"/>
              <a:t>Routine reversal </a:t>
            </a:r>
            <a:r>
              <a:rPr lang="en-US" sz="3200" b="1" dirty="0" smtClean="0"/>
              <a:t>of </a:t>
            </a:r>
            <a:r>
              <a:rPr lang="en-US" sz="3200" b="1" dirty="0" err="1" smtClean="0"/>
              <a:t>mivacurium</a:t>
            </a:r>
            <a:r>
              <a:rPr lang="en-US" sz="3200" b="1" dirty="0" smtClean="0"/>
              <a:t> </a:t>
            </a:r>
            <a:r>
              <a:rPr lang="en-US" sz="3200" b="1" dirty="0"/>
              <a:t>with neostigmine may not be required due to its rapid enzymatic </a:t>
            </a:r>
            <a:r>
              <a:rPr lang="en-US" sz="3200" b="1" dirty="0" smtClean="0"/>
              <a:t>metabolism.                                                                               </a:t>
            </a:r>
            <a:endParaRPr lang="en-US" sz="3200" b="1" dirty="0"/>
          </a:p>
        </p:txBody>
      </p:sp>
    </p:spTree>
    <p:extLst>
      <p:ext uri="{BB962C8B-B14F-4D97-AF65-F5344CB8AC3E}">
        <p14:creationId xmlns:p14="http://schemas.microsoft.com/office/powerpoint/2010/main" val="297059343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914400"/>
            <a:ext cx="8077200" cy="5273675"/>
          </a:xfrm>
        </p:spPr>
        <p:txBody>
          <a:bodyPr>
            <a:normAutofit fontScale="92500"/>
          </a:bodyPr>
          <a:lstStyle/>
          <a:p>
            <a:r>
              <a:rPr lang="en-US" sz="3200" b="1" dirty="0"/>
              <a:t>Presentation and Uses</a:t>
            </a:r>
          </a:p>
          <a:p>
            <a:r>
              <a:rPr lang="en-US" sz="3200" b="1" dirty="0" err="1"/>
              <a:t>Mivacurium</a:t>
            </a:r>
            <a:r>
              <a:rPr lang="en-US" sz="3200" b="1" dirty="0"/>
              <a:t> is presented as an acidic (pH 3.5–5.0) aqueous solution containing 2 </a:t>
            </a:r>
            <a:r>
              <a:rPr lang="en-US" sz="3200" b="1" dirty="0" smtClean="0"/>
              <a:t>mg/ml in </a:t>
            </a:r>
            <a:r>
              <a:rPr lang="en-US" sz="3200" b="1" dirty="0"/>
              <a:t>5 and 10 ml ampoules. It has a shelf-life of 18 months when stored below 25°C.</a:t>
            </a:r>
          </a:p>
          <a:p>
            <a:r>
              <a:rPr lang="en-US" sz="3200" b="1" dirty="0"/>
              <a:t>Effects</a:t>
            </a:r>
          </a:p>
          <a:p>
            <a:r>
              <a:rPr lang="en-US" sz="3200" b="1" dirty="0"/>
              <a:t>• Cardiorespiratory – high doses may release histamine, resulting in a fall in </a:t>
            </a:r>
            <a:r>
              <a:rPr lang="en-US" sz="3200" b="1" dirty="0" smtClean="0"/>
              <a:t>blood pressure </a:t>
            </a:r>
            <a:r>
              <a:rPr lang="en-US" sz="3200" b="1" dirty="0"/>
              <a:t>and bronchospasm.</a:t>
            </a:r>
          </a:p>
          <a:p>
            <a:endParaRPr lang="en-US" dirty="0"/>
          </a:p>
        </p:txBody>
      </p:sp>
    </p:spTree>
    <p:extLst>
      <p:ext uri="{BB962C8B-B14F-4D97-AF65-F5344CB8AC3E}">
        <p14:creationId xmlns:p14="http://schemas.microsoft.com/office/powerpoint/2010/main" val="88331914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990600" y="609600"/>
            <a:ext cx="8153400" cy="4572000"/>
          </a:xfrm>
        </p:spPr>
        <p:txBody>
          <a:bodyPr>
            <a:noAutofit/>
          </a:bodyPr>
          <a:lstStyle/>
          <a:p>
            <a:endParaRPr lang="en-US" sz="3200" b="1" dirty="0"/>
          </a:p>
          <a:p>
            <a:r>
              <a:rPr lang="en-US" sz="3200" b="1" dirty="0"/>
              <a:t>Plasma cholinesterase is responsible for the metabolism of the </a:t>
            </a:r>
            <a:r>
              <a:rPr lang="en-US" sz="3200" b="1" dirty="0" err="1"/>
              <a:t>cis</a:t>
            </a:r>
            <a:r>
              <a:rPr lang="en-US" sz="3200" b="1" dirty="0"/>
              <a:t>-trans and </a:t>
            </a:r>
            <a:r>
              <a:rPr lang="en-US" sz="3200" b="1" dirty="0" smtClean="0"/>
              <a:t>trans-trans isomers</a:t>
            </a:r>
            <a:r>
              <a:rPr lang="en-US" sz="3200" b="1" dirty="0"/>
              <a:t>, so those patients with genetically low plasma cholinesterase </a:t>
            </a:r>
            <a:r>
              <a:rPr lang="en-US" sz="3200" b="1" dirty="0" smtClean="0"/>
              <a:t>level  are </a:t>
            </a:r>
            <a:r>
              <a:rPr lang="en-US" sz="3200" b="1" dirty="0"/>
              <a:t>subject to prolonged neuromuscular blockade. </a:t>
            </a:r>
            <a:r>
              <a:rPr lang="en-US" sz="3200" b="1" dirty="0" smtClean="0"/>
              <a:t>                                                         Its</a:t>
            </a:r>
            <a:r>
              <a:rPr lang="en-US" sz="3200" b="1" dirty="0"/>
              <a:t> </a:t>
            </a:r>
            <a:r>
              <a:rPr lang="en-US" sz="3200" b="1" dirty="0" smtClean="0"/>
              <a:t>duration </a:t>
            </a:r>
            <a:r>
              <a:rPr lang="en-US" sz="3200" b="1" dirty="0"/>
              <a:t>of action is significantly prolonged in patients with end-stage liver disease, </a:t>
            </a:r>
            <a:r>
              <a:rPr lang="en-US" sz="3200" b="1" dirty="0" smtClean="0"/>
              <a:t>mainly due </a:t>
            </a:r>
            <a:r>
              <a:rPr lang="en-US" sz="3200" b="1" dirty="0"/>
              <a:t>to reduced plasma cholinesterase activity</a:t>
            </a:r>
          </a:p>
        </p:txBody>
      </p:sp>
    </p:spTree>
    <p:extLst>
      <p:ext uri="{BB962C8B-B14F-4D97-AF65-F5344CB8AC3E}">
        <p14:creationId xmlns:p14="http://schemas.microsoft.com/office/powerpoint/2010/main" val="15836772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duotone>
              <a:prstClr val="black"/>
              <a:schemeClr val="accent2">
                <a:tint val="45000"/>
                <a:satMod val="400000"/>
              </a:schemeClr>
            </a:duotone>
            <a:extLst>
              <a:ext uri="{28A0092B-C50C-407E-A947-70E740481C1C}">
                <a14:useLocalDpi xmlns:a14="http://schemas.microsoft.com/office/drawing/2010/main" val="0"/>
              </a:ext>
            </a:extLst>
          </a:blip>
          <a:srcRect l="31893" t="28642" r="32099" b="35451"/>
          <a:stretch/>
        </p:blipFill>
        <p:spPr bwMode="auto">
          <a:xfrm>
            <a:off x="291099" y="990600"/>
            <a:ext cx="8617737" cy="48006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803333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143000" y="1279525"/>
            <a:ext cx="8001000" cy="4968875"/>
          </a:xfrm>
        </p:spPr>
        <p:txBody>
          <a:bodyPr>
            <a:noAutofit/>
          </a:bodyPr>
          <a:lstStyle/>
          <a:p>
            <a:r>
              <a:rPr lang="en-US" sz="2800" b="1" dirty="0"/>
              <a:t>NEWER MUSCLE RELAXANTS</a:t>
            </a:r>
          </a:p>
          <a:p>
            <a:r>
              <a:rPr lang="en-US" sz="2800" b="1" dirty="0" err="1"/>
              <a:t>Gantacurium</a:t>
            </a:r>
            <a:r>
              <a:rPr lang="en-US" sz="2800" b="1" dirty="0"/>
              <a:t> belongs to a new class of </a:t>
            </a:r>
            <a:r>
              <a:rPr lang="en-US" sz="2800" b="1" dirty="0" err="1"/>
              <a:t>nondepolarizing</a:t>
            </a:r>
            <a:r>
              <a:rPr lang="en-US" sz="2800" b="1" dirty="0"/>
              <a:t> neuromuscular </a:t>
            </a:r>
            <a:r>
              <a:rPr lang="en-US" sz="2800" b="1" dirty="0" smtClean="0"/>
              <a:t>blockers called </a:t>
            </a:r>
            <a:r>
              <a:rPr lang="en-US" sz="2800" b="1" i="1" dirty="0" err="1">
                <a:solidFill>
                  <a:schemeClr val="tx1">
                    <a:lumMod val="75000"/>
                  </a:schemeClr>
                </a:solidFill>
              </a:rPr>
              <a:t>chlorofumarates</a:t>
            </a:r>
            <a:r>
              <a:rPr lang="en-US" sz="2800" b="1" dirty="0"/>
              <a:t>. In preclinical trials, </a:t>
            </a:r>
            <a:r>
              <a:rPr lang="en-US" sz="2800" b="1" i="1" dirty="0" err="1">
                <a:solidFill>
                  <a:schemeClr val="accent1">
                    <a:lumMod val="40000"/>
                    <a:lumOff val="60000"/>
                  </a:schemeClr>
                </a:solidFill>
              </a:rPr>
              <a:t>gantacurium</a:t>
            </a:r>
            <a:r>
              <a:rPr lang="en-US" sz="2800" b="1" i="1" dirty="0">
                <a:solidFill>
                  <a:schemeClr val="accent1">
                    <a:lumMod val="40000"/>
                    <a:lumOff val="60000"/>
                  </a:schemeClr>
                </a:solidFill>
              </a:rPr>
              <a:t> </a:t>
            </a:r>
            <a:r>
              <a:rPr lang="en-US" sz="2800" b="1" dirty="0"/>
              <a:t>demonstrated </a:t>
            </a:r>
            <a:r>
              <a:rPr lang="en-US" sz="2800" b="1" dirty="0" smtClean="0"/>
              <a:t>an </a:t>
            </a:r>
            <a:r>
              <a:rPr lang="en-US" sz="2800" b="1" dirty="0" err="1" smtClean="0"/>
              <a:t>ultrashort</a:t>
            </a:r>
            <a:r>
              <a:rPr lang="en-US" sz="2800" b="1" dirty="0" smtClean="0"/>
              <a:t> </a:t>
            </a:r>
            <a:r>
              <a:rPr lang="en-US" sz="2800" b="1" dirty="0"/>
              <a:t>duration of action, similar to that of succinylcholine. </a:t>
            </a:r>
            <a:r>
              <a:rPr lang="en-US" sz="2800" b="1" dirty="0" smtClean="0"/>
              <a:t>Its pharmacokinetic </a:t>
            </a:r>
            <a:r>
              <a:rPr lang="en-US" sz="2800" b="1" dirty="0"/>
              <a:t>profile is explained by the fact that it undergoes </a:t>
            </a:r>
            <a:r>
              <a:rPr lang="en-US" sz="2800" b="1" dirty="0" smtClean="0"/>
              <a:t>non enzymatic degradation.</a:t>
            </a:r>
            <a:endParaRPr lang="en-US" sz="2800" b="1" dirty="0"/>
          </a:p>
        </p:txBody>
      </p:sp>
    </p:spTree>
    <p:extLst>
      <p:ext uri="{BB962C8B-B14F-4D97-AF65-F5344CB8AC3E}">
        <p14:creationId xmlns:p14="http://schemas.microsoft.com/office/powerpoint/2010/main" val="222426298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990600"/>
            <a:ext cx="8229600" cy="5197475"/>
          </a:xfrm>
        </p:spPr>
        <p:txBody>
          <a:bodyPr>
            <a:normAutofit fontScale="55000" lnSpcReduction="20000"/>
          </a:bodyPr>
          <a:lstStyle/>
          <a:p>
            <a:r>
              <a:rPr lang="en-US" b="1" dirty="0" smtClean="0"/>
              <a:t> </a:t>
            </a:r>
            <a:r>
              <a:rPr lang="en-US" sz="4600" b="1" dirty="0" smtClean="0"/>
              <a:t>inhalational anesthetic  potentiate muscle relaxant    as follow                                                                               (</a:t>
            </a:r>
            <a:r>
              <a:rPr lang="en-US" sz="4600" b="1" dirty="0" err="1" smtClean="0"/>
              <a:t>desflurane</a:t>
            </a:r>
            <a:r>
              <a:rPr lang="en-US" sz="4600" b="1" dirty="0" smtClean="0"/>
              <a:t> &gt; </a:t>
            </a:r>
            <a:r>
              <a:rPr lang="en-US" sz="4600" b="1" dirty="0" err="1" smtClean="0"/>
              <a:t>sevoflurane</a:t>
            </a:r>
            <a:r>
              <a:rPr lang="en-US" sz="4600" b="1" dirty="0" smtClean="0"/>
              <a:t> &gt; </a:t>
            </a:r>
            <a:r>
              <a:rPr lang="en-US" sz="4600" b="1" dirty="0" err="1" smtClean="0"/>
              <a:t>isoflurane</a:t>
            </a:r>
            <a:r>
              <a:rPr lang="en-US" sz="4600" b="1" dirty="0" smtClean="0"/>
              <a:t> &gt; halothane &gt; N2O/narcotic&gt;TIVA.</a:t>
            </a:r>
          </a:p>
          <a:p>
            <a:r>
              <a:rPr lang="en-US" sz="4600" b="1" dirty="0"/>
              <a:t>Only </a:t>
            </a:r>
            <a:r>
              <a:rPr lang="en-US" sz="4600" b="1" dirty="0" err="1"/>
              <a:t>pancuronium</a:t>
            </a:r>
            <a:r>
              <a:rPr lang="en-US" sz="4600" b="1" dirty="0"/>
              <a:t>, </a:t>
            </a:r>
            <a:r>
              <a:rPr lang="en-US" sz="4600" b="1" dirty="0" err="1"/>
              <a:t>vecuronium</a:t>
            </a:r>
            <a:r>
              <a:rPr lang="en-US" sz="4600" b="1" dirty="0"/>
              <a:t>, and </a:t>
            </a:r>
            <a:r>
              <a:rPr lang="en-US" sz="4600" b="1" dirty="0" err="1"/>
              <a:t>rocuronium</a:t>
            </a:r>
            <a:r>
              <a:rPr lang="en-US" sz="4600" b="1" dirty="0"/>
              <a:t> are metabolized to </a:t>
            </a:r>
            <a:r>
              <a:rPr lang="en-US" sz="4600" b="1" dirty="0" smtClean="0"/>
              <a:t>varying degrees </a:t>
            </a:r>
            <a:r>
              <a:rPr lang="en-US" sz="4600" b="1" dirty="0"/>
              <a:t>by the liver</a:t>
            </a:r>
            <a:r>
              <a:rPr lang="en-US" sz="4600" b="1" dirty="0" smtClean="0"/>
              <a:t>.</a:t>
            </a:r>
          </a:p>
          <a:p>
            <a:r>
              <a:rPr lang="en-US" sz="4600" b="1" dirty="0"/>
              <a:t>Vecuronium and </a:t>
            </a:r>
            <a:r>
              <a:rPr lang="en-US" sz="4600" b="1" dirty="0" err="1"/>
              <a:t>rocuronium</a:t>
            </a:r>
            <a:r>
              <a:rPr lang="en-US" sz="4600" b="1" dirty="0"/>
              <a:t> depend heavily on biliary excretion. </a:t>
            </a:r>
            <a:r>
              <a:rPr lang="en-US" sz="4600" b="1" dirty="0" err="1" smtClean="0"/>
              <a:t>Clinically,liver</a:t>
            </a:r>
            <a:r>
              <a:rPr lang="en-US" sz="4600" b="1" dirty="0" smtClean="0"/>
              <a:t> </a:t>
            </a:r>
            <a:r>
              <a:rPr lang="en-US" sz="4600" b="1" dirty="0"/>
              <a:t>failure prolongs blockade. </a:t>
            </a:r>
            <a:r>
              <a:rPr lang="en-US" sz="4600" b="1" dirty="0" smtClean="0"/>
              <a:t>                                                                               Severe liver </a:t>
            </a:r>
            <a:r>
              <a:rPr lang="en-US" sz="4600" b="1" dirty="0"/>
              <a:t>disease does not significantly affect clearance of </a:t>
            </a:r>
            <a:r>
              <a:rPr lang="en-US" sz="4600" b="1" dirty="0" err="1"/>
              <a:t>atracurium</a:t>
            </a:r>
            <a:r>
              <a:rPr lang="en-US" sz="4600" b="1" dirty="0"/>
              <a:t> </a:t>
            </a:r>
            <a:r>
              <a:rPr lang="en-US" sz="4600" b="1" dirty="0" smtClean="0"/>
              <a:t>or </a:t>
            </a:r>
            <a:r>
              <a:rPr lang="en-US" sz="4600" b="1" dirty="0" err="1" smtClean="0"/>
              <a:t>cisatracurium</a:t>
            </a:r>
            <a:r>
              <a:rPr lang="en-US" sz="4600" b="1" dirty="0"/>
              <a:t>, but the associated decrease in </a:t>
            </a:r>
            <a:r>
              <a:rPr lang="en-US" sz="4600" b="1" dirty="0" err="1"/>
              <a:t>pseudocholinesterase</a:t>
            </a:r>
            <a:r>
              <a:rPr lang="en-US" sz="4600" b="1" dirty="0"/>
              <a:t> levels </a:t>
            </a:r>
            <a:r>
              <a:rPr lang="en-US" sz="4600" b="1" dirty="0" smtClean="0"/>
              <a:t>may slow </a:t>
            </a:r>
            <a:r>
              <a:rPr lang="en-US" sz="4600" b="1" dirty="0"/>
              <a:t>the metabolism of </a:t>
            </a:r>
            <a:r>
              <a:rPr lang="en-US" sz="4600" b="1" dirty="0" err="1"/>
              <a:t>mivacurium</a:t>
            </a:r>
            <a:r>
              <a:rPr lang="en-US" sz="4600" b="1" dirty="0"/>
              <a:t>.</a:t>
            </a:r>
          </a:p>
        </p:txBody>
      </p:sp>
    </p:spTree>
    <p:extLst>
      <p:ext uri="{BB962C8B-B14F-4D97-AF65-F5344CB8AC3E}">
        <p14:creationId xmlns:p14="http://schemas.microsoft.com/office/powerpoint/2010/main" val="211639582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33400" y="533400"/>
            <a:ext cx="7848600" cy="762000"/>
          </a:xfrm>
        </p:spPr>
        <p:txBody>
          <a:bodyPr>
            <a:normAutofit fontScale="90000"/>
          </a:bodyPr>
          <a:lstStyle/>
          <a:p>
            <a:r>
              <a:rPr lang="en-US" dirty="0"/>
              <a:t>variables affect all </a:t>
            </a:r>
            <a:r>
              <a:rPr lang="en-US" dirty="0" smtClean="0"/>
              <a:t>non depolarizing MR </a:t>
            </a:r>
            <a:endParaRPr lang="en-US" dirty="0"/>
          </a:p>
        </p:txBody>
      </p:sp>
      <p:sp>
        <p:nvSpPr>
          <p:cNvPr id="2" name="Content Placeholder 1"/>
          <p:cNvSpPr>
            <a:spLocks noGrp="1"/>
          </p:cNvSpPr>
          <p:nvPr>
            <p:ph idx="1"/>
          </p:nvPr>
        </p:nvSpPr>
        <p:spPr/>
        <p:txBody>
          <a:bodyPr>
            <a:noAutofit/>
          </a:bodyPr>
          <a:lstStyle/>
          <a:p>
            <a:r>
              <a:rPr lang="en-US" sz="3200" b="1" dirty="0" err="1" smtClean="0"/>
              <a:t>A.Temperature:Hypothermia</a:t>
            </a:r>
            <a:r>
              <a:rPr lang="en-US" sz="3200" b="1" dirty="0" smtClean="0"/>
              <a:t> </a:t>
            </a:r>
            <a:r>
              <a:rPr lang="en-US" sz="3200" b="1" dirty="0"/>
              <a:t>prolongs blockade by decreasing metabolism (</a:t>
            </a:r>
            <a:r>
              <a:rPr lang="en-US" sz="3200" b="1" dirty="0" err="1"/>
              <a:t>eg</a:t>
            </a:r>
            <a:r>
              <a:rPr lang="en-US" sz="3200" b="1" dirty="0"/>
              <a:t>, </a:t>
            </a:r>
            <a:r>
              <a:rPr lang="en-US" sz="3200" b="1" dirty="0" err="1" smtClean="0"/>
              <a:t>mivacurium,atracurium&amp;cisatracurium</a:t>
            </a:r>
            <a:r>
              <a:rPr lang="en-US" sz="3200" b="1" dirty="0"/>
              <a:t>) and delaying excretion (</a:t>
            </a:r>
            <a:r>
              <a:rPr lang="en-US" sz="3200" b="1" dirty="0" err="1"/>
              <a:t>eg</a:t>
            </a:r>
            <a:r>
              <a:rPr lang="en-US" sz="3200" b="1" dirty="0"/>
              <a:t>, </a:t>
            </a:r>
            <a:r>
              <a:rPr lang="en-US" sz="3200" b="1" dirty="0" err="1"/>
              <a:t>pancuronium</a:t>
            </a:r>
            <a:r>
              <a:rPr lang="en-US" sz="3200" b="1" dirty="0"/>
              <a:t> </a:t>
            </a:r>
            <a:r>
              <a:rPr lang="en-US" sz="3200" b="1" dirty="0" smtClean="0"/>
              <a:t>and </a:t>
            </a:r>
            <a:r>
              <a:rPr lang="en-US" sz="3200" b="1" dirty="0" err="1" smtClean="0"/>
              <a:t>vecuronium</a:t>
            </a:r>
            <a:r>
              <a:rPr lang="en-US" sz="3200" b="1" dirty="0" smtClean="0"/>
              <a:t>).</a:t>
            </a:r>
            <a:endParaRPr lang="en-US" sz="3200" b="1" dirty="0"/>
          </a:p>
        </p:txBody>
      </p:sp>
    </p:spTree>
    <p:extLst>
      <p:ext uri="{BB962C8B-B14F-4D97-AF65-F5344CB8AC3E}">
        <p14:creationId xmlns:p14="http://schemas.microsoft.com/office/powerpoint/2010/main" val="402843419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219200" y="1066800"/>
            <a:ext cx="7924800" cy="5121275"/>
          </a:xfrm>
        </p:spPr>
        <p:txBody>
          <a:bodyPr>
            <a:normAutofit lnSpcReduction="10000"/>
          </a:bodyPr>
          <a:lstStyle/>
          <a:p>
            <a:pPr lvl="0">
              <a:buClr>
                <a:srgbClr val="838995"/>
              </a:buClr>
            </a:pPr>
            <a:r>
              <a:rPr lang="en-US" sz="3200" b="1" dirty="0">
                <a:solidFill>
                  <a:schemeClr val="tx1"/>
                </a:solidFill>
              </a:rPr>
              <a:t>B.</a:t>
            </a:r>
            <a:r>
              <a:rPr lang="en-US" sz="3200" b="1" dirty="0">
                <a:solidFill>
                  <a:srgbClr val="FFFFFF"/>
                </a:solidFill>
              </a:rPr>
              <a:t> </a:t>
            </a:r>
            <a:r>
              <a:rPr lang="en-US" sz="3200" b="1" dirty="0">
                <a:solidFill>
                  <a:schemeClr val="tx1"/>
                </a:solidFill>
              </a:rPr>
              <a:t>Acid–Base Balance</a:t>
            </a:r>
          </a:p>
          <a:p>
            <a:pPr lvl="0">
              <a:buClr>
                <a:srgbClr val="838995"/>
              </a:buClr>
            </a:pPr>
            <a:r>
              <a:rPr lang="en-US" sz="3200" b="1" dirty="0">
                <a:solidFill>
                  <a:schemeClr val="tx1"/>
                </a:solidFill>
              </a:rPr>
              <a:t>Respiratory acidosis potentiates the blockade of most </a:t>
            </a:r>
            <a:r>
              <a:rPr lang="en-US" sz="3200" b="1" dirty="0" err="1">
                <a:solidFill>
                  <a:schemeClr val="tx1"/>
                </a:solidFill>
              </a:rPr>
              <a:t>nondepolarizing</a:t>
            </a:r>
            <a:r>
              <a:rPr lang="en-US" sz="3200" b="1" dirty="0">
                <a:solidFill>
                  <a:schemeClr val="tx1"/>
                </a:solidFill>
              </a:rPr>
              <a:t> relaxants and antagonizes its reversal. This could prevent complete neuromuscular recovery in a </a:t>
            </a:r>
            <a:r>
              <a:rPr lang="en-US" sz="3200" b="1" dirty="0" err="1">
                <a:solidFill>
                  <a:schemeClr val="tx1"/>
                </a:solidFill>
              </a:rPr>
              <a:t>hypoventilating</a:t>
            </a:r>
            <a:r>
              <a:rPr lang="en-US" sz="3200" b="1" dirty="0">
                <a:solidFill>
                  <a:schemeClr val="tx1"/>
                </a:solidFill>
              </a:rPr>
              <a:t> postoperative patient.</a:t>
            </a:r>
          </a:p>
          <a:p>
            <a:pPr lvl="0">
              <a:buClr>
                <a:srgbClr val="838995"/>
              </a:buClr>
            </a:pPr>
            <a:r>
              <a:rPr lang="en-US" sz="3200" b="1" dirty="0">
                <a:solidFill>
                  <a:schemeClr val="tx1"/>
                </a:solidFill>
              </a:rPr>
              <a:t>Electrolyte Abnormalities Hypokalemia and </a:t>
            </a:r>
            <a:r>
              <a:rPr lang="en-US" sz="3200" b="1" dirty="0" err="1">
                <a:solidFill>
                  <a:schemeClr val="tx1"/>
                </a:solidFill>
              </a:rPr>
              <a:t>hypocalcemia</a:t>
            </a:r>
            <a:r>
              <a:rPr lang="en-US" sz="3200" b="1" dirty="0">
                <a:solidFill>
                  <a:schemeClr val="tx1"/>
                </a:solidFill>
              </a:rPr>
              <a:t> augment a </a:t>
            </a:r>
            <a:r>
              <a:rPr lang="en-US" sz="3200" b="1" dirty="0" err="1">
                <a:solidFill>
                  <a:schemeClr val="tx1"/>
                </a:solidFill>
              </a:rPr>
              <a:t>nondepolarizing</a:t>
            </a:r>
            <a:r>
              <a:rPr lang="en-US" sz="3200" b="1" dirty="0">
                <a:solidFill>
                  <a:schemeClr val="tx1"/>
                </a:solidFill>
              </a:rPr>
              <a:t> block.</a:t>
            </a:r>
          </a:p>
        </p:txBody>
      </p:sp>
    </p:spTree>
    <p:extLst>
      <p:ext uri="{BB962C8B-B14F-4D97-AF65-F5344CB8AC3E}">
        <p14:creationId xmlns:p14="http://schemas.microsoft.com/office/powerpoint/2010/main" val="16840048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838200"/>
            <a:ext cx="7696200" cy="4724400"/>
          </a:xfrm>
        </p:spPr>
        <p:txBody>
          <a:bodyPr>
            <a:noAutofit/>
          </a:bodyPr>
          <a:lstStyle/>
          <a:p>
            <a:r>
              <a:rPr lang="en-US" sz="3200" dirty="0"/>
              <a:t>magnesium </a:t>
            </a:r>
            <a:r>
              <a:rPr lang="en-US" sz="3200" dirty="0" smtClean="0"/>
              <a:t>sulfate </a:t>
            </a:r>
            <a:r>
              <a:rPr lang="en-US" sz="3200" dirty="0"/>
              <a:t>in the operating </a:t>
            </a:r>
            <a:r>
              <a:rPr lang="en-US" sz="3200" dirty="0" smtClean="0"/>
              <a:t>room potentiates a </a:t>
            </a:r>
            <a:r>
              <a:rPr lang="en-US" sz="3200" dirty="0" err="1"/>
              <a:t>nondepolarizing</a:t>
            </a:r>
            <a:r>
              <a:rPr lang="en-US" sz="3200" dirty="0"/>
              <a:t> blockade by competing with </a:t>
            </a:r>
            <a:r>
              <a:rPr lang="en-US" sz="3200" dirty="0" err="1" smtClean="0"/>
              <a:t>ca</a:t>
            </a:r>
            <a:r>
              <a:rPr lang="en-US" sz="3200" dirty="0" smtClean="0"/>
              <a:t> at </a:t>
            </a:r>
            <a:r>
              <a:rPr lang="en-US" sz="3200" dirty="0"/>
              <a:t>the motor end-plate</a:t>
            </a:r>
            <a:r>
              <a:rPr lang="en-US" sz="3200" dirty="0" smtClean="0"/>
              <a:t>.</a:t>
            </a:r>
          </a:p>
          <a:p>
            <a:r>
              <a:rPr lang="en-US" sz="3200" dirty="0"/>
              <a:t>D. Age</a:t>
            </a:r>
          </a:p>
          <a:p>
            <a:r>
              <a:rPr lang="en-US" sz="3200" dirty="0"/>
              <a:t>Neonates have an increased sensitivity to </a:t>
            </a:r>
            <a:r>
              <a:rPr lang="en-US" sz="3200" dirty="0" smtClean="0"/>
              <a:t>non depolarizing </a:t>
            </a:r>
            <a:r>
              <a:rPr lang="en-US" sz="3200" dirty="0"/>
              <a:t>relaxants because </a:t>
            </a:r>
            <a:r>
              <a:rPr lang="en-US" sz="3200" dirty="0" smtClean="0"/>
              <a:t>of their </a:t>
            </a:r>
            <a:r>
              <a:rPr lang="en-US" sz="3200" dirty="0"/>
              <a:t>immature neuromuscular junctions</a:t>
            </a:r>
          </a:p>
        </p:txBody>
      </p:sp>
    </p:spTree>
    <p:extLst>
      <p:ext uri="{BB962C8B-B14F-4D97-AF65-F5344CB8AC3E}">
        <p14:creationId xmlns:p14="http://schemas.microsoft.com/office/powerpoint/2010/main" val="151692523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297" t="10514" r="33120" b="2939"/>
          <a:stretch/>
        </p:blipFill>
        <p:spPr bwMode="auto">
          <a:xfrm>
            <a:off x="685800" y="1191903"/>
            <a:ext cx="7467600" cy="4913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4128486"/>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295400" y="609600"/>
            <a:ext cx="7848600" cy="5578475"/>
          </a:xfrm>
        </p:spPr>
        <p:txBody>
          <a:bodyPr>
            <a:noAutofit/>
          </a:bodyPr>
          <a:lstStyle/>
          <a:p>
            <a:r>
              <a:rPr lang="en-US" sz="3200" b="1" dirty="0"/>
              <a:t>Intraoperative hyperventilation is a common cause of </a:t>
            </a:r>
            <a:r>
              <a:rPr lang="en-US" sz="3200" b="1" dirty="0" smtClean="0"/>
              <a:t>postoperative apnea</a:t>
            </a:r>
            <a:r>
              <a:rPr lang="en-US" sz="3200" b="1" dirty="0"/>
              <a:t>. Because volatile agents and opioids raise the apneic threshold, </a:t>
            </a:r>
            <a:r>
              <a:rPr lang="en-US" sz="3200" b="1" dirty="0" smtClean="0"/>
              <a:t>the PaCO2 </a:t>
            </a:r>
            <a:r>
              <a:rPr lang="en-US" sz="3200" b="1" dirty="0"/>
              <a:t>level at which spontaneous ventilation ceases, </a:t>
            </a:r>
            <a:r>
              <a:rPr lang="en-US" sz="3200" b="1" dirty="0" smtClean="0"/>
              <a:t>moderate postoperative </a:t>
            </a:r>
            <a:r>
              <a:rPr lang="en-US" sz="3200" b="1" dirty="0"/>
              <a:t>hypoventilation may be required to stimulate the </a:t>
            </a:r>
            <a:r>
              <a:rPr lang="en-US" sz="3200" b="1" dirty="0" smtClean="0"/>
              <a:t>respiratory centers</a:t>
            </a:r>
            <a:r>
              <a:rPr lang="en-US" sz="3200" b="1" dirty="0" smtClean="0"/>
              <a:t>.</a:t>
            </a:r>
          </a:p>
        </p:txBody>
      </p:sp>
    </p:spTree>
    <p:extLst>
      <p:ext uri="{BB962C8B-B14F-4D97-AF65-F5344CB8AC3E}">
        <p14:creationId xmlns:p14="http://schemas.microsoft.com/office/powerpoint/2010/main" val="151452336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219200"/>
            <a:ext cx="7924800" cy="4968875"/>
          </a:xfrm>
        </p:spPr>
        <p:txBody>
          <a:bodyPr>
            <a:normAutofit fontScale="85000" lnSpcReduction="20000"/>
          </a:bodyPr>
          <a:lstStyle/>
          <a:p>
            <a:r>
              <a:rPr lang="en-US" dirty="0"/>
              <a:t> </a:t>
            </a:r>
            <a:r>
              <a:rPr lang="en-US" sz="3800" b="1" dirty="0"/>
              <a:t>Pupil size is not always a reliable indicator of central nervous </a:t>
            </a:r>
            <a:r>
              <a:rPr lang="en-US" sz="3800" b="1" dirty="0" smtClean="0"/>
              <a:t>system integrity</a:t>
            </a:r>
            <a:r>
              <a:rPr lang="en-US" sz="3800" b="1" dirty="0"/>
              <a:t>. Fixed and dilated pupils in the absence of </a:t>
            </a:r>
            <a:r>
              <a:rPr lang="en-US" sz="3800" b="1" dirty="0" smtClean="0"/>
              <a:t>anticholinergic medication </a:t>
            </a:r>
            <a:r>
              <a:rPr lang="en-US" sz="3800" b="1" dirty="0"/>
              <a:t>or ganglionic blockade, however, may be an ominous sign. Response to physical stimulation, such as a forceful jaw thrust, </a:t>
            </a:r>
            <a:r>
              <a:rPr lang="en-US" sz="3800" b="1" dirty="0" smtClean="0"/>
              <a:t>may differentiate </a:t>
            </a:r>
            <a:r>
              <a:rPr lang="en-US" sz="3800" b="1" dirty="0"/>
              <a:t>somnolence from paralysis. Peripheral nerve stimulation </a:t>
            </a:r>
            <a:r>
              <a:rPr lang="en-US" sz="3800" b="1" dirty="0" smtClean="0"/>
              <a:t>also differentiates </a:t>
            </a:r>
            <a:r>
              <a:rPr lang="en-US" sz="3800" b="1" dirty="0"/>
              <a:t>paralysis from coma.</a:t>
            </a:r>
          </a:p>
        </p:txBody>
      </p:sp>
    </p:spTree>
    <p:extLst>
      <p:ext uri="{BB962C8B-B14F-4D97-AF65-F5344CB8AC3E}">
        <p14:creationId xmlns:p14="http://schemas.microsoft.com/office/powerpoint/2010/main" val="1673564817"/>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990600"/>
            <a:ext cx="7924800" cy="5197475"/>
          </a:xfrm>
        </p:spPr>
        <p:txBody>
          <a:bodyPr>
            <a:normAutofit/>
          </a:bodyPr>
          <a:lstStyle/>
          <a:p>
            <a:r>
              <a:rPr lang="en-US" sz="3200" b="1" dirty="0" smtClean="0"/>
              <a:t>At a time of delayed </a:t>
            </a:r>
            <a:r>
              <a:rPr lang="en-US" sz="3200" b="1" dirty="0"/>
              <a:t>reversal Supportive mechanical ventilation should be continued in </a:t>
            </a:r>
            <a:r>
              <a:rPr lang="en-US" sz="3200" b="1" dirty="0" smtClean="0"/>
              <a:t>the unresponsive </a:t>
            </a:r>
            <a:r>
              <a:rPr lang="en-US" sz="3200" b="1" dirty="0"/>
              <a:t>patient. Naloxone, flumazenil, and </a:t>
            </a:r>
            <a:r>
              <a:rPr lang="en-US" sz="3200" b="1" dirty="0" err="1"/>
              <a:t>physostigmine</a:t>
            </a:r>
            <a:r>
              <a:rPr lang="en-US" sz="3200" b="1" dirty="0"/>
              <a:t> may </a:t>
            </a:r>
            <a:r>
              <a:rPr lang="en-US" sz="3200" b="1" dirty="0" smtClean="0"/>
              <a:t>be indicated</a:t>
            </a:r>
            <a:r>
              <a:rPr lang="en-US" sz="3200" b="1" dirty="0"/>
              <a:t>, depending on the probable cause of the delayed emergence, </a:t>
            </a:r>
            <a:r>
              <a:rPr lang="en-US" sz="3200" b="1" dirty="0" smtClean="0"/>
              <a:t>if drug </a:t>
            </a:r>
            <a:r>
              <a:rPr lang="en-US" sz="3200" b="1" dirty="0"/>
              <a:t>effects are suspected and reversal is considered both safe </a:t>
            </a:r>
            <a:r>
              <a:rPr lang="en-US" sz="3200" b="1" dirty="0" smtClean="0"/>
              <a:t>and desirable</a:t>
            </a:r>
            <a:r>
              <a:rPr lang="en-US" dirty="0"/>
              <a:t>.</a:t>
            </a:r>
          </a:p>
        </p:txBody>
      </p:sp>
    </p:spTree>
    <p:extLst>
      <p:ext uri="{BB962C8B-B14F-4D97-AF65-F5344CB8AC3E}">
        <p14:creationId xmlns:p14="http://schemas.microsoft.com/office/powerpoint/2010/main" val="6420702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duotone>
              <a:prstClr val="black"/>
              <a:schemeClr val="accent2">
                <a:tint val="45000"/>
                <a:satMod val="400000"/>
              </a:schemeClr>
            </a:duotone>
            <a:extLst>
              <a:ext uri="{BEBA8EAE-BF5A-486C-A8C5-ECC9F3942E4B}">
                <a14:imgProps xmlns:a14="http://schemas.microsoft.com/office/drawing/2010/main">
                  <a14:imgLayer r:embed="rId3">
                    <a14:imgEffect>
                      <a14:saturation sat="33000"/>
                    </a14:imgEffect>
                  </a14:imgLayer>
                </a14:imgProps>
              </a:ext>
              <a:ext uri="{28A0092B-C50C-407E-A947-70E740481C1C}">
                <a14:useLocalDpi xmlns:a14="http://schemas.microsoft.com/office/drawing/2010/main" val="0"/>
              </a:ext>
            </a:extLst>
          </a:blip>
          <a:srcRect l="15618" t="29323" r="17897"/>
          <a:stretch/>
        </p:blipFill>
        <p:spPr bwMode="auto">
          <a:xfrm>
            <a:off x="228600" y="685800"/>
            <a:ext cx="8650514"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136701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1678" t="7160" r="33498"/>
          <a:stretch/>
        </p:blipFill>
        <p:spPr bwMode="auto">
          <a:xfrm>
            <a:off x="533400" y="620683"/>
            <a:ext cx="8001000" cy="58330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7798632"/>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25080" t="16283" r="6877" b="13758"/>
          <a:stretch/>
        </p:blipFill>
        <p:spPr bwMode="auto">
          <a:xfrm>
            <a:off x="152400" y="457200"/>
            <a:ext cx="8775511" cy="601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3348359"/>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524001" y="1752600"/>
            <a:ext cx="6629400" cy="1754326"/>
          </a:xfrm>
          <a:prstGeom prst="rect">
            <a:avLst/>
          </a:prstGeom>
        </p:spPr>
        <p:txBody>
          <a:bodyPr wrap="square">
            <a:spAutoFit/>
          </a:bodyPr>
          <a:lstStyle/>
          <a:p>
            <a:r>
              <a:rPr lang="en-US" sz="5400" i="1" dirty="0" smtClean="0">
                <a:solidFill>
                  <a:srgbClr val="00B0F0"/>
                </a:solidFill>
                <a:sym typeface="Symbol"/>
              </a:rPr>
              <a:t>.</a:t>
            </a:r>
            <a:r>
              <a:rPr lang="en-US" sz="5400" i="1" dirty="0" smtClean="0">
                <a:solidFill>
                  <a:srgbClr val="00B0F0"/>
                </a:solidFill>
              </a:rPr>
              <a:t>Anticholinesterases or Reversal </a:t>
            </a:r>
            <a:r>
              <a:rPr lang="en-US" sz="5400" i="1" dirty="0">
                <a:solidFill>
                  <a:srgbClr val="00B0F0"/>
                </a:solidFill>
              </a:rPr>
              <a:t>Agents </a:t>
            </a:r>
          </a:p>
        </p:txBody>
      </p:sp>
    </p:spTree>
    <p:extLst>
      <p:ext uri="{BB962C8B-B14F-4D97-AF65-F5344CB8AC3E}">
        <p14:creationId xmlns:p14="http://schemas.microsoft.com/office/powerpoint/2010/main" val="898202418"/>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685800" y="914400"/>
            <a:ext cx="8458200" cy="5273675"/>
          </a:xfrm>
        </p:spPr>
        <p:txBody>
          <a:bodyPr>
            <a:normAutofit/>
          </a:bodyPr>
          <a:lstStyle/>
          <a:p>
            <a:r>
              <a:rPr lang="en-US" sz="3200" b="1" dirty="0" smtClean="0"/>
              <a:t>Physiology                                                           Normal </a:t>
            </a:r>
            <a:r>
              <a:rPr lang="en-US" sz="3200" b="1" dirty="0"/>
              <a:t>neuromuscular transmission depends on </a:t>
            </a:r>
            <a:r>
              <a:rPr lang="en-US" sz="3200" b="1" dirty="0" err="1" smtClean="0"/>
              <a:t>ACh</a:t>
            </a:r>
            <a:r>
              <a:rPr lang="en-US" sz="3200" b="1" dirty="0" smtClean="0"/>
              <a:t> </a:t>
            </a:r>
            <a:r>
              <a:rPr lang="en-US" sz="3200" b="1" dirty="0"/>
              <a:t>binding </a:t>
            </a:r>
            <a:r>
              <a:rPr lang="en-US" sz="3200" b="1" dirty="0" smtClean="0"/>
              <a:t>to nicotinic cholinergic receptors on the motor end-plate.                                                                                 Non </a:t>
            </a:r>
            <a:r>
              <a:rPr lang="en-US" sz="3200" b="1" dirty="0"/>
              <a:t>depolarizing </a:t>
            </a:r>
            <a:r>
              <a:rPr lang="en-US" sz="3200" b="1" dirty="0" err="1"/>
              <a:t>musclerelaxants</a:t>
            </a:r>
            <a:r>
              <a:rPr lang="en-US" sz="3200" b="1" dirty="0"/>
              <a:t>(NDMR) </a:t>
            </a:r>
            <a:r>
              <a:rPr lang="en-US" sz="3200" b="1" dirty="0" smtClean="0"/>
              <a:t>act by competing with Ach for these binding sites, there by blocking neuromuscular transmission. Reversal of blockade depends on diffusion, redistribution, metabolism, and excretion</a:t>
            </a:r>
            <a:r>
              <a:rPr lang="en-US" dirty="0" smtClean="0"/>
              <a:t>.</a:t>
            </a:r>
            <a:endParaRPr lang="en-US" dirty="0"/>
          </a:p>
        </p:txBody>
      </p:sp>
    </p:spTree>
    <p:extLst>
      <p:ext uri="{BB962C8B-B14F-4D97-AF65-F5344CB8AC3E}">
        <p14:creationId xmlns:p14="http://schemas.microsoft.com/office/powerpoint/2010/main" val="1329050599"/>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838200"/>
            <a:ext cx="8229600" cy="5349875"/>
          </a:xfrm>
        </p:spPr>
        <p:txBody>
          <a:bodyPr>
            <a:normAutofit fontScale="92500"/>
          </a:bodyPr>
          <a:lstStyle/>
          <a:p>
            <a:r>
              <a:rPr lang="en-US" sz="2800" b="1" dirty="0" smtClean="0">
                <a:latin typeface="Arial"/>
              </a:rPr>
              <a:t>Anticholinesterases</a:t>
            </a:r>
            <a:r>
              <a:rPr lang="en-US" sz="2800" b="1" dirty="0"/>
              <a:t/>
            </a:r>
            <a:br>
              <a:rPr lang="en-US" sz="2800" b="1" dirty="0"/>
            </a:br>
            <a:r>
              <a:rPr lang="en-US" sz="2800" b="1" dirty="0" smtClean="0">
                <a:latin typeface="Times New Roman"/>
              </a:rPr>
              <a:t>The </a:t>
            </a:r>
            <a:r>
              <a:rPr lang="en-US" sz="2800" b="1" dirty="0">
                <a:latin typeface="Times New Roman"/>
              </a:rPr>
              <a:t>enzyme </a:t>
            </a:r>
            <a:r>
              <a:rPr lang="en-US" sz="2800" b="1" dirty="0" err="1">
                <a:latin typeface="Times New Roman"/>
              </a:rPr>
              <a:t>AChE</a:t>
            </a:r>
            <a:r>
              <a:rPr lang="en-US" sz="2800" b="1" dirty="0">
                <a:latin typeface="Times New Roman"/>
              </a:rPr>
              <a:t> is responsible for the hydrolysis of </a:t>
            </a:r>
            <a:r>
              <a:rPr lang="en-US" sz="2800" b="1" dirty="0" err="1">
                <a:latin typeface="Times New Roman"/>
              </a:rPr>
              <a:t>ACh</a:t>
            </a:r>
            <a:r>
              <a:rPr lang="en-US" sz="2800" b="1" dirty="0">
                <a:latin typeface="Times New Roman"/>
              </a:rPr>
              <a:t>. Anticholinesterases </a:t>
            </a:r>
            <a:r>
              <a:rPr lang="en-US" sz="2800" b="1" dirty="0" err="1" smtClean="0">
                <a:latin typeface="Times New Roman"/>
              </a:rPr>
              <a:t>antagonise</a:t>
            </a:r>
            <a:r>
              <a:rPr lang="en-US" sz="2800" b="1" dirty="0" smtClean="0">
                <a:latin typeface="Times New Roman"/>
              </a:rPr>
              <a:t> </a:t>
            </a:r>
            <a:r>
              <a:rPr lang="en-US" sz="2800" b="1" dirty="0" err="1">
                <a:latin typeface="Times New Roman"/>
              </a:rPr>
              <a:t>AChE</a:t>
            </a:r>
            <a:r>
              <a:rPr lang="en-US" sz="2800" b="1" dirty="0">
                <a:latin typeface="Times New Roman"/>
              </a:rPr>
              <a:t>, slowing down this reaction, so that more </a:t>
            </a:r>
            <a:r>
              <a:rPr lang="en-US" sz="2800" b="1" dirty="0" err="1">
                <a:latin typeface="Times New Roman"/>
              </a:rPr>
              <a:t>ACh</a:t>
            </a:r>
            <a:r>
              <a:rPr lang="en-US" sz="2800" b="1" dirty="0">
                <a:latin typeface="Times New Roman"/>
              </a:rPr>
              <a:t> is available at the NMJ. </a:t>
            </a:r>
            <a:r>
              <a:rPr lang="en-US" sz="2800" b="1" dirty="0" smtClean="0">
                <a:latin typeface="Times New Roman"/>
              </a:rPr>
              <a:t>                                                 </a:t>
            </a:r>
            <a:endParaRPr lang="en-US" sz="2800" b="1" dirty="0" smtClean="0">
              <a:latin typeface="Times New Roman"/>
            </a:endParaRPr>
          </a:p>
          <a:p>
            <a:r>
              <a:rPr lang="en-US" sz="2800" b="1" dirty="0" smtClean="0">
                <a:latin typeface="Times New Roman"/>
              </a:rPr>
              <a:t>As</a:t>
            </a:r>
            <a:r>
              <a:rPr lang="en-US" sz="2800" b="1" dirty="0" smtClean="0"/>
              <a:t> </a:t>
            </a:r>
            <a:r>
              <a:rPr lang="en-US" sz="2800" b="1" dirty="0" err="1" smtClean="0">
                <a:latin typeface="Times New Roman"/>
              </a:rPr>
              <a:t>AChE</a:t>
            </a:r>
            <a:r>
              <a:rPr lang="en-US" sz="2800" b="1" dirty="0" smtClean="0">
                <a:latin typeface="Times New Roman"/>
              </a:rPr>
              <a:t> </a:t>
            </a:r>
            <a:r>
              <a:rPr lang="en-US" sz="2800" b="1" dirty="0">
                <a:latin typeface="Times New Roman"/>
              </a:rPr>
              <a:t>is present at sites other than the NMJ,  </a:t>
            </a:r>
            <a:r>
              <a:rPr lang="en-US" sz="2800" b="1" dirty="0" smtClean="0">
                <a:latin typeface="Times New Roman"/>
              </a:rPr>
              <a:t>                                                                                                                        </a:t>
            </a:r>
            <a:r>
              <a:rPr lang="en-US" sz="2800" b="1" dirty="0">
                <a:latin typeface="Times New Roman"/>
              </a:rPr>
              <a:t>anticholinesterases have </a:t>
            </a:r>
            <a:r>
              <a:rPr lang="en-US" sz="2800" b="1" dirty="0" smtClean="0">
                <a:latin typeface="Times New Roman"/>
              </a:rPr>
              <a:t>e</a:t>
            </a:r>
            <a:r>
              <a:rPr lang="en-US" sz="2800" b="1" dirty="0" smtClean="0">
                <a:latin typeface="Arial"/>
              </a:rPr>
              <a:t>ff</a:t>
            </a:r>
            <a:r>
              <a:rPr lang="en-US" sz="2800" b="1" dirty="0" smtClean="0">
                <a:latin typeface="Times New Roman"/>
              </a:rPr>
              <a:t>ects</a:t>
            </a:r>
            <a:r>
              <a:rPr lang="en-US" sz="2800" b="1" dirty="0"/>
              <a:t> </a:t>
            </a:r>
            <a:r>
              <a:rPr lang="en-US" sz="2800" b="1" dirty="0" smtClean="0">
                <a:latin typeface="Times New Roman"/>
              </a:rPr>
              <a:t>other </a:t>
            </a:r>
            <a:r>
              <a:rPr lang="en-US" sz="2800" b="1" dirty="0">
                <a:latin typeface="Times New Roman"/>
              </a:rPr>
              <a:t>than reversal of NDMRs. For this reason an anticholinergic </a:t>
            </a:r>
            <a:r>
              <a:rPr lang="en-US" sz="2800" b="1" dirty="0" smtClean="0">
                <a:latin typeface="Times New Roman"/>
              </a:rPr>
              <a:t>agent </a:t>
            </a:r>
            <a:r>
              <a:rPr lang="en-US" sz="2800" b="1" dirty="0">
                <a:latin typeface="Times New Roman"/>
              </a:rPr>
              <a:t>is often given with an </a:t>
            </a:r>
            <a:r>
              <a:rPr lang="en-US" sz="2800" b="1" dirty="0" smtClean="0">
                <a:latin typeface="Times New Roman"/>
              </a:rPr>
              <a:t>anticholinesterase</a:t>
            </a:r>
            <a:r>
              <a:rPr lang="en-US" sz="2800" b="1" dirty="0">
                <a:latin typeface="Times New Roman"/>
              </a:rPr>
              <a:t>. When reversing </a:t>
            </a:r>
            <a:r>
              <a:rPr lang="en-US" sz="2800" b="1" dirty="0" smtClean="0">
                <a:latin typeface="Times New Roman"/>
              </a:rPr>
              <a:t>NDMR, the </a:t>
            </a:r>
            <a:r>
              <a:rPr lang="en-US" sz="2800" b="1" dirty="0" smtClean="0">
                <a:latin typeface="Times New Roman"/>
              </a:rPr>
              <a:t>goal is to maximize nicotinic transmission with a minimum of muscarinic side effects</a:t>
            </a:r>
            <a:r>
              <a:rPr lang="en-US" sz="2800" b="1" dirty="0" smtClean="0">
                <a:latin typeface="Times New Roman"/>
              </a:rPr>
              <a:t>.</a:t>
            </a:r>
            <a:endParaRPr lang="en-US" sz="2800" b="1" dirty="0"/>
          </a:p>
        </p:txBody>
      </p:sp>
    </p:spTree>
    <p:extLst>
      <p:ext uri="{BB962C8B-B14F-4D97-AF65-F5344CB8AC3E}">
        <p14:creationId xmlns:p14="http://schemas.microsoft.com/office/powerpoint/2010/main" val="18772964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09600"/>
            <a:ext cx="8458200" cy="4953000"/>
          </a:xfrm>
        </p:spPr>
        <p:txBody>
          <a:bodyPr>
            <a:noAutofit/>
          </a:bodyPr>
          <a:lstStyle/>
          <a:p>
            <a:r>
              <a:rPr lang="en-US" sz="2800" b="1" dirty="0" smtClean="0"/>
              <a:t>Cholinesterase </a:t>
            </a:r>
            <a:r>
              <a:rPr lang="en-US" sz="2800" b="1" dirty="0"/>
              <a:t>inhibitors inactivate </a:t>
            </a:r>
            <a:r>
              <a:rPr lang="en-US" sz="2800" b="1" dirty="0" err="1"/>
              <a:t>acetylcholinesterase</a:t>
            </a:r>
            <a:r>
              <a:rPr lang="en-US" sz="2800" b="1" dirty="0"/>
              <a:t> by reversibly </a:t>
            </a:r>
            <a:r>
              <a:rPr lang="en-US" sz="2800" b="1" dirty="0" smtClean="0"/>
              <a:t>binding to </a:t>
            </a:r>
            <a:r>
              <a:rPr lang="en-US" sz="2800" b="1" dirty="0"/>
              <a:t>the enzyme. The stability of the bond influences the duration of action. </a:t>
            </a:r>
            <a:r>
              <a:rPr lang="en-US" sz="2800" b="1" dirty="0" smtClean="0"/>
              <a:t>The electrostatic </a:t>
            </a:r>
            <a:r>
              <a:rPr lang="en-US" sz="2800" b="1" dirty="0"/>
              <a:t>attraction and hydrogen bonding of </a:t>
            </a:r>
            <a:r>
              <a:rPr lang="en-US" sz="2800" b="1" dirty="0" err="1"/>
              <a:t>edrophonium</a:t>
            </a:r>
            <a:r>
              <a:rPr lang="en-US" sz="2800" b="1" dirty="0"/>
              <a:t> are </a:t>
            </a:r>
            <a:r>
              <a:rPr lang="en-US" sz="2800" b="1" dirty="0" smtClean="0"/>
              <a:t>short-lived; the </a:t>
            </a:r>
            <a:r>
              <a:rPr lang="en-US" sz="2800" b="1" dirty="0"/>
              <a:t>covalent bonds of neostigmine and </a:t>
            </a:r>
            <a:r>
              <a:rPr lang="en-US" sz="2800" b="1" dirty="0" err="1"/>
              <a:t>pyridostigmine</a:t>
            </a:r>
            <a:r>
              <a:rPr lang="en-US" sz="2800" b="1" dirty="0"/>
              <a:t> are longer lasting.</a:t>
            </a:r>
          </a:p>
        </p:txBody>
      </p:sp>
    </p:spTree>
    <p:extLst>
      <p:ext uri="{BB962C8B-B14F-4D97-AF65-F5344CB8AC3E}">
        <p14:creationId xmlns:p14="http://schemas.microsoft.com/office/powerpoint/2010/main" val="426883061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838200" y="685800"/>
            <a:ext cx="8305800" cy="5334000"/>
          </a:xfrm>
        </p:spPr>
        <p:txBody>
          <a:bodyPr>
            <a:noAutofit/>
          </a:bodyPr>
          <a:lstStyle/>
          <a:p>
            <a:r>
              <a:rPr lang="en-US" sz="3200" b="1" dirty="0"/>
              <a:t>Organophosphates, a special class of cholinesterase inhibitors that </a:t>
            </a:r>
            <a:r>
              <a:rPr lang="en-US" sz="3200" b="1" dirty="0" smtClean="0"/>
              <a:t>have been </a:t>
            </a:r>
            <a:r>
              <a:rPr lang="en-US" sz="3200" b="1" dirty="0"/>
              <a:t>used in ophthalmology </a:t>
            </a:r>
            <a:r>
              <a:rPr lang="en-US" sz="3200" b="1" dirty="0" err="1"/>
              <a:t>ecothiopate</a:t>
            </a:r>
            <a:r>
              <a:rPr lang="en-US" sz="3200" b="1" dirty="0"/>
              <a:t> </a:t>
            </a:r>
            <a:r>
              <a:rPr lang="en-US" sz="3200" b="1" dirty="0" smtClean="0"/>
              <a:t>iodide has </a:t>
            </a:r>
            <a:r>
              <a:rPr lang="en-US" sz="3200" b="1" dirty="0"/>
              <a:t>been used to treat </a:t>
            </a:r>
            <a:r>
              <a:rPr lang="en-US" sz="3200" b="1" dirty="0" smtClean="0"/>
              <a:t>glaucoma by </a:t>
            </a:r>
            <a:r>
              <a:rPr lang="en-US" sz="3200" b="1" dirty="0"/>
              <a:t>improving drainage channels of the trabecular </a:t>
            </a:r>
            <a:r>
              <a:rPr lang="en-US" sz="3200" b="1" dirty="0" smtClean="0"/>
              <a:t>meshwork.                                                                                        These </a:t>
            </a:r>
            <a:r>
              <a:rPr lang="en-US" sz="3200" b="1" dirty="0"/>
              <a:t>agents are highly lipid-soluble </a:t>
            </a:r>
            <a:r>
              <a:rPr lang="en-US" sz="3200" b="1" dirty="0" smtClean="0"/>
              <a:t>so </a:t>
            </a:r>
            <a:r>
              <a:rPr lang="en-US" sz="3200" b="1" dirty="0"/>
              <a:t>rapidly absorbed </a:t>
            </a:r>
            <a:r>
              <a:rPr lang="en-US" sz="3200" b="1" dirty="0" smtClean="0"/>
              <a:t>and  </a:t>
            </a:r>
            <a:r>
              <a:rPr lang="en-US" sz="3200" b="1" dirty="0"/>
              <a:t>form stable, irreversible bonds </a:t>
            </a:r>
            <a:r>
              <a:rPr lang="en-US" sz="3200" b="1" dirty="0" smtClean="0"/>
              <a:t>to the </a:t>
            </a:r>
            <a:r>
              <a:rPr lang="en-US" sz="3200" b="1" dirty="0"/>
              <a:t>enzyme for a long-lasting </a:t>
            </a:r>
            <a:r>
              <a:rPr lang="en-US" sz="3200" b="1" dirty="0" smtClean="0"/>
              <a:t>effect. </a:t>
            </a:r>
            <a:endParaRPr lang="en-US" sz="3200" b="1" dirty="0"/>
          </a:p>
        </p:txBody>
      </p:sp>
    </p:spTree>
    <p:extLst>
      <p:ext uri="{BB962C8B-B14F-4D97-AF65-F5344CB8AC3E}">
        <p14:creationId xmlns:p14="http://schemas.microsoft.com/office/powerpoint/2010/main" val="415546449"/>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914400"/>
            <a:ext cx="8382000" cy="5273675"/>
          </a:xfrm>
        </p:spPr>
        <p:txBody>
          <a:bodyPr>
            <a:normAutofit/>
          </a:bodyPr>
          <a:lstStyle/>
          <a:p>
            <a:r>
              <a:rPr lang="en-US" sz="3600" b="1" dirty="0"/>
              <a:t>Chemical warfare nerve agents </a:t>
            </a:r>
            <a:r>
              <a:rPr lang="en-US" sz="3600" b="1" dirty="0" smtClean="0"/>
              <a:t>                (</a:t>
            </a:r>
            <a:r>
              <a:rPr lang="en-US" sz="3600" b="1" dirty="0" err="1"/>
              <a:t>eg</a:t>
            </a:r>
            <a:r>
              <a:rPr lang="en-US" sz="3600" b="1" dirty="0" smtClean="0"/>
              <a:t>, </a:t>
            </a:r>
            <a:r>
              <a:rPr lang="en-US" sz="3600" b="1" dirty="0" err="1"/>
              <a:t>sarin</a:t>
            </a:r>
            <a:r>
              <a:rPr lang="en-US" sz="3600" b="1" dirty="0"/>
              <a:t>) are also </a:t>
            </a:r>
            <a:r>
              <a:rPr lang="en-US" sz="3600" b="1" dirty="0" err="1" smtClean="0"/>
              <a:t>organophosphat</a:t>
            </a:r>
            <a:r>
              <a:rPr lang="en-US" sz="3600" b="1" dirty="0" smtClean="0"/>
              <a:t>. </a:t>
            </a:r>
            <a:r>
              <a:rPr lang="en-US" sz="3600" b="1" dirty="0"/>
              <a:t>Death occurs secondary to overstimulation of both nicotinic and muscarinic receptors. Cholinesterase inhibitors are also used in the diagnosis </a:t>
            </a:r>
            <a:r>
              <a:rPr lang="en-US" sz="3600" b="1" dirty="0" smtClean="0"/>
              <a:t>and </a:t>
            </a:r>
            <a:r>
              <a:rPr lang="en-US" sz="3600" b="1" dirty="0"/>
              <a:t>treatment of </a:t>
            </a:r>
            <a:r>
              <a:rPr lang="en-US" sz="3600" b="1" dirty="0" smtClean="0"/>
              <a:t>MG.                                              </a:t>
            </a:r>
            <a:r>
              <a:rPr lang="en-US" sz="4000" b="1" dirty="0" smtClean="0"/>
              <a:t>what is cholinergic crises? </a:t>
            </a:r>
            <a:endParaRPr lang="en-US" sz="4000" dirty="0"/>
          </a:p>
        </p:txBody>
      </p:sp>
    </p:spTree>
    <p:extLst>
      <p:ext uri="{BB962C8B-B14F-4D97-AF65-F5344CB8AC3E}">
        <p14:creationId xmlns:p14="http://schemas.microsoft.com/office/powerpoint/2010/main" val="18157217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5943600" cy="1066800"/>
          </a:xfrm>
        </p:spPr>
        <p:txBody>
          <a:bodyPr>
            <a:normAutofit fontScale="90000"/>
          </a:bodyPr>
          <a:lstStyle/>
          <a:p>
            <a:r>
              <a:rPr lang="en-US" dirty="0"/>
              <a:t>Muscarinic side effects of cholinesterase inhibitors</a:t>
            </a:r>
          </a:p>
        </p:txBody>
      </p:sp>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544" t="31228" r="32711" b="25258"/>
          <a:stretch/>
        </p:blipFill>
        <p:spPr bwMode="auto">
          <a:xfrm>
            <a:off x="533400" y="1636097"/>
            <a:ext cx="7772400" cy="4383704"/>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a:extLs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6438743"/>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When pt. Reversed </a:t>
            </a:r>
            <a:endParaRPr lang="en-US" dirty="0"/>
          </a:p>
        </p:txBody>
      </p:sp>
      <p:sp>
        <p:nvSpPr>
          <p:cNvPr id="2" name="Content Placeholder 1"/>
          <p:cNvSpPr>
            <a:spLocks noGrp="1"/>
          </p:cNvSpPr>
          <p:nvPr>
            <p:ph idx="1"/>
          </p:nvPr>
        </p:nvSpPr>
        <p:spPr>
          <a:xfrm>
            <a:off x="152400" y="1219200"/>
            <a:ext cx="8839200" cy="4968240"/>
          </a:xfrm>
        </p:spPr>
        <p:txBody>
          <a:bodyPr>
            <a:noAutofit/>
          </a:bodyPr>
          <a:lstStyle/>
          <a:p>
            <a:r>
              <a:rPr lang="en-US" sz="3200" b="1" dirty="0" smtClean="0"/>
              <a:t>The absence </a:t>
            </a:r>
            <a:r>
              <a:rPr lang="en-US" sz="3200" b="1" dirty="0"/>
              <a:t>of any palpable single twitches following 5 s of tetanic stimulation at </a:t>
            </a:r>
            <a:r>
              <a:rPr lang="en-US" sz="3200" b="1" dirty="0" smtClean="0"/>
              <a:t>50 Hz </a:t>
            </a:r>
            <a:r>
              <a:rPr lang="en-US" sz="3200" b="1" dirty="0"/>
              <a:t>implies a very intensive blockade that cannot be reversed by </a:t>
            </a:r>
            <a:r>
              <a:rPr lang="en-US" sz="3200" b="1" dirty="0" smtClean="0"/>
              <a:t>cholinesterase inhibitors.                   </a:t>
            </a:r>
            <a:r>
              <a:rPr lang="en-US" sz="3200" b="1" dirty="0"/>
              <a:t>A</a:t>
            </a:r>
            <a:r>
              <a:rPr lang="en-US" sz="3200" b="1" dirty="0" smtClean="0"/>
              <a:t>bsent  of  effort for spontaneous respiration is also contraindication b/c of  risk of </a:t>
            </a:r>
            <a:r>
              <a:rPr lang="en-US" sz="3200" b="1" i="1" dirty="0" err="1" smtClean="0">
                <a:solidFill>
                  <a:schemeClr val="accent2"/>
                </a:solidFill>
              </a:rPr>
              <a:t>recurrization</a:t>
            </a:r>
            <a:r>
              <a:rPr lang="en-US" sz="3200" b="1" dirty="0" smtClean="0"/>
              <a:t>.</a:t>
            </a:r>
            <a:endParaRPr lang="en-US" sz="3200" b="1" dirty="0"/>
          </a:p>
        </p:txBody>
      </p:sp>
    </p:spTree>
    <p:extLst>
      <p:ext uri="{BB962C8B-B14F-4D97-AF65-F5344CB8AC3E}">
        <p14:creationId xmlns:p14="http://schemas.microsoft.com/office/powerpoint/2010/main" val="1518539610"/>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85800" y="990600"/>
            <a:ext cx="7924800" cy="5197475"/>
          </a:xfrm>
        </p:spPr>
        <p:txBody>
          <a:bodyPr/>
          <a:lstStyle/>
          <a:p>
            <a:pPr lvl="0">
              <a:buClr>
                <a:srgbClr val="838995"/>
              </a:buClr>
            </a:pPr>
            <a:r>
              <a:rPr lang="en-US" sz="3200" b="1" dirty="0">
                <a:solidFill>
                  <a:schemeClr val="tx1"/>
                </a:solidFill>
              </a:rPr>
              <a:t>A peripheral nerve stimulator should also be used to monitor the progress and confirm the adequacy of </a:t>
            </a:r>
            <a:r>
              <a:rPr lang="en-US" sz="3200" b="1" dirty="0" smtClean="0">
                <a:solidFill>
                  <a:schemeClr val="tx1"/>
                </a:solidFill>
              </a:rPr>
              <a:t>reversal                           (</a:t>
            </a:r>
            <a:r>
              <a:rPr lang="en-US" sz="3200" b="1" dirty="0" smtClean="0">
                <a:solidFill>
                  <a:schemeClr val="tx1"/>
                </a:solidFill>
                <a:sym typeface="Symbol"/>
              </a:rPr>
              <a:t>2 twitches needs on TOF )</a:t>
            </a:r>
            <a:r>
              <a:rPr lang="en-US" sz="3200" b="1" dirty="0" smtClean="0">
                <a:solidFill>
                  <a:schemeClr val="tx1"/>
                </a:solidFill>
              </a:rPr>
              <a:t>.                          Clinical </a:t>
            </a:r>
            <a:r>
              <a:rPr lang="en-US" sz="3200" b="1" dirty="0">
                <a:solidFill>
                  <a:schemeClr val="tx1"/>
                </a:solidFill>
              </a:rPr>
              <a:t>signs of adequate reversal vary in sensitivity (sustained head lift &gt; inspiratory force &gt; VC &gt; TV).</a:t>
            </a:r>
          </a:p>
        </p:txBody>
      </p:sp>
    </p:spTree>
    <p:extLst>
      <p:ext uri="{BB962C8B-B14F-4D97-AF65-F5344CB8AC3E}">
        <p14:creationId xmlns:p14="http://schemas.microsoft.com/office/powerpoint/2010/main" val="15477979"/>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463675"/>
            <a:ext cx="7924800" cy="4724400"/>
          </a:xfrm>
        </p:spPr>
        <p:txBody>
          <a:bodyPr>
            <a:normAutofit/>
          </a:bodyPr>
          <a:lstStyle/>
          <a:p>
            <a:r>
              <a:rPr lang="en-US" sz="3200" b="1" dirty="0"/>
              <a:t>The differing mechanism of action of anticholinesterases allows 3 </a:t>
            </a:r>
            <a:r>
              <a:rPr lang="en-US" sz="3200" b="1" dirty="0" smtClean="0"/>
              <a:t>groups to </a:t>
            </a:r>
            <a:r>
              <a:rPr lang="en-US" sz="3200" b="1" dirty="0"/>
              <a:t>emerge </a:t>
            </a:r>
            <a:br>
              <a:rPr lang="en-US" sz="3200" b="1" dirty="0"/>
            </a:br>
            <a:r>
              <a:rPr lang="en-US" sz="3200" b="1" dirty="0"/>
              <a:t>• Easily reversible inhibition</a:t>
            </a:r>
            <a:br>
              <a:rPr lang="en-US" sz="3200" b="1" dirty="0"/>
            </a:br>
            <a:r>
              <a:rPr lang="en-US" sz="3200" b="1" dirty="0"/>
              <a:t>• Formation of a </a:t>
            </a:r>
            <a:r>
              <a:rPr lang="en-US" sz="3200" b="1" dirty="0" err="1"/>
              <a:t>carbamylated</a:t>
            </a:r>
            <a:r>
              <a:rPr lang="en-US" sz="3200" b="1" dirty="0"/>
              <a:t> enzyme complex</a:t>
            </a:r>
            <a:br>
              <a:rPr lang="en-US" sz="3200" b="1" dirty="0"/>
            </a:br>
            <a:r>
              <a:rPr lang="en-US" sz="3200" b="1" dirty="0"/>
              <a:t>• Irreversible inactivation</a:t>
            </a:r>
          </a:p>
        </p:txBody>
      </p:sp>
    </p:spTree>
    <p:extLst>
      <p:ext uri="{BB962C8B-B14F-4D97-AF65-F5344CB8AC3E}">
        <p14:creationId xmlns:p14="http://schemas.microsoft.com/office/powerpoint/2010/main" val="4245574320"/>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Easily Reversible Inhibition</a:t>
            </a:r>
          </a:p>
        </p:txBody>
      </p:sp>
      <p:sp>
        <p:nvSpPr>
          <p:cNvPr id="2" name="Content Placeholder 1"/>
          <p:cNvSpPr>
            <a:spLocks noGrp="1"/>
          </p:cNvSpPr>
          <p:nvPr>
            <p:ph idx="1"/>
          </p:nvPr>
        </p:nvSpPr>
        <p:spPr>
          <a:xfrm>
            <a:off x="352426" y="1463040"/>
            <a:ext cx="8562974" cy="4724400"/>
          </a:xfrm>
        </p:spPr>
        <p:txBody>
          <a:bodyPr>
            <a:normAutofit/>
          </a:bodyPr>
          <a:lstStyle/>
          <a:p>
            <a:r>
              <a:rPr lang="en-US" sz="2800" b="1" dirty="0" smtClean="0">
                <a:latin typeface="Times New Roman"/>
              </a:rPr>
              <a:t> </a:t>
            </a:r>
            <a:r>
              <a:rPr lang="en-US" sz="2800" b="1" dirty="0" err="1" smtClean="0">
                <a:latin typeface="Times New Roman"/>
              </a:rPr>
              <a:t>Edrophonium</a:t>
            </a:r>
            <a:r>
              <a:rPr lang="en-US" sz="2800" b="1" dirty="0" smtClean="0">
                <a:latin typeface="Times New Roman"/>
              </a:rPr>
              <a:t> </a:t>
            </a:r>
            <a:r>
              <a:rPr lang="en-US" sz="2800" b="1" dirty="0">
                <a:latin typeface="Times New Roman"/>
              </a:rPr>
              <a:t>is a phenolic quaternary amine.</a:t>
            </a:r>
            <a:r>
              <a:rPr lang="en-US" sz="2800" b="1" dirty="0"/>
              <a:t/>
            </a:r>
            <a:br>
              <a:rPr lang="en-US" sz="2800" b="1" dirty="0"/>
            </a:br>
            <a:r>
              <a:rPr lang="en-US" sz="2800" b="1" dirty="0" smtClean="0"/>
              <a:t>has </a:t>
            </a:r>
            <a:r>
              <a:rPr lang="en-US" sz="2800" b="1" dirty="0"/>
              <a:t>rapid </a:t>
            </a:r>
            <a:r>
              <a:rPr lang="en-US" sz="2800" b="1" dirty="0" smtClean="0"/>
              <a:t>onset </a:t>
            </a:r>
            <a:r>
              <a:rPr lang="en-US" sz="2800" b="1" dirty="0"/>
              <a:t>(</a:t>
            </a:r>
            <a:r>
              <a:rPr lang="en-US" sz="2800" b="1" dirty="0" smtClean="0"/>
              <a:t>1/2 </a:t>
            </a:r>
            <a:r>
              <a:rPr lang="en-US" sz="2800" b="1" dirty="0"/>
              <a:t>min) and the </a:t>
            </a:r>
            <a:r>
              <a:rPr lang="en-US" sz="2800" b="1" dirty="0" smtClean="0"/>
              <a:t>shortest duration. </a:t>
            </a:r>
            <a:r>
              <a:rPr lang="en-US" sz="2800" b="1" dirty="0"/>
              <a:t>Reduced doses </a:t>
            </a:r>
            <a:r>
              <a:rPr lang="en-US" sz="2800" b="1" dirty="0" smtClean="0"/>
              <a:t>should not </a:t>
            </a:r>
            <a:r>
              <a:rPr lang="en-US" sz="2800" b="1" dirty="0"/>
              <a:t>be used, because longer-acting muscle relaxants may outlast the effects </a:t>
            </a:r>
            <a:r>
              <a:rPr lang="en-US" sz="2800" b="1" dirty="0" smtClean="0"/>
              <a:t>of </a:t>
            </a:r>
            <a:r>
              <a:rPr lang="en-US" sz="2800" b="1" dirty="0" err="1" smtClean="0"/>
              <a:t>edrophonium</a:t>
            </a:r>
            <a:r>
              <a:rPr lang="en-US" sz="2800" b="1" dirty="0" smtClean="0"/>
              <a:t>.   </a:t>
            </a:r>
          </a:p>
          <a:p>
            <a:r>
              <a:rPr lang="en-US" sz="2800" b="1" dirty="0" smtClean="0"/>
              <a:t> </a:t>
            </a:r>
            <a:r>
              <a:rPr lang="en-US" sz="2800" b="1" dirty="0"/>
              <a:t>Uses </a:t>
            </a:r>
            <a:r>
              <a:rPr lang="en-US" sz="2800" b="1" dirty="0" smtClean="0"/>
              <a:t>at </a:t>
            </a:r>
            <a:r>
              <a:rPr lang="en-US" sz="2800" b="1" dirty="0"/>
              <a:t>an intravenous dose of 2–10 mg it rapidly distinguishes between a </a:t>
            </a:r>
            <a:r>
              <a:rPr lang="en-US" sz="2800" b="1" dirty="0" err="1"/>
              <a:t>myasthenic</a:t>
            </a:r>
            <a:r>
              <a:rPr lang="en-US" sz="2800" b="1" dirty="0"/>
              <a:t> crisis (where muscle power is improved) and a cholinergic crisis (where the clinical picture is worsened).</a:t>
            </a:r>
          </a:p>
        </p:txBody>
      </p:sp>
    </p:spTree>
    <p:extLst>
      <p:ext uri="{BB962C8B-B14F-4D97-AF65-F5344CB8AC3E}">
        <p14:creationId xmlns:p14="http://schemas.microsoft.com/office/powerpoint/2010/main" val="3689884734"/>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09600"/>
            <a:ext cx="8305800" cy="5578475"/>
          </a:xfrm>
        </p:spPr>
        <p:txBody>
          <a:bodyPr>
            <a:noAutofit/>
          </a:bodyPr>
          <a:lstStyle/>
          <a:p>
            <a:r>
              <a:rPr lang="en-US" sz="3200" b="1" dirty="0"/>
              <a:t>Mechanism of Action</a:t>
            </a:r>
            <a:br>
              <a:rPr lang="en-US" sz="3200" b="1" dirty="0"/>
            </a:br>
            <a:r>
              <a:rPr lang="en-US" sz="3200" b="1" dirty="0"/>
              <a:t>The quaternary amine group of </a:t>
            </a:r>
            <a:r>
              <a:rPr lang="en-US" sz="3200" b="1" dirty="0" err="1"/>
              <a:t>edrophonium</a:t>
            </a:r>
            <a:r>
              <a:rPr lang="en-US" sz="3200" b="1" dirty="0"/>
              <a:t> is attracted to the anionic site of </a:t>
            </a:r>
            <a:r>
              <a:rPr lang="en-US" sz="3200" b="1" dirty="0" err="1" smtClean="0"/>
              <a:t>AChE</a:t>
            </a:r>
            <a:r>
              <a:rPr lang="en-US" sz="3200" b="1" dirty="0" smtClean="0"/>
              <a:t> while </a:t>
            </a:r>
            <a:r>
              <a:rPr lang="en-US" sz="3200" b="1" dirty="0"/>
              <a:t>its hydroxyl group forms a hydrogen bond at the </a:t>
            </a:r>
            <a:r>
              <a:rPr lang="en-US" sz="3200" b="1" dirty="0" err="1"/>
              <a:t>esteratic</a:t>
            </a:r>
            <a:r>
              <a:rPr lang="en-US" sz="3200" b="1" dirty="0"/>
              <a:t> site and </a:t>
            </a:r>
            <a:r>
              <a:rPr lang="en-US" sz="3200" b="1" dirty="0" err="1"/>
              <a:t>stabilises</a:t>
            </a:r>
            <a:r>
              <a:rPr lang="en-US" sz="3200" b="1" dirty="0"/>
              <a:t> </a:t>
            </a:r>
            <a:r>
              <a:rPr lang="en-US" sz="3200" b="1" dirty="0" smtClean="0"/>
              <a:t>the complex</a:t>
            </a:r>
            <a:r>
              <a:rPr lang="en-US" sz="3200" b="1" dirty="0"/>
              <a:t>. </a:t>
            </a:r>
            <a:r>
              <a:rPr lang="en-US" sz="3200" b="1" dirty="0" err="1"/>
              <a:t>ACh</a:t>
            </a:r>
            <a:r>
              <a:rPr lang="en-US" sz="3200" b="1" dirty="0"/>
              <a:t> is now unable to reach the active site of </a:t>
            </a:r>
            <a:r>
              <a:rPr lang="en-US" sz="3200" b="1" dirty="0" err="1" smtClean="0"/>
              <a:t>AChE</a:t>
            </a:r>
            <a:r>
              <a:rPr lang="en-US" sz="3200" b="1" dirty="0" smtClean="0"/>
              <a:t>. However</a:t>
            </a:r>
            <a:r>
              <a:rPr lang="en-US" sz="3200" b="1" dirty="0"/>
              <a:t>, </a:t>
            </a:r>
            <a:r>
              <a:rPr lang="en-US" sz="3200" b="1" dirty="0" err="1"/>
              <a:t>ACh</a:t>
            </a:r>
            <a:r>
              <a:rPr lang="en-US" sz="3200" b="1" dirty="0"/>
              <a:t> competes with </a:t>
            </a:r>
            <a:r>
              <a:rPr lang="en-US" sz="3200" b="1" dirty="0" err="1"/>
              <a:t>edrophonium</a:t>
            </a:r>
            <a:r>
              <a:rPr lang="en-US" sz="3200" b="1" dirty="0"/>
              <a:t> for </a:t>
            </a:r>
            <a:r>
              <a:rPr lang="en-US" sz="3200" b="1" dirty="0" err="1"/>
              <a:t>AChE</a:t>
            </a:r>
            <a:r>
              <a:rPr lang="en-US" sz="3200" b="1" dirty="0"/>
              <a:t> because a true covalent </a:t>
            </a:r>
            <a:r>
              <a:rPr lang="en-US" sz="3200" b="1" dirty="0" smtClean="0"/>
              <a:t>bond is </a:t>
            </a:r>
            <a:r>
              <a:rPr lang="en-US" sz="3200" b="1" dirty="0"/>
              <a:t>not formed between </a:t>
            </a:r>
            <a:r>
              <a:rPr lang="en-US" sz="3200" b="1" dirty="0" err="1"/>
              <a:t>edrophonium</a:t>
            </a:r>
            <a:r>
              <a:rPr lang="en-US" sz="3200" b="1" dirty="0"/>
              <a:t> and </a:t>
            </a:r>
            <a:r>
              <a:rPr lang="en-US" sz="3200" b="1" dirty="0" err="1"/>
              <a:t>AChE</a:t>
            </a:r>
            <a:r>
              <a:rPr lang="en-US" sz="3200" b="1" dirty="0"/>
              <a:t>. </a:t>
            </a:r>
            <a:r>
              <a:rPr lang="en-US" sz="3200" b="1" dirty="0" err="1"/>
              <a:t>Edrophonium</a:t>
            </a:r>
            <a:r>
              <a:rPr lang="en-US" sz="3200" b="1" dirty="0"/>
              <a:t> also causes </a:t>
            </a:r>
            <a:r>
              <a:rPr lang="en-US" sz="3200" b="1" dirty="0" err="1" smtClean="0"/>
              <a:t>increas</a:t>
            </a:r>
            <a:r>
              <a:rPr lang="en-US" sz="3200" b="1" dirty="0" smtClean="0"/>
              <a:t> </a:t>
            </a:r>
            <a:r>
              <a:rPr lang="en-US" sz="3200" b="1" dirty="0" err="1" smtClean="0"/>
              <a:t>ACh</a:t>
            </a:r>
            <a:r>
              <a:rPr lang="en-US" sz="3200" b="1" dirty="0" smtClean="0"/>
              <a:t> </a:t>
            </a:r>
            <a:r>
              <a:rPr lang="en-US" sz="3200" b="1" dirty="0"/>
              <a:t>release.</a:t>
            </a:r>
            <a:br>
              <a:rPr lang="en-US" sz="3200" b="1" dirty="0"/>
            </a:br>
            <a:endParaRPr lang="en-US" sz="3200" b="1" dirty="0"/>
          </a:p>
        </p:txBody>
      </p:sp>
    </p:spTree>
    <p:extLst>
      <p:ext uri="{BB962C8B-B14F-4D97-AF65-F5344CB8AC3E}">
        <p14:creationId xmlns:p14="http://schemas.microsoft.com/office/powerpoint/2010/main" val="411527913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6508" t="16764" r="20845" b="33231"/>
          <a:stretch/>
        </p:blipFill>
        <p:spPr bwMode="auto">
          <a:xfrm>
            <a:off x="503903" y="990600"/>
            <a:ext cx="8234516"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1241162"/>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143000" y="1295400"/>
            <a:ext cx="8001000" cy="4892675"/>
          </a:xfrm>
        </p:spPr>
        <p:txBody>
          <a:bodyPr>
            <a:normAutofit lnSpcReduction="10000"/>
          </a:bodyPr>
          <a:lstStyle/>
          <a:p>
            <a:r>
              <a:rPr lang="en-US" dirty="0" smtClean="0"/>
              <a:t> </a:t>
            </a:r>
            <a:r>
              <a:rPr lang="en-US" sz="3600" b="1" dirty="0"/>
              <a:t>Higher doses prolong the duration of action to more than 1 </a:t>
            </a:r>
            <a:r>
              <a:rPr lang="en-US" sz="3600" b="1" dirty="0" smtClean="0"/>
              <a:t>h.              </a:t>
            </a:r>
            <a:r>
              <a:rPr lang="en-US" sz="3600" b="1" dirty="0" err="1" smtClean="0"/>
              <a:t>Edrophonium</a:t>
            </a:r>
            <a:r>
              <a:rPr lang="en-US" sz="3600" b="1" dirty="0" smtClean="0"/>
              <a:t> </a:t>
            </a:r>
            <a:r>
              <a:rPr lang="en-US" sz="3600" b="1" dirty="0"/>
              <a:t>may not be </a:t>
            </a:r>
            <a:r>
              <a:rPr lang="en-US" sz="3600" b="1" dirty="0" smtClean="0"/>
              <a:t> </a:t>
            </a:r>
            <a:r>
              <a:rPr lang="en-US" sz="3600" b="1" dirty="0"/>
              <a:t>effective </a:t>
            </a:r>
            <a:r>
              <a:rPr lang="en-US" sz="3600" b="1" dirty="0" smtClean="0"/>
              <a:t>in </a:t>
            </a:r>
            <a:r>
              <a:rPr lang="en-US" sz="3600" b="1" dirty="0"/>
              <a:t>reversing </a:t>
            </a:r>
            <a:r>
              <a:rPr lang="en-US" sz="3600" b="1" dirty="0" smtClean="0"/>
              <a:t>intense neuromuscular </a:t>
            </a:r>
            <a:r>
              <a:rPr lang="en-US" sz="3600" b="1" dirty="0"/>
              <a:t>blockade. </a:t>
            </a:r>
            <a:r>
              <a:rPr lang="en-US" sz="3600" b="1" dirty="0" smtClean="0"/>
              <a:t>It is given with  glycopyrrolate</a:t>
            </a:r>
            <a:r>
              <a:rPr lang="en-US" sz="3600" b="1" dirty="0"/>
              <a:t> ,</a:t>
            </a:r>
            <a:r>
              <a:rPr lang="en-US" sz="3600" b="1" dirty="0" smtClean="0"/>
              <a:t> </a:t>
            </a:r>
            <a:r>
              <a:rPr lang="en-US" sz="3600" b="1" dirty="0"/>
              <a:t>several minutes prior to </a:t>
            </a:r>
            <a:r>
              <a:rPr lang="en-US" sz="3600" b="1" dirty="0" err="1"/>
              <a:t>edrophonium</a:t>
            </a:r>
            <a:r>
              <a:rPr lang="en-US" sz="3600" b="1" dirty="0"/>
              <a:t> </a:t>
            </a:r>
            <a:r>
              <a:rPr lang="en-US" sz="3600" b="1" dirty="0" smtClean="0"/>
              <a:t>to avoid </a:t>
            </a:r>
            <a:r>
              <a:rPr lang="en-US" sz="3600" b="1" dirty="0"/>
              <a:t>the possibility of </a:t>
            </a:r>
            <a:r>
              <a:rPr lang="en-US" sz="3600" b="1" dirty="0" err="1"/>
              <a:t>bradycardia</a:t>
            </a:r>
            <a:r>
              <a:rPr lang="en-US" sz="3600" b="1" dirty="0"/>
              <a:t>.</a:t>
            </a:r>
          </a:p>
        </p:txBody>
      </p:sp>
    </p:spTree>
    <p:extLst>
      <p:ext uri="{BB962C8B-B14F-4D97-AF65-F5344CB8AC3E}">
        <p14:creationId xmlns:p14="http://schemas.microsoft.com/office/powerpoint/2010/main" val="248425723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990600" y="685800"/>
            <a:ext cx="8153400" cy="5502275"/>
          </a:xfrm>
        </p:spPr>
        <p:txBody>
          <a:bodyPr>
            <a:noAutofit/>
          </a:bodyPr>
          <a:lstStyle/>
          <a:p>
            <a:r>
              <a:rPr lang="en-US" sz="2800" b="1" dirty="0"/>
              <a:t/>
            </a:r>
            <a:br>
              <a:rPr lang="en-US" sz="2800" b="1" dirty="0"/>
            </a:br>
            <a:r>
              <a:rPr lang="en-US" sz="3600" b="1" dirty="0" smtClean="0"/>
              <a:t>has </a:t>
            </a:r>
            <a:r>
              <a:rPr lang="en-US" sz="3600" b="1" dirty="0"/>
              <a:t>a low lipid </a:t>
            </a:r>
            <a:r>
              <a:rPr lang="en-US" sz="3600" b="1" dirty="0" smtClean="0"/>
              <a:t>solubility.it does </a:t>
            </a:r>
            <a:r>
              <a:rPr lang="en-US" sz="3600" b="1" dirty="0"/>
              <a:t>not cross the </a:t>
            </a:r>
            <a:r>
              <a:rPr lang="en-US" sz="3600" b="1" dirty="0" smtClean="0"/>
              <a:t>BBB .                                                                       It </a:t>
            </a:r>
            <a:r>
              <a:rPr lang="en-US" sz="3600" b="1" dirty="0"/>
              <a:t>has a faster onset of action </a:t>
            </a:r>
            <a:r>
              <a:rPr lang="en-US" sz="3600" b="1" dirty="0" smtClean="0"/>
              <a:t>than neostigmine</a:t>
            </a:r>
            <a:r>
              <a:rPr lang="en-US" sz="3600" b="1" dirty="0"/>
              <a:t>. </a:t>
            </a:r>
            <a:r>
              <a:rPr lang="en-US" sz="3600" b="1" dirty="0" smtClean="0"/>
              <a:t>Up </a:t>
            </a:r>
            <a:r>
              <a:rPr lang="en-US" sz="3600" b="1" dirty="0"/>
              <a:t>to 65% </a:t>
            </a:r>
            <a:r>
              <a:rPr lang="en-US" sz="3600" b="1" dirty="0" smtClean="0"/>
              <a:t>is excreted </a:t>
            </a:r>
            <a:r>
              <a:rPr lang="en-US" sz="3600" b="1" dirty="0"/>
              <a:t>unchanged in the </a:t>
            </a:r>
            <a:r>
              <a:rPr lang="en-US" sz="3600" b="1" dirty="0" smtClean="0"/>
              <a:t>urine the rest </a:t>
            </a:r>
            <a:r>
              <a:rPr lang="en-US" sz="3600" b="1" dirty="0"/>
              <a:t>undergoes glucuronidation in the liver </a:t>
            </a:r>
            <a:r>
              <a:rPr lang="en-US" sz="3600" b="1" dirty="0" smtClean="0"/>
              <a:t>and  </a:t>
            </a:r>
            <a:r>
              <a:rPr lang="en-US" sz="3600" b="1" dirty="0"/>
              <a:t>excretion in the bile</a:t>
            </a:r>
            <a:r>
              <a:rPr lang="en-US" sz="3600" b="1" dirty="0" smtClean="0"/>
              <a:t>.                                                                   </a:t>
            </a:r>
            <a:r>
              <a:rPr lang="en-US" sz="3600" b="1" dirty="0"/>
              <a:t>It has only slight muscarinic side effects but may </a:t>
            </a:r>
            <a:r>
              <a:rPr lang="en-US" sz="3600" b="1" dirty="0" smtClean="0"/>
              <a:t>still cause </a:t>
            </a:r>
            <a:r>
              <a:rPr lang="en-US" sz="3600" b="1" dirty="0"/>
              <a:t>a </a:t>
            </a:r>
            <a:r>
              <a:rPr lang="en-US" sz="3600" b="1" dirty="0" smtClean="0">
                <a:latin typeface="Times New Roman"/>
                <a:cs typeface="Times New Roman"/>
              </a:rPr>
              <a:t>↓HR</a:t>
            </a:r>
            <a:r>
              <a:rPr lang="en-US" sz="3600" b="1" dirty="0" smtClean="0"/>
              <a:t> </a:t>
            </a:r>
            <a:r>
              <a:rPr lang="en-US" sz="3600" b="1" dirty="0"/>
              <a:t>&amp;</a:t>
            </a:r>
            <a:r>
              <a:rPr lang="en-US" sz="3600" b="1" dirty="0" smtClean="0"/>
              <a:t>salivation</a:t>
            </a:r>
            <a:r>
              <a:rPr lang="en-US" sz="3600" b="1" dirty="0"/>
              <a:t>.</a:t>
            </a:r>
          </a:p>
        </p:txBody>
      </p:sp>
    </p:spTree>
    <p:extLst>
      <p:ext uri="{BB962C8B-B14F-4D97-AF65-F5344CB8AC3E}">
        <p14:creationId xmlns:p14="http://schemas.microsoft.com/office/powerpoint/2010/main" val="3560776019"/>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85800" y="228600"/>
            <a:ext cx="7620000" cy="1066800"/>
          </a:xfrm>
        </p:spPr>
        <p:txBody>
          <a:bodyPr>
            <a:normAutofit fontScale="90000"/>
          </a:bodyPr>
          <a:lstStyle/>
          <a:p>
            <a:r>
              <a:rPr lang="en-US" dirty="0"/>
              <a:t>Formation of </a:t>
            </a:r>
            <a:r>
              <a:rPr lang="en-US" dirty="0" err="1" smtClean="0"/>
              <a:t>Carbamylated</a:t>
            </a:r>
            <a:r>
              <a:rPr lang="en-US" dirty="0" smtClean="0"/>
              <a:t>                Enzyme  </a:t>
            </a:r>
            <a:r>
              <a:rPr lang="en-US" dirty="0"/>
              <a:t>Complex</a:t>
            </a:r>
          </a:p>
        </p:txBody>
      </p:sp>
      <p:sp>
        <p:nvSpPr>
          <p:cNvPr id="2" name="Content Placeholder 1"/>
          <p:cNvSpPr>
            <a:spLocks noGrp="1"/>
          </p:cNvSpPr>
          <p:nvPr>
            <p:ph idx="1"/>
          </p:nvPr>
        </p:nvSpPr>
        <p:spPr>
          <a:xfrm>
            <a:off x="352426" y="1463040"/>
            <a:ext cx="8410574" cy="4724400"/>
          </a:xfrm>
        </p:spPr>
        <p:txBody>
          <a:bodyPr>
            <a:normAutofit fontScale="85000" lnSpcReduction="20000"/>
          </a:bodyPr>
          <a:lstStyle/>
          <a:p>
            <a:r>
              <a:rPr lang="en-US" dirty="0"/>
              <a:t/>
            </a:r>
            <a:br>
              <a:rPr lang="en-US" dirty="0"/>
            </a:br>
            <a:r>
              <a:rPr lang="en-US" sz="3300" b="1" dirty="0">
                <a:latin typeface="Arial"/>
              </a:rPr>
              <a:t>Neostigmine, </a:t>
            </a:r>
            <a:r>
              <a:rPr lang="en-US" sz="3300" b="1" dirty="0" err="1">
                <a:latin typeface="Arial"/>
              </a:rPr>
              <a:t>pyridostigmine</a:t>
            </a:r>
            <a:r>
              <a:rPr lang="en-US" sz="3300" b="1" dirty="0">
                <a:latin typeface="Arial"/>
              </a:rPr>
              <a:t>, </a:t>
            </a:r>
            <a:r>
              <a:rPr lang="en-US" sz="3300" b="1" dirty="0" err="1">
                <a:latin typeface="Arial"/>
              </a:rPr>
              <a:t>physostigmine</a:t>
            </a:r>
            <a:r>
              <a:rPr lang="en-US" sz="3300" b="1" dirty="0"/>
              <a:t/>
            </a:r>
            <a:br>
              <a:rPr lang="en-US" sz="3300" b="1" dirty="0"/>
            </a:br>
            <a:r>
              <a:rPr lang="en-US" sz="3300" b="1" dirty="0">
                <a:latin typeface="Arial"/>
              </a:rPr>
              <a:t>Mechanism of Action</a:t>
            </a:r>
            <a:r>
              <a:rPr lang="en-US" sz="3300" b="1" dirty="0"/>
              <a:t/>
            </a:r>
            <a:br>
              <a:rPr lang="en-US" sz="3300" b="1" dirty="0"/>
            </a:br>
            <a:r>
              <a:rPr lang="en-US" sz="3300" b="1" dirty="0">
                <a:latin typeface="Times New Roman"/>
              </a:rPr>
              <a:t>Both </a:t>
            </a:r>
            <a:r>
              <a:rPr lang="en-US" sz="3300" b="1" dirty="0" err="1">
                <a:latin typeface="Times New Roman"/>
              </a:rPr>
              <a:t>ACh</a:t>
            </a:r>
            <a:r>
              <a:rPr lang="en-US" sz="3300" b="1" dirty="0">
                <a:latin typeface="Times New Roman"/>
              </a:rPr>
              <a:t> and the </a:t>
            </a:r>
            <a:r>
              <a:rPr lang="en-US" sz="3300" b="1" dirty="0" err="1">
                <a:latin typeface="Times New Roman"/>
              </a:rPr>
              <a:t>carbamate</a:t>
            </a:r>
            <a:r>
              <a:rPr lang="en-US" sz="3300" b="1" dirty="0">
                <a:latin typeface="Times New Roman"/>
              </a:rPr>
              <a:t> esters are </a:t>
            </a:r>
            <a:r>
              <a:rPr lang="en-US" sz="3300" b="1" dirty="0" err="1">
                <a:latin typeface="Times New Roman"/>
              </a:rPr>
              <a:t>hydrolysed</a:t>
            </a:r>
            <a:r>
              <a:rPr lang="en-US" sz="3300" b="1" dirty="0">
                <a:latin typeface="Times New Roman"/>
              </a:rPr>
              <a:t> when they react with </a:t>
            </a:r>
            <a:r>
              <a:rPr lang="en-US" sz="3300" b="1" dirty="0" err="1" smtClean="0">
                <a:latin typeface="Times New Roman"/>
              </a:rPr>
              <a:t>AChE.However</a:t>
            </a:r>
            <a:r>
              <a:rPr lang="en-US" sz="3300" b="1" dirty="0">
                <a:latin typeface="Times New Roman"/>
              </a:rPr>
              <a:t>, </a:t>
            </a:r>
            <a:r>
              <a:rPr lang="en-US" sz="3300" b="1" dirty="0" err="1">
                <a:latin typeface="Times New Roman"/>
              </a:rPr>
              <a:t>ACh</a:t>
            </a:r>
            <a:r>
              <a:rPr lang="en-US" sz="3300" b="1" dirty="0">
                <a:latin typeface="Times New Roman"/>
              </a:rPr>
              <a:t> acetylates </a:t>
            </a:r>
            <a:r>
              <a:rPr lang="en-US" sz="3300" b="1" dirty="0" err="1">
                <a:latin typeface="Times New Roman"/>
              </a:rPr>
              <a:t>AChE</a:t>
            </a:r>
            <a:r>
              <a:rPr lang="en-US" sz="3300" b="1" dirty="0">
                <a:latin typeface="Times New Roman"/>
              </a:rPr>
              <a:t> while the </a:t>
            </a:r>
            <a:r>
              <a:rPr lang="en-US" sz="3300" b="1" dirty="0" err="1">
                <a:latin typeface="Times New Roman"/>
              </a:rPr>
              <a:t>carbamate</a:t>
            </a:r>
            <a:r>
              <a:rPr lang="en-US" sz="3300" b="1" dirty="0">
                <a:latin typeface="Times New Roman"/>
              </a:rPr>
              <a:t> esters produce a </a:t>
            </a:r>
            <a:r>
              <a:rPr lang="en-US" sz="3300" b="1" dirty="0" err="1" smtClean="0">
                <a:latin typeface="Times New Roman"/>
              </a:rPr>
              <a:t>carbamylated</a:t>
            </a:r>
            <a:r>
              <a:rPr lang="en-US" sz="3300" b="1" dirty="0"/>
              <a:t> </a:t>
            </a:r>
            <a:r>
              <a:rPr lang="en-US" sz="3300" b="1" dirty="0" smtClean="0">
                <a:latin typeface="Times New Roman"/>
              </a:rPr>
              <a:t>enzyme. </a:t>
            </a:r>
            <a:r>
              <a:rPr lang="en-US" sz="3300" b="1" dirty="0">
                <a:latin typeface="Times New Roman"/>
              </a:rPr>
              <a:t>The later has a much slower rate of hydrolysis and so </a:t>
            </a:r>
            <a:r>
              <a:rPr lang="en-US" sz="3300" b="1" dirty="0" smtClean="0">
                <a:latin typeface="Times New Roman"/>
              </a:rPr>
              <a:t>is</a:t>
            </a:r>
            <a:r>
              <a:rPr lang="en-US" sz="3300" b="1" dirty="0"/>
              <a:t> </a:t>
            </a:r>
            <a:r>
              <a:rPr lang="en-US" sz="3300" b="1" dirty="0" smtClean="0">
                <a:latin typeface="Times New Roman"/>
              </a:rPr>
              <a:t>unable </a:t>
            </a:r>
            <a:r>
              <a:rPr lang="en-US" sz="3300" b="1" dirty="0">
                <a:latin typeface="Times New Roman"/>
              </a:rPr>
              <a:t>to work for longer, hence, it stops </a:t>
            </a:r>
            <a:r>
              <a:rPr lang="en-US" sz="3300" b="1" dirty="0" err="1">
                <a:latin typeface="Times New Roman"/>
              </a:rPr>
              <a:t>AChE</a:t>
            </a:r>
            <a:r>
              <a:rPr lang="en-US" sz="3300" b="1" dirty="0">
                <a:latin typeface="Times New Roman"/>
              </a:rPr>
              <a:t> </a:t>
            </a:r>
            <a:r>
              <a:rPr lang="en-US" sz="3300" b="1" dirty="0" err="1">
                <a:latin typeface="Times New Roman"/>
              </a:rPr>
              <a:t>hydrolysing</a:t>
            </a:r>
            <a:r>
              <a:rPr lang="en-US" sz="3300" b="1" dirty="0">
                <a:latin typeface="Times New Roman"/>
              </a:rPr>
              <a:t> </a:t>
            </a:r>
            <a:r>
              <a:rPr lang="en-US" sz="3300" b="1" dirty="0" err="1">
                <a:latin typeface="Times New Roman"/>
              </a:rPr>
              <a:t>ACh</a:t>
            </a:r>
            <a:r>
              <a:rPr lang="en-US" sz="3300" b="1" dirty="0">
                <a:latin typeface="Times New Roman"/>
              </a:rPr>
              <a:t>. The </a:t>
            </a:r>
            <a:r>
              <a:rPr lang="en-US" sz="3300" b="1" dirty="0" err="1" smtClean="0">
                <a:latin typeface="Times New Roman"/>
              </a:rPr>
              <a:t>carbamate</a:t>
            </a:r>
            <a:r>
              <a:rPr lang="en-US" sz="3300" b="1" dirty="0"/>
              <a:t> </a:t>
            </a:r>
            <a:r>
              <a:rPr lang="en-US" sz="3300" b="1" dirty="0" smtClean="0">
                <a:latin typeface="Times New Roman"/>
              </a:rPr>
              <a:t>esters </a:t>
            </a:r>
            <a:r>
              <a:rPr lang="en-US" sz="3300" b="1" dirty="0">
                <a:latin typeface="Times New Roman"/>
              </a:rPr>
              <a:t>are also known </a:t>
            </a:r>
            <a:r>
              <a:rPr lang="en-US" sz="3300" b="1" dirty="0" smtClean="0">
                <a:latin typeface="Times New Roman"/>
              </a:rPr>
              <a:t>as time-dependent </a:t>
            </a:r>
            <a:r>
              <a:rPr lang="en-US" sz="3300" b="1" dirty="0" err="1">
                <a:latin typeface="Times New Roman"/>
              </a:rPr>
              <a:t>AChE</a:t>
            </a:r>
            <a:r>
              <a:rPr lang="en-US" sz="3300" b="1" dirty="0">
                <a:latin typeface="Times New Roman"/>
              </a:rPr>
              <a:t> inhibitors.</a:t>
            </a:r>
            <a:r>
              <a:rPr lang="en-US" sz="3300" b="1" dirty="0"/>
              <a:t/>
            </a:r>
            <a:br>
              <a:rPr lang="en-US" sz="3300" b="1" dirty="0"/>
            </a:br>
            <a:endParaRPr lang="en-US" sz="3300" b="1" dirty="0"/>
          </a:p>
        </p:txBody>
      </p:sp>
    </p:spTree>
    <p:extLst>
      <p:ext uri="{BB962C8B-B14F-4D97-AF65-F5344CB8AC3E}">
        <p14:creationId xmlns:p14="http://schemas.microsoft.com/office/powerpoint/2010/main" val="4079614593"/>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7352" y="152400"/>
            <a:ext cx="8974248" cy="5943600"/>
          </a:xfrm>
        </p:spPr>
        <p:txBody>
          <a:bodyPr>
            <a:noAutofit/>
          </a:bodyPr>
          <a:lstStyle/>
          <a:p>
            <a:r>
              <a:rPr lang="en-US" sz="3000" dirty="0">
                <a:latin typeface="Arial"/>
              </a:rPr>
              <a:t>Neostigmine</a:t>
            </a:r>
            <a:r>
              <a:rPr lang="en-US" sz="3000" dirty="0"/>
              <a:t/>
            </a:r>
            <a:br>
              <a:rPr lang="en-US" sz="3000" dirty="0"/>
            </a:br>
            <a:r>
              <a:rPr lang="en-US" sz="3000" dirty="0" err="1">
                <a:latin typeface="Times New Roman"/>
              </a:rPr>
              <a:t>Neostigmine</a:t>
            </a:r>
            <a:r>
              <a:rPr lang="en-US" sz="3000" dirty="0">
                <a:latin typeface="Times New Roman"/>
              </a:rPr>
              <a:t> is a quaternary amine</a:t>
            </a:r>
            <a:r>
              <a:rPr lang="en-US" sz="3000" dirty="0" smtClean="0">
                <a:latin typeface="Times New Roman"/>
              </a:rPr>
              <a:t>.</a:t>
            </a:r>
            <a:r>
              <a:rPr lang="en-US" sz="3000" dirty="0"/>
              <a:t/>
            </a:r>
            <a:br>
              <a:rPr lang="en-US" sz="3000" dirty="0"/>
            </a:br>
            <a:r>
              <a:rPr lang="en-US" sz="3000" dirty="0">
                <a:latin typeface="Times New Roman"/>
              </a:rPr>
              <a:t>Neostigmine is available as </a:t>
            </a:r>
            <a:r>
              <a:rPr lang="en-US" sz="3000" dirty="0" smtClean="0">
                <a:latin typeface="Times New Roman"/>
              </a:rPr>
              <a:t>tablets/solution </a:t>
            </a:r>
            <a:r>
              <a:rPr lang="en-US" sz="3000" dirty="0">
                <a:latin typeface="Times New Roman"/>
              </a:rPr>
              <a:t>for </a:t>
            </a:r>
            <a:r>
              <a:rPr lang="en-US" sz="3000" dirty="0" smtClean="0">
                <a:latin typeface="Times New Roman"/>
              </a:rPr>
              <a:t>IV.                                                                   For  </a:t>
            </a:r>
            <a:r>
              <a:rPr lang="en-US" sz="3000" dirty="0">
                <a:latin typeface="Times New Roman"/>
              </a:rPr>
              <a:t>reverse </a:t>
            </a:r>
            <a:r>
              <a:rPr lang="en-US" sz="3000" dirty="0" smtClean="0">
                <a:latin typeface="Times New Roman"/>
              </a:rPr>
              <a:t>(</a:t>
            </a:r>
            <a:r>
              <a:rPr lang="en-US" sz="3000" dirty="0">
                <a:latin typeface="Times New Roman"/>
              </a:rPr>
              <a:t>0.05 </a:t>
            </a:r>
            <a:r>
              <a:rPr lang="en-US" sz="3000" dirty="0" smtClean="0">
                <a:latin typeface="Times New Roman"/>
              </a:rPr>
              <a:t>mg/kg IV ),                                                               </a:t>
            </a:r>
            <a:r>
              <a:rPr lang="en-US" sz="3000" dirty="0">
                <a:latin typeface="Times New Roman"/>
              </a:rPr>
              <a:t>in the treatment of myasthenia gravis (15</a:t>
            </a:r>
            <a:r>
              <a:rPr lang="en-US" sz="3000" dirty="0">
                <a:latin typeface="Arial"/>
              </a:rPr>
              <a:t>–</a:t>
            </a:r>
            <a:r>
              <a:rPr lang="en-US" sz="3000" dirty="0">
                <a:latin typeface="Times New Roman"/>
              </a:rPr>
              <a:t>30 mg orally </a:t>
            </a:r>
            <a:r>
              <a:rPr lang="en-US" sz="3000" dirty="0" smtClean="0">
                <a:latin typeface="Times New Roman"/>
              </a:rPr>
              <a:t>where</a:t>
            </a:r>
            <a:r>
              <a:rPr lang="en-US" sz="3000" dirty="0"/>
              <a:t> </a:t>
            </a:r>
            <a:r>
              <a:rPr lang="en-US" sz="3000" dirty="0" smtClean="0">
                <a:latin typeface="Times New Roman"/>
              </a:rPr>
              <a:t>e</a:t>
            </a:r>
            <a:r>
              <a:rPr lang="en-US" sz="3000" dirty="0" smtClean="0">
                <a:latin typeface="Arial"/>
              </a:rPr>
              <a:t>ff</a:t>
            </a:r>
            <a:r>
              <a:rPr lang="en-US" sz="3000" dirty="0" smtClean="0">
                <a:latin typeface="Times New Roman"/>
              </a:rPr>
              <a:t>ects </a:t>
            </a:r>
            <a:r>
              <a:rPr lang="en-US" sz="3000" dirty="0">
                <a:latin typeface="Times New Roman"/>
              </a:rPr>
              <a:t>last up to 4 hours) and in urinary retention.</a:t>
            </a:r>
            <a:r>
              <a:rPr lang="en-US" sz="3000" dirty="0"/>
              <a:t/>
            </a:r>
            <a:br>
              <a:rPr lang="en-US" sz="3000" dirty="0"/>
            </a:br>
            <a:r>
              <a:rPr lang="en-US" sz="3000" dirty="0">
                <a:latin typeface="Arial"/>
              </a:rPr>
              <a:t>Effects</a:t>
            </a:r>
            <a:r>
              <a:rPr lang="en-US" sz="3000" dirty="0"/>
              <a:t/>
            </a:r>
            <a:br>
              <a:rPr lang="en-US" sz="3000" dirty="0"/>
            </a:br>
            <a:r>
              <a:rPr lang="en-US" sz="3000" dirty="0" smtClean="0">
                <a:latin typeface="Times New Roman"/>
              </a:rPr>
              <a:t>CVS </a:t>
            </a:r>
            <a:r>
              <a:rPr lang="en-US" sz="3000" dirty="0" smtClean="0">
                <a:latin typeface="Arial"/>
              </a:rPr>
              <a:t>–</a:t>
            </a:r>
            <a:r>
              <a:rPr lang="en-US" sz="3000" dirty="0" smtClean="0">
                <a:latin typeface="Times New Roman"/>
                <a:cs typeface="Times New Roman"/>
              </a:rPr>
              <a:t>↓HR,</a:t>
            </a:r>
            <a:r>
              <a:rPr lang="en-US" sz="3000" dirty="0" smtClean="0">
                <a:latin typeface="Times New Roman"/>
              </a:rPr>
              <a:t> </a:t>
            </a:r>
            <a:r>
              <a:rPr lang="en-US" sz="3000" dirty="0">
                <a:latin typeface="Times New Roman"/>
              </a:rPr>
              <a:t>It has a </a:t>
            </a:r>
            <a:r>
              <a:rPr lang="en-US" sz="3000" dirty="0" smtClean="0">
                <a:latin typeface="Times New Roman"/>
              </a:rPr>
              <a:t>limited</a:t>
            </a:r>
            <a:r>
              <a:rPr lang="en-US" sz="3000" dirty="0"/>
              <a:t> </a:t>
            </a:r>
            <a:r>
              <a:rPr lang="en-US" sz="3000" dirty="0" smtClean="0">
                <a:latin typeface="Times New Roman"/>
              </a:rPr>
              <a:t>role  SVT.                    </a:t>
            </a:r>
            <a:r>
              <a:rPr lang="en-US" sz="3000" dirty="0" smtClean="0"/>
              <a:t>Respiratory </a:t>
            </a:r>
            <a:r>
              <a:rPr lang="en-US" sz="3000" dirty="0"/>
              <a:t>– it may precipitate </a:t>
            </a:r>
            <a:r>
              <a:rPr lang="en-US" sz="3000" dirty="0" smtClean="0"/>
              <a:t>bronchospasm.                                                    Gut </a:t>
            </a:r>
            <a:r>
              <a:rPr lang="en-US" sz="3000" dirty="0"/>
              <a:t>– it increases salivation and intestinal </a:t>
            </a:r>
            <a:r>
              <a:rPr lang="en-US" sz="3000" dirty="0" smtClean="0"/>
              <a:t>motility, result </a:t>
            </a:r>
            <a:r>
              <a:rPr lang="en-US" sz="3000" dirty="0"/>
              <a:t>in </a:t>
            </a:r>
            <a:r>
              <a:rPr lang="en-US" sz="3000" dirty="0" smtClean="0"/>
              <a:t>abdominal cramps</a:t>
            </a:r>
            <a:endParaRPr lang="en-US" sz="3000" dirty="0"/>
          </a:p>
        </p:txBody>
      </p:sp>
    </p:spTree>
    <p:extLst>
      <p:ext uri="{BB962C8B-B14F-4D97-AF65-F5344CB8AC3E}">
        <p14:creationId xmlns:p14="http://schemas.microsoft.com/office/powerpoint/2010/main" val="95631556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85800"/>
            <a:ext cx="8763000" cy="5502275"/>
          </a:xfrm>
        </p:spPr>
        <p:txBody>
          <a:bodyPr>
            <a:noAutofit/>
          </a:bodyPr>
          <a:lstStyle/>
          <a:p>
            <a:r>
              <a:rPr lang="en-US" sz="3200" b="1" dirty="0" smtClean="0">
                <a:latin typeface="Times New Roman"/>
              </a:rPr>
              <a:t>Neostigmine </a:t>
            </a:r>
            <a:r>
              <a:rPr lang="en-US" sz="3200" b="1" dirty="0">
                <a:latin typeface="Times New Roman"/>
              </a:rPr>
              <a:t>is poorly absorbed from the gut and has a low oral bioavailability</a:t>
            </a:r>
            <a:r>
              <a:rPr lang="en-US" sz="3200" b="1" dirty="0" smtClean="0">
                <a:latin typeface="Times New Roman"/>
              </a:rPr>
              <a:t>.                                                                                                              It is </a:t>
            </a:r>
            <a:r>
              <a:rPr lang="en-US" sz="3200" b="1" dirty="0">
                <a:latin typeface="Times New Roman"/>
              </a:rPr>
              <a:t>partially </a:t>
            </a:r>
            <a:r>
              <a:rPr lang="en-US" sz="3200" b="1" dirty="0" err="1">
                <a:latin typeface="Times New Roman"/>
              </a:rPr>
              <a:t>metabolised</a:t>
            </a:r>
            <a:r>
              <a:rPr lang="en-US" sz="3200" b="1" dirty="0">
                <a:latin typeface="Times New Roman"/>
              </a:rPr>
              <a:t> </a:t>
            </a:r>
            <a:r>
              <a:rPr lang="en-US" sz="3200" b="1" dirty="0" smtClean="0">
                <a:latin typeface="Times New Roman"/>
              </a:rPr>
              <a:t>in</a:t>
            </a:r>
            <a:r>
              <a:rPr lang="en-US" sz="3200" b="1" dirty="0"/>
              <a:t> </a:t>
            </a:r>
            <a:r>
              <a:rPr lang="en-US" sz="3200" b="1" dirty="0" smtClean="0">
                <a:latin typeface="Times New Roman"/>
              </a:rPr>
              <a:t>the </a:t>
            </a:r>
            <a:r>
              <a:rPr lang="en-US" sz="3200" b="1" dirty="0">
                <a:latin typeface="Times New Roman"/>
              </a:rPr>
              <a:t>liver. Approximately 55% is excreted unchanged in the </a:t>
            </a:r>
            <a:r>
              <a:rPr lang="en-US" sz="3200" b="1" dirty="0" smtClean="0">
                <a:latin typeface="Times New Roman"/>
              </a:rPr>
              <a:t>urine.                                                                             </a:t>
            </a:r>
            <a:r>
              <a:rPr lang="en-US" sz="3200" b="1" dirty="0" smtClean="0"/>
              <a:t>Neostigmine </a:t>
            </a:r>
            <a:r>
              <a:rPr lang="en-US" sz="3200" b="1" dirty="0"/>
              <a:t>is also used to treat myasthenia gravis, urinary </a:t>
            </a:r>
            <a:r>
              <a:rPr lang="en-US" sz="3200" b="1" dirty="0" smtClean="0"/>
              <a:t>bladder </a:t>
            </a:r>
            <a:r>
              <a:rPr lang="en-US" sz="3200" b="1" dirty="0" err="1" smtClean="0"/>
              <a:t>atony</a:t>
            </a:r>
            <a:r>
              <a:rPr lang="en-US" sz="3200" b="1" dirty="0" smtClean="0"/>
              <a:t>,&amp;paralytic </a:t>
            </a:r>
            <a:r>
              <a:rPr lang="en-US" sz="3200" b="1" dirty="0"/>
              <a:t>ileus. </a:t>
            </a:r>
            <a:r>
              <a:rPr lang="en-US" sz="3200" b="1" dirty="0" smtClean="0"/>
              <a:t>                                                                                                       Neostigmine </a:t>
            </a:r>
            <a:r>
              <a:rPr lang="en-US" sz="3200" b="1" dirty="0"/>
              <a:t>also inhibits </a:t>
            </a:r>
            <a:r>
              <a:rPr lang="en-US" sz="3200" b="1" dirty="0" err="1" smtClean="0"/>
              <a:t>plasmcholinesterase</a:t>
            </a:r>
            <a:r>
              <a:rPr lang="en-US" sz="3200" b="1" dirty="0" smtClean="0"/>
              <a:t>.</a:t>
            </a:r>
          </a:p>
        </p:txBody>
      </p:sp>
    </p:spTree>
    <p:extLst>
      <p:ext uri="{BB962C8B-B14F-4D97-AF65-F5344CB8AC3E}">
        <p14:creationId xmlns:p14="http://schemas.microsoft.com/office/powerpoint/2010/main" val="3720259272"/>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066800"/>
            <a:ext cx="7620000" cy="5121275"/>
          </a:xfrm>
        </p:spPr>
        <p:txBody>
          <a:bodyPr/>
          <a:lstStyle/>
          <a:p>
            <a:pPr lvl="0">
              <a:buClr>
                <a:srgbClr val="838995"/>
              </a:buClr>
            </a:pPr>
            <a:r>
              <a:rPr lang="en-US" sz="3200" b="1" dirty="0">
                <a:solidFill>
                  <a:schemeClr val="tx1"/>
                </a:solidFill>
              </a:rPr>
              <a:t>WHAT </a:t>
            </a:r>
            <a:r>
              <a:rPr lang="en-US" sz="3200" b="1" dirty="0" smtClean="0">
                <a:solidFill>
                  <a:schemeClr val="tx1"/>
                </a:solidFill>
              </a:rPr>
              <a:t> WILL BE  </a:t>
            </a:r>
            <a:r>
              <a:rPr lang="en-US" sz="3200" b="1" dirty="0">
                <a:solidFill>
                  <a:schemeClr val="tx1"/>
                </a:solidFill>
              </a:rPr>
              <a:t>THE EFFECT OF NEOSTEGMINE </a:t>
            </a:r>
            <a:r>
              <a:rPr lang="en-US" sz="3200" b="1" dirty="0" smtClean="0">
                <a:solidFill>
                  <a:schemeClr val="tx1"/>
                </a:solidFill>
              </a:rPr>
              <a:t>IN REVERSING  </a:t>
            </a:r>
            <a:r>
              <a:rPr lang="en-US" sz="3200" b="1" dirty="0">
                <a:solidFill>
                  <a:schemeClr val="tx1"/>
                </a:solidFill>
              </a:rPr>
              <a:t>DEPOLARIZING MR</a:t>
            </a:r>
            <a:r>
              <a:rPr lang="en-US" sz="3200" b="1" dirty="0" smtClean="0">
                <a:solidFill>
                  <a:schemeClr val="tx1"/>
                </a:solidFill>
              </a:rPr>
              <a:t>?</a:t>
            </a:r>
          </a:p>
          <a:p>
            <a:pPr lvl="0">
              <a:buClr>
                <a:srgbClr val="838995"/>
              </a:buClr>
            </a:pPr>
            <a:endParaRPr lang="en-US" sz="3200" b="1" dirty="0">
              <a:solidFill>
                <a:schemeClr val="tx1"/>
              </a:solidFill>
            </a:endParaRPr>
          </a:p>
          <a:p>
            <a:pPr lvl="0">
              <a:buClr>
                <a:srgbClr val="838995"/>
              </a:buClr>
            </a:pPr>
            <a:r>
              <a:rPr lang="en-US" sz="3200" b="1" dirty="0" smtClean="0">
                <a:solidFill>
                  <a:schemeClr val="tx1"/>
                </a:solidFill>
              </a:rPr>
              <a:t>WHAT DO YOU THINK THE ADVERSE EFFECT OF NEOSTEGMIN?</a:t>
            </a:r>
            <a:endParaRPr lang="en-US" sz="3200" b="1"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168232477"/>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0" y="228600"/>
            <a:ext cx="7146925" cy="1066800"/>
          </a:xfrm>
        </p:spPr>
        <p:txBody>
          <a:bodyPr>
            <a:normAutofit fontScale="90000"/>
          </a:bodyPr>
          <a:lstStyle/>
          <a:p>
            <a:r>
              <a:rPr lang="en-US" dirty="0"/>
              <a:t>Neostigmine forms a </a:t>
            </a:r>
            <a:r>
              <a:rPr lang="en-US" dirty="0" err="1"/>
              <a:t>carbamylated</a:t>
            </a:r>
            <a:r>
              <a:rPr lang="en-US" dirty="0"/>
              <a:t> </a:t>
            </a:r>
            <a:r>
              <a:rPr lang="en-US" dirty="0" smtClean="0"/>
              <a:t>enzyme complex</a:t>
            </a:r>
            <a:endParaRPr lang="en-US" dirty="0"/>
          </a:p>
        </p:txBody>
      </p:sp>
      <p:pic>
        <p:nvPicPr>
          <p:cNvPr id="512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6239" t="24109" r="54797" b="40106"/>
          <a:stretch/>
        </p:blipFill>
        <p:spPr bwMode="auto">
          <a:xfrm>
            <a:off x="1143000" y="1828800"/>
            <a:ext cx="6851040" cy="426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602484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762000" y="685800"/>
            <a:ext cx="8382000" cy="5502275"/>
          </a:xfrm>
        </p:spPr>
        <p:txBody>
          <a:bodyPr>
            <a:noAutofit/>
          </a:bodyPr>
          <a:lstStyle/>
          <a:p>
            <a:r>
              <a:rPr lang="en-US" sz="2800" b="1" dirty="0" err="1">
                <a:latin typeface="Arial"/>
              </a:rPr>
              <a:t>Pyridostigmine</a:t>
            </a:r>
            <a:r>
              <a:rPr lang="en-US" sz="2800" b="1" dirty="0"/>
              <a:t/>
            </a:r>
            <a:br>
              <a:rPr lang="en-US" sz="2800" b="1" dirty="0"/>
            </a:br>
            <a:r>
              <a:rPr lang="en-US" sz="2800" b="1" dirty="0" err="1">
                <a:latin typeface="Times New Roman"/>
              </a:rPr>
              <a:t>Pyridostigmine</a:t>
            </a:r>
            <a:r>
              <a:rPr lang="en-US" sz="2800" b="1" dirty="0">
                <a:latin typeface="Times New Roman"/>
              </a:rPr>
              <a:t> is also a quaternary amine used mainly in the treatment of </a:t>
            </a:r>
            <a:r>
              <a:rPr lang="en-US" sz="2800" b="1" dirty="0" smtClean="0">
                <a:latin typeface="Times New Roman"/>
              </a:rPr>
              <a:t>myasthenia</a:t>
            </a:r>
            <a:r>
              <a:rPr lang="en-US" sz="2800" b="1" dirty="0"/>
              <a:t> </a:t>
            </a:r>
            <a:r>
              <a:rPr lang="en-US" sz="2800" b="1" dirty="0">
                <a:latin typeface="Times New Roman"/>
              </a:rPr>
              <a:t>gravis, has a slower onset of action </a:t>
            </a:r>
            <a:r>
              <a:rPr lang="en-US" sz="2800" b="1" dirty="0" smtClean="0">
                <a:latin typeface="Times New Roman"/>
              </a:rPr>
              <a:t>but </a:t>
            </a:r>
            <a:r>
              <a:rPr lang="en-US" sz="2800" b="1" dirty="0">
                <a:latin typeface="Times New Roman"/>
              </a:rPr>
              <a:t>longer duration of </a:t>
            </a:r>
            <a:r>
              <a:rPr lang="en-US" sz="2800" b="1" dirty="0" smtClean="0">
                <a:latin typeface="Times New Roman"/>
              </a:rPr>
              <a:t>action </a:t>
            </a:r>
            <a:r>
              <a:rPr lang="en-US" sz="2800" b="1" dirty="0">
                <a:latin typeface="Times New Roman"/>
              </a:rPr>
              <a:t>then neostigmine </a:t>
            </a:r>
            <a:r>
              <a:rPr lang="en-US" sz="2800" b="1" dirty="0" smtClean="0">
                <a:latin typeface="Times New Roman"/>
              </a:rPr>
              <a:t>and</a:t>
            </a:r>
            <a:r>
              <a:rPr lang="en-US" sz="2800" b="1" dirty="0"/>
              <a:t> </a:t>
            </a:r>
            <a:r>
              <a:rPr lang="en-US" sz="2800" b="1" dirty="0" smtClean="0">
                <a:latin typeface="Times New Roman"/>
              </a:rPr>
              <a:t>fewer </a:t>
            </a:r>
            <a:r>
              <a:rPr lang="en-US" sz="2800" b="1" dirty="0">
                <a:latin typeface="Times New Roman"/>
              </a:rPr>
              <a:t>autonomic e</a:t>
            </a:r>
            <a:r>
              <a:rPr lang="en-US" sz="2800" b="1" dirty="0">
                <a:latin typeface="Arial"/>
              </a:rPr>
              <a:t>ff</a:t>
            </a:r>
            <a:r>
              <a:rPr lang="en-US" sz="2800" b="1" dirty="0">
                <a:latin typeface="Times New Roman"/>
              </a:rPr>
              <a:t>ects.</a:t>
            </a:r>
            <a:r>
              <a:rPr lang="en-US" sz="2800" b="1" dirty="0"/>
              <a:t/>
            </a:r>
            <a:br>
              <a:rPr lang="en-US" sz="2800" b="1" dirty="0"/>
            </a:br>
            <a:r>
              <a:rPr lang="en-US" sz="2800" b="1" dirty="0">
                <a:latin typeface="Arial"/>
              </a:rPr>
              <a:t>Kinetics</a:t>
            </a:r>
            <a:r>
              <a:rPr lang="en-US" sz="2800" b="1" dirty="0"/>
              <a:t/>
            </a:r>
            <a:br>
              <a:rPr lang="en-US" sz="2800" b="1" dirty="0"/>
            </a:br>
            <a:r>
              <a:rPr lang="en-US" sz="2800" b="1" dirty="0" smtClean="0">
                <a:latin typeface="Times New Roman"/>
              </a:rPr>
              <a:t>It </a:t>
            </a:r>
            <a:r>
              <a:rPr lang="en-US" sz="2800" b="1" dirty="0">
                <a:latin typeface="Times New Roman"/>
              </a:rPr>
              <a:t>relies on renal elimination more </a:t>
            </a:r>
            <a:r>
              <a:rPr lang="en-US" sz="2800" b="1" dirty="0" smtClean="0">
                <a:latin typeface="Times New Roman"/>
              </a:rPr>
              <a:t>(75</a:t>
            </a:r>
            <a:r>
              <a:rPr lang="en-US" sz="2800" b="1" dirty="0">
                <a:latin typeface="Times New Roman"/>
              </a:rPr>
              <a:t>% excreted </a:t>
            </a:r>
            <a:r>
              <a:rPr lang="en-US" sz="2800" b="1" dirty="0" smtClean="0">
                <a:latin typeface="Times New Roman"/>
              </a:rPr>
              <a:t>unchanged</a:t>
            </a:r>
            <a:r>
              <a:rPr lang="en-US" sz="2800" b="1" dirty="0">
                <a:latin typeface="Times New Roman"/>
              </a:rPr>
              <a:t>)</a:t>
            </a:r>
            <a:r>
              <a:rPr lang="en-US" sz="2800" b="1" dirty="0" smtClean="0">
                <a:latin typeface="Times New Roman"/>
              </a:rPr>
              <a:t> </a:t>
            </a:r>
            <a:r>
              <a:rPr lang="en-US" sz="2800" b="1" dirty="0">
                <a:latin typeface="Times New Roman"/>
              </a:rPr>
              <a:t>does not </a:t>
            </a:r>
            <a:r>
              <a:rPr lang="en-US" sz="2800" b="1" dirty="0" smtClean="0">
                <a:latin typeface="Times New Roman"/>
              </a:rPr>
              <a:t>cross BBB.</a:t>
            </a:r>
          </a:p>
        </p:txBody>
      </p:sp>
    </p:spTree>
    <p:extLst>
      <p:ext uri="{BB962C8B-B14F-4D97-AF65-F5344CB8AC3E}">
        <p14:creationId xmlns:p14="http://schemas.microsoft.com/office/powerpoint/2010/main" val="4271343576"/>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685800" y="685800"/>
            <a:ext cx="8305800" cy="5715000"/>
          </a:xfrm>
        </p:spPr>
        <p:txBody>
          <a:bodyPr>
            <a:noAutofit/>
          </a:bodyPr>
          <a:lstStyle/>
          <a:p>
            <a:r>
              <a:rPr lang="en-US" sz="2800" dirty="0" smtClean="0"/>
              <a:t>PHYSOSTIGMINE</a:t>
            </a:r>
            <a:endParaRPr lang="en-US" sz="2800" dirty="0"/>
          </a:p>
          <a:p>
            <a:r>
              <a:rPr lang="en-US" sz="2800" dirty="0" err="1"/>
              <a:t>Physostigmine</a:t>
            </a:r>
            <a:r>
              <a:rPr lang="en-US" sz="2800" dirty="0"/>
              <a:t>, a tertiary amine, has a </a:t>
            </a:r>
            <a:r>
              <a:rPr lang="en-US" sz="2800" dirty="0" err="1"/>
              <a:t>carbamate</a:t>
            </a:r>
            <a:r>
              <a:rPr lang="en-US" sz="2800" dirty="0"/>
              <a:t> group but no </a:t>
            </a:r>
            <a:r>
              <a:rPr lang="en-US" sz="2800" dirty="0" err="1" smtClean="0"/>
              <a:t>quaternar</a:t>
            </a:r>
            <a:r>
              <a:rPr lang="en-US" sz="2800" dirty="0" smtClean="0"/>
              <a:t> ammonium</a:t>
            </a:r>
            <a:r>
              <a:rPr lang="en-US" sz="2800" dirty="0"/>
              <a:t>. Therefore, it is lipid soluble and is the only clinically </a:t>
            </a:r>
            <a:r>
              <a:rPr lang="en-US" sz="2800" dirty="0" smtClean="0"/>
              <a:t>available cholinesterase </a:t>
            </a:r>
            <a:r>
              <a:rPr lang="en-US" sz="2800" dirty="0"/>
              <a:t>inhibitor that freely passes the </a:t>
            </a:r>
            <a:r>
              <a:rPr lang="en-US" sz="2800" dirty="0" smtClean="0"/>
              <a:t>BBB</a:t>
            </a:r>
          </a:p>
          <a:p>
            <a:r>
              <a:rPr lang="en-US" sz="2800" dirty="0" smtClean="0"/>
              <a:t>The </a:t>
            </a:r>
            <a:r>
              <a:rPr lang="en-US" sz="2800" dirty="0"/>
              <a:t>lipid solubility and </a:t>
            </a:r>
            <a:r>
              <a:rPr lang="en-US" sz="2800" dirty="0" smtClean="0"/>
              <a:t>CNS  </a:t>
            </a:r>
            <a:r>
              <a:rPr lang="en-US" sz="2800" dirty="0"/>
              <a:t>penetration of </a:t>
            </a:r>
            <a:r>
              <a:rPr lang="en-US" sz="2800" dirty="0" err="1" smtClean="0"/>
              <a:t>physostigmine</a:t>
            </a:r>
            <a:r>
              <a:rPr lang="en-US" sz="2800" dirty="0"/>
              <a:t> </a:t>
            </a:r>
            <a:r>
              <a:rPr lang="en-US" sz="2800" dirty="0" smtClean="0"/>
              <a:t>limit </a:t>
            </a:r>
            <a:r>
              <a:rPr lang="en-US" sz="2800" dirty="0"/>
              <a:t>its usefulness as a reversal agent for </a:t>
            </a:r>
            <a:r>
              <a:rPr lang="en-US" sz="2800" dirty="0" err="1"/>
              <a:t>nondepolarizing</a:t>
            </a:r>
            <a:r>
              <a:rPr lang="en-US" sz="2800" dirty="0"/>
              <a:t> blockade, it is used in the treatment of anticholinergic poisoning it reverses some of the </a:t>
            </a:r>
            <a:r>
              <a:rPr lang="en-US" sz="2800" dirty="0" smtClean="0"/>
              <a:t>CNS depression </a:t>
            </a:r>
            <a:r>
              <a:rPr lang="en-US" sz="2800" dirty="0"/>
              <a:t>and delirium associated with use of benzodiazepines and </a:t>
            </a:r>
            <a:r>
              <a:rPr lang="en-US" sz="2800" dirty="0" smtClean="0"/>
              <a:t>volatile anesthetics</a:t>
            </a:r>
            <a:r>
              <a:rPr lang="en-US" sz="2800" dirty="0"/>
              <a:t>. </a:t>
            </a:r>
          </a:p>
        </p:txBody>
      </p:sp>
    </p:spTree>
    <p:extLst>
      <p:ext uri="{BB962C8B-B14F-4D97-AF65-F5344CB8AC3E}">
        <p14:creationId xmlns:p14="http://schemas.microsoft.com/office/powerpoint/2010/main" val="2663799079"/>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533400" y="533400"/>
            <a:ext cx="8610600" cy="6019800"/>
          </a:xfrm>
        </p:spPr>
        <p:txBody>
          <a:bodyPr>
            <a:noAutofit/>
          </a:bodyPr>
          <a:lstStyle/>
          <a:p>
            <a:r>
              <a:rPr lang="en-US" sz="3200" b="1" dirty="0" err="1"/>
              <a:t>Physostigmine</a:t>
            </a:r>
            <a:r>
              <a:rPr lang="en-US" sz="3200" b="1" dirty="0"/>
              <a:t> (0.04 mg/kg) has been shown to be effective </a:t>
            </a:r>
            <a:r>
              <a:rPr lang="en-US" sz="3200" b="1" dirty="0" smtClean="0"/>
              <a:t>in preventing </a:t>
            </a:r>
            <a:r>
              <a:rPr lang="en-US" sz="3200" b="1" dirty="0"/>
              <a:t>postoperative shivering. It reportedly partially antagonizes </a:t>
            </a:r>
            <a:r>
              <a:rPr lang="en-US" sz="3200" b="1" dirty="0" smtClean="0"/>
              <a:t>morphine- induced </a:t>
            </a:r>
            <a:r>
              <a:rPr lang="en-US" sz="3200" b="1" dirty="0"/>
              <a:t>respiratory </a:t>
            </a:r>
            <a:r>
              <a:rPr lang="en-US" sz="3200" b="1" dirty="0" smtClean="0"/>
              <a:t>depression.                                                                                </a:t>
            </a:r>
            <a:r>
              <a:rPr lang="en-US" sz="3200" b="1" dirty="0" err="1" smtClean="0"/>
              <a:t>Bradycardia</a:t>
            </a:r>
            <a:r>
              <a:rPr lang="en-US" sz="3200" b="1" dirty="0" smtClean="0"/>
              <a:t> </a:t>
            </a:r>
            <a:r>
              <a:rPr lang="en-US" sz="3200" b="1" dirty="0"/>
              <a:t>is infrequent in the recommended dosage </a:t>
            </a:r>
            <a:r>
              <a:rPr lang="en-US" sz="3200" b="1" dirty="0" err="1" smtClean="0"/>
              <a:t>range,but</a:t>
            </a:r>
            <a:r>
              <a:rPr lang="en-US" sz="3200" b="1" dirty="0" smtClean="0"/>
              <a:t> </a:t>
            </a:r>
            <a:r>
              <a:rPr lang="en-US" sz="3200" b="1" dirty="0"/>
              <a:t>atropine should be immediately </a:t>
            </a:r>
            <a:r>
              <a:rPr lang="en-US" sz="3200" b="1" dirty="0" smtClean="0"/>
              <a:t>available</a:t>
            </a:r>
            <a:r>
              <a:rPr lang="en-US" sz="3200" b="1" dirty="0"/>
              <a:t> </a:t>
            </a:r>
            <a:r>
              <a:rPr lang="en-US" sz="3200" b="1" dirty="0" smtClean="0"/>
              <a:t>not </a:t>
            </a:r>
            <a:r>
              <a:rPr lang="en-US" sz="3200" b="1" dirty="0" err="1" smtClean="0"/>
              <a:t>glycopyrrolate</a:t>
            </a:r>
            <a:r>
              <a:rPr lang="en-US" sz="3200" b="1" dirty="0" smtClean="0"/>
              <a:t>.      </a:t>
            </a:r>
            <a:endParaRPr lang="en-US" sz="3200" b="1" dirty="0" smtClean="0"/>
          </a:p>
          <a:p>
            <a:r>
              <a:rPr lang="en-US" sz="3200" b="1" dirty="0" smtClean="0"/>
              <a:t>In </a:t>
            </a:r>
            <a:r>
              <a:rPr lang="en-US" sz="3200" b="1" dirty="0"/>
              <a:t>contrast to </a:t>
            </a:r>
            <a:r>
              <a:rPr lang="en-US" sz="3200" b="1" dirty="0" smtClean="0"/>
              <a:t>other cholinesterase </a:t>
            </a:r>
            <a:r>
              <a:rPr lang="en-US" sz="3200" b="1" dirty="0"/>
              <a:t>inhibitors, </a:t>
            </a:r>
            <a:r>
              <a:rPr lang="en-US" sz="3200" b="1" dirty="0" err="1"/>
              <a:t>physostigmine</a:t>
            </a:r>
            <a:r>
              <a:rPr lang="en-US" sz="3200" b="1" dirty="0"/>
              <a:t> is almost completely metabolized </a:t>
            </a:r>
            <a:r>
              <a:rPr lang="en-US" sz="3200" b="1" dirty="0" smtClean="0"/>
              <a:t>by plasma </a:t>
            </a:r>
            <a:r>
              <a:rPr lang="en-US" sz="3200" b="1" dirty="0" err="1"/>
              <a:t>esterases</a:t>
            </a:r>
            <a:r>
              <a:rPr lang="en-US" sz="3200" b="1" dirty="0"/>
              <a:t>, so renal excretion is not important.</a:t>
            </a:r>
          </a:p>
        </p:txBody>
      </p:sp>
    </p:spTree>
    <p:extLst>
      <p:ext uri="{BB962C8B-B14F-4D97-AF65-F5344CB8AC3E}">
        <p14:creationId xmlns:p14="http://schemas.microsoft.com/office/powerpoint/2010/main" val="3690974814"/>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sz="quarter" idx="4294967295"/>
          </p:nvPr>
        </p:nvSpPr>
        <p:spPr>
          <a:xfrm>
            <a:off x="0" y="1463675"/>
            <a:ext cx="3581400" cy="4287838"/>
          </a:xfrm>
        </p:spPr>
        <p:txBody>
          <a:bodyPr/>
          <a:lstStyle/>
          <a:p>
            <a:endParaRPr lang="en-US" dirty="0"/>
          </a:p>
          <a:p>
            <a:r>
              <a:rPr lang="en-US" sz="3200" b="1" dirty="0"/>
              <a:t>factors that affect neuromuscular </a:t>
            </a:r>
            <a:r>
              <a:rPr lang="en-US" sz="3200" b="1" dirty="0" smtClean="0"/>
              <a:t>blockade such </a:t>
            </a:r>
            <a:r>
              <a:rPr lang="en-US" sz="3200" b="1" dirty="0"/>
              <a:t>as drugs </a:t>
            </a:r>
            <a:r>
              <a:rPr lang="en-US" sz="3200" b="1" dirty="0" smtClean="0"/>
              <a:t>and electrolyte </a:t>
            </a:r>
            <a:r>
              <a:rPr lang="en-US" sz="3200" b="1" dirty="0"/>
              <a:t>disturbances</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3582" t="60711" r="39974" b="9435"/>
          <a:stretch/>
        </p:blipFill>
        <p:spPr bwMode="auto">
          <a:xfrm>
            <a:off x="4191000" y="1524000"/>
            <a:ext cx="38100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150737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Sugammadex</a:t>
            </a:r>
            <a:endParaRPr lang="en-US" dirty="0"/>
          </a:p>
        </p:txBody>
      </p:sp>
      <p:sp>
        <p:nvSpPr>
          <p:cNvPr id="2" name="Content Placeholder 1"/>
          <p:cNvSpPr>
            <a:spLocks noGrp="1"/>
          </p:cNvSpPr>
          <p:nvPr>
            <p:ph idx="1"/>
          </p:nvPr>
        </p:nvSpPr>
        <p:spPr/>
        <p:txBody>
          <a:bodyPr>
            <a:noAutofit/>
          </a:bodyPr>
          <a:lstStyle/>
          <a:p>
            <a:r>
              <a:rPr lang="en-US" sz="3200" dirty="0" err="1">
                <a:latin typeface="Times New Roman"/>
              </a:rPr>
              <a:t>Sugammadex</a:t>
            </a:r>
            <a:r>
              <a:rPr lang="en-US" sz="3200" dirty="0">
                <a:latin typeface="Times New Roman"/>
              </a:rPr>
              <a:t> is a </a:t>
            </a:r>
            <a:r>
              <a:rPr lang="en-US" sz="3200" dirty="0">
                <a:latin typeface="Arial"/>
              </a:rPr>
              <a:t>γ </a:t>
            </a:r>
            <a:r>
              <a:rPr lang="en-US" sz="3200" dirty="0" err="1">
                <a:latin typeface="Times New Roman"/>
              </a:rPr>
              <a:t>cyclodextrin</a:t>
            </a:r>
            <a:r>
              <a:rPr lang="en-US" sz="3200" dirty="0">
                <a:latin typeface="Times New Roman"/>
              </a:rPr>
              <a:t> and is sometimes referred to as a selective relaxant </a:t>
            </a:r>
            <a:r>
              <a:rPr lang="en-US" sz="3200" dirty="0" smtClean="0">
                <a:latin typeface="Times New Roman"/>
              </a:rPr>
              <a:t>binding</a:t>
            </a:r>
            <a:r>
              <a:rPr lang="en-US" sz="3200" dirty="0"/>
              <a:t> </a:t>
            </a:r>
            <a:r>
              <a:rPr lang="en-US" sz="3200" dirty="0" smtClean="0">
                <a:latin typeface="Times New Roman"/>
              </a:rPr>
              <a:t>agent </a:t>
            </a:r>
            <a:r>
              <a:rPr lang="en-US" sz="3200" dirty="0">
                <a:latin typeface="Times New Roman"/>
              </a:rPr>
              <a:t>(SRBA</a:t>
            </a:r>
            <a:r>
              <a:rPr lang="en-US" sz="3200" dirty="0" smtClean="0">
                <a:latin typeface="Times New Roman"/>
              </a:rPr>
              <a:t>)..</a:t>
            </a:r>
            <a:r>
              <a:rPr lang="en-US" sz="3200" dirty="0"/>
              <a:t/>
            </a:r>
            <a:br>
              <a:rPr lang="en-US" sz="3200" dirty="0"/>
            </a:br>
            <a:r>
              <a:rPr lang="en-US" sz="3200" dirty="0">
                <a:latin typeface="Arial"/>
              </a:rPr>
              <a:t>Uses and Mechanism of Action</a:t>
            </a:r>
            <a:r>
              <a:rPr lang="en-US" sz="3200" dirty="0"/>
              <a:t/>
            </a:r>
            <a:br>
              <a:rPr lang="en-US" sz="3200" dirty="0"/>
            </a:br>
            <a:r>
              <a:rPr lang="en-US" sz="3200" dirty="0" smtClean="0">
                <a:latin typeface="Times New Roman"/>
              </a:rPr>
              <a:t> </a:t>
            </a:r>
            <a:r>
              <a:rPr lang="en-US" sz="3200" dirty="0">
                <a:latin typeface="Times New Roman"/>
              </a:rPr>
              <a:t>indication is the reversal of neuromuscular blockade induced by </a:t>
            </a:r>
            <a:r>
              <a:rPr lang="en-US" sz="3200" dirty="0" err="1">
                <a:latin typeface="Times New Roman"/>
              </a:rPr>
              <a:t>rocuronium</a:t>
            </a:r>
            <a:r>
              <a:rPr lang="en-US" sz="3200" dirty="0">
                <a:latin typeface="Times New Roman"/>
              </a:rPr>
              <a:t> </a:t>
            </a:r>
            <a:r>
              <a:rPr lang="en-US" sz="3200" dirty="0" smtClean="0">
                <a:latin typeface="Times New Roman"/>
              </a:rPr>
              <a:t>or</a:t>
            </a:r>
            <a:r>
              <a:rPr lang="en-US" sz="3200" dirty="0"/>
              <a:t> </a:t>
            </a:r>
            <a:r>
              <a:rPr lang="en-US" sz="3200" dirty="0" err="1" smtClean="0">
                <a:latin typeface="Times New Roman"/>
              </a:rPr>
              <a:t>vecuronium</a:t>
            </a:r>
            <a:r>
              <a:rPr lang="en-US" sz="3200" dirty="0">
                <a:latin typeface="Times New Roman"/>
              </a:rPr>
              <a:t>. It selectively encapsulates these </a:t>
            </a:r>
            <a:r>
              <a:rPr lang="en-US" sz="3200" dirty="0" err="1">
                <a:latin typeface="Times New Roman"/>
              </a:rPr>
              <a:t>aminosteroidal</a:t>
            </a:r>
            <a:r>
              <a:rPr lang="en-US" sz="3200" dirty="0">
                <a:latin typeface="Times New Roman"/>
              </a:rPr>
              <a:t> NDMRs and </a:t>
            </a:r>
            <a:r>
              <a:rPr lang="en-US" sz="3200" dirty="0" smtClean="0">
                <a:latin typeface="Times New Roman"/>
              </a:rPr>
              <a:t>e</a:t>
            </a:r>
            <a:r>
              <a:rPr lang="en-US" sz="3200" dirty="0" smtClean="0">
                <a:latin typeface="Arial"/>
              </a:rPr>
              <a:t>ff</a:t>
            </a:r>
            <a:r>
              <a:rPr lang="en-US" sz="3200" dirty="0" smtClean="0">
                <a:latin typeface="Times New Roman"/>
              </a:rPr>
              <a:t>ectively</a:t>
            </a:r>
            <a:r>
              <a:rPr lang="en-US" sz="3200" dirty="0"/>
              <a:t> </a:t>
            </a:r>
            <a:r>
              <a:rPr lang="en-US" sz="3200" dirty="0" smtClean="0">
                <a:latin typeface="Times New Roman"/>
              </a:rPr>
              <a:t>removes </a:t>
            </a:r>
            <a:r>
              <a:rPr lang="en-US" sz="3200" dirty="0">
                <a:latin typeface="Times New Roman"/>
              </a:rPr>
              <a:t>them from the plasma and the NMJ. </a:t>
            </a:r>
            <a:r>
              <a:rPr lang="en-US" sz="3200" dirty="0" smtClean="0">
                <a:latin typeface="Times New Roman"/>
              </a:rPr>
              <a:t>                          </a:t>
            </a:r>
            <a:endParaRPr lang="en-US" sz="3200" dirty="0"/>
          </a:p>
        </p:txBody>
      </p:sp>
    </p:spTree>
    <p:extLst>
      <p:ext uri="{BB962C8B-B14F-4D97-AF65-F5344CB8AC3E}">
        <p14:creationId xmlns:p14="http://schemas.microsoft.com/office/powerpoint/2010/main" val="159684927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066800"/>
            <a:ext cx="8229600" cy="5121275"/>
          </a:xfrm>
        </p:spPr>
        <p:txBody>
          <a:bodyPr>
            <a:normAutofit fontScale="92500"/>
          </a:bodyPr>
          <a:lstStyle/>
          <a:p>
            <a:pPr lvl="0">
              <a:buClr>
                <a:srgbClr val="838995"/>
              </a:buClr>
            </a:pPr>
            <a:r>
              <a:rPr lang="en-US" sz="3200" dirty="0" smtClean="0">
                <a:solidFill>
                  <a:schemeClr val="tx1"/>
                </a:solidFill>
                <a:latin typeface="Times New Roman"/>
              </a:rPr>
              <a:t>No side </a:t>
            </a:r>
            <a:r>
              <a:rPr lang="en-US" sz="3200" dirty="0">
                <a:solidFill>
                  <a:schemeClr val="tx1"/>
                </a:solidFill>
                <a:latin typeface="Times New Roman"/>
              </a:rPr>
              <a:t>e</a:t>
            </a:r>
            <a:r>
              <a:rPr lang="en-US" sz="3200" dirty="0">
                <a:solidFill>
                  <a:schemeClr val="tx1"/>
                </a:solidFill>
                <a:latin typeface="Arial"/>
              </a:rPr>
              <a:t>ff</a:t>
            </a:r>
            <a:r>
              <a:rPr lang="en-US" sz="3200" dirty="0">
                <a:solidFill>
                  <a:schemeClr val="tx1"/>
                </a:solidFill>
                <a:latin typeface="Times New Roman"/>
              </a:rPr>
              <a:t>ects like other anticholinesterases. </a:t>
            </a:r>
            <a:r>
              <a:rPr lang="en-US" sz="3200" dirty="0">
                <a:solidFill>
                  <a:schemeClr val="tx1"/>
                </a:solidFill>
              </a:rPr>
              <a:t/>
            </a:r>
            <a:br>
              <a:rPr lang="en-US" sz="3200" dirty="0">
                <a:solidFill>
                  <a:schemeClr val="tx1"/>
                </a:solidFill>
              </a:rPr>
            </a:br>
            <a:r>
              <a:rPr lang="en-US" sz="3200" dirty="0">
                <a:solidFill>
                  <a:schemeClr val="tx1"/>
                </a:solidFill>
                <a:latin typeface="Arial"/>
              </a:rPr>
              <a:t>Presentation and Dose</a:t>
            </a:r>
            <a:r>
              <a:rPr lang="en-US" sz="3200" dirty="0">
                <a:solidFill>
                  <a:schemeClr val="tx1"/>
                </a:solidFill>
              </a:rPr>
              <a:t/>
            </a:r>
            <a:br>
              <a:rPr lang="en-US" sz="3200" dirty="0">
                <a:solidFill>
                  <a:schemeClr val="tx1"/>
                </a:solidFill>
              </a:rPr>
            </a:br>
            <a:r>
              <a:rPr lang="en-US" sz="3200" dirty="0">
                <a:solidFill>
                  <a:schemeClr val="tx1"/>
                </a:solidFill>
                <a:latin typeface="Times New Roman"/>
              </a:rPr>
              <a:t>It is presented as a 100 mg/ml solution in </a:t>
            </a:r>
            <a:r>
              <a:rPr lang="en-US" sz="3200" dirty="0" smtClean="0">
                <a:solidFill>
                  <a:schemeClr val="tx1"/>
                </a:solidFill>
                <a:latin typeface="Times New Roman"/>
              </a:rPr>
              <a:t>2/5 ml                                                          </a:t>
            </a:r>
            <a:endParaRPr lang="en-US" sz="3200" dirty="0" smtClean="0">
              <a:solidFill>
                <a:schemeClr val="tx1"/>
              </a:solidFill>
              <a:latin typeface="Times New Roman"/>
            </a:endParaRPr>
          </a:p>
          <a:p>
            <a:pPr marL="0" lvl="0" indent="0">
              <a:buClr>
                <a:srgbClr val="838995"/>
              </a:buClr>
              <a:buNone/>
            </a:pPr>
            <a:r>
              <a:rPr lang="en-US" sz="3200" dirty="0" smtClean="0">
                <a:latin typeface="Arial"/>
              </a:rPr>
              <a:t>Routine </a:t>
            </a:r>
            <a:r>
              <a:rPr lang="en-US" sz="3200" dirty="0">
                <a:latin typeface="Arial"/>
              </a:rPr>
              <a:t>Reversal</a:t>
            </a:r>
            <a:r>
              <a:rPr lang="en-US" sz="3200" dirty="0"/>
              <a:t/>
            </a:r>
            <a:br>
              <a:rPr lang="en-US" sz="3200" dirty="0"/>
            </a:br>
            <a:r>
              <a:rPr lang="en-US" sz="3200" dirty="0">
                <a:latin typeface="Times New Roman"/>
              </a:rPr>
              <a:t>Dose is 4 mg/kg.</a:t>
            </a:r>
            <a:r>
              <a:rPr lang="en-US" sz="3200" dirty="0"/>
              <a:t/>
            </a:r>
            <a:br>
              <a:rPr lang="en-US" sz="3200" dirty="0"/>
            </a:br>
            <a:r>
              <a:rPr lang="en-US" sz="3200" dirty="0">
                <a:latin typeface="Arial"/>
              </a:rPr>
              <a:t>Emergency Reversal</a:t>
            </a:r>
            <a:r>
              <a:rPr lang="en-US" sz="3200" dirty="0"/>
              <a:t/>
            </a:r>
            <a:br>
              <a:rPr lang="en-US" sz="3200" dirty="0"/>
            </a:br>
            <a:r>
              <a:rPr lang="en-US" sz="3200" dirty="0">
                <a:latin typeface="Times New Roman"/>
              </a:rPr>
              <a:t>Dose (immediately following 1.2 mg/kg </a:t>
            </a:r>
            <a:r>
              <a:rPr lang="en-US" sz="3200" dirty="0" err="1">
                <a:latin typeface="Times New Roman"/>
              </a:rPr>
              <a:t>rocuronium</a:t>
            </a:r>
            <a:r>
              <a:rPr lang="en-US" sz="3200" dirty="0">
                <a:latin typeface="Times New Roman"/>
              </a:rPr>
              <a:t>) is 16 mg/kg</a:t>
            </a:r>
            <a:r>
              <a:rPr lang="en-US" sz="3200" dirty="0">
                <a:latin typeface="Arial"/>
              </a:rPr>
              <a:t>.</a:t>
            </a:r>
            <a:r>
              <a:rPr lang="en-US" sz="3200" dirty="0"/>
              <a:t/>
            </a:r>
            <a:br>
              <a:rPr lang="en-US" sz="3200" dirty="0"/>
            </a:br>
            <a:endParaRPr lang="en-US" sz="3200" dirty="0">
              <a:solidFill>
                <a:srgbClr val="FFFFFF"/>
              </a:solidFill>
            </a:endParaRPr>
          </a:p>
        </p:txBody>
      </p:sp>
    </p:spTree>
    <p:extLst>
      <p:ext uri="{BB962C8B-B14F-4D97-AF65-F5344CB8AC3E}">
        <p14:creationId xmlns:p14="http://schemas.microsoft.com/office/powerpoint/2010/main" val="62001879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990600" y="609600"/>
            <a:ext cx="8153400" cy="5578475"/>
          </a:xfrm>
        </p:spPr>
        <p:txBody>
          <a:bodyPr>
            <a:noAutofit/>
          </a:bodyPr>
          <a:lstStyle/>
          <a:p>
            <a:r>
              <a:rPr lang="en-US" sz="3600" dirty="0" smtClean="0">
                <a:latin typeface="Arial"/>
              </a:rPr>
              <a:t>Interactions</a:t>
            </a:r>
            <a:r>
              <a:rPr lang="en-US" sz="3600" dirty="0" smtClean="0">
                <a:latin typeface="Times New Roman"/>
              </a:rPr>
              <a:t>  </a:t>
            </a:r>
            <a:r>
              <a:rPr lang="en-US" sz="3600" dirty="0">
                <a:latin typeface="Times New Roman"/>
              </a:rPr>
              <a:t>The </a:t>
            </a:r>
            <a:r>
              <a:rPr lang="en-US" sz="3600" dirty="0" smtClean="0">
                <a:latin typeface="Times New Roman"/>
              </a:rPr>
              <a:t>most</a:t>
            </a:r>
            <a:r>
              <a:rPr lang="en-US" sz="3600" dirty="0"/>
              <a:t> </a:t>
            </a:r>
            <a:r>
              <a:rPr lang="en-US" sz="3600" dirty="0" smtClean="0">
                <a:latin typeface="Times New Roman"/>
              </a:rPr>
              <a:t>signi</a:t>
            </a:r>
            <a:r>
              <a:rPr lang="en-US" sz="3600" dirty="0" smtClean="0">
                <a:latin typeface="Arial"/>
              </a:rPr>
              <a:t>fi</a:t>
            </a:r>
            <a:r>
              <a:rPr lang="en-US" sz="3600" dirty="0" smtClean="0">
                <a:latin typeface="Times New Roman"/>
              </a:rPr>
              <a:t>cant </a:t>
            </a:r>
            <a:r>
              <a:rPr lang="en-US" sz="3600" dirty="0">
                <a:latin typeface="Times New Roman"/>
              </a:rPr>
              <a:t>is the potential reduction in e</a:t>
            </a:r>
            <a:r>
              <a:rPr lang="en-US" sz="3600" dirty="0">
                <a:latin typeface="Arial"/>
              </a:rPr>
              <a:t>ffi</a:t>
            </a:r>
            <a:r>
              <a:rPr lang="en-US" sz="3600" dirty="0">
                <a:latin typeface="Times New Roman"/>
              </a:rPr>
              <a:t>cacy of oral contraceptives. This should </a:t>
            </a:r>
            <a:r>
              <a:rPr lang="en-US" sz="3600" dirty="0" smtClean="0">
                <a:latin typeface="Times New Roman"/>
              </a:rPr>
              <a:t>be discussed </a:t>
            </a:r>
            <a:r>
              <a:rPr lang="en-US" sz="3600" dirty="0">
                <a:latin typeface="Times New Roman"/>
              </a:rPr>
              <a:t>with those concerned and they should be advised to use additional </a:t>
            </a:r>
            <a:r>
              <a:rPr lang="en-US" sz="3600" dirty="0" smtClean="0">
                <a:latin typeface="Times New Roman"/>
              </a:rPr>
              <a:t>contraception following </a:t>
            </a:r>
            <a:r>
              <a:rPr lang="en-US" sz="3600" dirty="0">
                <a:latin typeface="Times New Roman"/>
              </a:rPr>
              <a:t>administration of </a:t>
            </a:r>
            <a:r>
              <a:rPr lang="en-US" sz="3600" dirty="0" err="1">
                <a:latin typeface="Times New Roman"/>
              </a:rPr>
              <a:t>sugammadex</a:t>
            </a:r>
            <a:endParaRPr lang="en-US" sz="3600" dirty="0"/>
          </a:p>
        </p:txBody>
      </p:sp>
    </p:spTree>
    <p:extLst>
      <p:ext uri="{BB962C8B-B14F-4D97-AF65-F5344CB8AC3E}">
        <p14:creationId xmlns:p14="http://schemas.microsoft.com/office/powerpoint/2010/main" val="1995477031"/>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838200"/>
            <a:ext cx="8181975" cy="5349875"/>
          </a:xfrm>
        </p:spPr>
        <p:txBody>
          <a:bodyPr>
            <a:normAutofit fontScale="47500" lnSpcReduction="20000"/>
          </a:bodyPr>
          <a:lstStyle/>
          <a:p>
            <a:r>
              <a:rPr lang="en-US" dirty="0"/>
              <a:t/>
            </a:r>
            <a:br>
              <a:rPr lang="en-US" dirty="0"/>
            </a:br>
            <a:r>
              <a:rPr lang="en-US" sz="5800" b="1" dirty="0" smtClean="0">
                <a:latin typeface="Times New Roman"/>
              </a:rPr>
              <a:t> </a:t>
            </a:r>
            <a:r>
              <a:rPr lang="en-US" sz="5800" b="1" dirty="0"/>
              <a:t/>
            </a:r>
            <a:br>
              <a:rPr lang="en-US" sz="5800" b="1" dirty="0"/>
            </a:br>
            <a:r>
              <a:rPr lang="en-US" sz="5800" b="1" dirty="0" smtClean="0"/>
              <a:t>It </a:t>
            </a:r>
            <a:r>
              <a:rPr lang="en-US" sz="5800" b="1" dirty="0" smtClean="0">
                <a:latin typeface="Times New Roman"/>
              </a:rPr>
              <a:t>is </a:t>
            </a:r>
            <a:r>
              <a:rPr lang="en-US" sz="5800" b="1" dirty="0">
                <a:latin typeface="Times New Roman"/>
              </a:rPr>
              <a:t>excreted solely via the kidneys with an e</a:t>
            </a:r>
            <a:r>
              <a:rPr lang="en-US" sz="5800" b="1" dirty="0">
                <a:latin typeface="Arial"/>
              </a:rPr>
              <a:t>ff</a:t>
            </a:r>
            <a:r>
              <a:rPr lang="en-US" sz="5800" b="1" dirty="0">
                <a:latin typeface="Times New Roman"/>
              </a:rPr>
              <a:t>ective half-life </a:t>
            </a:r>
            <a:r>
              <a:rPr lang="en-US" sz="5800" b="1" dirty="0" smtClean="0">
                <a:latin typeface="Times New Roman"/>
              </a:rPr>
              <a:t>of</a:t>
            </a:r>
            <a:r>
              <a:rPr lang="en-US" sz="5800" b="1" dirty="0"/>
              <a:t> </a:t>
            </a:r>
            <a:r>
              <a:rPr lang="en-US" sz="5800" b="1" dirty="0" smtClean="0">
                <a:latin typeface="Times New Roman"/>
              </a:rPr>
              <a:t>2.5 </a:t>
            </a:r>
            <a:r>
              <a:rPr lang="en-US" sz="5800" b="1" dirty="0">
                <a:latin typeface="Times New Roman"/>
              </a:rPr>
              <a:t>hours.</a:t>
            </a:r>
            <a:r>
              <a:rPr lang="en-US" sz="5800" b="1" dirty="0"/>
              <a:t/>
            </a:r>
            <a:br>
              <a:rPr lang="en-US" sz="5800" b="1" dirty="0"/>
            </a:br>
            <a:r>
              <a:rPr lang="en-US" sz="5800" b="1" dirty="0">
                <a:latin typeface="Arial"/>
              </a:rPr>
              <a:t>Side Effects</a:t>
            </a:r>
            <a:r>
              <a:rPr lang="en-US" sz="5800" b="1" dirty="0"/>
              <a:t/>
            </a:r>
            <a:br>
              <a:rPr lang="en-US" sz="5800" b="1" dirty="0"/>
            </a:br>
            <a:r>
              <a:rPr lang="en-US" sz="5800" b="1" dirty="0">
                <a:latin typeface="Times New Roman"/>
              </a:rPr>
              <a:t>Hypersensitivity reactions remain </a:t>
            </a:r>
            <a:r>
              <a:rPr lang="en-US" sz="5800" b="1" dirty="0" smtClean="0">
                <a:latin typeface="Times New Roman"/>
              </a:rPr>
              <a:t>the main                       concern &amp; </a:t>
            </a:r>
            <a:r>
              <a:rPr lang="en-US" sz="5800" b="1" dirty="0" err="1" smtClean="0">
                <a:latin typeface="Times New Roman"/>
              </a:rPr>
              <a:t>bradycardia</a:t>
            </a:r>
            <a:r>
              <a:rPr lang="en-US" sz="5800" b="1" dirty="0">
                <a:latin typeface="Times New Roman"/>
              </a:rPr>
              <a:t> very </a:t>
            </a:r>
            <a:r>
              <a:rPr lang="en-US" sz="5800" b="1" dirty="0" smtClean="0">
                <a:latin typeface="Times New Roman"/>
              </a:rPr>
              <a:t>rarely                                                      </a:t>
            </a:r>
          </a:p>
          <a:p>
            <a:endParaRPr lang="en-US" sz="5800" b="1" dirty="0">
              <a:latin typeface="Times New Roman"/>
            </a:endParaRPr>
          </a:p>
          <a:p>
            <a:r>
              <a:rPr lang="en-US" sz="5800" b="1" dirty="0"/>
              <a:t>newer agents, </a:t>
            </a:r>
            <a:r>
              <a:rPr lang="en-US" sz="5800" b="1" dirty="0" smtClean="0"/>
              <a:t>such as </a:t>
            </a:r>
            <a:r>
              <a:rPr lang="en-US" sz="5800" b="1" i="1" dirty="0" err="1">
                <a:solidFill>
                  <a:schemeClr val="accent1">
                    <a:lumMod val="40000"/>
                    <a:lumOff val="60000"/>
                  </a:schemeClr>
                </a:solidFill>
              </a:rPr>
              <a:t>cyclodextrins</a:t>
            </a:r>
            <a:r>
              <a:rPr lang="en-US" sz="5800" b="1" dirty="0"/>
              <a:t> and </a:t>
            </a:r>
            <a:r>
              <a:rPr lang="en-US" sz="5800" b="1" i="1" dirty="0">
                <a:solidFill>
                  <a:srgbClr val="00B0F0"/>
                </a:solidFill>
              </a:rPr>
              <a:t>cysteine</a:t>
            </a:r>
            <a:r>
              <a:rPr lang="en-US" sz="5800" b="1" dirty="0"/>
              <a:t>, with superior ability to reverse </a:t>
            </a:r>
            <a:r>
              <a:rPr lang="en-US" sz="5800" b="1" dirty="0" smtClean="0"/>
              <a:t>neuromuscular blockade </a:t>
            </a:r>
            <a:r>
              <a:rPr lang="en-US" sz="5800" b="1" dirty="0"/>
              <a:t>from specific agents, are being employed or investigated</a:t>
            </a:r>
            <a:r>
              <a:rPr lang="en-US" dirty="0"/>
              <a:t>.</a:t>
            </a:r>
          </a:p>
        </p:txBody>
      </p:sp>
    </p:spTree>
    <p:extLst>
      <p:ext uri="{BB962C8B-B14F-4D97-AF65-F5344CB8AC3E}">
        <p14:creationId xmlns:p14="http://schemas.microsoft.com/office/powerpoint/2010/main" val="3223047446"/>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143000"/>
            <a:ext cx="8458200" cy="5045075"/>
          </a:xfrm>
        </p:spPr>
        <p:txBody>
          <a:bodyPr>
            <a:normAutofit fontScale="92500" lnSpcReduction="20000"/>
          </a:bodyPr>
          <a:lstStyle/>
          <a:p>
            <a:r>
              <a:rPr lang="en-US" sz="3000" b="1" dirty="0" smtClean="0"/>
              <a:t>Drugs </a:t>
            </a:r>
            <a:r>
              <a:rPr lang="en-US" sz="3000" b="1" dirty="0"/>
              <a:t>that block muscarinic </a:t>
            </a:r>
            <a:r>
              <a:rPr lang="en-US" sz="3000" b="1" dirty="0" err="1"/>
              <a:t>receptors.effective</a:t>
            </a:r>
            <a:r>
              <a:rPr lang="en-US" sz="3000" b="1" dirty="0"/>
              <a:t> antagonists at muscarinic </a:t>
            </a:r>
            <a:r>
              <a:rPr lang="en-US" sz="3000" b="1" dirty="0" smtClean="0"/>
              <a:t>receptors(</a:t>
            </a:r>
            <a:r>
              <a:rPr lang="en-US" sz="3000" b="1" dirty="0" err="1" smtClean="0"/>
              <a:t>antimuscarinic</a:t>
            </a:r>
            <a:r>
              <a:rPr lang="en-US" sz="3000" b="1" dirty="0" smtClean="0"/>
              <a:t> )very </a:t>
            </a:r>
            <a:r>
              <a:rPr lang="en-US" sz="3000" b="1" dirty="0"/>
              <a:t>little activity at nicotinic </a:t>
            </a:r>
            <a:r>
              <a:rPr lang="en-US" sz="3000" b="1" dirty="0" smtClean="0"/>
              <a:t>receptor     classification                                                                                                                       naturally </a:t>
            </a:r>
            <a:r>
              <a:rPr lang="en-US" sz="3000" b="1" dirty="0"/>
              <a:t>occurring tertiary amines, atropine and </a:t>
            </a:r>
            <a:r>
              <a:rPr lang="en-US" sz="3000" b="1" dirty="0" err="1"/>
              <a:t>hyoscine</a:t>
            </a:r>
            <a:r>
              <a:rPr lang="en-US" sz="3000" b="1" dirty="0"/>
              <a:t>, are esters formed by the combination of tropic acid and an organic base (</a:t>
            </a:r>
            <a:r>
              <a:rPr lang="en-US" sz="3000" b="1" dirty="0" err="1"/>
              <a:t>tropine</a:t>
            </a:r>
            <a:r>
              <a:rPr lang="en-US" sz="3000" b="1" dirty="0"/>
              <a:t> </a:t>
            </a:r>
            <a:r>
              <a:rPr lang="en-US" sz="3000" b="1" dirty="0" smtClean="0"/>
              <a:t>or </a:t>
            </a:r>
            <a:r>
              <a:rPr lang="en-US" sz="3000" b="1" dirty="0" err="1" smtClean="0"/>
              <a:t>scopine</a:t>
            </a:r>
            <a:r>
              <a:rPr lang="en-US" sz="3000" b="1" dirty="0" smtClean="0"/>
              <a:t>)  cross </a:t>
            </a:r>
            <a:r>
              <a:rPr lang="en-US" sz="3000" b="1" dirty="0"/>
              <a:t>the </a:t>
            </a:r>
            <a:r>
              <a:rPr lang="en-US" sz="3000" b="1" dirty="0" smtClean="0"/>
              <a:t>BBB So have  </a:t>
            </a:r>
            <a:r>
              <a:rPr lang="en-US" sz="3000" b="1" dirty="0"/>
              <a:t>central effects include sedation, amnesia, </a:t>
            </a:r>
            <a:r>
              <a:rPr lang="en-US" sz="3000" b="1" dirty="0" err="1"/>
              <a:t>antiemesis</a:t>
            </a:r>
            <a:r>
              <a:rPr lang="en-US" sz="3000" b="1" dirty="0"/>
              <a:t> and the central anticholinergic </a:t>
            </a:r>
            <a:r>
              <a:rPr lang="en-US" sz="3000" b="1" dirty="0" smtClean="0"/>
              <a:t>syndrome.                                                                           </a:t>
            </a:r>
            <a:r>
              <a:rPr lang="en-US" sz="3000" b="1" dirty="0" err="1" smtClean="0"/>
              <a:t>Glycopyrrolate</a:t>
            </a:r>
            <a:r>
              <a:rPr lang="en-US" sz="3000" b="1" dirty="0" smtClean="0"/>
              <a:t> </a:t>
            </a:r>
            <a:r>
              <a:rPr lang="en-US" sz="3000" b="1" dirty="0"/>
              <a:t>is a synthetic quaternary </a:t>
            </a:r>
            <a:r>
              <a:rPr lang="en-US" sz="3000" b="1" dirty="0" smtClean="0"/>
              <a:t>amine </a:t>
            </a:r>
            <a:r>
              <a:rPr lang="en-US" sz="3000" b="1" dirty="0"/>
              <a:t>with no central effects as it is unable to cross the </a:t>
            </a:r>
            <a:r>
              <a:rPr lang="en-US" sz="3000" b="1" dirty="0" smtClean="0"/>
              <a:t>BBB</a:t>
            </a:r>
          </a:p>
          <a:p>
            <a:endParaRPr lang="en-US" dirty="0"/>
          </a:p>
        </p:txBody>
      </p:sp>
      <p:sp>
        <p:nvSpPr>
          <p:cNvPr id="3" name="Title 2"/>
          <p:cNvSpPr>
            <a:spLocks noGrp="1"/>
          </p:cNvSpPr>
          <p:nvPr>
            <p:ph type="title" idx="4294967295"/>
          </p:nvPr>
        </p:nvSpPr>
        <p:spPr>
          <a:xfrm>
            <a:off x="0" y="228600"/>
            <a:ext cx="7070725" cy="838200"/>
          </a:xfrm>
        </p:spPr>
        <p:txBody>
          <a:bodyPr/>
          <a:lstStyle/>
          <a:p>
            <a:r>
              <a:rPr lang="en-US" dirty="0" smtClean="0">
                <a:solidFill>
                  <a:srgbClr val="00B0F0"/>
                </a:solidFill>
                <a:sym typeface="Symbol"/>
              </a:rPr>
              <a:t></a:t>
            </a:r>
            <a:r>
              <a:rPr lang="en-US" dirty="0" err="1" smtClean="0">
                <a:solidFill>
                  <a:srgbClr val="00B0F0"/>
                </a:solidFill>
                <a:latin typeface="Sitka Subheading"/>
                <a:sym typeface="Symbol"/>
              </a:rPr>
              <a:t>V</a:t>
            </a:r>
            <a:r>
              <a:rPr lang="en-US" dirty="0" err="1" smtClean="0">
                <a:solidFill>
                  <a:srgbClr val="00B0F0"/>
                </a:solidFill>
                <a:sym typeface="Symbol"/>
              </a:rPr>
              <a:t>.</a:t>
            </a:r>
            <a:r>
              <a:rPr lang="en-US" dirty="0" err="1" smtClean="0">
                <a:solidFill>
                  <a:srgbClr val="00B0F0"/>
                </a:solidFill>
              </a:rPr>
              <a:t>Anticholinergics</a:t>
            </a:r>
            <a:endParaRPr lang="en-US" dirty="0">
              <a:solidFill>
                <a:srgbClr val="00B0F0"/>
              </a:solidFill>
            </a:endParaRPr>
          </a:p>
        </p:txBody>
      </p:sp>
    </p:spTree>
    <p:extLst>
      <p:ext uri="{BB962C8B-B14F-4D97-AF65-F5344CB8AC3E}">
        <p14:creationId xmlns:p14="http://schemas.microsoft.com/office/powerpoint/2010/main" val="1528236409"/>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762000"/>
            <a:ext cx="7924800" cy="5426075"/>
          </a:xfrm>
        </p:spPr>
        <p:txBody>
          <a:bodyPr>
            <a:noAutofit/>
          </a:bodyPr>
          <a:lstStyle/>
          <a:p>
            <a:r>
              <a:rPr lang="en-US" sz="3200" b="1" dirty="0"/>
              <a:t>MECHANISMS OF ACTION</a:t>
            </a:r>
          </a:p>
          <a:p>
            <a:r>
              <a:rPr lang="en-US" sz="3200" b="1" dirty="0" err="1"/>
              <a:t>Anticholinergics</a:t>
            </a:r>
            <a:r>
              <a:rPr lang="en-US" sz="3200" b="1" dirty="0"/>
              <a:t> are esters of an aromatic acid combined with an organic </a:t>
            </a:r>
            <a:r>
              <a:rPr lang="en-US" sz="3200" b="1" dirty="0" smtClean="0"/>
              <a:t>base. </a:t>
            </a:r>
            <a:r>
              <a:rPr lang="en-US" sz="3200" b="1" dirty="0"/>
              <a:t>The ester linkage is essential for effective binding of </a:t>
            </a:r>
            <a:r>
              <a:rPr lang="en-US" sz="3200" b="1" dirty="0" smtClean="0"/>
              <a:t>the </a:t>
            </a:r>
            <a:r>
              <a:rPr lang="en-US" sz="3200" b="1" dirty="0" err="1" smtClean="0"/>
              <a:t>anticholinergics</a:t>
            </a:r>
            <a:r>
              <a:rPr lang="en-US" sz="3200" b="1" dirty="0" smtClean="0"/>
              <a:t> </a:t>
            </a:r>
            <a:r>
              <a:rPr lang="en-US" sz="3200" b="1" dirty="0"/>
              <a:t>to the acetylcholine receptors. This competitively </a:t>
            </a:r>
            <a:r>
              <a:rPr lang="en-US" sz="3200" b="1" dirty="0" smtClean="0"/>
              <a:t>blocks binding </a:t>
            </a:r>
            <a:r>
              <a:rPr lang="en-US" sz="3200" b="1" dirty="0"/>
              <a:t>by acetylcholine and prevents receptor activation. </a:t>
            </a:r>
          </a:p>
        </p:txBody>
      </p:sp>
    </p:spTree>
    <p:extLst>
      <p:ext uri="{BB962C8B-B14F-4D97-AF65-F5344CB8AC3E}">
        <p14:creationId xmlns:p14="http://schemas.microsoft.com/office/powerpoint/2010/main" val="2097456347"/>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066800" y="762000"/>
            <a:ext cx="8077200" cy="5426075"/>
          </a:xfrm>
        </p:spPr>
        <p:txBody>
          <a:bodyPr>
            <a:normAutofit lnSpcReduction="10000"/>
          </a:bodyPr>
          <a:lstStyle/>
          <a:p>
            <a:pPr lvl="0">
              <a:buClr>
                <a:srgbClr val="838995"/>
              </a:buClr>
            </a:pPr>
            <a:r>
              <a:rPr lang="en-US" sz="3200" b="1" dirty="0">
                <a:solidFill>
                  <a:schemeClr val="tx1"/>
                </a:solidFill>
              </a:rPr>
              <a:t>The cellular effects of acetylcholine, which are mediated through second messengers, are inhibited. The tissue receptors vary in their sensitivity to blockade. In </a:t>
            </a:r>
            <a:r>
              <a:rPr lang="en-US" sz="3200" b="1" dirty="0" err="1">
                <a:solidFill>
                  <a:schemeClr val="tx1"/>
                </a:solidFill>
              </a:rPr>
              <a:t>fact,muscarinic</a:t>
            </a:r>
            <a:r>
              <a:rPr lang="en-US" sz="3200" b="1" dirty="0">
                <a:solidFill>
                  <a:schemeClr val="tx1"/>
                </a:solidFill>
              </a:rPr>
              <a:t> receptors are not </a:t>
            </a:r>
            <a:r>
              <a:rPr lang="en-US" sz="3200" b="1" dirty="0" smtClean="0">
                <a:solidFill>
                  <a:schemeClr val="tx1"/>
                </a:solidFill>
              </a:rPr>
              <a:t>homogeneous, and receptor subgroups have been identified, including CNS (M1,4,5), autonomic ganglia and gastric parietal cells (M1), cardiac (M2), and smooth muscle (M3) receptors.</a:t>
            </a:r>
            <a:endParaRPr lang="en-US" sz="3200" b="1" dirty="0">
              <a:solidFill>
                <a:schemeClr val="tx1"/>
              </a:solidFill>
            </a:endParaRPr>
          </a:p>
        </p:txBody>
      </p:sp>
    </p:spTree>
    <p:extLst>
      <p:ext uri="{BB962C8B-B14F-4D97-AF65-F5344CB8AC3E}">
        <p14:creationId xmlns:p14="http://schemas.microsoft.com/office/powerpoint/2010/main" val="162269531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6614" t="10272" r="23279"/>
          <a:stretch/>
        </p:blipFill>
        <p:spPr bwMode="auto">
          <a:xfrm>
            <a:off x="1143000" y="838200"/>
            <a:ext cx="6781800" cy="50937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173857"/>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a:t>hyoscine’s</a:t>
            </a:r>
            <a:r>
              <a:rPr lang="en-US" dirty="0"/>
              <a:t>(scopolamine) </a:t>
            </a:r>
          </a:p>
        </p:txBody>
      </p:sp>
      <p:sp>
        <p:nvSpPr>
          <p:cNvPr id="2" name="Content Placeholder 1"/>
          <p:cNvSpPr>
            <a:spLocks noGrp="1"/>
          </p:cNvSpPr>
          <p:nvPr>
            <p:ph idx="1"/>
          </p:nvPr>
        </p:nvSpPr>
        <p:spPr/>
        <p:txBody>
          <a:bodyPr>
            <a:normAutofit fontScale="85000" lnSpcReduction="20000"/>
          </a:bodyPr>
          <a:lstStyle/>
          <a:p>
            <a:r>
              <a:rPr lang="en-US" sz="3600" dirty="0" smtClean="0"/>
              <a:t>main </a:t>
            </a:r>
            <a:r>
              <a:rPr lang="en-US" sz="3600" dirty="0"/>
              <a:t>uses are derived from its central </a:t>
            </a:r>
            <a:r>
              <a:rPr lang="en-US" sz="3600" dirty="0" err="1"/>
              <a:t>antimuscarinic</a:t>
            </a:r>
            <a:r>
              <a:rPr lang="en-US" sz="3600" dirty="0"/>
              <a:t> effects, it also has peripheral </a:t>
            </a:r>
            <a:r>
              <a:rPr lang="en-US" sz="3600" dirty="0" err="1"/>
              <a:t>antimuscarinic</a:t>
            </a:r>
            <a:r>
              <a:rPr lang="en-US" sz="3600" dirty="0"/>
              <a:t> effects some of which can be </a:t>
            </a:r>
            <a:r>
              <a:rPr lang="en-US" sz="3600" dirty="0" smtClean="0"/>
              <a:t>useful</a:t>
            </a:r>
          </a:p>
          <a:p>
            <a:r>
              <a:rPr lang="en-US" sz="3600" dirty="0" smtClean="0"/>
              <a:t> central effects –Transdermal administration is effective in reducing PONV and motion sickness despite very low plasma levels.</a:t>
            </a:r>
          </a:p>
          <a:p>
            <a:endParaRPr lang="en-US" dirty="0" smtClean="0"/>
          </a:p>
          <a:p>
            <a:endParaRPr lang="en-US" dirty="0"/>
          </a:p>
        </p:txBody>
      </p:sp>
    </p:spTree>
    <p:extLst>
      <p:ext uri="{BB962C8B-B14F-4D97-AF65-F5344CB8AC3E}">
        <p14:creationId xmlns:p14="http://schemas.microsoft.com/office/powerpoint/2010/main" val="3210662159"/>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066800" y="1066800"/>
            <a:ext cx="8077200" cy="5121275"/>
          </a:xfrm>
        </p:spPr>
        <p:txBody>
          <a:bodyPr>
            <a:normAutofit fontScale="92500"/>
          </a:bodyPr>
          <a:lstStyle/>
          <a:p>
            <a:r>
              <a:rPr lang="en-US" dirty="0"/>
              <a:t> </a:t>
            </a:r>
            <a:r>
              <a:rPr lang="en-US" sz="3500" b="1" dirty="0"/>
              <a:t>It is extensively </a:t>
            </a:r>
            <a:r>
              <a:rPr lang="en-US" sz="3500" b="1" dirty="0" err="1"/>
              <a:t>metabolised</a:t>
            </a:r>
            <a:r>
              <a:rPr lang="en-US" sz="3500" b="1" dirty="0"/>
              <a:t> by liver </a:t>
            </a:r>
            <a:r>
              <a:rPr lang="en-US" sz="3500" b="1" dirty="0" err="1"/>
              <a:t>esterases</a:t>
            </a:r>
            <a:r>
              <a:rPr lang="en-US" sz="3500" b="1" dirty="0"/>
              <a:t> and only a small fraction is excreted unchanged in the urine. Its duration of action is shorter than atropine</a:t>
            </a:r>
          </a:p>
          <a:p>
            <a:r>
              <a:rPr lang="en-US" sz="3500" b="1" dirty="0" smtClean="0"/>
              <a:t>scopolamine </a:t>
            </a:r>
            <a:r>
              <a:rPr lang="en-US" sz="3500" b="1" dirty="0"/>
              <a:t>is a more potent </a:t>
            </a:r>
            <a:r>
              <a:rPr lang="en-US" sz="3500" b="1" dirty="0" err="1"/>
              <a:t>antisialagogue</a:t>
            </a:r>
            <a:r>
              <a:rPr lang="en-US" sz="3500" b="1" dirty="0"/>
              <a:t> than atropine and causes greater central nervous system effects. it may precipitate a central anticholinergic </a:t>
            </a:r>
            <a:r>
              <a:rPr lang="en-US" sz="3500" b="1" dirty="0" smtClean="0"/>
              <a:t>syndrome.</a:t>
            </a:r>
            <a:endParaRPr lang="en-US" sz="3500" b="1" dirty="0"/>
          </a:p>
        </p:txBody>
      </p:sp>
    </p:spTree>
    <p:extLst>
      <p:ext uri="{BB962C8B-B14F-4D97-AF65-F5344CB8AC3E}">
        <p14:creationId xmlns:p14="http://schemas.microsoft.com/office/powerpoint/2010/main" val="391255749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1219200"/>
            <a:ext cx="8458200" cy="4968875"/>
          </a:xfrm>
        </p:spPr>
        <p:txBody>
          <a:bodyPr>
            <a:noAutofit/>
          </a:bodyPr>
          <a:lstStyle/>
          <a:p>
            <a:r>
              <a:rPr lang="en-US" sz="2800" dirty="0" smtClean="0"/>
              <a:t> </a:t>
            </a:r>
            <a:r>
              <a:rPr lang="en-US" sz="2800" b="1" dirty="0" smtClean="0"/>
              <a:t>used </a:t>
            </a:r>
            <a:r>
              <a:rPr lang="en-US" sz="2800" b="1" dirty="0"/>
              <a:t>to treat </a:t>
            </a:r>
            <a:r>
              <a:rPr lang="en-US" sz="2800" b="1" dirty="0" err="1"/>
              <a:t>bradycardia</a:t>
            </a:r>
            <a:r>
              <a:rPr lang="en-US" sz="2800" b="1" dirty="0"/>
              <a:t> and as </a:t>
            </a:r>
            <a:r>
              <a:rPr lang="en-US" sz="2800" b="1" dirty="0" err="1" smtClean="0"/>
              <a:t>antisialogogue</a:t>
            </a:r>
            <a:r>
              <a:rPr lang="en-US" sz="2800" b="1" dirty="0" smtClean="0"/>
              <a:t>.                                                      </a:t>
            </a:r>
            <a:r>
              <a:rPr lang="en-US" sz="2800" b="1" dirty="0" err="1" smtClean="0"/>
              <a:t>antagonise</a:t>
            </a:r>
            <a:r>
              <a:rPr lang="en-US" sz="2800" b="1" dirty="0" smtClean="0"/>
              <a:t> </a:t>
            </a:r>
            <a:r>
              <a:rPr lang="en-US" sz="2800" b="1" dirty="0"/>
              <a:t>the muscarinic side effects of anticholinesterases</a:t>
            </a:r>
            <a:r>
              <a:rPr lang="en-US" sz="2800" b="1" dirty="0" smtClean="0"/>
              <a:t>.                                                                                                                                                                                                                                                              CNS less </a:t>
            </a:r>
            <a:r>
              <a:rPr lang="en-US" sz="2800" b="1" dirty="0"/>
              <a:t>likely to cause a central cholinergic crisis than </a:t>
            </a:r>
            <a:r>
              <a:rPr lang="en-US" sz="2800" b="1" dirty="0" err="1"/>
              <a:t>hyoscine</a:t>
            </a:r>
            <a:r>
              <a:rPr lang="en-US" sz="2800" b="1" dirty="0"/>
              <a:t> </a:t>
            </a:r>
            <a:r>
              <a:rPr lang="en-US" sz="2800" b="1" dirty="0" smtClean="0"/>
              <a:t>so </a:t>
            </a:r>
            <a:r>
              <a:rPr lang="en-US" sz="2800" b="1" dirty="0"/>
              <a:t>less sedative. </a:t>
            </a:r>
            <a:r>
              <a:rPr lang="en-US" sz="2800" b="1" dirty="0" smtClean="0"/>
              <a:t>                                                      CVS </a:t>
            </a:r>
            <a:r>
              <a:rPr lang="en-US" sz="2800" b="1" dirty="0"/>
              <a:t>– it may cause an initial </a:t>
            </a:r>
            <a:r>
              <a:rPr lang="en-US" sz="2800" b="1" dirty="0" err="1"/>
              <a:t>bradycardia</a:t>
            </a:r>
            <a:r>
              <a:rPr lang="en-US" sz="2800" b="1" dirty="0"/>
              <a:t> following a small intravenous dose</a:t>
            </a:r>
            <a:r>
              <a:rPr lang="en-US" sz="2800" b="1" dirty="0" smtClean="0"/>
              <a:t>. </a:t>
            </a:r>
            <a:r>
              <a:rPr lang="en-US" sz="2800" b="1" dirty="0"/>
              <a:t>may be due to </a:t>
            </a:r>
            <a:r>
              <a:rPr lang="en-US" sz="2800" b="1" dirty="0" smtClean="0"/>
              <a:t> </a:t>
            </a:r>
            <a:r>
              <a:rPr lang="en-US" sz="2800" b="1" dirty="0"/>
              <a:t>partial agonist effect at cardiac </a:t>
            </a:r>
            <a:r>
              <a:rPr lang="en-US" sz="2800" b="1" dirty="0" smtClean="0"/>
              <a:t>muscarinic receptors</a:t>
            </a:r>
            <a:r>
              <a:rPr lang="en-US" sz="2800" b="1" dirty="0"/>
              <a:t>. </a:t>
            </a:r>
            <a:r>
              <a:rPr lang="en-US" sz="2800" b="1" dirty="0" smtClean="0"/>
              <a:t>                                                                                </a:t>
            </a:r>
            <a:endParaRPr lang="en-US" sz="2800" b="1" dirty="0"/>
          </a:p>
        </p:txBody>
      </p:sp>
      <p:sp>
        <p:nvSpPr>
          <p:cNvPr id="3" name="Title 2"/>
          <p:cNvSpPr>
            <a:spLocks noGrp="1"/>
          </p:cNvSpPr>
          <p:nvPr>
            <p:ph type="title" idx="4294967295"/>
          </p:nvPr>
        </p:nvSpPr>
        <p:spPr>
          <a:xfrm>
            <a:off x="0" y="228600"/>
            <a:ext cx="7680325" cy="1066800"/>
          </a:xfrm>
        </p:spPr>
        <p:txBody>
          <a:bodyPr/>
          <a:lstStyle/>
          <a:p>
            <a:r>
              <a:rPr lang="en-US" dirty="0" smtClean="0"/>
              <a:t>      Atropine</a:t>
            </a:r>
            <a:endParaRPr lang="en-US" dirty="0"/>
          </a:p>
        </p:txBody>
      </p:sp>
    </p:spTree>
    <p:extLst>
      <p:ext uri="{BB962C8B-B14F-4D97-AF65-F5344CB8AC3E}">
        <p14:creationId xmlns:p14="http://schemas.microsoft.com/office/powerpoint/2010/main" val="1440614746"/>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1295400" y="1066800"/>
            <a:ext cx="7848600" cy="5121275"/>
          </a:xfrm>
        </p:spPr>
        <p:txBody>
          <a:bodyPr/>
          <a:lstStyle/>
          <a:p>
            <a:r>
              <a:rPr lang="en-US" sz="3600" b="1" dirty="0"/>
              <a:t>Respiratory system – </a:t>
            </a:r>
            <a:r>
              <a:rPr lang="en-US" sz="3600" b="1" dirty="0" err="1"/>
              <a:t>bronchodilation</a:t>
            </a:r>
            <a:r>
              <a:rPr lang="en-US" sz="3600" b="1" dirty="0"/>
              <a:t> is more marked than with </a:t>
            </a:r>
            <a:r>
              <a:rPr lang="en-US" sz="3600" b="1" dirty="0" err="1"/>
              <a:t>hyoscine.Bronchial</a:t>
            </a:r>
            <a:r>
              <a:rPr lang="en-US" sz="3600" b="1" dirty="0"/>
              <a:t> secretions are reduced. </a:t>
            </a:r>
            <a:r>
              <a:rPr lang="en-US" sz="3600" b="1" dirty="0" err="1"/>
              <a:t>Anticholinergics</a:t>
            </a:r>
            <a:r>
              <a:rPr lang="en-US" sz="3600" b="1" dirty="0"/>
              <a:t> relax the bronchial smooth musculature, which reduces airway resistance</a:t>
            </a:r>
          </a:p>
        </p:txBody>
      </p:sp>
    </p:spTree>
    <p:extLst>
      <p:ext uri="{BB962C8B-B14F-4D97-AF65-F5344CB8AC3E}">
        <p14:creationId xmlns:p14="http://schemas.microsoft.com/office/powerpoint/2010/main" val="890622976"/>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1371600" y="609600"/>
            <a:ext cx="7772400" cy="5578475"/>
          </a:xfrm>
        </p:spPr>
        <p:txBody>
          <a:bodyPr>
            <a:noAutofit/>
          </a:bodyPr>
          <a:lstStyle/>
          <a:p>
            <a:r>
              <a:rPr lang="en-US" sz="3600" b="1" dirty="0" smtClean="0"/>
              <a:t>Gut </a:t>
            </a:r>
            <a:r>
              <a:rPr lang="en-US" sz="3600" b="1" dirty="0"/>
              <a:t>– it is a less effective anti-</a:t>
            </a:r>
            <a:r>
              <a:rPr lang="en-US" sz="3600" b="1" dirty="0" err="1"/>
              <a:t>sialogogue</a:t>
            </a:r>
            <a:r>
              <a:rPr lang="en-US" sz="3600" b="1" dirty="0"/>
              <a:t> than </a:t>
            </a:r>
            <a:r>
              <a:rPr lang="en-US" sz="3600" b="1" dirty="0" err="1"/>
              <a:t>hyoscine</a:t>
            </a:r>
            <a:r>
              <a:rPr lang="en-US" sz="3600" b="1" dirty="0"/>
              <a:t>. The tone of the lower </a:t>
            </a:r>
            <a:r>
              <a:rPr lang="en-US" sz="3600" b="1" dirty="0" err="1"/>
              <a:t>oesophageal</a:t>
            </a:r>
            <a:r>
              <a:rPr lang="en-US" sz="3600" b="1" dirty="0"/>
              <a:t> sphincter is ↓ and there is a small decrease in gastric acid secretion.                                                                                                                                                  </a:t>
            </a:r>
            <a:r>
              <a:rPr lang="en-US" sz="3600" b="1" dirty="0" smtClean="0"/>
              <a:t>• Miscellaneous </a:t>
            </a:r>
            <a:r>
              <a:rPr lang="en-US" sz="3600" b="1" dirty="0"/>
              <a:t>– sweating is inhibited and this may provoke a pyrexia in </a:t>
            </a:r>
            <a:r>
              <a:rPr lang="en-US" sz="3600" b="1" dirty="0" err="1"/>
              <a:t>paediatric</a:t>
            </a:r>
            <a:r>
              <a:rPr lang="en-US" sz="3600" b="1" dirty="0"/>
              <a:t> patients.</a:t>
            </a:r>
            <a:r>
              <a:rPr lang="en-US" sz="3200" dirty="0"/>
              <a:t> </a:t>
            </a:r>
          </a:p>
        </p:txBody>
      </p:sp>
    </p:spTree>
    <p:extLst>
      <p:ext uri="{BB962C8B-B14F-4D97-AF65-F5344CB8AC3E}">
        <p14:creationId xmlns:p14="http://schemas.microsoft.com/office/powerpoint/2010/main" val="2208265525"/>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0" y="609600"/>
            <a:ext cx="7543800" cy="5578475"/>
          </a:xfrm>
        </p:spPr>
        <p:txBody>
          <a:bodyPr/>
          <a:lstStyle/>
          <a:p>
            <a:pPr lvl="0">
              <a:buClr>
                <a:srgbClr val="838995"/>
              </a:buClr>
            </a:pPr>
            <a:r>
              <a:rPr lang="en-US" sz="3200" dirty="0">
                <a:solidFill>
                  <a:schemeClr val="tx1"/>
                </a:solidFill>
              </a:rPr>
              <a:t>When administered topically it may increase intra-ocular pressure, which may be critical for patients with glaucoma                                                                                                                It is 50% plasma protein-bound and extensively </a:t>
            </a:r>
            <a:r>
              <a:rPr lang="en-US" sz="3200" dirty="0" err="1">
                <a:solidFill>
                  <a:schemeClr val="tx1"/>
                </a:solidFill>
              </a:rPr>
              <a:t>metabolised</a:t>
            </a:r>
            <a:r>
              <a:rPr lang="en-US" sz="3200" dirty="0">
                <a:solidFill>
                  <a:schemeClr val="tx1"/>
                </a:solidFill>
              </a:rPr>
              <a:t> by liver </a:t>
            </a:r>
            <a:r>
              <a:rPr lang="en-US" sz="3200" dirty="0" err="1">
                <a:solidFill>
                  <a:schemeClr val="tx1"/>
                </a:solidFill>
              </a:rPr>
              <a:t>esterases.It</a:t>
            </a:r>
            <a:r>
              <a:rPr lang="en-US" sz="3200" dirty="0">
                <a:solidFill>
                  <a:schemeClr val="tx1"/>
                </a:solidFill>
              </a:rPr>
              <a:t> is excreted in the urine, only a tiny fraction unchanged.</a:t>
            </a:r>
          </a:p>
        </p:txBody>
      </p:sp>
    </p:spTree>
    <p:extLst>
      <p:ext uri="{BB962C8B-B14F-4D97-AF65-F5344CB8AC3E}">
        <p14:creationId xmlns:p14="http://schemas.microsoft.com/office/powerpoint/2010/main" val="196059965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4294967295"/>
          </p:nvPr>
        </p:nvSpPr>
        <p:spPr>
          <a:xfrm>
            <a:off x="914400" y="609600"/>
            <a:ext cx="8229600" cy="5578475"/>
          </a:xfrm>
        </p:spPr>
        <p:txBody>
          <a:bodyPr>
            <a:normAutofit/>
          </a:bodyPr>
          <a:lstStyle/>
          <a:p>
            <a:r>
              <a:rPr lang="en-US" sz="3200" b="1" dirty="0"/>
              <a:t>Atropine has particularly potent effects on the heart and </a:t>
            </a:r>
            <a:r>
              <a:rPr lang="en-US" sz="3200" b="1" dirty="0" smtClean="0"/>
              <a:t>bronchial smooth </a:t>
            </a:r>
            <a:r>
              <a:rPr lang="en-US" sz="3200" b="1" dirty="0"/>
              <a:t>muscle and is the most efficacious anticholinergic for treating </a:t>
            </a:r>
            <a:r>
              <a:rPr lang="en-US" sz="3200" b="1" dirty="0" err="1" smtClean="0"/>
              <a:t>bradyarrhythmias</a:t>
            </a:r>
            <a:r>
              <a:rPr lang="en-US" sz="3200" b="1" dirty="0" smtClean="0"/>
              <a:t>                                                                                                           Ipratropium </a:t>
            </a:r>
            <a:r>
              <a:rPr lang="en-US" sz="3200" b="1" dirty="0"/>
              <a:t>solution (0.5 mg in 2.5 mL) seems to be particularly effective in the treatment of acute chronic obstructive pulmonary disease when combined with a β-agonist drug (</a:t>
            </a:r>
            <a:r>
              <a:rPr lang="en-US" sz="3200" b="1" dirty="0" err="1"/>
              <a:t>eg</a:t>
            </a:r>
            <a:r>
              <a:rPr lang="en-US" sz="3200" b="1" dirty="0"/>
              <a:t>, albuterol).</a:t>
            </a:r>
          </a:p>
          <a:p>
            <a:endParaRPr lang="en-US" dirty="0"/>
          </a:p>
        </p:txBody>
      </p:sp>
    </p:spTree>
    <p:extLst>
      <p:ext uri="{BB962C8B-B14F-4D97-AF65-F5344CB8AC3E}">
        <p14:creationId xmlns:p14="http://schemas.microsoft.com/office/powerpoint/2010/main" val="4234134959"/>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Glycopyrrolate</a:t>
            </a:r>
          </a:p>
        </p:txBody>
      </p:sp>
      <p:sp>
        <p:nvSpPr>
          <p:cNvPr id="2" name="Content Placeholder 1"/>
          <p:cNvSpPr>
            <a:spLocks noGrp="1"/>
          </p:cNvSpPr>
          <p:nvPr>
            <p:ph idx="1"/>
          </p:nvPr>
        </p:nvSpPr>
        <p:spPr/>
        <p:txBody>
          <a:bodyPr>
            <a:normAutofit fontScale="77500" lnSpcReduction="20000"/>
          </a:bodyPr>
          <a:lstStyle/>
          <a:p>
            <a:r>
              <a:rPr lang="en-US" sz="3200" b="1" dirty="0" smtClean="0"/>
              <a:t>indicated </a:t>
            </a:r>
            <a:r>
              <a:rPr lang="en-US" sz="3200" b="1" dirty="0"/>
              <a:t>for anti-</a:t>
            </a:r>
            <a:r>
              <a:rPr lang="en-US" sz="3200" b="1" dirty="0" err="1"/>
              <a:t>sialogogue</a:t>
            </a:r>
            <a:r>
              <a:rPr lang="en-US" sz="3200" b="1" dirty="0"/>
              <a:t> premedication</a:t>
            </a:r>
            <a:r>
              <a:rPr lang="en-US" sz="3200" b="1" dirty="0" smtClean="0"/>
              <a:t>,                                                                for  </a:t>
            </a:r>
            <a:r>
              <a:rPr lang="en-US" sz="3200" b="1" dirty="0"/>
              <a:t>treatment of </a:t>
            </a:r>
            <a:r>
              <a:rPr lang="en-US" sz="3200" b="1" dirty="0" err="1" smtClean="0"/>
              <a:t>bradycardia</a:t>
            </a:r>
            <a:r>
              <a:rPr lang="en-US" sz="3200" b="1" dirty="0" smtClean="0"/>
              <a:t> </a:t>
            </a:r>
            <a:r>
              <a:rPr lang="en-US" sz="3200" b="1" dirty="0"/>
              <a:t>and to protect against the unwanted effects of anticholinesterases</a:t>
            </a:r>
            <a:r>
              <a:rPr lang="en-US" sz="3200" b="1" dirty="0" smtClean="0"/>
              <a:t>.                                                                                                                      </a:t>
            </a:r>
            <a:r>
              <a:rPr lang="en-US" sz="3200" b="1" dirty="0"/>
              <a:t>Its charged quaternary structure gives it </a:t>
            </a:r>
            <a:r>
              <a:rPr lang="en-US" sz="3200" b="1" dirty="0" smtClean="0"/>
              <a:t>different from  </a:t>
            </a:r>
            <a:r>
              <a:rPr lang="en-US" sz="3200" b="1" dirty="0"/>
              <a:t>tertiary amines. </a:t>
            </a:r>
            <a:r>
              <a:rPr lang="en-US" sz="3200" b="1" dirty="0" smtClean="0"/>
              <a:t>                                                                                </a:t>
            </a:r>
            <a:r>
              <a:rPr lang="en-US" sz="3200" b="1" dirty="0"/>
              <a:t> </a:t>
            </a:r>
            <a:r>
              <a:rPr lang="en-US" sz="3200" b="1" dirty="0" smtClean="0"/>
              <a:t> </a:t>
            </a:r>
            <a:r>
              <a:rPr lang="en-US" sz="3200" b="1" dirty="0"/>
              <a:t>It does not cross the </a:t>
            </a:r>
            <a:r>
              <a:rPr lang="en-US" sz="3200" b="1" dirty="0" smtClean="0"/>
              <a:t>BBB </a:t>
            </a:r>
            <a:r>
              <a:rPr lang="en-US" sz="3200" b="1" dirty="0"/>
              <a:t>and so </a:t>
            </a:r>
            <a:r>
              <a:rPr lang="en-US" sz="3200" b="1" dirty="0" smtClean="0"/>
              <a:t>no </a:t>
            </a:r>
            <a:r>
              <a:rPr lang="en-US" sz="3200" b="1" dirty="0"/>
              <a:t>central effects</a:t>
            </a:r>
            <a:r>
              <a:rPr lang="en-US" sz="3200" b="1" dirty="0" smtClean="0"/>
              <a:t>.                                                                               It </a:t>
            </a:r>
            <a:r>
              <a:rPr lang="en-US" sz="3200" b="1" dirty="0"/>
              <a:t>is minimally </a:t>
            </a:r>
            <a:r>
              <a:rPr lang="en-US" sz="3200" b="1" dirty="0" err="1"/>
              <a:t>metabolised</a:t>
            </a:r>
            <a:r>
              <a:rPr lang="en-US" sz="3200" b="1" dirty="0"/>
              <a:t> and 80% is excreted in the urine unchanged.</a:t>
            </a:r>
          </a:p>
        </p:txBody>
      </p:sp>
    </p:spTree>
    <p:extLst>
      <p:ext uri="{BB962C8B-B14F-4D97-AF65-F5344CB8AC3E}">
        <p14:creationId xmlns:p14="http://schemas.microsoft.com/office/powerpoint/2010/main" val="70190668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291" t="5625" r="18790" b="47188"/>
          <a:stretch/>
        </p:blipFill>
        <p:spPr bwMode="auto">
          <a:xfrm>
            <a:off x="533400" y="990600"/>
            <a:ext cx="8316686" cy="441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2424796"/>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5">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Feathered" id="{EEC9B30E-2747-4D42-BCBE-A02BDEEEA114}" vid="{AACE42CE-5C67-4514-8A89-3472F564E14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Theme5</Template>
  <TotalTime>7268</TotalTime>
  <Words>4626</Words>
  <Application>Microsoft Office PowerPoint</Application>
  <PresentationFormat>On-screen Show (4:3)</PresentationFormat>
  <Paragraphs>256</Paragraphs>
  <Slides>133</Slides>
  <Notes>2</Notes>
  <HiddenSlides>0</HiddenSlides>
  <MMClips>0</MMClips>
  <ScaleCrop>false</ScaleCrop>
  <HeadingPairs>
    <vt:vector size="4" baseType="variant">
      <vt:variant>
        <vt:lpstr>Theme</vt:lpstr>
      </vt:variant>
      <vt:variant>
        <vt:i4>1</vt:i4>
      </vt:variant>
      <vt:variant>
        <vt:lpstr>Slide Titles</vt:lpstr>
      </vt:variant>
      <vt:variant>
        <vt:i4>133</vt:i4>
      </vt:variant>
    </vt:vector>
  </HeadingPairs>
  <TitlesOfParts>
    <vt:vector size="134" baseType="lpstr">
      <vt:lpstr>Theme5</vt:lpstr>
      <vt:lpstr>PowerPoint Presentation</vt:lpstr>
      <vt:lpstr>PowerPoint Presentation</vt:lpstr>
      <vt:lpstr>PowerPoint Presentation</vt:lpstr>
      <vt:lpstr>.Neuromuscular junction physiology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MECHANISM OF ACTION  OF NMBD</vt:lpstr>
      <vt:lpstr>PowerPoint Presentation</vt:lpstr>
      <vt:lpstr>PowerPoint Presentation</vt:lpstr>
      <vt:lpstr>PowerPoint Presentation</vt:lpstr>
      <vt:lpstr>PowerPoint Presentation</vt:lpstr>
      <vt:lpstr>PowerPoint Presentation</vt:lpstr>
      <vt:lpstr>      Distinctions Between                 Depolarizing and NDMB</vt:lpstr>
      <vt:lpstr>Metabolism</vt:lpstr>
      <vt:lpstr>Monitoring Neuromuscular Block</vt:lpstr>
      <vt:lpstr>PowerPoint Presentation</vt:lpstr>
      <vt:lpstr>PowerPoint Presentation</vt:lpstr>
      <vt:lpstr>Sequence of onset of neuromuscular blockade </vt:lpstr>
      <vt:lpstr>PowerPoint Presentation</vt:lpstr>
      <vt:lpstr>PowerPoint Presentation</vt:lpstr>
      <vt:lpstr>PowerPoint Presentation</vt:lpstr>
      <vt:lpstr>PowerPoint Presentation</vt:lpstr>
      <vt:lpstr>PowerPoint Presentation</vt:lpstr>
      <vt:lpstr>PowerPoint Presentation</vt:lpstr>
      <vt:lpstr>.Depolarizing muscle relaxant SUCCINYLCHOLINE/ suxamethonium</vt:lpstr>
      <vt:lpstr>PowerPoint Presentation</vt:lpstr>
      <vt:lpstr>PowerPoint Presentation</vt:lpstr>
      <vt:lpstr>Metabolism &amp; Excretion</vt:lpstr>
      <vt:lpstr>PowerPoint Presentation</vt:lpstr>
      <vt:lpstr>PowerPoint Presentation</vt:lpstr>
      <vt:lpstr>PowerPoint Presentation</vt:lpstr>
      <vt:lpstr>PowerPoint Presentation</vt:lpstr>
      <vt:lpstr>Drugs known to decrease pseudo cholinesterase activity.</vt:lpstr>
      <vt:lpstr>Other Effects</vt:lpstr>
      <vt:lpstr>PowerPoint Presentation</vt:lpstr>
      <vt:lpstr>PowerPoint Presentation</vt:lpstr>
      <vt:lpstr>Prolonged Block (Suxamethonium Apnoea)</vt:lpstr>
      <vt:lpstr>PowerPoint Presentation</vt:lpstr>
      <vt:lpstr>PowerPoint Presentation</vt:lpstr>
      <vt:lpstr>PowerPoint Presentation</vt:lpstr>
      <vt:lpstr>PowerPoint Presentation</vt:lpstr>
      <vt:lpstr>PowerPoint Presentation</vt:lpstr>
      <vt:lpstr>Non-Depolarising Muscle Relaxants(NDMR)</vt:lpstr>
      <vt:lpstr>PowerPoint Presentation</vt:lpstr>
      <vt:lpstr>PowerPoint Presentation</vt:lpstr>
      <vt:lpstr>Vecuronium</vt:lpstr>
      <vt:lpstr>PowerPoint Presentation</vt:lpstr>
      <vt:lpstr>PowerPoint Presentation</vt:lpstr>
      <vt:lpstr>PowerPoint Presentation</vt:lpstr>
      <vt:lpstr>Rocuronium</vt:lpstr>
      <vt:lpstr>Presentation and Uses</vt:lpstr>
      <vt:lpstr>PowerPoint Presentation</vt:lpstr>
      <vt:lpstr>Pancuronium</vt:lpstr>
      <vt:lpstr>PowerPoint Presentation</vt:lpstr>
      <vt:lpstr>PowerPoint Presentation</vt:lpstr>
      <vt:lpstr>Atracurium</vt:lpstr>
      <vt:lpstr>PowerPoint Presentation</vt:lpstr>
      <vt:lpstr>PowerPoint Presentation</vt:lpstr>
      <vt:lpstr>PowerPoint Presentation</vt:lpstr>
      <vt:lpstr>PowerPoint Presentation</vt:lpstr>
      <vt:lpstr>PowerPoint Presentation</vt:lpstr>
      <vt:lpstr>Cisatracurium</vt:lpstr>
      <vt:lpstr>PowerPoint Presentation</vt:lpstr>
      <vt:lpstr>Mivacurium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variables affect all non depolarizing MR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Muscarinic side effects of cholinesterase inhibitors</vt:lpstr>
      <vt:lpstr>When pt. Reversed </vt:lpstr>
      <vt:lpstr>PowerPoint Presentation</vt:lpstr>
      <vt:lpstr>PowerPoint Presentation</vt:lpstr>
      <vt:lpstr>Easily Reversible Inhibition</vt:lpstr>
      <vt:lpstr>PowerPoint Presentation</vt:lpstr>
      <vt:lpstr>PowerPoint Presentation</vt:lpstr>
      <vt:lpstr>PowerPoint Presentation</vt:lpstr>
      <vt:lpstr>PowerPoint Presentation</vt:lpstr>
      <vt:lpstr>Formation of Carbamylated                Enzyme  Complex</vt:lpstr>
      <vt:lpstr>PowerPoint Presentation</vt:lpstr>
      <vt:lpstr>PowerPoint Presentation</vt:lpstr>
      <vt:lpstr>PowerPoint Presentation</vt:lpstr>
      <vt:lpstr>Neostigmine forms a carbamylated enzyme complex</vt:lpstr>
      <vt:lpstr>PowerPoint Presentation</vt:lpstr>
      <vt:lpstr>PowerPoint Presentation</vt:lpstr>
      <vt:lpstr>PowerPoint Presentation</vt:lpstr>
      <vt:lpstr>PowerPoint Presentation</vt:lpstr>
      <vt:lpstr>Sugammadex</vt:lpstr>
      <vt:lpstr>PowerPoint Presentation</vt:lpstr>
      <vt:lpstr>PowerPoint Presentation</vt:lpstr>
      <vt:lpstr>PowerPoint Presentation</vt:lpstr>
      <vt:lpstr>V.Anticholinergics</vt:lpstr>
      <vt:lpstr>PowerPoint Presentation</vt:lpstr>
      <vt:lpstr>PowerPoint Presentation</vt:lpstr>
      <vt:lpstr>PowerPoint Presentation</vt:lpstr>
      <vt:lpstr>hyoscine’s(scopolamine) </vt:lpstr>
      <vt:lpstr>PowerPoint Presentation</vt:lpstr>
      <vt:lpstr>      Atropine</vt:lpstr>
      <vt:lpstr>PowerPoint Presentation</vt:lpstr>
      <vt:lpstr>PowerPoint Presentation</vt:lpstr>
      <vt:lpstr>PowerPoint Presentation</vt:lpstr>
      <vt:lpstr>PowerPoint Presentation</vt:lpstr>
      <vt:lpstr>Glycopyrrolate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BRASS</cp:lastModifiedBy>
  <cp:revision>306</cp:revision>
  <dcterms:created xsi:type="dcterms:W3CDTF">2022-09-08T14:28:07Z</dcterms:created>
  <dcterms:modified xsi:type="dcterms:W3CDTF">2023-01-29T12:38:50Z</dcterms:modified>
</cp:coreProperties>
</file>