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5"/>
  </p:notesMasterIdLst>
  <p:sldIdLst>
    <p:sldId id="445" r:id="rId2"/>
    <p:sldId id="256" r:id="rId3"/>
    <p:sldId id="257" r:id="rId4"/>
    <p:sldId id="258" r:id="rId5"/>
    <p:sldId id="259" r:id="rId6"/>
    <p:sldId id="408" r:id="rId7"/>
    <p:sldId id="260" r:id="rId8"/>
    <p:sldId id="261" r:id="rId9"/>
    <p:sldId id="262" r:id="rId10"/>
    <p:sldId id="372" r:id="rId11"/>
    <p:sldId id="383" r:id="rId12"/>
    <p:sldId id="263" r:id="rId13"/>
    <p:sldId id="265" r:id="rId14"/>
    <p:sldId id="447" r:id="rId15"/>
    <p:sldId id="319" r:id="rId16"/>
    <p:sldId id="320" r:id="rId17"/>
    <p:sldId id="384" r:id="rId18"/>
    <p:sldId id="385" r:id="rId19"/>
    <p:sldId id="390" r:id="rId20"/>
    <p:sldId id="322" r:id="rId21"/>
    <p:sldId id="323" r:id="rId22"/>
    <p:sldId id="388" r:id="rId23"/>
    <p:sldId id="389" r:id="rId24"/>
    <p:sldId id="324" r:id="rId25"/>
    <p:sldId id="391" r:id="rId26"/>
    <p:sldId id="325" r:id="rId27"/>
    <p:sldId id="326" r:id="rId28"/>
    <p:sldId id="392" r:id="rId29"/>
    <p:sldId id="327" r:id="rId30"/>
    <p:sldId id="321" r:id="rId31"/>
    <p:sldId id="394" r:id="rId32"/>
    <p:sldId id="329" r:id="rId33"/>
    <p:sldId id="330" r:id="rId34"/>
    <p:sldId id="395" r:id="rId35"/>
    <p:sldId id="396" r:id="rId36"/>
    <p:sldId id="393" r:id="rId37"/>
    <p:sldId id="386" r:id="rId38"/>
    <p:sldId id="301" r:id="rId39"/>
    <p:sldId id="371" r:id="rId40"/>
    <p:sldId id="403" r:id="rId41"/>
    <p:sldId id="378" r:id="rId42"/>
    <p:sldId id="399" r:id="rId43"/>
    <p:sldId id="302" r:id="rId44"/>
    <p:sldId id="303" r:id="rId45"/>
    <p:sldId id="398" r:id="rId46"/>
    <p:sldId id="400" r:id="rId47"/>
    <p:sldId id="404" r:id="rId48"/>
    <p:sldId id="401" r:id="rId49"/>
    <p:sldId id="307" r:id="rId50"/>
    <p:sldId id="308" r:id="rId51"/>
    <p:sldId id="309" r:id="rId52"/>
    <p:sldId id="310" r:id="rId53"/>
    <p:sldId id="379" r:id="rId54"/>
    <p:sldId id="312" r:id="rId55"/>
    <p:sldId id="409" r:id="rId56"/>
    <p:sldId id="405" r:id="rId57"/>
    <p:sldId id="407" r:id="rId58"/>
    <p:sldId id="410" r:id="rId59"/>
    <p:sldId id="411" r:id="rId60"/>
    <p:sldId id="314" r:id="rId61"/>
    <p:sldId id="412" r:id="rId62"/>
    <p:sldId id="315" r:id="rId63"/>
    <p:sldId id="318" r:id="rId64"/>
    <p:sldId id="413" r:id="rId65"/>
    <p:sldId id="279" r:id="rId66"/>
    <p:sldId id="264" r:id="rId67"/>
    <p:sldId id="416" r:id="rId68"/>
    <p:sldId id="374" r:id="rId69"/>
    <p:sldId id="267" r:id="rId70"/>
    <p:sldId id="415" r:id="rId71"/>
    <p:sldId id="268" r:id="rId72"/>
    <p:sldId id="269" r:id="rId73"/>
    <p:sldId id="270" r:id="rId74"/>
    <p:sldId id="422" r:id="rId75"/>
    <p:sldId id="417" r:id="rId76"/>
    <p:sldId id="271" r:id="rId77"/>
    <p:sldId id="375" r:id="rId78"/>
    <p:sldId id="272" r:id="rId79"/>
    <p:sldId id="456" r:id="rId80"/>
    <p:sldId id="273" r:id="rId81"/>
    <p:sldId id="274" r:id="rId82"/>
    <p:sldId id="275" r:id="rId83"/>
    <p:sldId id="276" r:id="rId84"/>
    <p:sldId id="277" r:id="rId85"/>
    <p:sldId id="278" r:id="rId86"/>
    <p:sldId id="369" r:id="rId87"/>
    <p:sldId id="421" r:id="rId88"/>
    <p:sldId id="280" r:id="rId89"/>
    <p:sldId id="376" r:id="rId90"/>
    <p:sldId id="283" r:id="rId91"/>
    <p:sldId id="284" r:id="rId92"/>
    <p:sldId id="285" r:id="rId93"/>
    <p:sldId id="286" r:id="rId94"/>
    <p:sldId id="288" r:id="rId95"/>
    <p:sldId id="289" r:id="rId96"/>
    <p:sldId id="290" r:id="rId97"/>
    <p:sldId id="297" r:id="rId98"/>
    <p:sldId id="282" r:id="rId99"/>
    <p:sldId id="281" r:id="rId100"/>
    <p:sldId id="418" r:id="rId101"/>
    <p:sldId id="291" r:id="rId102"/>
    <p:sldId id="419" r:id="rId103"/>
    <p:sldId id="292" r:id="rId104"/>
    <p:sldId id="293" r:id="rId105"/>
    <p:sldId id="294" r:id="rId106"/>
    <p:sldId id="295" r:id="rId107"/>
    <p:sldId id="296" r:id="rId108"/>
    <p:sldId id="298" r:id="rId109"/>
    <p:sldId id="299" r:id="rId110"/>
    <p:sldId id="423" r:id="rId111"/>
    <p:sldId id="300" r:id="rId112"/>
    <p:sldId id="424" r:id="rId113"/>
    <p:sldId id="331" r:id="rId114"/>
    <p:sldId id="332" r:id="rId115"/>
    <p:sldId id="425" r:id="rId116"/>
    <p:sldId id="426" r:id="rId117"/>
    <p:sldId id="333" r:id="rId118"/>
    <p:sldId id="427" r:id="rId119"/>
    <p:sldId id="334" r:id="rId120"/>
    <p:sldId id="335" r:id="rId121"/>
    <p:sldId id="336" r:id="rId122"/>
    <p:sldId id="428" r:id="rId123"/>
    <p:sldId id="337" r:id="rId124"/>
    <p:sldId id="338" r:id="rId125"/>
    <p:sldId id="339" r:id="rId126"/>
    <p:sldId id="429" r:id="rId127"/>
    <p:sldId id="431" r:id="rId128"/>
    <p:sldId id="433" r:id="rId129"/>
    <p:sldId id="434" r:id="rId130"/>
    <p:sldId id="432" r:id="rId131"/>
    <p:sldId id="435" r:id="rId132"/>
    <p:sldId id="436" r:id="rId133"/>
    <p:sldId id="344" r:id="rId134"/>
    <p:sldId id="382" r:id="rId135"/>
    <p:sldId id="444" r:id="rId136"/>
    <p:sldId id="341" r:id="rId137"/>
    <p:sldId id="342" r:id="rId138"/>
    <p:sldId id="437" r:id="rId139"/>
    <p:sldId id="343" r:id="rId140"/>
    <p:sldId id="345" r:id="rId141"/>
    <p:sldId id="346" r:id="rId142"/>
    <p:sldId id="347" r:id="rId143"/>
    <p:sldId id="348" r:id="rId144"/>
    <p:sldId id="441" r:id="rId145"/>
    <p:sldId id="349" r:id="rId146"/>
    <p:sldId id="350" r:id="rId147"/>
    <p:sldId id="351" r:id="rId148"/>
    <p:sldId id="352" r:id="rId149"/>
    <p:sldId id="443" r:id="rId150"/>
    <p:sldId id="354" r:id="rId151"/>
    <p:sldId id="442" r:id="rId152"/>
    <p:sldId id="355" r:id="rId153"/>
    <p:sldId id="356" r:id="rId154"/>
    <p:sldId id="357" r:id="rId155"/>
    <p:sldId id="439" r:id="rId156"/>
    <p:sldId id="438" r:id="rId157"/>
    <p:sldId id="358" r:id="rId158"/>
    <p:sldId id="359" r:id="rId159"/>
    <p:sldId id="361" r:id="rId160"/>
    <p:sldId id="362" r:id="rId161"/>
    <p:sldId id="448" r:id="rId162"/>
    <p:sldId id="449" r:id="rId163"/>
    <p:sldId id="452" r:id="rId164"/>
    <p:sldId id="451" r:id="rId165"/>
    <p:sldId id="453" r:id="rId166"/>
    <p:sldId id="454" r:id="rId167"/>
    <p:sldId id="455" r:id="rId168"/>
    <p:sldId id="366" r:id="rId169"/>
    <p:sldId id="380" r:id="rId170"/>
    <p:sldId id="381" r:id="rId171"/>
    <p:sldId id="430" r:id="rId172"/>
    <p:sldId id="364" r:id="rId173"/>
    <p:sldId id="363" r:id="rId17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F0DADFC-A5D9-408D-BA75-F84B2EF4098A}">
          <p14:sldIdLst>
            <p14:sldId id="445"/>
            <p14:sldId id="256"/>
            <p14:sldId id="257"/>
            <p14:sldId id="258"/>
            <p14:sldId id="259"/>
            <p14:sldId id="408"/>
            <p14:sldId id="260"/>
            <p14:sldId id="261"/>
            <p14:sldId id="262"/>
            <p14:sldId id="372"/>
            <p14:sldId id="383"/>
            <p14:sldId id="263"/>
            <p14:sldId id="265"/>
            <p14:sldId id="447"/>
            <p14:sldId id="319"/>
            <p14:sldId id="320"/>
            <p14:sldId id="384"/>
            <p14:sldId id="385"/>
            <p14:sldId id="390"/>
            <p14:sldId id="322"/>
            <p14:sldId id="323"/>
            <p14:sldId id="388"/>
            <p14:sldId id="389"/>
            <p14:sldId id="324"/>
            <p14:sldId id="391"/>
            <p14:sldId id="325"/>
            <p14:sldId id="326"/>
            <p14:sldId id="392"/>
            <p14:sldId id="327"/>
            <p14:sldId id="321"/>
            <p14:sldId id="394"/>
            <p14:sldId id="329"/>
            <p14:sldId id="330"/>
            <p14:sldId id="395"/>
            <p14:sldId id="396"/>
            <p14:sldId id="393"/>
          </p14:sldIdLst>
        </p14:section>
        <p14:section name="Untitled Section" id="{FA0F1B9E-7ED1-4AAD-BC06-EF2F78873824}">
          <p14:sldIdLst>
            <p14:sldId id="386"/>
            <p14:sldId id="301"/>
            <p14:sldId id="371"/>
            <p14:sldId id="403"/>
            <p14:sldId id="378"/>
            <p14:sldId id="399"/>
            <p14:sldId id="302"/>
            <p14:sldId id="303"/>
            <p14:sldId id="398"/>
            <p14:sldId id="400"/>
            <p14:sldId id="404"/>
            <p14:sldId id="401"/>
            <p14:sldId id="307"/>
            <p14:sldId id="308"/>
            <p14:sldId id="309"/>
            <p14:sldId id="310"/>
            <p14:sldId id="379"/>
            <p14:sldId id="312"/>
            <p14:sldId id="409"/>
            <p14:sldId id="405"/>
            <p14:sldId id="407"/>
            <p14:sldId id="410"/>
            <p14:sldId id="411"/>
            <p14:sldId id="314"/>
            <p14:sldId id="412"/>
            <p14:sldId id="315"/>
            <p14:sldId id="318"/>
            <p14:sldId id="413"/>
            <p14:sldId id="279"/>
            <p14:sldId id="264"/>
            <p14:sldId id="416"/>
            <p14:sldId id="374"/>
            <p14:sldId id="267"/>
            <p14:sldId id="415"/>
            <p14:sldId id="268"/>
            <p14:sldId id="269"/>
            <p14:sldId id="270"/>
            <p14:sldId id="422"/>
            <p14:sldId id="417"/>
            <p14:sldId id="271"/>
            <p14:sldId id="375"/>
            <p14:sldId id="272"/>
            <p14:sldId id="456"/>
            <p14:sldId id="273"/>
            <p14:sldId id="274"/>
            <p14:sldId id="275"/>
            <p14:sldId id="276"/>
            <p14:sldId id="277"/>
            <p14:sldId id="278"/>
            <p14:sldId id="369"/>
            <p14:sldId id="421"/>
            <p14:sldId id="280"/>
            <p14:sldId id="376"/>
            <p14:sldId id="283"/>
            <p14:sldId id="284"/>
            <p14:sldId id="285"/>
            <p14:sldId id="286"/>
            <p14:sldId id="288"/>
            <p14:sldId id="289"/>
            <p14:sldId id="290"/>
            <p14:sldId id="297"/>
            <p14:sldId id="282"/>
            <p14:sldId id="281"/>
            <p14:sldId id="418"/>
            <p14:sldId id="291"/>
            <p14:sldId id="419"/>
            <p14:sldId id="292"/>
            <p14:sldId id="293"/>
            <p14:sldId id="294"/>
            <p14:sldId id="295"/>
            <p14:sldId id="296"/>
            <p14:sldId id="298"/>
            <p14:sldId id="299"/>
            <p14:sldId id="423"/>
            <p14:sldId id="300"/>
            <p14:sldId id="424"/>
            <p14:sldId id="331"/>
            <p14:sldId id="332"/>
            <p14:sldId id="425"/>
            <p14:sldId id="426"/>
            <p14:sldId id="333"/>
            <p14:sldId id="427"/>
            <p14:sldId id="334"/>
            <p14:sldId id="335"/>
            <p14:sldId id="336"/>
            <p14:sldId id="428"/>
            <p14:sldId id="337"/>
            <p14:sldId id="338"/>
            <p14:sldId id="339"/>
            <p14:sldId id="429"/>
            <p14:sldId id="431"/>
            <p14:sldId id="433"/>
            <p14:sldId id="434"/>
            <p14:sldId id="432"/>
            <p14:sldId id="435"/>
            <p14:sldId id="436"/>
            <p14:sldId id="344"/>
            <p14:sldId id="382"/>
            <p14:sldId id="444"/>
            <p14:sldId id="341"/>
            <p14:sldId id="342"/>
            <p14:sldId id="437"/>
            <p14:sldId id="343"/>
            <p14:sldId id="345"/>
            <p14:sldId id="346"/>
            <p14:sldId id="347"/>
            <p14:sldId id="348"/>
            <p14:sldId id="441"/>
            <p14:sldId id="349"/>
            <p14:sldId id="350"/>
            <p14:sldId id="351"/>
            <p14:sldId id="352"/>
            <p14:sldId id="443"/>
            <p14:sldId id="354"/>
            <p14:sldId id="442"/>
            <p14:sldId id="355"/>
            <p14:sldId id="356"/>
            <p14:sldId id="357"/>
            <p14:sldId id="439"/>
            <p14:sldId id="438"/>
            <p14:sldId id="358"/>
            <p14:sldId id="359"/>
            <p14:sldId id="361"/>
            <p14:sldId id="362"/>
            <p14:sldId id="448"/>
            <p14:sldId id="449"/>
            <p14:sldId id="452"/>
            <p14:sldId id="451"/>
            <p14:sldId id="453"/>
            <p14:sldId id="454"/>
            <p14:sldId id="455"/>
            <p14:sldId id="366"/>
            <p14:sldId id="380"/>
            <p14:sldId id="381"/>
            <p14:sldId id="430"/>
            <p14:sldId id="364"/>
            <p14:sldId id="36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188" autoAdjust="0"/>
  </p:normalViewPr>
  <p:slideViewPr>
    <p:cSldViewPr>
      <p:cViewPr varScale="1">
        <p:scale>
          <a:sx n="62" d="100"/>
          <a:sy n="62" d="100"/>
        </p:scale>
        <p:origin x="162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viewProps" Target="viewProps.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notesMaster" Target="notesMasters/notesMaster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presProps" Target="presProp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544959C-6B16-47D7-AA66-424916C825D2}" type="datetimeFigureOut">
              <a:rPr lang="en-US" smtClean="0"/>
              <a:t>3/23/2024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9CDDA98-9201-4835-8F2A-798F8AE539B3}" type="slidenum">
              <a:rPr lang="en-US" smtClean="0"/>
              <a:t>‹#›</a:t>
            </a:fld>
            <a:endParaRPr lang="en-US"/>
          </a:p>
        </p:txBody>
      </p:sp>
    </p:spTree>
    <p:extLst>
      <p:ext uri="{BB962C8B-B14F-4D97-AF65-F5344CB8AC3E}">
        <p14:creationId xmlns:p14="http://schemas.microsoft.com/office/powerpoint/2010/main" val="2215588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1</a:t>
            </a:fld>
            <a:endParaRPr lang="en-US"/>
          </a:p>
        </p:txBody>
      </p:sp>
    </p:spTree>
    <p:extLst>
      <p:ext uri="{BB962C8B-B14F-4D97-AF65-F5344CB8AC3E}">
        <p14:creationId xmlns:p14="http://schemas.microsoft.com/office/powerpoint/2010/main" val="26961320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MinionPro-Regular"/>
              </a:rPr>
              <a:t>The specialty of anesthesia began in the mid nineteenth century and became firmly established less than six decades ago. </a:t>
            </a:r>
          </a:p>
          <a:p>
            <a:pPr algn="l"/>
            <a:r>
              <a:rPr lang="en-US" sz="1800" b="0" i="0" u="none" strike="noStrike" baseline="0" dirty="0">
                <a:latin typeface="MinionPro-Regular"/>
              </a:rPr>
              <a:t>Ancient civilizations had used opium poppy, coca leaves, mandrake root, alcohol, and even phlebotomy (to the point of unconsciousness)</a:t>
            </a:r>
          </a:p>
          <a:p>
            <a:pPr algn="l"/>
            <a:r>
              <a:rPr lang="en-US" sz="1800" b="0" i="0" u="none" strike="noStrike" baseline="0" dirty="0">
                <a:latin typeface="MinionPro-Regular"/>
              </a:rPr>
              <a:t>to allow surgeons to operate.</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2</a:t>
            </a:fld>
            <a:endParaRPr lang="en-US"/>
          </a:p>
        </p:txBody>
      </p:sp>
    </p:spTree>
    <p:extLst>
      <p:ext uri="{BB962C8B-B14F-4D97-AF65-F5344CB8AC3E}">
        <p14:creationId xmlns:p14="http://schemas.microsoft.com/office/powerpoint/2010/main" val="3878630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MinionPro-Regular"/>
              </a:rPr>
              <a:t>In Boston, on October 16, 1846, William T.G. Morton conducted the first publicized demonstration of general anesthesia</a:t>
            </a:r>
          </a:p>
          <a:p>
            <a:pPr algn="l"/>
            <a:r>
              <a:rPr lang="en-US" sz="1800" b="0" i="0" u="none" strike="noStrike" baseline="0" dirty="0">
                <a:latin typeface="MinionPro-Regular"/>
              </a:rPr>
              <a:t>for surgical operation using ether.</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5</a:t>
            </a:fld>
            <a:endParaRPr lang="en-US"/>
          </a:p>
        </p:txBody>
      </p:sp>
    </p:spTree>
    <p:extLst>
      <p:ext uri="{BB962C8B-B14F-4D97-AF65-F5344CB8AC3E}">
        <p14:creationId xmlns:p14="http://schemas.microsoft.com/office/powerpoint/2010/main" val="18828592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Wingdings" pitchFamily="2" charset="2"/>
              <a:buChar char="Ø"/>
            </a:pPr>
            <a:r>
              <a:rPr lang="en-US" sz="1400" b="1" dirty="0">
                <a:solidFill>
                  <a:srgbClr val="FF0000"/>
                </a:solidFill>
                <a:latin typeface="Times New Roman" pitchFamily="18" charset="0"/>
                <a:cs typeface="Times New Roman" pitchFamily="18" charset="0"/>
              </a:rPr>
              <a:t>Biotransformation</a:t>
            </a:r>
            <a:r>
              <a:rPr lang="en-US" sz="1400" dirty="0">
                <a:solidFill>
                  <a:srgbClr val="FF0000"/>
                </a:solidFill>
                <a:latin typeface="Times New Roman" pitchFamily="18" charset="0"/>
                <a:cs typeface="Times New Roman" pitchFamily="18" charset="0"/>
              </a:rPr>
              <a:t> </a:t>
            </a:r>
          </a:p>
          <a:p>
            <a:r>
              <a:rPr lang="en-US" sz="1200" dirty="0">
                <a:latin typeface="Times New Roman" pitchFamily="18" charset="0"/>
                <a:cs typeface="Times New Roman" pitchFamily="18" charset="0"/>
              </a:rPr>
              <a:t>It is the chemical process by which the drug molecule is altered in the body. </a:t>
            </a:r>
          </a:p>
          <a:p>
            <a:r>
              <a:rPr lang="en-US" sz="1200" dirty="0">
                <a:latin typeface="Times New Roman" pitchFamily="18" charset="0"/>
                <a:cs typeface="Times New Roman" pitchFamily="18" charset="0"/>
              </a:rPr>
              <a:t>It </a:t>
            </a:r>
            <a:r>
              <a:rPr lang="bg-BG" sz="1200" dirty="0">
                <a:latin typeface="Times New Roman" pitchFamily="18" charset="0"/>
                <a:cs typeface="Times New Roman" pitchFamily="18" charset="0"/>
              </a:rPr>
              <a:t>is the alteration of a substance by metabolic processes</a:t>
            </a:r>
            <a:endParaRPr lang="en-US" sz="1200" dirty="0">
              <a:latin typeface="Times New Roman" pitchFamily="18" charset="0"/>
              <a:cs typeface="Times New Roman" pitchFamily="18" charset="0"/>
            </a:endParaRPr>
          </a:p>
          <a:p>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9</a:t>
            </a:fld>
            <a:endParaRPr lang="en-US"/>
          </a:p>
        </p:txBody>
      </p:sp>
    </p:spTree>
    <p:extLst>
      <p:ext uri="{BB962C8B-B14F-4D97-AF65-F5344CB8AC3E}">
        <p14:creationId xmlns:p14="http://schemas.microsoft.com/office/powerpoint/2010/main" val="13181590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GABA is the principal inhibitory neurotransmitter within the CNS.</a:t>
            </a:r>
          </a:p>
          <a:p>
            <a:endParaRPr lang="en-US" dirty="0"/>
          </a:p>
        </p:txBody>
      </p:sp>
      <p:sp>
        <p:nvSpPr>
          <p:cNvPr id="4" name="Slide Number Placeholder 3"/>
          <p:cNvSpPr>
            <a:spLocks noGrp="1"/>
          </p:cNvSpPr>
          <p:nvPr>
            <p:ph type="sldNum" sz="quarter" idx="10"/>
          </p:nvPr>
        </p:nvSpPr>
        <p:spPr/>
        <p:txBody>
          <a:bodyPr/>
          <a:lstStyle/>
          <a:p>
            <a:fld id="{C9CDDA98-9201-4835-8F2A-798F8AE539B3}" type="slidenum">
              <a:rPr lang="en-US" smtClean="0"/>
              <a:t>13</a:t>
            </a:fld>
            <a:endParaRPr lang="en-US"/>
          </a:p>
        </p:txBody>
      </p:sp>
    </p:spTree>
    <p:extLst>
      <p:ext uri="{BB962C8B-B14F-4D97-AF65-F5344CB8AC3E}">
        <p14:creationId xmlns:p14="http://schemas.microsoft.com/office/powerpoint/2010/main" val="17129063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solidFill>
                  <a:srgbClr val="000000"/>
                </a:solidFill>
                <a:latin typeface="Photina MT"/>
              </a:rPr>
              <a:t>Following concerns regarding microbial growth in the emulsion, EDTA was added for its bacteriostatic activities. </a:t>
            </a:r>
          </a:p>
          <a:p>
            <a:pPr algn="l"/>
            <a:r>
              <a:rPr lang="en-US" sz="1800" b="0" i="0" u="none" strike="noStrike" baseline="0" dirty="0">
                <a:latin typeface="TimesNewRomanPSMT"/>
              </a:rPr>
              <a:t>The lipid emulsion comes in a familiar milky white consistency, and can be stored at room temperature without any significant degradation</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17</a:t>
            </a:fld>
            <a:endParaRPr lang="en-US"/>
          </a:p>
        </p:txBody>
      </p:sp>
    </p:spTree>
    <p:extLst>
      <p:ext uri="{BB962C8B-B14F-4D97-AF65-F5344CB8AC3E}">
        <p14:creationId xmlns:p14="http://schemas.microsoft.com/office/powerpoint/2010/main" val="10335036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200" b="0" i="0" u="none" strike="noStrike" baseline="0" dirty="0">
                <a:latin typeface="ArialMT"/>
              </a:rPr>
              <a:t>The mechanism by which the unconscious state is attained by propofol is complicated, but primarily occurs via enhancement</a:t>
            </a:r>
          </a:p>
          <a:p>
            <a:pPr algn="l"/>
            <a:r>
              <a:rPr lang="en-US" sz="1200" b="0" i="0" u="none" strike="noStrike" baseline="0" dirty="0">
                <a:latin typeface="ArialMT"/>
              </a:rPr>
              <a:t>of gamma-aminobutyric acid (GABA) inhibitory pathways.</a:t>
            </a:r>
            <a:endParaRPr lang="en-US" dirty="0"/>
          </a:p>
          <a:p>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19</a:t>
            </a:fld>
            <a:endParaRPr lang="en-US"/>
          </a:p>
        </p:txBody>
      </p:sp>
    </p:spTree>
    <p:extLst>
      <p:ext uri="{BB962C8B-B14F-4D97-AF65-F5344CB8AC3E}">
        <p14:creationId xmlns:p14="http://schemas.microsoft.com/office/powerpoint/2010/main" val="21559677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MinionPro-Regular"/>
              </a:rPr>
              <a:t>A smaller induction dose is recommended in elderly patients because of their smaller </a:t>
            </a:r>
            <a:r>
              <a:rPr lang="en-US" sz="1800" b="0" i="1" u="none" strike="noStrike" baseline="0" dirty="0">
                <a:latin typeface="MinionPro-It"/>
              </a:rPr>
              <a:t>V </a:t>
            </a:r>
            <a:r>
              <a:rPr lang="en-US" sz="1800" b="0" i="0" u="none" strike="noStrike" baseline="0" dirty="0">
                <a:latin typeface="MinionPro-Regular"/>
              </a:rPr>
              <a:t>d . </a:t>
            </a:r>
          </a:p>
          <a:p>
            <a:pPr algn="l"/>
            <a:r>
              <a:rPr lang="en-US" sz="1800" b="0" i="0" u="none" strike="noStrike" baseline="0" dirty="0">
                <a:latin typeface="MinionPro-Regular"/>
              </a:rPr>
              <a:t>Age is also a key factor determining required propofol infusion rates for TIVA</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21</a:t>
            </a:fld>
            <a:endParaRPr lang="en-US"/>
          </a:p>
        </p:txBody>
      </p:sp>
    </p:spTree>
    <p:extLst>
      <p:ext uri="{BB962C8B-B14F-4D97-AF65-F5344CB8AC3E}">
        <p14:creationId xmlns:p14="http://schemas.microsoft.com/office/powerpoint/2010/main" val="27065915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MinionPro-Regular"/>
              </a:rPr>
              <a:t>The clearance of propofol exceeds hepatic blood flow, implying the existence of extrahepatic metabolism.</a:t>
            </a:r>
          </a:p>
          <a:p>
            <a:pPr algn="l"/>
            <a:r>
              <a:rPr lang="en-US" sz="1800" b="0" i="0" u="none" strike="noStrike" baseline="0" dirty="0">
                <a:latin typeface="MinionPro-Regular"/>
              </a:rPr>
              <a:t>This exceptionally high clearance rate probably contributes to relatively rapid recovery after continuous infusions. </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22</a:t>
            </a:fld>
            <a:endParaRPr lang="en-US"/>
          </a:p>
        </p:txBody>
      </p:sp>
    </p:spTree>
    <p:extLst>
      <p:ext uri="{BB962C8B-B14F-4D97-AF65-F5344CB8AC3E}">
        <p14:creationId xmlns:p14="http://schemas.microsoft.com/office/powerpoint/2010/main" val="29851723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NewRomanPSMT"/>
              </a:rPr>
              <a:t>The most common extrahepatic sites of metabolism are the kidneys and lungs, both responsible for up to 30% of the common propofol metabolites,</a:t>
            </a:r>
          </a:p>
          <a:p>
            <a:pPr algn="l"/>
            <a:r>
              <a:rPr lang="en-US" sz="1800" b="0" i="0" u="none" strike="noStrike" baseline="0" dirty="0">
                <a:latin typeface="TimesNewRomanPSMT"/>
              </a:rPr>
              <a:t>explaining why pharmacokinetics of propofol are relatively consistent across patient populations with different comorbid states.</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23</a:t>
            </a:fld>
            <a:endParaRPr lang="en-US"/>
          </a:p>
        </p:txBody>
      </p:sp>
    </p:spTree>
    <p:extLst>
      <p:ext uri="{BB962C8B-B14F-4D97-AF65-F5344CB8AC3E}">
        <p14:creationId xmlns:p14="http://schemas.microsoft.com/office/powerpoint/2010/main" val="25718052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NewRomanPSMT"/>
              </a:rPr>
              <a:t>Propofol has specific antioxidant properties, and its function as a free radical scavenger has been hypothesized to play a role in preventing</a:t>
            </a:r>
          </a:p>
          <a:p>
            <a:pPr algn="l"/>
            <a:r>
              <a:rPr lang="en-US" sz="1800" b="0" i="0" u="none" strike="noStrike" baseline="0" dirty="0">
                <a:latin typeface="TimesNewRomanPSMT"/>
              </a:rPr>
              <a:t>injury during neurodegenerative processes such as stroke and trauma.</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24</a:t>
            </a:fld>
            <a:endParaRPr lang="en-US"/>
          </a:p>
        </p:txBody>
      </p:sp>
    </p:spTree>
    <p:extLst>
      <p:ext uri="{BB962C8B-B14F-4D97-AF65-F5344CB8AC3E}">
        <p14:creationId xmlns:p14="http://schemas.microsoft.com/office/powerpoint/2010/main" val="19297374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solidFill>
                  <a:srgbClr val="000000"/>
                </a:solidFill>
                <a:latin typeface="Charis SIL"/>
              </a:rPr>
              <a:t>Propofol induction profoundly decreases arterial pressure by decreasing peripheral vascular resistance and myocardial contractility </a:t>
            </a:r>
          </a:p>
          <a:p>
            <a:r>
              <a:rPr lang="en-US" sz="1800" b="0" i="0" u="none" strike="noStrike" baseline="0" dirty="0">
                <a:solidFill>
                  <a:srgbClr val="000000"/>
                </a:solidFill>
                <a:latin typeface="Charis SIL"/>
              </a:rPr>
              <a:t>Propofol also decreases patient</a:t>
            </a:r>
            <a:r>
              <a:rPr lang="en-US" sz="1800" b="0" i="0" u="none" strike="noStrike" baseline="0" dirty="0">
                <a:solidFill>
                  <a:srgbClr val="000000"/>
                </a:solidFill>
                <a:latin typeface="STIX"/>
              </a:rPr>
              <a:t>’</a:t>
            </a:r>
            <a:r>
              <a:rPr lang="en-US" sz="1800" b="0" i="0" u="none" strike="noStrike" baseline="0" dirty="0">
                <a:solidFill>
                  <a:srgbClr val="000000"/>
                </a:solidFill>
                <a:latin typeface="Charis SIL"/>
              </a:rPr>
              <a:t>s heart rate (HR) secondary to its vagotonic effect.</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25</a:t>
            </a:fld>
            <a:endParaRPr lang="en-US"/>
          </a:p>
        </p:txBody>
      </p:sp>
    </p:spTree>
    <p:extLst>
      <p:ext uri="{BB962C8B-B14F-4D97-AF65-F5344CB8AC3E}">
        <p14:creationId xmlns:p14="http://schemas.microsoft.com/office/powerpoint/2010/main" val="22619530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NewRomanPSMT"/>
              </a:rPr>
              <a:t>The hemodynamic effects of propofol are dose dependent and more significant after an induction dose than during a continuous infusion.</a:t>
            </a:r>
          </a:p>
          <a:p>
            <a:pPr algn="l"/>
            <a:r>
              <a:rPr lang="en-US" sz="1800" b="0" i="0" u="none" strike="noStrike" baseline="0" dirty="0">
                <a:latin typeface="TimesNewRomanPSMT"/>
              </a:rPr>
              <a:t>Propofol decreases sympathetic activity and leads to indirect arterial vasodilation and venodilation.</a:t>
            </a:r>
          </a:p>
          <a:p>
            <a:pPr algn="l"/>
            <a:r>
              <a:rPr lang="en-US" sz="1800" b="0" i="0" u="none" strike="noStrike" baseline="0" dirty="0">
                <a:latin typeface="TimesNewRomanPSMT"/>
              </a:rPr>
              <a:t>The observed blood pressure drop results from a decrease in cardiac output, stroke volume, and systemic vascular resistance (SVR).</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26</a:t>
            </a:fld>
            <a:endParaRPr lang="en-US"/>
          </a:p>
        </p:txBody>
      </p:sp>
    </p:spTree>
    <p:extLst>
      <p:ext uri="{BB962C8B-B14F-4D97-AF65-F5344CB8AC3E}">
        <p14:creationId xmlns:p14="http://schemas.microsoft.com/office/powerpoint/2010/main" val="41021000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MinionPro-Regular"/>
              </a:rPr>
              <a:t>Factors associated with propofol-induced hypotension include large doses, rapid injection, and old age. </a:t>
            </a:r>
          </a:p>
          <a:p>
            <a:pPr algn="l"/>
            <a:r>
              <a:rPr lang="en-US" sz="1800" b="0" i="0" u="none" strike="noStrike" baseline="0" dirty="0">
                <a:latin typeface="MinionPro-Regular"/>
              </a:rPr>
              <a:t>Propofol markedly impairs the normal arterial baroreflex response to hypotension</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27</a:t>
            </a:fld>
            <a:endParaRPr lang="en-US"/>
          </a:p>
        </p:txBody>
      </p:sp>
    </p:spTree>
    <p:extLst>
      <p:ext uri="{BB962C8B-B14F-4D97-AF65-F5344CB8AC3E}">
        <p14:creationId xmlns:p14="http://schemas.microsoft.com/office/powerpoint/2010/main" val="32906872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NewRomanPSMT"/>
              </a:rPr>
              <a:t> </a:t>
            </a:r>
            <a:r>
              <a:rPr lang="en-US" sz="1800" b="0" i="0" u="none" strike="noStrike" baseline="0" dirty="0">
                <a:solidFill>
                  <a:srgbClr val="000000"/>
                </a:solidFill>
                <a:latin typeface="TimesNewRomanPSMT"/>
              </a:rPr>
              <a:t>Induction dose requirement variability is tremendous among patients with different characteristics and comorbidities. </a:t>
            </a:r>
          </a:p>
          <a:p>
            <a:pPr algn="l"/>
            <a:r>
              <a:rPr lang="en-US" sz="1800" b="0" i="0" u="none" strike="noStrike" baseline="0" dirty="0">
                <a:solidFill>
                  <a:srgbClr val="000000"/>
                </a:solidFill>
                <a:latin typeface="TimesNewRomanPSMT"/>
              </a:rPr>
              <a:t>Elderly patients typically have prolonged effects and increased sensitivity to propofol because of decreased cardiac output and clearance.</a:t>
            </a:r>
            <a:endParaRPr lang="en-US" sz="1800" b="0" i="0" u="none" strike="noStrike" baseline="0" dirty="0">
              <a:solidFill>
                <a:srgbClr val="0000EF"/>
              </a:solidFill>
              <a:latin typeface="TimesNewRomanPSMT"/>
            </a:endParaRPr>
          </a:p>
          <a:p>
            <a:pPr algn="l"/>
            <a:r>
              <a:rPr lang="en-US" sz="1800" b="0" i="0" u="none" strike="noStrike" baseline="0" dirty="0">
                <a:solidFill>
                  <a:srgbClr val="0000EF"/>
                </a:solidFill>
                <a:latin typeface="TimesNewRomanPSMT"/>
              </a:rPr>
              <a:t> </a:t>
            </a:r>
            <a:r>
              <a:rPr lang="en-US" sz="1800" b="0" i="0" u="none" strike="noStrike" baseline="0" dirty="0">
                <a:solidFill>
                  <a:srgbClr val="000000"/>
                </a:solidFill>
                <a:latin typeface="TimesNewRomanPSMT"/>
              </a:rPr>
              <a:t>On the opposite end of the spectrum, children typically have a larger than average volume of distribution and quicker clearance, resulting in increased propofol</a:t>
            </a:r>
          </a:p>
          <a:p>
            <a:pPr algn="l"/>
            <a:r>
              <a:rPr lang="en-US" sz="1800" b="0" i="0" u="none" strike="noStrike" baseline="0" dirty="0">
                <a:solidFill>
                  <a:srgbClr val="000000"/>
                </a:solidFill>
                <a:latin typeface="TimesNewRomanPSMT"/>
              </a:rPr>
              <a:t>requirement on a per-kilogram basis.</a:t>
            </a:r>
            <a:endParaRPr lang="en-US" sz="1800" b="0" i="0" u="none" strike="noStrike" baseline="0" dirty="0">
              <a:solidFill>
                <a:srgbClr val="0000EF"/>
              </a:solidFill>
              <a:latin typeface="TimesNewRomanPSMT"/>
            </a:endParaRPr>
          </a:p>
          <a:p>
            <a:pPr algn="l"/>
            <a:r>
              <a:rPr lang="en-US" sz="1800" b="0" i="0" u="none" strike="noStrike" baseline="0" dirty="0">
                <a:solidFill>
                  <a:srgbClr val="0000EF"/>
                </a:solidFill>
                <a:latin typeface="TimesNewRomanPSMT"/>
              </a:rPr>
              <a:t> </a:t>
            </a:r>
            <a:r>
              <a:rPr lang="en-US" sz="1800" b="0" i="0" u="none" strike="noStrike" baseline="0" dirty="0">
                <a:solidFill>
                  <a:srgbClr val="000000"/>
                </a:solidFill>
                <a:latin typeface="TimesNewRomanPSMT"/>
              </a:rPr>
              <a:t>Morbidly obese patients should have lean body weight used when calculating propofol dosing</a:t>
            </a:r>
          </a:p>
          <a:p>
            <a:pPr algn="l"/>
            <a:r>
              <a:rPr lang="en-US" sz="1800" b="0" i="0" u="none" strike="noStrike" baseline="0" dirty="0">
                <a:latin typeface="TimesNewRomanPSMT"/>
              </a:rPr>
              <a:t>Patients with chronic alcohol abuse, as expected, have an increased induction dose requirement. </a:t>
            </a:r>
          </a:p>
          <a:p>
            <a:pPr algn="l"/>
            <a:r>
              <a:rPr lang="en-US" sz="1800" b="0" i="0" u="none" strike="noStrike" baseline="0" dirty="0">
                <a:latin typeface="TimesNewRomanPSMT"/>
              </a:rPr>
              <a:t>An exaggerated hemodynamic response is likely after induction of propofol in patients with cardiovascular disease. </a:t>
            </a:r>
          </a:p>
          <a:p>
            <a:pPr algn="l"/>
            <a:r>
              <a:rPr lang="en-US" sz="1800" b="0" i="0" u="none" strike="noStrike" baseline="0" dirty="0">
                <a:latin typeface="TimesNewRomanPSMT"/>
              </a:rPr>
              <a:t>Thus, determination of the appropriate propofol induction dose requires careful assessment of premedication administration, patient history, and comorbidity.</a:t>
            </a:r>
          </a:p>
          <a:p>
            <a:pPr algn="l"/>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31</a:t>
            </a:fld>
            <a:endParaRPr lang="en-US"/>
          </a:p>
        </p:txBody>
      </p:sp>
    </p:spTree>
    <p:extLst>
      <p:ext uri="{BB962C8B-B14F-4D97-AF65-F5344CB8AC3E}">
        <p14:creationId xmlns:p14="http://schemas.microsoft.com/office/powerpoint/2010/main" val="40115896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ArialMT"/>
              </a:rPr>
              <a:t>The rapid and smooth induction and emergence from anesthesia helped transform propofol into an intravenous</a:t>
            </a:r>
          </a:p>
          <a:p>
            <a:pPr algn="l"/>
            <a:r>
              <a:rPr lang="en-US" sz="1800" b="0" i="0" u="none" strike="noStrike" baseline="0" dirty="0">
                <a:latin typeface="ArialMT"/>
              </a:rPr>
              <a:t>sedative–hypnotic that is a viable alternative to standard inhalational agents and other intravenous drugs.</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32</a:t>
            </a:fld>
            <a:endParaRPr lang="en-US"/>
          </a:p>
        </p:txBody>
      </p:sp>
    </p:spTree>
    <p:extLst>
      <p:ext uri="{BB962C8B-B14F-4D97-AF65-F5344CB8AC3E}">
        <p14:creationId xmlns:p14="http://schemas.microsoft.com/office/powerpoint/2010/main" val="14114079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A </a:t>
            </a:r>
            <a:r>
              <a:rPr lang="en-US" sz="1800" b="0" i="0" u="none" strike="noStrike" baseline="0" dirty="0">
                <a:latin typeface="MinionPro-Regular"/>
              </a:rPr>
              <a:t>history of egg allergy does not necessarily contraindicate the use of propofol because most egg allergies involve </a:t>
            </a:r>
          </a:p>
          <a:p>
            <a:pPr algn="l"/>
            <a:r>
              <a:rPr lang="en-US" sz="1800" b="0" i="0" u="none" strike="noStrike" baseline="0" dirty="0">
                <a:latin typeface="MinionPro-Regular"/>
              </a:rPr>
              <a:t>a reaction to egg white (egg albumin), whereas egg lecithin is extracted from egg yolk</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34</a:t>
            </a:fld>
            <a:endParaRPr lang="en-US"/>
          </a:p>
        </p:txBody>
      </p:sp>
    </p:spTree>
    <p:extLst>
      <p:ext uri="{BB962C8B-B14F-4D97-AF65-F5344CB8AC3E}">
        <p14:creationId xmlns:p14="http://schemas.microsoft.com/office/powerpoint/2010/main" val="10271072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NewRomanPSMT"/>
              </a:rPr>
              <a:t>The pathophysiology of PRIS is not well understood, but may involve mitochondrial toxicity and uncoupling of the intracellular</a:t>
            </a:r>
          </a:p>
          <a:p>
            <a:pPr algn="l"/>
            <a:r>
              <a:rPr lang="en-US" sz="1800" b="0" i="0" u="none" strike="noStrike" baseline="0" dirty="0">
                <a:latin typeface="TimesNewRomanPSMT"/>
              </a:rPr>
              <a:t>respiration chain, although other hypotheses such as inhibition of fatty acid oxidation have been suggested.</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35</a:t>
            </a:fld>
            <a:endParaRPr lang="en-US"/>
          </a:p>
        </p:txBody>
      </p:sp>
    </p:spTree>
    <p:extLst>
      <p:ext uri="{BB962C8B-B14F-4D97-AF65-F5344CB8AC3E}">
        <p14:creationId xmlns:p14="http://schemas.microsoft.com/office/powerpoint/2010/main" val="29030627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NewRomanPSMT"/>
              </a:rPr>
              <a:t>Ketamine is an analog of phencyclidine that is a chiral compound and is a racemic mixture of S and R enantiomers.</a:t>
            </a:r>
          </a:p>
          <a:p>
            <a:pPr algn="l"/>
            <a:r>
              <a:rPr lang="en-US" sz="1800" b="0" i="0" u="none" strike="noStrike" baseline="0" dirty="0">
                <a:latin typeface="TimesNewRomanPSMT"/>
              </a:rPr>
              <a:t>The S(+) enantiomer of ketamine is three to four times more potent than the R enantiomer. </a:t>
            </a:r>
          </a:p>
          <a:p>
            <a:pPr algn="l"/>
            <a:r>
              <a:rPr lang="en-US" sz="1800" b="0" i="0" u="none" strike="noStrike" baseline="0" dirty="0">
                <a:latin typeface="TimesNewRomanPSMT"/>
              </a:rPr>
              <a:t> S enantiomer has a shorter duration of action and is cleared more rapidly</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39</a:t>
            </a:fld>
            <a:endParaRPr lang="en-US"/>
          </a:p>
        </p:txBody>
      </p:sp>
    </p:spTree>
    <p:extLst>
      <p:ext uri="{BB962C8B-B14F-4D97-AF65-F5344CB8AC3E}">
        <p14:creationId xmlns:p14="http://schemas.microsoft.com/office/powerpoint/2010/main" val="12001711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solidFill>
                  <a:srgbClr val="000000"/>
                </a:solidFill>
                <a:latin typeface="Photina MT"/>
              </a:rPr>
              <a:t>It produces dissociative anesthesia rather than generalized depression of the CNS through antagonistic actions at the phencyclidine (PCP) site of the N-methyl-D-aspartate receptor (NMDAR) </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40</a:t>
            </a:fld>
            <a:endParaRPr lang="en-US"/>
          </a:p>
        </p:txBody>
      </p:sp>
    </p:spTree>
    <p:extLst>
      <p:ext uri="{BB962C8B-B14F-4D97-AF65-F5344CB8AC3E}">
        <p14:creationId xmlns:p14="http://schemas.microsoft.com/office/powerpoint/2010/main" val="39248389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solidFill>
                  <a:srgbClr val="000000"/>
                </a:solidFill>
                <a:latin typeface="BrandingSans"/>
              </a:rPr>
              <a:t>It has rapid onset and relatively rapid offset, even after an infusion of several hours. I </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42</a:t>
            </a:fld>
            <a:endParaRPr lang="en-US"/>
          </a:p>
        </p:txBody>
      </p:sp>
    </p:spTree>
    <p:extLst>
      <p:ext uri="{BB962C8B-B14F-4D97-AF65-F5344CB8AC3E}">
        <p14:creationId xmlns:p14="http://schemas.microsoft.com/office/powerpoint/2010/main" val="26575103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itchFamily="18" charset="0"/>
                <a:cs typeface="Times New Roman" pitchFamily="18" charset="0"/>
              </a:rPr>
              <a:t>T</a:t>
            </a:r>
            <a:r>
              <a:rPr lang="bg-BG" dirty="0">
                <a:latin typeface="Times New Roman" pitchFamily="18" charset="0"/>
                <a:cs typeface="Times New Roman" pitchFamily="18" charset="0"/>
              </a:rPr>
              <a:t>he limbic cortex</a:t>
            </a:r>
            <a:r>
              <a:rPr lang="en-US" dirty="0">
                <a:latin typeface="Times New Roman" pitchFamily="18" charset="0"/>
                <a:cs typeface="Times New Roman" pitchFamily="18" charset="0"/>
              </a:rPr>
              <a:t> </a:t>
            </a:r>
            <a:r>
              <a:rPr lang="bg-BG" dirty="0">
                <a:latin typeface="Times New Roman" pitchFamily="18" charset="0"/>
                <a:cs typeface="Times New Roman" pitchFamily="18" charset="0"/>
              </a:rPr>
              <a:t> is involved with the awareness of sensation</a:t>
            </a:r>
            <a:r>
              <a:rPr lang="bg-BG" sz="2000" dirty="0">
                <a:latin typeface="Times New Roman" pitchFamily="18" charset="0"/>
                <a:cs typeface="Times New Roman" pitchFamily="18" charset="0"/>
              </a:rPr>
              <a:t> </a:t>
            </a:r>
            <a:endParaRPr lang="en-US" sz="2000" dirty="0">
              <a:latin typeface="Times New Roman" pitchFamily="18" charset="0"/>
              <a:cs typeface="Times New Roman" pitchFamily="18" charset="0"/>
            </a:endParaRPr>
          </a:p>
          <a:p>
            <a:endParaRPr lang="en-US" dirty="0"/>
          </a:p>
        </p:txBody>
      </p:sp>
      <p:sp>
        <p:nvSpPr>
          <p:cNvPr id="4" name="Slide Number Placeholder 3"/>
          <p:cNvSpPr>
            <a:spLocks noGrp="1"/>
          </p:cNvSpPr>
          <p:nvPr>
            <p:ph type="sldNum" sz="quarter" idx="10"/>
          </p:nvPr>
        </p:nvSpPr>
        <p:spPr/>
        <p:txBody>
          <a:bodyPr/>
          <a:lstStyle/>
          <a:p>
            <a:fld id="{C9CDDA98-9201-4835-8F2A-798F8AE539B3}" type="slidenum">
              <a:rPr lang="en-US" smtClean="0"/>
              <a:t>43</a:t>
            </a:fld>
            <a:endParaRPr lang="en-US"/>
          </a:p>
        </p:txBody>
      </p:sp>
    </p:spTree>
    <p:extLst>
      <p:ext uri="{BB962C8B-B14F-4D97-AF65-F5344CB8AC3E}">
        <p14:creationId xmlns:p14="http://schemas.microsoft.com/office/powerpoint/2010/main" val="3805865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MinionPro-Regular"/>
              </a:rPr>
              <a:t>The </a:t>
            </a:r>
            <a:r>
              <a:rPr lang="en-US" sz="1800" b="1" i="0" u="none" strike="noStrike" baseline="0" dirty="0">
                <a:latin typeface="MinionPro-Bold"/>
              </a:rPr>
              <a:t>direct myocardial depressant </a:t>
            </a:r>
            <a:r>
              <a:rPr lang="en-US" sz="1800" b="0" i="0" u="none" strike="noStrike" baseline="0" dirty="0">
                <a:latin typeface="MinionPro-Regular"/>
              </a:rPr>
              <a:t>effects of large doses of ketamine, probably due to inhibition of calcium transients, are unmasked by sympathetic blockade (</a:t>
            </a:r>
            <a:r>
              <a:rPr lang="en-US" sz="1800" b="0" i="0" u="none" strike="noStrike" baseline="0" dirty="0" err="1">
                <a:latin typeface="MinionPro-Regular"/>
              </a:rPr>
              <a:t>eg</a:t>
            </a:r>
            <a:r>
              <a:rPr lang="en-US" sz="1800" b="0" i="0" u="none" strike="noStrike" baseline="0" dirty="0">
                <a:latin typeface="MinionPro-Regular"/>
              </a:rPr>
              <a:t>, spinal cord transection) or exhaustion of catecholamine stores (</a:t>
            </a:r>
            <a:r>
              <a:rPr lang="en-US" sz="1800" b="0" i="0" u="none" strike="noStrike" baseline="0" dirty="0" err="1">
                <a:latin typeface="MinionPro-Regular"/>
              </a:rPr>
              <a:t>eg</a:t>
            </a:r>
            <a:r>
              <a:rPr lang="en-US" sz="1800" b="0" i="0" u="none" strike="noStrike" baseline="0" dirty="0">
                <a:latin typeface="MinionPro-Regular"/>
              </a:rPr>
              <a:t>, severe end-stage shock). </a:t>
            </a:r>
          </a:p>
          <a:p>
            <a:pPr algn="l"/>
            <a:r>
              <a:rPr lang="en-US" sz="1800" b="0" i="0" u="none" strike="noStrike" baseline="0" dirty="0">
                <a:latin typeface="MinionPro-Regular"/>
              </a:rPr>
              <a:t>On the other hand, ketamine’s </a:t>
            </a:r>
            <a:r>
              <a:rPr lang="en-US" sz="1800" b="1" i="0" u="none" strike="noStrike" baseline="0" dirty="0">
                <a:latin typeface="MinionPro-Bold"/>
              </a:rPr>
              <a:t>indirect stimulatory effects </a:t>
            </a:r>
            <a:r>
              <a:rPr lang="en-US" sz="1800" b="0" i="0" u="none" strike="noStrike" baseline="0" dirty="0">
                <a:latin typeface="MinionPro-Regular"/>
              </a:rPr>
              <a:t>may be beneficial to patients with acute shock.</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49</a:t>
            </a:fld>
            <a:endParaRPr lang="en-US"/>
          </a:p>
        </p:txBody>
      </p:sp>
    </p:spTree>
    <p:extLst>
      <p:ext uri="{BB962C8B-B14F-4D97-AF65-F5344CB8AC3E}">
        <p14:creationId xmlns:p14="http://schemas.microsoft.com/office/powerpoint/2010/main" val="16115030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MinionPro-Regular"/>
              </a:rPr>
              <a:t>Upper airway reflexes remain largely intact, but partial airway obstruction may occur, and patients at increased risk for aspiration pneumonia (“full stomachs”) should be intubated during ketamine general anesthesia</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50</a:t>
            </a:fld>
            <a:endParaRPr lang="en-US"/>
          </a:p>
        </p:txBody>
      </p:sp>
    </p:spTree>
    <p:extLst>
      <p:ext uri="{BB962C8B-B14F-4D97-AF65-F5344CB8AC3E}">
        <p14:creationId xmlns:p14="http://schemas.microsoft.com/office/powerpoint/2010/main" val="19465560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MinionPro-Regular"/>
              </a:rPr>
              <a:t>The received dogma about ketamine is that it increases cerebral oxygen consumption, cerebral blood flow, and intracranial pressure. </a:t>
            </a:r>
          </a:p>
          <a:p>
            <a:pPr algn="l"/>
            <a:r>
              <a:rPr lang="en-US" sz="1800" b="0" i="0" u="none" strike="noStrike" baseline="0" dirty="0">
                <a:latin typeface="MinionPro-Regular"/>
              </a:rPr>
              <a:t>These effects would seem to preclude its use in patients with space-occupying intracranial lesions such as occur with head trauma; however, recent publications</a:t>
            </a:r>
          </a:p>
          <a:p>
            <a:pPr algn="l"/>
            <a:r>
              <a:rPr lang="en-US" sz="1800" b="0" i="0" u="none" strike="noStrike" baseline="0" dirty="0">
                <a:latin typeface="MinionPro-Regular"/>
              </a:rPr>
              <a:t>offer convincing evidence that when combined with a benzodiazepine (or another agent acting on the same GABA receptor system) and controlled</a:t>
            </a:r>
          </a:p>
          <a:p>
            <a:pPr algn="l"/>
            <a:r>
              <a:rPr lang="en-US" sz="1800" b="0" i="0" u="none" strike="noStrike" baseline="0" dirty="0">
                <a:latin typeface="MinionPro-Regular"/>
              </a:rPr>
              <a:t>ventilation, but not with nitrous oxide, ketamine is </a:t>
            </a:r>
            <a:r>
              <a:rPr lang="en-US" sz="1800" b="0" i="1" u="none" strike="noStrike" baseline="0" dirty="0">
                <a:latin typeface="MinionPro-It"/>
              </a:rPr>
              <a:t>not </a:t>
            </a:r>
            <a:r>
              <a:rPr lang="en-US" sz="1800" b="0" i="0" u="none" strike="noStrike" baseline="0" dirty="0">
                <a:latin typeface="MinionPro-Regular"/>
              </a:rPr>
              <a:t>associated with increased intracranial pressure.</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51</a:t>
            </a:fld>
            <a:endParaRPr lang="en-US"/>
          </a:p>
        </p:txBody>
      </p:sp>
    </p:spTree>
    <p:extLst>
      <p:ext uri="{BB962C8B-B14F-4D97-AF65-F5344CB8AC3E}">
        <p14:creationId xmlns:p14="http://schemas.microsoft.com/office/powerpoint/2010/main" val="16740770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MinionPro-Regular"/>
              </a:rPr>
              <a:t>When intravenous access is lacking, ketamine is useful for intramuscular induction of general anesthesia in children and uncooperative adults. </a:t>
            </a:r>
          </a:p>
          <a:p>
            <a:pPr algn="l"/>
            <a:r>
              <a:rPr lang="en-US" sz="1800" b="0" i="0" u="none" strike="noStrike" baseline="0" dirty="0">
                <a:latin typeface="MinionPro-Regular"/>
              </a:rPr>
              <a:t>Ketamine can be combined with other agents (e.g., propofol or midazolam) in small bolus doses or infusions for deep conscious sedation during nerve blocks, endoscopy, etc.</a:t>
            </a:r>
            <a:r>
              <a:rPr lang="en-US" sz="1800" b="0" i="0" u="none" strike="noStrike" baseline="0" dirty="0">
                <a:latin typeface="ArialMT"/>
              </a:rPr>
              <a:t> </a:t>
            </a:r>
          </a:p>
          <a:p>
            <a:pPr algn="l"/>
            <a:r>
              <a:rPr lang="en-US" sz="1800" b="0" i="0" u="none" strike="noStrike" baseline="0" dirty="0">
                <a:latin typeface="ArialMT"/>
              </a:rPr>
              <a:t>Ketamine binds preferentially to the N-methyl-D-aspartate (NMDA) receptors on inhibitory interneurons in the cortex, amygdala, and hippocampus. Unconsciousness results from an uncoordinated increase in neural activity. In the spinal cord, ketamine decreases arousal by blocking NMDA glutamate–mediated nociceptive signals from peripheral afferent neurons in the dorsal root ganglion to projecting neurons.</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54</a:t>
            </a:fld>
            <a:endParaRPr lang="en-US"/>
          </a:p>
        </p:txBody>
      </p:sp>
    </p:spTree>
    <p:extLst>
      <p:ext uri="{BB962C8B-B14F-4D97-AF65-F5344CB8AC3E}">
        <p14:creationId xmlns:p14="http://schemas.microsoft.com/office/powerpoint/2010/main" val="29709621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ArialMT"/>
              </a:rPr>
              <a:t>Ketamine’s mechanism of action in the central nervous system. Ketamine binds preferentially to the N-methyl-D-aspartate (NMDA) receptors on inhibitory interneurons in the cortex, amygdala, and hippocampus. Unconsciousness results from an uncoordinated increase in neural activity. In the spinal cord, ketamine decreases arousal by blocking NMDA glutamate–mediated nociceptive signals from peripheral afferent neurons in the dorsal root ganglion to projecting neurons.</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55</a:t>
            </a:fld>
            <a:endParaRPr lang="en-US"/>
          </a:p>
        </p:txBody>
      </p:sp>
    </p:spTree>
    <p:extLst>
      <p:ext uri="{BB962C8B-B14F-4D97-AF65-F5344CB8AC3E}">
        <p14:creationId xmlns:p14="http://schemas.microsoft.com/office/powerpoint/2010/main" val="35923104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NewRomanPSMT"/>
              </a:rPr>
              <a:t>For treatment of depression, ketamine is typically infused intravenously over 40 minutes at a subanesthetic dose of 0.5 mg/kg.</a:t>
            </a:r>
          </a:p>
          <a:p>
            <a:pPr algn="l"/>
            <a:r>
              <a:rPr lang="en-US" sz="1800" b="0" i="0" u="none" strike="noStrike" baseline="0" dirty="0">
                <a:latin typeface="TimesNewRomanPSMT"/>
              </a:rPr>
              <a:t>The mechanism of ketamine’s antidepressant effects remains unclear. The antidepressant effects of ketamine may not be related to its NMDA</a:t>
            </a:r>
          </a:p>
          <a:p>
            <a:pPr algn="l"/>
            <a:r>
              <a:rPr lang="en-US" sz="1800" b="0" i="0" u="none" strike="noStrike" baseline="0" dirty="0">
                <a:latin typeface="TimesNewRomanPSMT"/>
              </a:rPr>
              <a:t>antagonism, but rather its effect on other CNS receptors (dopamine, adrenergic).</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56</a:t>
            </a:fld>
            <a:endParaRPr lang="en-US"/>
          </a:p>
        </p:txBody>
      </p:sp>
    </p:spTree>
    <p:extLst>
      <p:ext uri="{BB962C8B-B14F-4D97-AF65-F5344CB8AC3E}">
        <p14:creationId xmlns:p14="http://schemas.microsoft.com/office/powerpoint/2010/main" val="20823738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NewRomanPSMT"/>
              </a:rPr>
              <a:t> </a:t>
            </a:r>
            <a:r>
              <a:rPr lang="en-US" sz="1800" b="0" i="0" u="none" strike="noStrike" baseline="0" dirty="0">
                <a:solidFill>
                  <a:srgbClr val="000000"/>
                </a:solidFill>
                <a:latin typeface="TimesNewRomanPSMT"/>
              </a:rPr>
              <a:t>Induction dose requirement variability is tremendous among patients with different characteristics and comorbidities. </a:t>
            </a:r>
          </a:p>
          <a:p>
            <a:pPr algn="l"/>
            <a:r>
              <a:rPr lang="en-US" sz="1800" b="0" i="0" u="none" strike="noStrike" baseline="0" dirty="0">
                <a:solidFill>
                  <a:srgbClr val="000000"/>
                </a:solidFill>
                <a:latin typeface="TimesNewRomanPSMT"/>
              </a:rPr>
              <a:t>Elderly patients typically have prolonged effects and increased sensitivity to propofol because of decreased cardiac output and clearance.</a:t>
            </a:r>
            <a:endParaRPr lang="en-US" sz="1800" b="0" i="0" u="none" strike="noStrike" baseline="0" dirty="0">
              <a:solidFill>
                <a:srgbClr val="0000EF"/>
              </a:solidFill>
              <a:latin typeface="TimesNewRomanPSMT"/>
            </a:endParaRPr>
          </a:p>
          <a:p>
            <a:pPr algn="l"/>
            <a:r>
              <a:rPr lang="en-US" sz="1800" b="0" i="0" u="none" strike="noStrike" baseline="0" dirty="0">
                <a:solidFill>
                  <a:srgbClr val="0000EF"/>
                </a:solidFill>
                <a:latin typeface="TimesNewRomanPSMT"/>
              </a:rPr>
              <a:t> </a:t>
            </a:r>
            <a:r>
              <a:rPr lang="en-US" sz="1800" b="0" i="0" u="none" strike="noStrike" baseline="0" dirty="0">
                <a:solidFill>
                  <a:srgbClr val="000000"/>
                </a:solidFill>
                <a:latin typeface="TimesNewRomanPSMT"/>
              </a:rPr>
              <a:t>On the opposite end of the spectrum, children typically have a larger than average volume of distribution and quicker clearance, resulting in increased propofol</a:t>
            </a:r>
          </a:p>
          <a:p>
            <a:pPr algn="l"/>
            <a:r>
              <a:rPr lang="en-US" sz="1800" b="0" i="0" u="none" strike="noStrike" baseline="0" dirty="0">
                <a:solidFill>
                  <a:srgbClr val="000000"/>
                </a:solidFill>
                <a:latin typeface="TimesNewRomanPSMT"/>
              </a:rPr>
              <a:t>requirement on a per-kilogram basis.</a:t>
            </a:r>
            <a:endParaRPr lang="en-US" sz="1800" b="0" i="0" u="none" strike="noStrike" baseline="0" dirty="0">
              <a:solidFill>
                <a:srgbClr val="0000EF"/>
              </a:solidFill>
              <a:latin typeface="TimesNewRomanPSMT"/>
            </a:endParaRPr>
          </a:p>
          <a:p>
            <a:pPr algn="l"/>
            <a:r>
              <a:rPr lang="en-US" sz="1800" b="0" i="0" u="none" strike="noStrike" baseline="0" dirty="0">
                <a:solidFill>
                  <a:srgbClr val="0000EF"/>
                </a:solidFill>
                <a:latin typeface="TimesNewRomanPSMT"/>
              </a:rPr>
              <a:t> </a:t>
            </a:r>
            <a:r>
              <a:rPr lang="en-US" sz="1800" b="0" i="0" u="none" strike="noStrike" baseline="0" dirty="0">
                <a:solidFill>
                  <a:srgbClr val="000000"/>
                </a:solidFill>
                <a:latin typeface="TimesNewRomanPSMT"/>
              </a:rPr>
              <a:t>Morbidly obese patients should have lean body weight used when calculating propofol dosing</a:t>
            </a:r>
          </a:p>
          <a:p>
            <a:pPr algn="l"/>
            <a:r>
              <a:rPr lang="en-US" sz="1800" b="0" i="0" u="none" strike="noStrike" baseline="0" dirty="0">
                <a:latin typeface="TimesNewRomanPSMT"/>
              </a:rPr>
              <a:t>Patients with chronic alcohol abuse, as expected, have an increased induction dose requirement. </a:t>
            </a:r>
          </a:p>
          <a:p>
            <a:pPr algn="l"/>
            <a:r>
              <a:rPr lang="en-US" sz="1800" b="0" i="0" u="none" strike="noStrike" baseline="0" dirty="0">
                <a:latin typeface="TimesNewRomanPSMT"/>
              </a:rPr>
              <a:t>An exaggerated hemodynamic response is likely after induction of propofol in patients with cardiovascular disease. </a:t>
            </a:r>
          </a:p>
          <a:p>
            <a:pPr algn="l"/>
            <a:r>
              <a:rPr lang="en-US" sz="1800" b="0" i="0" u="none" strike="noStrike" baseline="0" dirty="0">
                <a:latin typeface="TimesNewRomanPSMT"/>
              </a:rPr>
              <a:t>Thus, determination of the appropriate propofol induction dose requires careful assessment of premedication administration, patient history, and comorbidity.</a:t>
            </a:r>
          </a:p>
          <a:p>
            <a:pPr algn="l"/>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57</a:t>
            </a:fld>
            <a:endParaRPr lang="en-US"/>
          </a:p>
        </p:txBody>
      </p:sp>
    </p:spTree>
    <p:extLst>
      <p:ext uri="{BB962C8B-B14F-4D97-AF65-F5344CB8AC3E}">
        <p14:creationId xmlns:p14="http://schemas.microsoft.com/office/powerpoint/2010/main" val="31416820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1" u="none" strike="noStrike" baseline="0" dirty="0">
                <a:latin typeface="TimesNewRomanPS-ItalicMT"/>
              </a:rPr>
              <a:t>ICP/seizure issues: </a:t>
            </a:r>
            <a:r>
              <a:rPr lang="en-US" sz="1800" b="0" i="0" u="none" strike="noStrike" baseline="0" dirty="0">
                <a:latin typeface="TimesNewRomanPSMT"/>
              </a:rPr>
              <a:t>Historically, ketamine was not recommended in patients with elevated ICP. The excitatory CNS effects of ketamine would increase CMRO2 and increase CBF. However, studies have found that ICP typically remains normal with ketamine administration in neurosurgical</a:t>
            </a:r>
          </a:p>
          <a:p>
            <a:pPr algn="l"/>
            <a:r>
              <a:rPr lang="en-US" sz="1800" b="0" i="0" u="none" strike="noStrike" baseline="0" dirty="0">
                <a:latin typeface="TimesNewRomanPSMT"/>
              </a:rPr>
              <a:t>patients with controlled ventilation. In fact, ketamine may be neuroprotective.</a:t>
            </a:r>
          </a:p>
          <a:p>
            <a:pPr algn="l"/>
            <a:r>
              <a:rPr lang="en-US" sz="1800" b="0" i="0" u="none" strike="noStrike" baseline="0" dirty="0">
                <a:solidFill>
                  <a:srgbClr val="000000"/>
                </a:solidFill>
                <a:latin typeface="Photina MT"/>
              </a:rPr>
              <a:t>In mechanically ventilated patients, ketamine retains the response of CBF to carbon dioxide, which makes it useful in head-injured patients because of its potential neuroprotective effect. </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58</a:t>
            </a:fld>
            <a:endParaRPr lang="en-US"/>
          </a:p>
        </p:txBody>
      </p:sp>
    </p:spTree>
    <p:extLst>
      <p:ext uri="{BB962C8B-B14F-4D97-AF65-F5344CB8AC3E}">
        <p14:creationId xmlns:p14="http://schemas.microsoft.com/office/powerpoint/2010/main" val="27565006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solidFill>
                  <a:srgbClr val="000000"/>
                </a:solidFill>
                <a:latin typeface="Photina MT"/>
              </a:rPr>
              <a:t>Finally, because ketamine’s preservative—</a:t>
            </a:r>
            <a:r>
              <a:rPr lang="en-US" sz="1800" b="0" i="0" u="none" strike="noStrike" baseline="0" dirty="0" err="1">
                <a:solidFill>
                  <a:srgbClr val="000000"/>
                </a:solidFill>
                <a:latin typeface="Photina MT"/>
              </a:rPr>
              <a:t>chlorobutanol</a:t>
            </a:r>
            <a:r>
              <a:rPr lang="en-US" sz="1800" b="0" i="0" u="none" strike="noStrike" baseline="0" dirty="0">
                <a:solidFill>
                  <a:srgbClr val="000000"/>
                </a:solidFill>
                <a:latin typeface="Photina MT"/>
              </a:rPr>
              <a:t>—is neurotoxic, this formulation of ketamine for subarachnoid or epidural administration is contraindicated. S(+) ketamine is available in a preservative-free solution </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61</a:t>
            </a:fld>
            <a:endParaRPr lang="en-US"/>
          </a:p>
        </p:txBody>
      </p:sp>
    </p:spTree>
    <p:extLst>
      <p:ext uri="{BB962C8B-B14F-4D97-AF65-F5344CB8AC3E}">
        <p14:creationId xmlns:p14="http://schemas.microsoft.com/office/powerpoint/2010/main" val="13299030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64</a:t>
            </a:fld>
            <a:endParaRPr lang="en-US"/>
          </a:p>
        </p:txBody>
      </p:sp>
    </p:spTree>
    <p:extLst>
      <p:ext uri="{BB962C8B-B14F-4D97-AF65-F5344CB8AC3E}">
        <p14:creationId xmlns:p14="http://schemas.microsoft.com/office/powerpoint/2010/main" val="497094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NewRomanPSMT"/>
              </a:rPr>
              <a:t>Barbiturate solutions are highly alkaline, allowing for formation of water-soluble salts. Addition or reconstitution in</a:t>
            </a:r>
          </a:p>
          <a:p>
            <a:pPr algn="l"/>
            <a:r>
              <a:rPr lang="en-US" sz="1800" b="0" i="0" u="none" strike="noStrike" baseline="0" dirty="0">
                <a:latin typeface="TimesNewRomanPSMT"/>
              </a:rPr>
              <a:t>acidic solutions (e.g., vecuronium) leads to precipitation of these salts, hampering intravenous use.</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66</a:t>
            </a:fld>
            <a:endParaRPr lang="en-US"/>
          </a:p>
        </p:txBody>
      </p:sp>
    </p:spTree>
    <p:extLst>
      <p:ext uri="{BB962C8B-B14F-4D97-AF65-F5344CB8AC3E}">
        <p14:creationId xmlns:p14="http://schemas.microsoft.com/office/powerpoint/2010/main" val="41988645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solidFill>
                  <a:srgbClr val="000000"/>
                </a:solidFill>
                <a:latin typeface="Photina MT"/>
              </a:rPr>
              <a:t>Barbiturates cannot be reconstituted with lactated Ringer solution or mixed with other acidic solutions, as a decrease in the alkalinity of the solution can result in precipitation of the barbiturates as free acids. Examples of drugs that are not to be co-administered or mixed in solution with the barbiturates are atracurium, vecuronium, rocuronium, suxamethonium, alfentanil, </a:t>
            </a:r>
            <a:r>
              <a:rPr lang="en-US" sz="1800" b="0" i="0" u="none" strike="noStrike" baseline="0" dirty="0" err="1">
                <a:solidFill>
                  <a:srgbClr val="000000"/>
                </a:solidFill>
                <a:latin typeface="Photina MT"/>
              </a:rPr>
              <a:t>sufentanil</a:t>
            </a:r>
            <a:r>
              <a:rPr lang="en-US" sz="1800" b="0" i="0" u="none" strike="noStrike" baseline="0" dirty="0">
                <a:solidFill>
                  <a:srgbClr val="000000"/>
                </a:solidFill>
                <a:latin typeface="Photina MT"/>
              </a:rPr>
              <a:t>, dobutamine, dopamine, </a:t>
            </a:r>
            <a:r>
              <a:rPr lang="en-US" sz="1800" b="0" i="0" u="none" strike="noStrike" baseline="0" dirty="0" err="1">
                <a:solidFill>
                  <a:srgbClr val="000000"/>
                </a:solidFill>
                <a:latin typeface="Photina MT"/>
              </a:rPr>
              <a:t>esketamine</a:t>
            </a:r>
            <a:r>
              <a:rPr lang="en-US" sz="1800" b="0" i="0" u="none" strike="noStrike" baseline="0" dirty="0">
                <a:solidFill>
                  <a:srgbClr val="000000"/>
                </a:solidFill>
                <a:latin typeface="Photina MT"/>
              </a:rPr>
              <a:t>, and midazolam. Mixing of thiopental with vecuronium or </a:t>
            </a:r>
            <a:r>
              <a:rPr lang="en-US" sz="1800" b="0" i="0" u="none" strike="noStrike" baseline="0" dirty="0" err="1">
                <a:solidFill>
                  <a:srgbClr val="000000"/>
                </a:solidFill>
                <a:latin typeface="Photina MT"/>
              </a:rPr>
              <a:t>pancuronium</a:t>
            </a:r>
            <a:r>
              <a:rPr lang="en-US" sz="1800" b="0" i="0" u="none" strike="noStrike" baseline="0" dirty="0">
                <a:solidFill>
                  <a:srgbClr val="000000"/>
                </a:solidFill>
                <a:latin typeface="Photina MT"/>
              </a:rPr>
              <a:t> results in the formation of precipitate that may occlude the IV line during a rapid sequence induction of anesthesia</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67</a:t>
            </a:fld>
            <a:endParaRPr lang="en-US"/>
          </a:p>
        </p:txBody>
      </p:sp>
    </p:spTree>
    <p:extLst>
      <p:ext uri="{BB962C8B-B14F-4D97-AF65-F5344CB8AC3E}">
        <p14:creationId xmlns:p14="http://schemas.microsoft.com/office/powerpoint/2010/main" val="26915001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Times New Roman" pitchFamily="18" charset="0"/>
                <a:cs typeface="Times New Roman" pitchFamily="18" charset="0"/>
              </a:rPr>
              <a:t>R</a:t>
            </a:r>
            <a:r>
              <a:rPr lang="bg-BG" sz="1200" dirty="0">
                <a:latin typeface="Times New Roman" pitchFamily="18" charset="0"/>
                <a:cs typeface="Times New Roman" pitchFamily="18" charset="0"/>
              </a:rPr>
              <a:t>eticular activating system—a complex polysynaptic network of neurons and regulatory centers—located in the brain stem that controls several vital functions, including consciousness</a:t>
            </a:r>
            <a:endParaRPr lang="en-US" dirty="0"/>
          </a:p>
        </p:txBody>
      </p:sp>
      <p:sp>
        <p:nvSpPr>
          <p:cNvPr id="4" name="Slide Number Placeholder 3"/>
          <p:cNvSpPr>
            <a:spLocks noGrp="1"/>
          </p:cNvSpPr>
          <p:nvPr>
            <p:ph type="sldNum" sz="quarter" idx="10"/>
          </p:nvPr>
        </p:nvSpPr>
        <p:spPr/>
        <p:txBody>
          <a:bodyPr/>
          <a:lstStyle/>
          <a:p>
            <a:fld id="{C9CDDA98-9201-4835-8F2A-798F8AE539B3}" type="slidenum">
              <a:rPr lang="en-US" smtClean="0"/>
              <a:t>68</a:t>
            </a:fld>
            <a:endParaRPr lang="en-US"/>
          </a:p>
        </p:txBody>
      </p:sp>
    </p:spTree>
    <p:extLst>
      <p:ext uri="{BB962C8B-B14F-4D97-AF65-F5344CB8AC3E}">
        <p14:creationId xmlns:p14="http://schemas.microsoft.com/office/powerpoint/2010/main" val="34192674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9CDDA98-9201-4835-8F2A-798F8AE539B3}" type="slidenum">
              <a:rPr lang="en-US" smtClean="0"/>
              <a:t>72</a:t>
            </a:fld>
            <a:endParaRPr lang="en-US"/>
          </a:p>
        </p:txBody>
      </p:sp>
    </p:spTree>
    <p:extLst>
      <p:ext uri="{BB962C8B-B14F-4D97-AF65-F5344CB8AC3E}">
        <p14:creationId xmlns:p14="http://schemas.microsoft.com/office/powerpoint/2010/main" val="38484539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200" b="0" i="0" u="none" strike="noStrike" baseline="0" dirty="0">
                <a:solidFill>
                  <a:srgbClr val="000000"/>
                </a:solidFill>
                <a:latin typeface="MinionPro-Regular"/>
              </a:rPr>
              <a:t>Redistribution to the peripheral compartment— Specifically, the muscle group—lowers plasma and brain concentration to 10% of peak levels within</a:t>
            </a:r>
          </a:p>
          <a:p>
            <a:pPr algn="l"/>
            <a:r>
              <a:rPr lang="en-US" sz="1200" b="0" i="0" u="none" strike="noStrike" baseline="0" dirty="0">
                <a:solidFill>
                  <a:srgbClr val="000000"/>
                </a:solidFill>
                <a:latin typeface="MinionPro-Regular"/>
              </a:rPr>
              <a:t>20–30 min ( </a:t>
            </a:r>
            <a:r>
              <a:rPr lang="en-US" sz="1200" b="1" i="0" u="none" strike="noStrike" baseline="0" dirty="0">
                <a:solidFill>
                  <a:srgbClr val="00AFF0"/>
                </a:solidFill>
                <a:latin typeface="MinionPro-Bold"/>
              </a:rPr>
              <a:t>Figure 9–2 </a:t>
            </a:r>
            <a:r>
              <a:rPr lang="en-US" sz="1200" b="0" i="0" u="none" strike="noStrike" baseline="0" dirty="0">
                <a:solidFill>
                  <a:srgbClr val="000000"/>
                </a:solidFill>
                <a:latin typeface="MinionPro-Regular"/>
              </a:rPr>
              <a:t>). Th is pharmacokinetic profile correlates with clinical experience—patients typically lose consciousness within 30 s and awaken within 20 min.</a:t>
            </a:r>
            <a:endParaRPr lang="en-US" dirty="0"/>
          </a:p>
          <a:p>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73</a:t>
            </a:fld>
            <a:endParaRPr lang="en-US"/>
          </a:p>
        </p:txBody>
      </p:sp>
    </p:spTree>
    <p:extLst>
      <p:ext uri="{BB962C8B-B14F-4D97-AF65-F5344CB8AC3E}">
        <p14:creationId xmlns:p14="http://schemas.microsoft.com/office/powerpoint/2010/main" val="396634629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solidFill>
                  <a:srgbClr val="000000"/>
                </a:solidFill>
                <a:latin typeface="BrandingSans"/>
              </a:rPr>
              <a:t>After delivery of an IV bolus, the percentage of thiopental remaining in blood rapidly decreases as drug moves from blood to body tissues. The time to  attainment of peak tissue levels is a direct function of tissue capacity for barbiturate relative to blood flow. A larger capacity or smaller blood flow is related to a longer time to a peak tissue level. Initially, most thiopental is taken up by the vessel-rich group </a:t>
            </a:r>
            <a:r>
              <a:rPr lang="en-US" sz="1800" b="0" i="0" u="none" strike="noStrike" baseline="0" dirty="0">
                <a:solidFill>
                  <a:srgbClr val="000000"/>
                </a:solidFill>
                <a:latin typeface="BrandingSansItalic"/>
              </a:rPr>
              <a:t>(VRG) </a:t>
            </a:r>
            <a:r>
              <a:rPr lang="en-US" sz="1800" b="0" i="0" u="none" strike="noStrike" baseline="0" dirty="0">
                <a:solidFill>
                  <a:srgbClr val="000000"/>
                </a:solidFill>
                <a:latin typeface="BrandingSans"/>
              </a:rPr>
              <a:t>of tissues because of their high blood flow. Subsequently, drug is redistributed to muscle and to a lesser extent to fat </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74</a:t>
            </a:fld>
            <a:endParaRPr lang="en-US"/>
          </a:p>
        </p:txBody>
      </p:sp>
    </p:spTree>
    <p:extLst>
      <p:ext uri="{BB962C8B-B14F-4D97-AF65-F5344CB8AC3E}">
        <p14:creationId xmlns:p14="http://schemas.microsoft.com/office/powerpoint/2010/main" val="171278240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75</a:t>
            </a:fld>
            <a:endParaRPr lang="en-US"/>
          </a:p>
        </p:txBody>
      </p:sp>
    </p:spTree>
    <p:extLst>
      <p:ext uri="{BB962C8B-B14F-4D97-AF65-F5344CB8AC3E}">
        <p14:creationId xmlns:p14="http://schemas.microsoft.com/office/powerpoint/2010/main" val="337200745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MinionPro-Regular"/>
              </a:rPr>
              <a:t>Because of greater hepatic extraction, methohexital is cleared by the liver more rapidly than thiopental. </a:t>
            </a:r>
          </a:p>
          <a:p>
            <a:pPr algn="l"/>
            <a:r>
              <a:rPr lang="en-US" sz="1800" b="0" i="0" u="none" strike="noStrike" baseline="0" dirty="0">
                <a:latin typeface="MinionPro-Regular"/>
              </a:rPr>
              <a:t>Although redistribution is responsible for the awakening from a single sleep dose of any of these lipid-soluble barbiturates, full recovery of psychomotor function is more rapid following methohexital due to its enhanced metabolism.</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76</a:t>
            </a:fld>
            <a:endParaRPr lang="en-US"/>
          </a:p>
        </p:txBody>
      </p:sp>
    </p:spTree>
    <p:extLst>
      <p:ext uri="{BB962C8B-B14F-4D97-AF65-F5344CB8AC3E}">
        <p14:creationId xmlns:p14="http://schemas.microsoft.com/office/powerpoint/2010/main" val="29184799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MinionPro-Regular"/>
              </a:rPr>
              <a:t>Barbiturates incompletely depress airway reflex responses to laryngoscopy and intubation, and airway instrumentation may lead to</a:t>
            </a:r>
          </a:p>
          <a:p>
            <a:pPr algn="l"/>
            <a:r>
              <a:rPr lang="en-US" sz="1800" b="0" i="0" u="none" strike="noStrike" baseline="0" dirty="0">
                <a:latin typeface="MinionPro-Regular"/>
              </a:rPr>
              <a:t>bronchospasm (in asthmatic patients) or laryngospasm in lightly anesthetized patients.</a:t>
            </a:r>
          </a:p>
          <a:p>
            <a:pPr algn="l"/>
            <a:r>
              <a:rPr lang="en-US" sz="1800" b="0" i="0" u="none" strike="noStrike" baseline="0" dirty="0">
                <a:latin typeface="TimesNewRomanPSMT"/>
              </a:rPr>
              <a:t>Barbiturates cause respiratory depression in a dose-dependent manner, leading to central apnea at deeper stages of anesthesia.</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80</a:t>
            </a:fld>
            <a:endParaRPr lang="en-US"/>
          </a:p>
        </p:txBody>
      </p:sp>
    </p:spTree>
    <p:extLst>
      <p:ext uri="{BB962C8B-B14F-4D97-AF65-F5344CB8AC3E}">
        <p14:creationId xmlns:p14="http://schemas.microsoft.com/office/powerpoint/2010/main" val="41707889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MinionPro-Regular"/>
              </a:rPr>
              <a:t>Contrast media, sulfonamides, and other drugs that occupy the same protein-binding sites as thiopental may </a:t>
            </a:r>
          </a:p>
          <a:p>
            <a:pPr algn="l"/>
            <a:r>
              <a:rPr lang="en-US" sz="1800" b="0" i="0" u="none" strike="noStrike" baseline="0" dirty="0">
                <a:latin typeface="MinionPro-Regular"/>
              </a:rPr>
              <a:t>displace the barbiturate, increasing the amount of free drug available and potentiating the organ system effects of a given dose.</a:t>
            </a:r>
          </a:p>
          <a:p>
            <a:pPr algn="l"/>
            <a:r>
              <a:rPr lang="en-US" sz="1800" b="0" i="0" u="none" strike="noStrike" baseline="0" dirty="0">
                <a:solidFill>
                  <a:srgbClr val="000000"/>
                </a:solidFill>
                <a:latin typeface="Photina MT"/>
              </a:rPr>
              <a:t>Barbiturates cannot be reconstituted with lactated Ringer solution or mixed with other acidic solutions, as a decrease in the alkalinity of the solution can result in precipitation of the barbiturates as free acids. </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85</a:t>
            </a:fld>
            <a:endParaRPr lang="en-US"/>
          </a:p>
        </p:txBody>
      </p:sp>
    </p:spTree>
    <p:extLst>
      <p:ext uri="{BB962C8B-B14F-4D97-AF65-F5344CB8AC3E}">
        <p14:creationId xmlns:p14="http://schemas.microsoft.com/office/powerpoint/2010/main" val="213537623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solidFill>
                  <a:srgbClr val="000000"/>
                </a:solidFill>
                <a:latin typeface="Photina MT"/>
              </a:rPr>
              <a:t>Prolongation of early and late recovery by the barbiturates is the primary reason behind the fact that they have been largely replaced by propofol. </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87</a:t>
            </a:fld>
            <a:endParaRPr lang="en-US"/>
          </a:p>
        </p:txBody>
      </p:sp>
    </p:spTree>
    <p:extLst>
      <p:ext uri="{BB962C8B-B14F-4D97-AF65-F5344CB8AC3E}">
        <p14:creationId xmlns:p14="http://schemas.microsoft.com/office/powerpoint/2010/main" val="268394527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solidFill>
                  <a:srgbClr val="000000"/>
                </a:solidFill>
                <a:latin typeface="Photina MT"/>
              </a:rPr>
              <a:t>Mechanisms for the decrease in cardiac output include (1) direct negative inotropic action, due to a decrease of calcium influx into the cells, (2) decreased ventricular filling, due to increased capacitance, and (3) transiently decreased sympathetic outflow from the CNS.</a:t>
            </a:r>
          </a:p>
          <a:p>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93</a:t>
            </a:fld>
            <a:endParaRPr lang="en-US"/>
          </a:p>
        </p:txBody>
      </p:sp>
    </p:spTree>
    <p:extLst>
      <p:ext uri="{BB962C8B-B14F-4D97-AF65-F5344CB8AC3E}">
        <p14:creationId xmlns:p14="http://schemas.microsoft.com/office/powerpoint/2010/main" val="25579934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solidFill>
                  <a:srgbClr val="000000"/>
                </a:solidFill>
                <a:latin typeface="TimesNewRomanPSMT"/>
              </a:rPr>
              <a:t>Obesity has been noted to lower thiopental induction requirement on a per kilogram basis,</a:t>
            </a:r>
            <a:endParaRPr lang="en-US" sz="1800" b="0" i="0" u="none" strike="noStrike" baseline="0" dirty="0">
              <a:solidFill>
                <a:srgbClr val="0000EF"/>
              </a:solidFill>
              <a:latin typeface="TimesNewRomanPSMT"/>
            </a:endParaRPr>
          </a:p>
          <a:p>
            <a:pPr algn="l"/>
            <a:r>
              <a:rPr lang="en-US" sz="1800" b="0" i="0" u="none" strike="noStrike" baseline="0" dirty="0">
                <a:solidFill>
                  <a:srgbClr val="000000"/>
                </a:solidFill>
                <a:latin typeface="TimesNewRomanPSMT"/>
              </a:rPr>
              <a:t>but similar to propofol, the use of lean body mass to determine induction dose corrects the difference </a:t>
            </a:r>
            <a:r>
              <a:rPr lang="en-US" sz="1800" b="0" i="0" u="none" strike="noStrike" baseline="0" dirty="0">
                <a:solidFill>
                  <a:srgbClr val="000000"/>
                </a:solidFill>
                <a:latin typeface="Photina MT"/>
              </a:rPr>
              <a:t>owing to a decrease in the central volume of distribution. </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97</a:t>
            </a:fld>
            <a:endParaRPr lang="en-US"/>
          </a:p>
        </p:txBody>
      </p:sp>
    </p:spTree>
    <p:extLst>
      <p:ext uri="{BB962C8B-B14F-4D97-AF65-F5344CB8AC3E}">
        <p14:creationId xmlns:p14="http://schemas.microsoft.com/office/powerpoint/2010/main" val="136857658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99</a:t>
            </a:fld>
            <a:endParaRPr lang="en-US"/>
          </a:p>
        </p:txBody>
      </p:sp>
    </p:spTree>
    <p:extLst>
      <p:ext uri="{BB962C8B-B14F-4D97-AF65-F5344CB8AC3E}">
        <p14:creationId xmlns:p14="http://schemas.microsoft.com/office/powerpoint/2010/main" val="25224010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NewRomanPSMT"/>
              </a:rPr>
              <a:t>Intravenous administration of thiopental is typically not irritating or painful, but if injected outside the vein into subcutaneous tissue, it can cause</a:t>
            </a:r>
          </a:p>
          <a:p>
            <a:pPr algn="l"/>
            <a:r>
              <a:rPr lang="en-US" sz="1800" b="0" i="0" u="none" strike="noStrike" baseline="0" dirty="0">
                <a:latin typeface="TimesNewRomanPSMT"/>
              </a:rPr>
              <a:t>discomfort. Methohexital-induced pain on injection is much more prevalent.</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101</a:t>
            </a:fld>
            <a:endParaRPr lang="en-US"/>
          </a:p>
        </p:txBody>
      </p:sp>
    </p:spTree>
    <p:extLst>
      <p:ext uri="{BB962C8B-B14F-4D97-AF65-F5344CB8AC3E}">
        <p14:creationId xmlns:p14="http://schemas.microsoft.com/office/powerpoint/2010/main" val="315032408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baseline="0" dirty="0">
                <a:solidFill>
                  <a:srgbClr val="000000"/>
                </a:solidFill>
                <a:latin typeface="Photina MT"/>
              </a:rPr>
              <a:t>Examples of drugs that are not to be </a:t>
            </a:r>
            <a:r>
              <a:rPr lang="en-US" sz="1200" b="0" i="0" u="none" strike="noStrike" baseline="0" dirty="0" err="1">
                <a:solidFill>
                  <a:srgbClr val="000000"/>
                </a:solidFill>
                <a:latin typeface="Photina MT"/>
              </a:rPr>
              <a:t>coadministered</a:t>
            </a:r>
            <a:r>
              <a:rPr lang="en-US" sz="1200" b="0" i="0" u="none" strike="noStrike" baseline="0" dirty="0">
                <a:solidFill>
                  <a:srgbClr val="000000"/>
                </a:solidFill>
                <a:latin typeface="Photina MT"/>
              </a:rPr>
              <a:t> or mixed in solution with the barbiturates are atracurium, vecuronium, rocuronium, suxamethonium, alfentanil, </a:t>
            </a:r>
            <a:r>
              <a:rPr lang="en-US" sz="1200" b="0" i="0" u="none" strike="noStrike" baseline="0" dirty="0" err="1">
                <a:solidFill>
                  <a:srgbClr val="000000"/>
                </a:solidFill>
                <a:latin typeface="Photina MT"/>
              </a:rPr>
              <a:t>sufentanil</a:t>
            </a:r>
            <a:r>
              <a:rPr lang="en-US" sz="1200" b="0" i="0" u="none" strike="noStrike" baseline="0" dirty="0">
                <a:solidFill>
                  <a:srgbClr val="000000"/>
                </a:solidFill>
                <a:latin typeface="Photina MT"/>
              </a:rPr>
              <a:t>, dobutamine, dopamine, </a:t>
            </a:r>
            <a:r>
              <a:rPr lang="en-US" sz="1200" b="0" i="0" u="none" strike="noStrike" baseline="0" dirty="0" err="1">
                <a:solidFill>
                  <a:srgbClr val="000000"/>
                </a:solidFill>
                <a:latin typeface="Photina MT"/>
              </a:rPr>
              <a:t>esketamine</a:t>
            </a:r>
            <a:r>
              <a:rPr lang="en-US" sz="1200" b="0" i="0" u="none" strike="noStrike" baseline="0" dirty="0">
                <a:solidFill>
                  <a:srgbClr val="000000"/>
                </a:solidFill>
                <a:latin typeface="Photina MT"/>
              </a:rPr>
              <a:t>, and midazolam. Mixing of thiopental with vecuronium or </a:t>
            </a:r>
            <a:r>
              <a:rPr lang="en-US" sz="1200" b="0" i="0" u="none" strike="noStrike" baseline="0" dirty="0" err="1">
                <a:solidFill>
                  <a:srgbClr val="000000"/>
                </a:solidFill>
                <a:latin typeface="Photina MT"/>
              </a:rPr>
              <a:t>pancuronium</a:t>
            </a:r>
            <a:r>
              <a:rPr lang="en-US" sz="1200" b="0" i="0" u="none" strike="noStrike" baseline="0" dirty="0">
                <a:solidFill>
                  <a:srgbClr val="000000"/>
                </a:solidFill>
                <a:latin typeface="Photina MT"/>
              </a:rPr>
              <a:t> results in the formation of precipitate that may occlude the IV line during a rapid sequence induction of anesthesia.</a:t>
            </a:r>
            <a:endParaRPr lang="en-US" dirty="0"/>
          </a:p>
          <a:p>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103</a:t>
            </a:fld>
            <a:endParaRPr lang="en-US"/>
          </a:p>
        </p:txBody>
      </p:sp>
    </p:spTree>
    <p:extLst>
      <p:ext uri="{BB962C8B-B14F-4D97-AF65-F5344CB8AC3E}">
        <p14:creationId xmlns:p14="http://schemas.microsoft.com/office/powerpoint/2010/main" val="212319994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Porpyrins</a:t>
            </a:r>
            <a:r>
              <a:rPr lang="en-US" baseline="0" dirty="0"/>
              <a:t> are </a:t>
            </a:r>
            <a:r>
              <a:rPr kumimoji="0" lang="en-US" sz="1200" b="0" i="0" u="none" strike="noStrike" kern="1200" cap="none" spc="0" normalizeH="0" baseline="0" noProof="0" dirty="0">
                <a:ln>
                  <a:noFill/>
                </a:ln>
                <a:solidFill>
                  <a:prstClr val="black"/>
                </a:solidFill>
                <a:effectLst/>
                <a:uLnTx/>
                <a:uFillTx/>
                <a:latin typeface="Calibri" pitchFamily="34" charset="0"/>
                <a:ea typeface="Calibri" pitchFamily="34" charset="0"/>
                <a:cs typeface="Times New Roman" pitchFamily="18" charset="0"/>
              </a:rPr>
              <a:t>Group of N</a:t>
            </a:r>
            <a:r>
              <a:rPr kumimoji="0" lang="en-US" sz="1200" b="0" i="0" u="none" strike="noStrike" kern="1200" cap="none" spc="0" normalizeH="0" baseline="-30000" noProof="0" dirty="0">
                <a:ln>
                  <a:noFill/>
                </a:ln>
                <a:solidFill>
                  <a:prstClr val="black"/>
                </a:solidFill>
                <a:effectLst/>
                <a:uLnTx/>
                <a:uFillTx/>
                <a:latin typeface="Calibri" pitchFamily="34" charset="0"/>
                <a:ea typeface="Calibri" pitchFamily="34" charset="0"/>
                <a:cs typeface="Times New Roman" pitchFamily="18" charset="0"/>
              </a:rPr>
              <a:t>2</a:t>
            </a:r>
            <a:r>
              <a:rPr kumimoji="0" lang="en-US" sz="1200" b="0" i="0" u="none" strike="noStrike" kern="1200" cap="none" spc="0" normalizeH="0" baseline="0" noProof="0" dirty="0">
                <a:ln>
                  <a:noFill/>
                </a:ln>
                <a:solidFill>
                  <a:prstClr val="black"/>
                </a:solidFill>
                <a:effectLst/>
                <a:uLnTx/>
                <a:uFillTx/>
                <a:latin typeface="Calibri" pitchFamily="34" charset="0"/>
                <a:ea typeface="Calibri" pitchFamily="34" charset="0"/>
                <a:cs typeface="Times New Roman" pitchFamily="18" charset="0"/>
              </a:rPr>
              <a:t> containing organic compounds that occur in protoplasm (Hemoglobin).=&gt; liver disorder</a:t>
            </a:r>
            <a:endParaRPr kumimoji="0" lang="en-US" sz="1200" b="0" i="0" u="none" strike="noStrike" kern="1200" cap="none" spc="0" normalizeH="0" baseline="0" noProof="0" dirty="0">
              <a:ln>
                <a:noFill/>
              </a:ln>
              <a:solidFill>
                <a:prstClr val="black"/>
              </a:solidFill>
              <a:effectLst/>
              <a:uLnTx/>
              <a:uFillTx/>
              <a:latin typeface="Arial" pitchFamily="34" charset="0"/>
              <a:ea typeface="+mn-ea"/>
              <a:cs typeface="+mn-cs"/>
            </a:endParaRPr>
          </a:p>
          <a:p>
            <a:endParaRPr lang="en-US" dirty="0"/>
          </a:p>
        </p:txBody>
      </p:sp>
      <p:sp>
        <p:nvSpPr>
          <p:cNvPr id="4" name="Slide Number Placeholder 3"/>
          <p:cNvSpPr>
            <a:spLocks noGrp="1"/>
          </p:cNvSpPr>
          <p:nvPr>
            <p:ph type="sldNum" sz="quarter" idx="10"/>
          </p:nvPr>
        </p:nvSpPr>
        <p:spPr/>
        <p:txBody>
          <a:bodyPr/>
          <a:lstStyle/>
          <a:p>
            <a:fld id="{C9CDDA98-9201-4835-8F2A-798F8AE539B3}" type="slidenum">
              <a:rPr lang="en-US" smtClean="0"/>
              <a:t>107</a:t>
            </a:fld>
            <a:endParaRPr lang="en-US"/>
          </a:p>
        </p:txBody>
      </p:sp>
    </p:spTree>
    <p:extLst>
      <p:ext uri="{BB962C8B-B14F-4D97-AF65-F5344CB8AC3E}">
        <p14:creationId xmlns:p14="http://schemas.microsoft.com/office/powerpoint/2010/main" val="222532426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solidFill>
                  <a:srgbClr val="000000"/>
                </a:solidFill>
                <a:latin typeface="Photina MT"/>
              </a:rPr>
              <a:t>when there is respiratory obstruction or an inadequate airway, thiopental may worsen respiratory depression.</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108</a:t>
            </a:fld>
            <a:endParaRPr lang="en-US"/>
          </a:p>
        </p:txBody>
      </p:sp>
    </p:spTree>
    <p:extLst>
      <p:ext uri="{BB962C8B-B14F-4D97-AF65-F5344CB8AC3E}">
        <p14:creationId xmlns:p14="http://schemas.microsoft.com/office/powerpoint/2010/main" val="352475151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109</a:t>
            </a:fld>
            <a:endParaRPr lang="en-US"/>
          </a:p>
        </p:txBody>
      </p:sp>
    </p:spTree>
    <p:extLst>
      <p:ext uri="{BB962C8B-B14F-4D97-AF65-F5344CB8AC3E}">
        <p14:creationId xmlns:p14="http://schemas.microsoft.com/office/powerpoint/2010/main" val="184210603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NewRomanPSMT"/>
              </a:rPr>
              <a:t>Etomidate is largely protein bound (approximately 75%) and thus affected by pathologic conditions and/or drugs that alter serum proteins.</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117</a:t>
            </a:fld>
            <a:endParaRPr lang="en-US"/>
          </a:p>
        </p:txBody>
      </p:sp>
    </p:spTree>
    <p:extLst>
      <p:ext uri="{BB962C8B-B14F-4D97-AF65-F5344CB8AC3E}">
        <p14:creationId xmlns:p14="http://schemas.microsoft.com/office/powerpoint/2010/main" val="16699465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NewRomanPSMT"/>
              </a:rPr>
              <a:t>11-beta-hydroxylase is responsible for the conversion of cholesterol to cortisol.</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121</a:t>
            </a:fld>
            <a:endParaRPr lang="en-US"/>
          </a:p>
        </p:txBody>
      </p:sp>
    </p:spTree>
    <p:extLst>
      <p:ext uri="{BB962C8B-B14F-4D97-AF65-F5344CB8AC3E}">
        <p14:creationId xmlns:p14="http://schemas.microsoft.com/office/powerpoint/2010/main" val="135589254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bg-BG" sz="1400" dirty="0">
                <a:solidFill>
                  <a:srgbClr val="FF0000"/>
                </a:solidFill>
                <a:latin typeface="Times New Roman" pitchFamily="18" charset="0"/>
                <a:cs typeface="Times New Roman" pitchFamily="18" charset="0"/>
              </a:rPr>
              <a:t>Hepatic clearence </a:t>
            </a:r>
            <a:r>
              <a:rPr lang="bg-BG" sz="1400" dirty="0">
                <a:latin typeface="Times New Roman" pitchFamily="18" charset="0"/>
                <a:cs typeface="Times New Roman" pitchFamily="18" charset="0"/>
              </a:rPr>
              <a:t>is the rate of elimination of a drug as a result of liver biotransformation. </a:t>
            </a:r>
            <a:endParaRPr lang="en-US" sz="1400" dirty="0">
              <a:latin typeface="Times New Roman" pitchFamily="18" charset="0"/>
              <a:cs typeface="Times New Roman"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itchFamily="18" charset="0"/>
                <a:cs typeface="Times New Roman" pitchFamily="18" charset="0"/>
              </a:rPr>
              <a:t>T</a:t>
            </a:r>
            <a:r>
              <a:rPr lang="bg-BG" sz="1200" dirty="0">
                <a:latin typeface="Times New Roman" pitchFamily="18" charset="0"/>
                <a:cs typeface="Times New Roman" pitchFamily="18" charset="0"/>
              </a:rPr>
              <a:t>he fraction of drug removed from the blood by the liver (hepatic extraction ratio). </a:t>
            </a:r>
            <a:endParaRPr lang="en-US" sz="1200" dirty="0">
              <a:latin typeface="Times New Roman" pitchFamily="18" charset="0"/>
              <a:cs typeface="Times New Roman" pitchFamily="18" charset="0"/>
            </a:endParaRPr>
          </a:p>
          <a:p>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150</a:t>
            </a:fld>
            <a:endParaRPr lang="en-US"/>
          </a:p>
        </p:txBody>
      </p:sp>
    </p:spTree>
    <p:extLst>
      <p:ext uri="{BB962C8B-B14F-4D97-AF65-F5344CB8AC3E}">
        <p14:creationId xmlns:p14="http://schemas.microsoft.com/office/powerpoint/2010/main" val="243184050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9CDDA98-9201-4835-8F2A-798F8AE539B3}" type="slidenum">
              <a:rPr lang="en-US" smtClean="0"/>
              <a:t>153</a:t>
            </a:fld>
            <a:endParaRPr lang="en-US"/>
          </a:p>
        </p:txBody>
      </p:sp>
    </p:spTree>
    <p:extLst>
      <p:ext uri="{BB962C8B-B14F-4D97-AF65-F5344CB8AC3E}">
        <p14:creationId xmlns:p14="http://schemas.microsoft.com/office/powerpoint/2010/main" val="328661187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NewRomanPSMT"/>
              </a:rPr>
              <a:t>Midazolam’s use as a premedication and anesthetic is largely due to its quick onset, short elimination half-life, anterograde amnestic effect, and minimal side-effect profile</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154</a:t>
            </a:fld>
            <a:endParaRPr lang="en-US"/>
          </a:p>
        </p:txBody>
      </p:sp>
    </p:spTree>
    <p:extLst>
      <p:ext uri="{BB962C8B-B14F-4D97-AF65-F5344CB8AC3E}">
        <p14:creationId xmlns:p14="http://schemas.microsoft.com/office/powerpoint/2010/main" val="226680995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solidFill>
                  <a:srgbClr val="000000"/>
                </a:solidFill>
                <a:latin typeface="Photina MT"/>
              </a:rPr>
              <a:t>The pharmacokinetics of midazolam are affected by obesity, age, hepatic cirrhosis, and severity of critical illness. Because of its high lipophilicity (at physiological pH), midazolam distributes preferably to adipose tissue resulting in a prolonged elimination half-life in obese patients.</a:t>
            </a:r>
            <a:r>
              <a:rPr lang="en-US" sz="1800" b="0" i="0" u="none" strike="noStrike" baseline="0" dirty="0">
                <a:solidFill>
                  <a:srgbClr val="0080AC"/>
                </a:solidFill>
                <a:latin typeface="Photina MT"/>
              </a:rPr>
              <a:t> </a:t>
            </a:r>
            <a:r>
              <a:rPr lang="en-US" sz="1800" b="0" i="0" u="none" strike="noStrike" baseline="0" dirty="0">
                <a:solidFill>
                  <a:srgbClr val="000000"/>
                </a:solidFill>
                <a:latin typeface="Photina MT"/>
              </a:rPr>
              <a:t>Liver cirrhosis reduces plasma clearance of midazolam due to decreased metabolism.</a:t>
            </a:r>
            <a:endParaRPr lang="en-US" dirty="0"/>
          </a:p>
        </p:txBody>
      </p:sp>
      <p:sp>
        <p:nvSpPr>
          <p:cNvPr id="4" name="Slide Number Placeholder 3"/>
          <p:cNvSpPr>
            <a:spLocks noGrp="1"/>
          </p:cNvSpPr>
          <p:nvPr>
            <p:ph type="sldNum" sz="quarter" idx="5"/>
          </p:nvPr>
        </p:nvSpPr>
        <p:spPr/>
        <p:txBody>
          <a:bodyPr/>
          <a:lstStyle/>
          <a:p>
            <a:fld id="{C9CDDA98-9201-4835-8F2A-798F8AE539B3}" type="slidenum">
              <a:rPr lang="en-US" smtClean="0"/>
              <a:t>155</a:t>
            </a:fld>
            <a:endParaRPr lang="en-US"/>
          </a:p>
        </p:txBody>
      </p:sp>
    </p:spTree>
    <p:extLst>
      <p:ext uri="{BB962C8B-B14F-4D97-AF65-F5344CB8AC3E}">
        <p14:creationId xmlns:p14="http://schemas.microsoft.com/office/powerpoint/2010/main" val="158493812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9CDDA98-9201-4835-8F2A-798F8AE539B3}" type="slidenum">
              <a:rPr lang="en-US" smtClean="0"/>
              <a:t>173</a:t>
            </a:fld>
            <a:endParaRPr lang="en-US"/>
          </a:p>
        </p:txBody>
      </p:sp>
    </p:spTree>
    <p:extLst>
      <p:ext uri="{BB962C8B-B14F-4D97-AF65-F5344CB8AC3E}">
        <p14:creationId xmlns:p14="http://schemas.microsoft.com/office/powerpoint/2010/main" val="6831067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3/23/2024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F9A53F-8AEF-AFEC-1B1D-80F4E791D821}"/>
              </a:ext>
            </a:extLst>
          </p:cNvPr>
          <p:cNvSpPr>
            <a:spLocks noGrp="1"/>
          </p:cNvSpPr>
          <p:nvPr>
            <p:ph idx="1"/>
          </p:nvPr>
        </p:nvSpPr>
        <p:spPr>
          <a:xfrm>
            <a:off x="457200" y="1600200"/>
            <a:ext cx="8534400" cy="5410200"/>
          </a:xfrm>
        </p:spPr>
        <p:txBody>
          <a:bodyPr>
            <a:normAutofit fontScale="92500" lnSpcReduction="10000"/>
          </a:bodyPr>
          <a:lstStyle/>
          <a:p>
            <a:pPr marL="0" lvl="0" indent="0">
              <a:buNone/>
            </a:pPr>
            <a:r>
              <a:rPr lang="en-US" sz="4800" dirty="0">
                <a:latin typeface="Agency FB" panose="020B0503020202020204" pitchFamily="34" charset="0"/>
              </a:rPr>
              <a:t>Intravenous Anesthetic agents (IVAA)</a:t>
            </a:r>
            <a:br>
              <a:rPr lang="en-US" sz="4400" dirty="0"/>
            </a:br>
            <a:endParaRPr lang="en-US" sz="2800" b="1" dirty="0">
              <a:solidFill>
                <a:prstClr val="black">
                  <a:tint val="75000"/>
                </a:prstClr>
              </a:solidFill>
              <a:latin typeface="Lucida Calligraphy" pitchFamily="66" charset="0"/>
              <a:cs typeface="Times New Roman" pitchFamily="18" charset="0"/>
            </a:endParaRPr>
          </a:p>
          <a:p>
            <a:pPr marL="0" lvl="0" indent="0">
              <a:buNone/>
            </a:pPr>
            <a:endParaRPr lang="en-US" sz="2800" b="1" dirty="0">
              <a:solidFill>
                <a:prstClr val="black">
                  <a:tint val="75000"/>
                </a:prstClr>
              </a:solidFill>
              <a:latin typeface="Lucida Calligraphy" pitchFamily="66" charset="0"/>
              <a:cs typeface="Times New Roman" pitchFamily="18" charset="0"/>
            </a:endParaRPr>
          </a:p>
          <a:p>
            <a:pPr marL="0" lvl="0" indent="0">
              <a:buNone/>
            </a:pPr>
            <a:endParaRPr lang="en-US" sz="2800" b="1" dirty="0">
              <a:solidFill>
                <a:prstClr val="black">
                  <a:tint val="75000"/>
                </a:prstClr>
              </a:solidFill>
              <a:latin typeface="Lucida Calligraphy" pitchFamily="66" charset="0"/>
              <a:cs typeface="Times New Roman" pitchFamily="18" charset="0"/>
            </a:endParaRPr>
          </a:p>
          <a:p>
            <a:pPr marL="0" lvl="0" indent="0">
              <a:buNone/>
            </a:pPr>
            <a:endParaRPr lang="en-US" sz="2600" b="1" dirty="0">
              <a:solidFill>
                <a:prstClr val="black">
                  <a:tint val="75000"/>
                </a:prstClr>
              </a:solidFill>
              <a:latin typeface="Lucida Calligraphy" pitchFamily="66" charset="0"/>
              <a:cs typeface="Times New Roman" pitchFamily="18" charset="0"/>
            </a:endParaRPr>
          </a:p>
          <a:p>
            <a:pPr marL="0" lvl="0" indent="0">
              <a:buNone/>
            </a:pPr>
            <a:endParaRPr lang="en-US" sz="2600" b="1" dirty="0">
              <a:solidFill>
                <a:prstClr val="black">
                  <a:tint val="75000"/>
                </a:prstClr>
              </a:solidFill>
              <a:latin typeface="Lucida Calligraphy" pitchFamily="66" charset="0"/>
              <a:cs typeface="Times New Roman" pitchFamily="18" charset="0"/>
            </a:endParaRPr>
          </a:p>
          <a:p>
            <a:pPr marL="0" lvl="0" indent="0">
              <a:buNone/>
            </a:pPr>
            <a:endParaRPr lang="en-US" sz="2400" b="1" dirty="0">
              <a:solidFill>
                <a:prstClr val="black">
                  <a:tint val="75000"/>
                </a:prstClr>
              </a:solidFill>
              <a:latin typeface="Lucida Calligraphy" pitchFamily="66" charset="0"/>
              <a:cs typeface="Times New Roman" pitchFamily="18" charset="0"/>
            </a:endParaRPr>
          </a:p>
          <a:p>
            <a:pPr marL="0" lvl="0" indent="0">
              <a:buNone/>
            </a:pPr>
            <a:endParaRPr lang="en-US" sz="2400" b="1" dirty="0">
              <a:solidFill>
                <a:prstClr val="black">
                  <a:tint val="75000"/>
                </a:prstClr>
              </a:solidFill>
              <a:latin typeface="Lucida Calligraphy" pitchFamily="66" charset="0"/>
              <a:cs typeface="Times New Roman" pitchFamily="18" charset="0"/>
            </a:endParaRPr>
          </a:p>
          <a:p>
            <a:pPr marL="0" lvl="0" indent="0">
              <a:buNone/>
            </a:pPr>
            <a:endParaRPr lang="en-US" sz="2400" b="1" dirty="0">
              <a:solidFill>
                <a:prstClr val="black">
                  <a:tint val="75000"/>
                </a:prstClr>
              </a:solidFill>
              <a:latin typeface="Lucida Calligraphy" pitchFamily="66" charset="0"/>
              <a:cs typeface="Times New Roman" pitchFamily="18" charset="0"/>
            </a:endParaRPr>
          </a:p>
          <a:p>
            <a:pPr marL="0" lvl="0" indent="0">
              <a:buNone/>
            </a:pPr>
            <a:endParaRPr lang="en-US" sz="2400" b="1" dirty="0">
              <a:solidFill>
                <a:prstClr val="black">
                  <a:tint val="75000"/>
                </a:prstClr>
              </a:solidFill>
              <a:latin typeface="Lucida Calligraphy" pitchFamily="66" charset="0"/>
              <a:cs typeface="Times New Roman" pitchFamily="18" charset="0"/>
            </a:endParaRPr>
          </a:p>
          <a:p>
            <a:pPr marL="0" lvl="0" indent="0">
              <a:buNone/>
            </a:pPr>
            <a:r>
              <a:rPr lang="en-US" sz="2400" b="1" dirty="0">
                <a:solidFill>
                  <a:prstClr val="black">
                    <a:tint val="75000"/>
                  </a:prstClr>
                </a:solidFill>
                <a:latin typeface="Lucida Calligraphy" pitchFamily="66" charset="0"/>
                <a:cs typeface="Times New Roman" pitchFamily="18" charset="0"/>
              </a:rPr>
              <a:t>Mulualem Sitot (BSc, MSc in ACA)</a:t>
            </a:r>
          </a:p>
          <a:p>
            <a:pPr marL="0" lvl="0" indent="0">
              <a:buNone/>
            </a:pPr>
            <a:r>
              <a:rPr lang="en-US" sz="2400" b="1" dirty="0">
                <a:solidFill>
                  <a:prstClr val="black">
                    <a:tint val="75000"/>
                  </a:prstClr>
                </a:solidFill>
                <a:latin typeface="Lucida Calligraphy" pitchFamily="66" charset="0"/>
                <a:cs typeface="Times New Roman" pitchFamily="18" charset="0"/>
              </a:rPr>
              <a:t>Department of Anesthesia</a:t>
            </a:r>
          </a:p>
          <a:p>
            <a:pPr marL="0" lvl="0" indent="0">
              <a:buNone/>
            </a:pPr>
            <a:r>
              <a:rPr lang="en-US" sz="2400" b="1" dirty="0">
                <a:solidFill>
                  <a:prstClr val="black">
                    <a:tint val="75000"/>
                  </a:prstClr>
                </a:solidFill>
                <a:latin typeface="Lucida Calligraphy" pitchFamily="66" charset="0"/>
                <a:cs typeface="Times New Roman" pitchFamily="18" charset="0"/>
              </a:rPr>
              <a:t>Addis Ababa University</a:t>
            </a:r>
          </a:p>
          <a:p>
            <a:endParaRPr lang="en-US" b="1" dirty="0">
              <a:latin typeface="Lucida Calligraphy" pitchFamily="66" charset="0"/>
            </a:endParaRPr>
          </a:p>
          <a:p>
            <a:endParaRPr lang="en-US" dirty="0"/>
          </a:p>
        </p:txBody>
      </p:sp>
      <p:pic>
        <p:nvPicPr>
          <p:cNvPr id="4" name="Image1">
            <a:extLst>
              <a:ext uri="{FF2B5EF4-FFF2-40B4-BE49-F238E27FC236}">
                <a16:creationId xmlns:a16="http://schemas.microsoft.com/office/drawing/2014/main" id="{AD326B9B-A985-DD8D-2C0D-A275CD2D9F40}"/>
              </a:ext>
            </a:extLst>
          </p:cNvPr>
          <p:cNvPicPr/>
          <p:nvPr/>
        </p:nvPicPr>
        <p:blipFill rotWithShape="1">
          <a:blip r:embed="rId3" cstate="print">
            <a:extLst>
              <a:ext uri="{28A0092B-C50C-407E-A947-70E740481C1C}">
                <a14:useLocalDpi xmlns:a14="http://schemas.microsoft.com/office/drawing/2010/main" val="0"/>
              </a:ext>
            </a:extLst>
          </a:blip>
          <a:srcRect/>
          <a:stretch>
            <a:fillRect/>
          </a:stretch>
        </p:blipFill>
        <p:spPr>
          <a:xfrm>
            <a:off x="381000" y="228600"/>
            <a:ext cx="1915160" cy="1523999"/>
          </a:xfrm>
          <a:prstGeom prst="rect">
            <a:avLst/>
          </a:prstGeom>
        </p:spPr>
      </p:pic>
      <p:pic>
        <p:nvPicPr>
          <p:cNvPr id="5" name="Picture 4">
            <a:extLst>
              <a:ext uri="{FF2B5EF4-FFF2-40B4-BE49-F238E27FC236}">
                <a16:creationId xmlns:a16="http://schemas.microsoft.com/office/drawing/2014/main" id="{88997D5F-6A74-DB02-6E96-AA465A58CB77}"/>
              </a:ext>
            </a:extLst>
          </p:cNvPr>
          <p:cNvPicPr>
            <a:picLocks noChangeAspect="1"/>
          </p:cNvPicPr>
          <p:nvPr/>
        </p:nvPicPr>
        <p:blipFill>
          <a:blip r:embed="rId4"/>
          <a:stretch>
            <a:fillRect/>
          </a:stretch>
        </p:blipFill>
        <p:spPr>
          <a:xfrm>
            <a:off x="762000" y="2438400"/>
            <a:ext cx="7620000" cy="2819400"/>
          </a:xfrm>
          <a:prstGeom prst="rect">
            <a:avLst/>
          </a:prstGeom>
        </p:spPr>
      </p:pic>
    </p:spTree>
    <p:extLst>
      <p:ext uri="{BB962C8B-B14F-4D97-AF65-F5344CB8AC3E}">
        <p14:creationId xmlns:p14="http://schemas.microsoft.com/office/powerpoint/2010/main" val="792833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762001"/>
            <a:ext cx="8229600" cy="1523999"/>
          </a:xfrm>
        </p:spPr>
        <p:txBody>
          <a:bodyPr>
            <a:noAutofit/>
          </a:bodyPr>
          <a:lstStyle/>
          <a:p>
            <a:pPr lvl="0"/>
            <a:br>
              <a:rPr lang="en-US" sz="6000" dirty="0">
                <a:latin typeface="Agency FB" pitchFamily="34" charset="0"/>
              </a:rPr>
            </a:br>
            <a:r>
              <a:rPr lang="en-US" sz="6000" dirty="0">
                <a:latin typeface="Agency FB" pitchFamily="34" charset="0"/>
              </a:rPr>
              <a:t>Intravenous Anesthetic agents (</a:t>
            </a:r>
            <a:r>
              <a:rPr lang="en-US" sz="6000" dirty="0">
                <a:effectLst>
                  <a:outerShdw blurRad="38100" dist="38100" dir="2700000" algn="tl">
                    <a:srgbClr val="000000">
                      <a:alpha val="43137"/>
                    </a:srgbClr>
                  </a:outerShdw>
                </a:effectLst>
                <a:latin typeface="Agency FB" pitchFamily="34" charset="0"/>
              </a:rPr>
              <a:t>IVAA</a:t>
            </a:r>
            <a:r>
              <a:rPr lang="en-US" sz="6000" dirty="0">
                <a:latin typeface="Agency FB" pitchFamily="34" charset="0"/>
              </a:rPr>
              <a:t>)</a:t>
            </a:r>
            <a:br>
              <a:rPr lang="en-US" sz="6000" dirty="0">
                <a:latin typeface="Agency FB" pitchFamily="34" charset="0"/>
              </a:rPr>
            </a:br>
            <a:endParaRPr lang="en-US" sz="6000" dirty="0">
              <a:latin typeface="Agency FB" pitchFamily="34" charset="0"/>
            </a:endParaRPr>
          </a:p>
        </p:txBody>
      </p:sp>
      <p:sp>
        <p:nvSpPr>
          <p:cNvPr id="3" name="Subtitle 2"/>
          <p:cNvSpPr>
            <a:spLocks noGrp="1"/>
          </p:cNvSpPr>
          <p:nvPr>
            <p:ph type="subTitle" idx="1"/>
          </p:nvPr>
        </p:nvSpPr>
        <p:spPr>
          <a:xfrm>
            <a:off x="533400" y="2362200"/>
            <a:ext cx="8153400" cy="4267200"/>
          </a:xfrm>
        </p:spPr>
        <p:txBody>
          <a:bodyPr>
            <a:noAutofit/>
          </a:bodyPr>
          <a:lstStyle/>
          <a:p>
            <a:pPr marL="457200" indent="-457200" algn="l">
              <a:buFont typeface="Wingdings" pitchFamily="2" charset="2"/>
              <a:buChar char="Ø"/>
            </a:pPr>
            <a:r>
              <a:rPr lang="en-US" sz="4000" dirty="0">
                <a:solidFill>
                  <a:srgbClr val="FF0000"/>
                </a:solidFill>
                <a:latin typeface="Agency FB" pitchFamily="34" charset="0"/>
              </a:rPr>
              <a:t>Propofol </a:t>
            </a:r>
          </a:p>
          <a:p>
            <a:pPr marL="457200" indent="-457200" algn="l">
              <a:buFont typeface="Wingdings" pitchFamily="2" charset="2"/>
              <a:buChar char="Ø"/>
            </a:pPr>
            <a:r>
              <a:rPr lang="en-US" sz="4000" dirty="0">
                <a:solidFill>
                  <a:srgbClr val="FF0000"/>
                </a:solidFill>
                <a:latin typeface="Agency FB" pitchFamily="34" charset="0"/>
              </a:rPr>
              <a:t>Ketamine </a:t>
            </a:r>
          </a:p>
          <a:p>
            <a:pPr marL="457200" indent="-457200" algn="l">
              <a:buFont typeface="Wingdings" pitchFamily="2" charset="2"/>
              <a:buChar char="Ø"/>
            </a:pPr>
            <a:r>
              <a:rPr lang="en-US" sz="4000" dirty="0">
                <a:solidFill>
                  <a:srgbClr val="FF0000"/>
                </a:solidFill>
                <a:latin typeface="Agency FB" pitchFamily="34" charset="0"/>
              </a:rPr>
              <a:t>Barbiturates </a:t>
            </a:r>
          </a:p>
          <a:p>
            <a:pPr marL="457200" indent="-457200" algn="l">
              <a:buFont typeface="Wingdings" pitchFamily="2" charset="2"/>
              <a:buChar char="Ø"/>
            </a:pPr>
            <a:r>
              <a:rPr lang="en-US" sz="4000" dirty="0">
                <a:solidFill>
                  <a:srgbClr val="FF0000"/>
                </a:solidFill>
                <a:latin typeface="Agency FB" pitchFamily="34" charset="0"/>
              </a:rPr>
              <a:t> Etomidate</a:t>
            </a:r>
            <a:endParaRPr lang="en-US" sz="4000" dirty="0">
              <a:latin typeface="Agency FB" pitchFamily="34" charset="0"/>
            </a:endParaRPr>
          </a:p>
          <a:p>
            <a:pPr marL="457200" indent="-457200" algn="l">
              <a:buFont typeface="Wingdings" pitchFamily="2" charset="2"/>
              <a:buChar char="Ø"/>
            </a:pPr>
            <a:r>
              <a:rPr lang="en-US" sz="4000" dirty="0">
                <a:solidFill>
                  <a:srgbClr val="FF0000"/>
                </a:solidFill>
                <a:latin typeface="Agency FB" pitchFamily="34" charset="0"/>
              </a:rPr>
              <a:t>Benzodiazepines </a:t>
            </a:r>
          </a:p>
        </p:txBody>
      </p:sp>
    </p:spTree>
    <p:extLst>
      <p:ext uri="{BB962C8B-B14F-4D97-AF65-F5344CB8AC3E}">
        <p14:creationId xmlns:p14="http://schemas.microsoft.com/office/powerpoint/2010/main" val="571483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dirty="0">
                <a:latin typeface="Agency FB" pitchFamily="34" charset="0"/>
              </a:rPr>
              <a:t>Outline</a:t>
            </a:r>
          </a:p>
        </p:txBody>
      </p:sp>
      <p:sp>
        <p:nvSpPr>
          <p:cNvPr id="3" name="Content Placeholder 2"/>
          <p:cNvSpPr>
            <a:spLocks noGrp="1"/>
          </p:cNvSpPr>
          <p:nvPr>
            <p:ph idx="1"/>
          </p:nvPr>
        </p:nvSpPr>
        <p:spPr>
          <a:xfrm>
            <a:off x="457200" y="1524000"/>
            <a:ext cx="8229600" cy="4525963"/>
          </a:xfrm>
        </p:spPr>
        <p:txBody>
          <a:bodyPr>
            <a:normAutofit/>
          </a:bodyPr>
          <a:lstStyle/>
          <a:p>
            <a:pPr lvl="0"/>
            <a:r>
              <a:rPr lang="en-US" dirty="0"/>
              <a:t>Objectives </a:t>
            </a:r>
          </a:p>
          <a:p>
            <a:pPr lvl="0"/>
            <a:r>
              <a:rPr lang="en-US" dirty="0"/>
              <a:t>Introduction</a:t>
            </a:r>
          </a:p>
          <a:p>
            <a:pPr lvl="0"/>
            <a:r>
              <a:rPr lang="en-US" dirty="0"/>
              <a:t>Mechanisms of action</a:t>
            </a:r>
          </a:p>
          <a:p>
            <a:r>
              <a:rPr lang="en-US" dirty="0"/>
              <a:t>Pharmacokinetics and pharmacodynamics</a:t>
            </a:r>
          </a:p>
          <a:p>
            <a:pPr lvl="0"/>
            <a:r>
              <a:rPr lang="en-US" dirty="0"/>
              <a:t>Clinical uses</a:t>
            </a:r>
          </a:p>
          <a:p>
            <a:pPr lvl="0"/>
            <a:r>
              <a:rPr lang="en-US" dirty="0"/>
              <a:t>Side effects</a:t>
            </a:r>
          </a:p>
          <a:p>
            <a:endParaRPr lang="en-US" dirty="0"/>
          </a:p>
        </p:txBody>
      </p:sp>
    </p:spTree>
    <p:extLst>
      <p:ext uri="{BB962C8B-B14F-4D97-AF65-F5344CB8AC3E}">
        <p14:creationId xmlns:p14="http://schemas.microsoft.com/office/powerpoint/2010/main" val="535080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latin typeface="+mn-lt"/>
              </a:rPr>
              <a:t>Objectives</a:t>
            </a:r>
          </a:p>
        </p:txBody>
      </p:sp>
      <p:sp>
        <p:nvSpPr>
          <p:cNvPr id="3" name="Content Placeholder 2"/>
          <p:cNvSpPr>
            <a:spLocks noGrp="1"/>
          </p:cNvSpPr>
          <p:nvPr>
            <p:ph idx="1"/>
          </p:nvPr>
        </p:nvSpPr>
        <p:spPr>
          <a:xfrm>
            <a:off x="457200" y="1600200"/>
            <a:ext cx="8382000" cy="4525963"/>
          </a:xfrm>
        </p:spPr>
        <p:txBody>
          <a:bodyPr>
            <a:noAutofit/>
          </a:bodyPr>
          <a:lstStyle/>
          <a:p>
            <a:pPr marL="0" indent="0">
              <a:lnSpc>
                <a:spcPct val="150000"/>
              </a:lnSpc>
              <a:buNone/>
            </a:pPr>
            <a:r>
              <a:rPr lang="en-US" sz="2400" dirty="0">
                <a:cs typeface="Times New Roman" pitchFamily="18" charset="0"/>
              </a:rPr>
              <a:t>At the end of this session, you will be able to:</a:t>
            </a:r>
          </a:p>
          <a:p>
            <a:pPr>
              <a:buFont typeface="Wingdings" pitchFamily="2" charset="2"/>
              <a:buChar char="§"/>
            </a:pPr>
            <a:r>
              <a:rPr lang="en-US" sz="2400" dirty="0">
                <a:cs typeface="Times New Roman" pitchFamily="18" charset="0"/>
              </a:rPr>
              <a:t>describe the ideal properties of IVAA </a:t>
            </a:r>
          </a:p>
          <a:p>
            <a:pPr>
              <a:buFont typeface="Wingdings" pitchFamily="2" charset="2"/>
              <a:buChar char="§"/>
            </a:pPr>
            <a:r>
              <a:rPr lang="en-US" sz="2400" dirty="0">
                <a:cs typeface="Times New Roman" pitchFamily="18" charset="0"/>
              </a:rPr>
              <a:t>describe the pharmacokinetics and pharmacodynamics of different classes of IVAA. </a:t>
            </a:r>
          </a:p>
          <a:p>
            <a:pPr>
              <a:buFont typeface="Wingdings" pitchFamily="2" charset="2"/>
              <a:buChar char="§"/>
            </a:pPr>
            <a:r>
              <a:rPr lang="en-US" sz="2400" dirty="0">
                <a:cs typeface="Times New Roman" pitchFamily="18" charset="0"/>
              </a:rPr>
              <a:t>State the different systemic effects of commonly used IVAA</a:t>
            </a:r>
          </a:p>
          <a:p>
            <a:pPr>
              <a:buFont typeface="Wingdings" pitchFamily="2" charset="2"/>
              <a:buChar char="§"/>
            </a:pPr>
            <a:r>
              <a:rPr lang="en-US" sz="2400" dirty="0">
                <a:cs typeface="Times New Roman" pitchFamily="18" charset="0"/>
              </a:rPr>
              <a:t>Outline the indications, contraindications &amp; adverse effects of commonly used IVAA  </a:t>
            </a:r>
          </a:p>
          <a:p>
            <a:pPr>
              <a:buFont typeface="Wingdings" pitchFamily="2" charset="2"/>
              <a:buChar char="§"/>
            </a:pPr>
            <a:r>
              <a:rPr lang="en-US" sz="2400" dirty="0">
                <a:cs typeface="Times New Roman" pitchFamily="18" charset="0"/>
              </a:rPr>
              <a:t>Outline the right dose, route &amp; concentration of commonly used IVAA  </a:t>
            </a:r>
          </a:p>
        </p:txBody>
      </p:sp>
    </p:spTree>
    <p:extLst>
      <p:ext uri="{BB962C8B-B14F-4D97-AF65-F5344CB8AC3E}">
        <p14:creationId xmlns:p14="http://schemas.microsoft.com/office/powerpoint/2010/main" val="25137708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n-lt"/>
                <a:cs typeface="Times New Roman" pitchFamily="18" charset="0"/>
              </a:rPr>
              <a:t>Introduction</a:t>
            </a:r>
          </a:p>
        </p:txBody>
      </p:sp>
      <p:sp>
        <p:nvSpPr>
          <p:cNvPr id="3" name="Content Placeholder 2"/>
          <p:cNvSpPr>
            <a:spLocks noGrp="1"/>
          </p:cNvSpPr>
          <p:nvPr>
            <p:ph idx="1"/>
          </p:nvPr>
        </p:nvSpPr>
        <p:spPr>
          <a:xfrm>
            <a:off x="457200" y="1600200"/>
            <a:ext cx="8458200" cy="4525963"/>
          </a:xfrm>
        </p:spPr>
        <p:txBody>
          <a:bodyPr>
            <a:noAutofit/>
          </a:bodyPr>
          <a:lstStyle/>
          <a:p>
            <a:pPr algn="just"/>
            <a:r>
              <a:rPr lang="en-US" sz="2400" dirty="0">
                <a:cs typeface="Times New Roman" pitchFamily="18" charset="0"/>
              </a:rPr>
              <a:t>The first attempt at producing insensibility by means of intravenous (IV) injection  was done in 1656 by Injection of tincture of opium into the vein of a dog.</a:t>
            </a:r>
          </a:p>
          <a:p>
            <a:pPr algn="just"/>
            <a:endParaRPr lang="en-US" sz="2400" dirty="0">
              <a:cs typeface="Times New Roman" pitchFamily="18" charset="0"/>
            </a:endParaRPr>
          </a:p>
          <a:p>
            <a:pPr algn="just"/>
            <a:r>
              <a:rPr lang="en-US" sz="2400" dirty="0">
                <a:cs typeface="Times New Roman" pitchFamily="18" charset="0"/>
              </a:rPr>
              <a:t> It was not until the introduction of  thiopentone by </a:t>
            </a:r>
            <a:r>
              <a:rPr lang="en-US" sz="2400" b="1" dirty="0">
                <a:cs typeface="Times New Roman" pitchFamily="18" charset="0"/>
              </a:rPr>
              <a:t>Lundy </a:t>
            </a:r>
            <a:r>
              <a:rPr lang="en-US" sz="2400" dirty="0">
                <a:cs typeface="Times New Roman" pitchFamily="18" charset="0"/>
              </a:rPr>
              <a:t>and </a:t>
            </a:r>
            <a:r>
              <a:rPr lang="en-US" sz="2400" b="1" dirty="0">
                <a:cs typeface="Times New Roman" pitchFamily="18" charset="0"/>
              </a:rPr>
              <a:t>Waters in 1934</a:t>
            </a:r>
            <a:r>
              <a:rPr lang="en-US" sz="2400" dirty="0">
                <a:cs typeface="Times New Roman" pitchFamily="18" charset="0"/>
              </a:rPr>
              <a:t>, </a:t>
            </a:r>
          </a:p>
          <a:p>
            <a:pPr lvl="1" algn="just"/>
            <a:r>
              <a:rPr lang="en-US" sz="2400" dirty="0">
                <a:cs typeface="Times New Roman" pitchFamily="18" charset="0"/>
              </a:rPr>
              <a:t>that the IV method began to achieve popularity.</a:t>
            </a:r>
            <a:r>
              <a:rPr lang="bg-BG" sz="2400" dirty="0">
                <a:cs typeface="Times New Roman" pitchFamily="18" charset="0"/>
              </a:rPr>
              <a:t> </a:t>
            </a:r>
            <a:endParaRPr lang="en-US" sz="2400" dirty="0">
              <a:cs typeface="Times New Roman" pitchFamily="18" charset="0"/>
            </a:endParaRPr>
          </a:p>
          <a:p>
            <a:pPr lvl="1" algn="just"/>
            <a:endParaRPr lang="en-US" sz="2400" dirty="0">
              <a:cs typeface="Times New Roman" pitchFamily="18" charset="0"/>
            </a:endParaRPr>
          </a:p>
          <a:p>
            <a:pPr algn="just"/>
            <a:r>
              <a:rPr lang="bg-BG" sz="2400" dirty="0">
                <a:cs typeface="Times New Roman" pitchFamily="18" charset="0"/>
              </a:rPr>
              <a:t>General anesthesia is not limited to the use of inhalation agents</a:t>
            </a:r>
            <a:endParaRPr lang="en-US" sz="2400" dirty="0">
              <a:cs typeface="Times New Roman" pitchFamily="18" charset="0"/>
            </a:endParaRPr>
          </a:p>
          <a:p>
            <a:pPr algn="just"/>
            <a:r>
              <a:rPr lang="en-US" sz="2400" dirty="0">
                <a:cs typeface="Times New Roman" pitchFamily="18" charset="0"/>
              </a:rPr>
              <a:t>Induction of anesthesia in adult patients usually involves IV administration.</a:t>
            </a:r>
          </a:p>
          <a:p>
            <a:pPr algn="just"/>
            <a:endParaRPr lang="en-US" sz="2400" dirty="0">
              <a:cs typeface="Times New Roman" pitchFamily="18" charset="0"/>
            </a:endParaRPr>
          </a:p>
          <a:p>
            <a:pPr algn="just"/>
            <a:endParaRPr lang="en-US" sz="2400" dirty="0">
              <a:cs typeface="Times New Roman" pitchFamily="18" charset="0"/>
            </a:endParaRPr>
          </a:p>
        </p:txBody>
      </p:sp>
    </p:spTree>
    <p:extLst>
      <p:ext uri="{BB962C8B-B14F-4D97-AF65-F5344CB8AC3E}">
        <p14:creationId xmlns:p14="http://schemas.microsoft.com/office/powerpoint/2010/main" val="3466200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25FE4-C310-EF45-B1F7-D4244B1794AE}"/>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89D12CEF-1EE1-F3D8-A126-0E838D11780A}"/>
              </a:ext>
            </a:extLst>
          </p:cNvPr>
          <p:cNvSpPr>
            <a:spLocks noGrp="1"/>
          </p:cNvSpPr>
          <p:nvPr>
            <p:ph idx="1"/>
          </p:nvPr>
        </p:nvSpPr>
        <p:spPr>
          <a:xfrm>
            <a:off x="457200" y="1600200"/>
            <a:ext cx="8382000" cy="4525963"/>
          </a:xfrm>
        </p:spPr>
        <p:txBody>
          <a:bodyPr>
            <a:normAutofit/>
          </a:bodyPr>
          <a:lstStyle/>
          <a:p>
            <a:r>
              <a:rPr lang="en-US" sz="2600" dirty="0"/>
              <a:t>The introduction of thiopental into clinical practice in 1934 </a:t>
            </a:r>
          </a:p>
          <a:p>
            <a:pPr lvl="1"/>
            <a:r>
              <a:rPr lang="en-US" sz="2400" dirty="0"/>
              <a:t>marked the beginning of modern IV anesthesia. </a:t>
            </a:r>
          </a:p>
          <a:p>
            <a:endParaRPr lang="en-US" sz="2800" dirty="0"/>
          </a:p>
          <a:p>
            <a:r>
              <a:rPr lang="en-US" sz="2800" dirty="0"/>
              <a:t>Today, IV anesthetics are used </a:t>
            </a:r>
          </a:p>
          <a:p>
            <a:pPr lvl="1"/>
            <a:r>
              <a:rPr lang="en-US" sz="2400" dirty="0"/>
              <a:t>for induction and maintenance of anesthesia and </a:t>
            </a:r>
          </a:p>
          <a:p>
            <a:pPr lvl="1"/>
            <a:r>
              <a:rPr lang="en-US" sz="2400" dirty="0"/>
              <a:t>sedation in a wide variety of circumstances.</a:t>
            </a:r>
          </a:p>
        </p:txBody>
      </p:sp>
    </p:spTree>
    <p:extLst>
      <p:ext uri="{BB962C8B-B14F-4D97-AF65-F5344CB8AC3E}">
        <p14:creationId xmlns:p14="http://schemas.microsoft.com/office/powerpoint/2010/main" val="769251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3600" b="1" dirty="0"/>
              <a:t>Properties of Ideal IV Anaesthetics</a:t>
            </a:r>
          </a:p>
        </p:txBody>
      </p:sp>
      <p:sp>
        <p:nvSpPr>
          <p:cNvPr id="3" name="Content Placeholder 2"/>
          <p:cNvSpPr>
            <a:spLocks noGrp="1"/>
          </p:cNvSpPr>
          <p:nvPr>
            <p:ph idx="1"/>
          </p:nvPr>
        </p:nvSpPr>
        <p:spPr>
          <a:xfrm>
            <a:off x="609600" y="1600200"/>
            <a:ext cx="8229600" cy="4525963"/>
          </a:xfrm>
        </p:spPr>
        <p:txBody>
          <a:bodyPr>
            <a:normAutofit fontScale="92500"/>
          </a:bodyPr>
          <a:lstStyle/>
          <a:p>
            <a:r>
              <a:rPr lang="en-US" sz="3500" b="1" dirty="0">
                <a:cs typeface="Times New Roman" pitchFamily="18" charset="0"/>
              </a:rPr>
              <a:t>Rapid onset:</a:t>
            </a:r>
            <a:r>
              <a:rPr lang="en-US" sz="3500" dirty="0">
                <a:cs typeface="Times New Roman" pitchFamily="18" charset="0"/>
              </a:rPr>
              <a:t>  </a:t>
            </a:r>
          </a:p>
          <a:p>
            <a:pPr lvl="1"/>
            <a:r>
              <a:rPr lang="en-US" sz="2400" dirty="0">
                <a:cs typeface="Times New Roman" pitchFamily="18" charset="0"/>
              </a:rPr>
              <a:t>It is achieved by an agent which is mainly un-ionized at blood PH</a:t>
            </a:r>
          </a:p>
          <a:p>
            <a:pPr lvl="1"/>
            <a:r>
              <a:rPr lang="en-US" sz="2400" dirty="0">
                <a:cs typeface="Times New Roman" pitchFamily="18" charset="0"/>
              </a:rPr>
              <a:t>IV anesthetics have a rapid onset after administration.</a:t>
            </a:r>
          </a:p>
          <a:p>
            <a:pPr lvl="1"/>
            <a:r>
              <a:rPr lang="en-US" sz="2400" dirty="0">
                <a:cs typeface="Times New Roman" pitchFamily="18" charset="0"/>
              </a:rPr>
              <a:t>rapidly distribute to higher perfused and vessel-rich tissues. </a:t>
            </a:r>
          </a:p>
          <a:p>
            <a:pPr lvl="1"/>
            <a:r>
              <a:rPr lang="en-US" sz="2400" dirty="0">
                <a:cs typeface="Times New Roman" pitchFamily="18" charset="0"/>
              </a:rPr>
              <a:t>Their lipophilicity allows for rapid crossing of the blood–brain barrier.                      </a:t>
            </a:r>
          </a:p>
          <a:p>
            <a:r>
              <a:rPr lang="en-US" sz="3600" b="1" dirty="0">
                <a:cs typeface="Times New Roman" pitchFamily="18" charset="0"/>
              </a:rPr>
              <a:t>  </a:t>
            </a:r>
            <a:r>
              <a:rPr lang="en-US" sz="3500" b="1" dirty="0">
                <a:cs typeface="Times New Roman" pitchFamily="18" charset="0"/>
              </a:rPr>
              <a:t>Rapid recovery</a:t>
            </a:r>
            <a:r>
              <a:rPr lang="en-US" sz="3600" b="1" dirty="0">
                <a:cs typeface="Times New Roman" pitchFamily="18" charset="0"/>
              </a:rPr>
              <a:t>:  </a:t>
            </a:r>
          </a:p>
          <a:p>
            <a:pPr lvl="1"/>
            <a:r>
              <a:rPr lang="en-US" sz="2400" dirty="0">
                <a:cs typeface="Times New Roman" pitchFamily="18" charset="0"/>
              </a:rPr>
              <a:t>Early recovery of consciousness is produced  by </a:t>
            </a:r>
          </a:p>
          <a:p>
            <a:pPr lvl="2"/>
            <a:r>
              <a:rPr lang="en-US" sz="2200" dirty="0">
                <a:cs typeface="Times New Roman" pitchFamily="18" charset="0"/>
              </a:rPr>
              <a:t>rapid redistribution of the drug</a:t>
            </a:r>
            <a:r>
              <a:rPr lang="en-US" sz="2200" dirty="0">
                <a:solidFill>
                  <a:schemeClr val="tx2"/>
                </a:solidFill>
                <a:cs typeface="Times New Roman" pitchFamily="18" charset="0"/>
              </a:rPr>
              <a:t> from brain into other well perfused tissues.</a:t>
            </a:r>
          </a:p>
          <a:p>
            <a:pPr>
              <a:buFont typeface="Wingdings" pitchFamily="2" charset="2"/>
              <a:buChar char="§"/>
            </a:pPr>
            <a:endParaRPr lang="en-US" sz="2400" dirty="0">
              <a:cs typeface="Times New Roman" pitchFamily="18" charset="0"/>
            </a:endParaRPr>
          </a:p>
        </p:txBody>
      </p:sp>
    </p:spTree>
    <p:extLst>
      <p:ext uri="{BB962C8B-B14F-4D97-AF65-F5344CB8AC3E}">
        <p14:creationId xmlns:p14="http://schemas.microsoft.com/office/powerpoint/2010/main" val="1317131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gency FB" pitchFamily="34" charset="0"/>
              </a:rPr>
              <a:t>Properties…</a:t>
            </a:r>
            <a:endParaRPr lang="en-US" dirty="0"/>
          </a:p>
        </p:txBody>
      </p:sp>
      <p:sp>
        <p:nvSpPr>
          <p:cNvPr id="3" name="Content Placeholder 2"/>
          <p:cNvSpPr>
            <a:spLocks noGrp="1"/>
          </p:cNvSpPr>
          <p:nvPr>
            <p:ph idx="1"/>
          </p:nvPr>
        </p:nvSpPr>
        <p:spPr>
          <a:xfrm>
            <a:off x="457200" y="1600200"/>
            <a:ext cx="8382000" cy="4525963"/>
          </a:xfrm>
        </p:spPr>
        <p:txBody>
          <a:bodyPr>
            <a:normAutofit/>
          </a:bodyPr>
          <a:lstStyle/>
          <a:p>
            <a:r>
              <a:rPr lang="en-US" sz="2600" dirty="0">
                <a:solidFill>
                  <a:prstClr val="black"/>
                </a:solidFill>
                <a:cs typeface="Times New Roman" pitchFamily="18" charset="0"/>
              </a:rPr>
              <a:t>Analgesia at sub-anaesthetic concentrations</a:t>
            </a:r>
          </a:p>
          <a:p>
            <a:r>
              <a:rPr lang="en-US" sz="2600" dirty="0">
                <a:solidFill>
                  <a:prstClr val="black"/>
                </a:solidFill>
                <a:cs typeface="Times New Roman" pitchFamily="18" charset="0"/>
              </a:rPr>
              <a:t>Minimal CVS &amp; respiratory depression</a:t>
            </a:r>
          </a:p>
          <a:p>
            <a:r>
              <a:rPr lang="en-US" sz="2600" dirty="0">
                <a:solidFill>
                  <a:prstClr val="black"/>
                </a:solidFill>
                <a:cs typeface="Times New Roman" pitchFamily="18" charset="0"/>
              </a:rPr>
              <a:t>No emetic effects</a:t>
            </a:r>
          </a:p>
          <a:p>
            <a:r>
              <a:rPr lang="en-US" sz="2600" dirty="0">
                <a:solidFill>
                  <a:prstClr val="black"/>
                </a:solidFill>
                <a:cs typeface="Times New Roman" pitchFamily="18" charset="0"/>
              </a:rPr>
              <a:t>No excitatory phenomena</a:t>
            </a:r>
          </a:p>
          <a:p>
            <a:pPr lvl="1"/>
            <a:r>
              <a:rPr lang="en-US" sz="2200" dirty="0">
                <a:solidFill>
                  <a:prstClr val="black"/>
                </a:solidFill>
                <a:cs typeface="Times New Roman" pitchFamily="18" charset="0"/>
              </a:rPr>
              <a:t> </a:t>
            </a:r>
            <a:r>
              <a:rPr lang="en-US" sz="2400" dirty="0">
                <a:solidFill>
                  <a:prstClr val="black"/>
                </a:solidFill>
                <a:cs typeface="Times New Roman" pitchFamily="18" charset="0"/>
              </a:rPr>
              <a:t>(e.g. coughing, hiccup, on induction ) </a:t>
            </a:r>
            <a:endParaRPr lang="en-US" sz="2200" dirty="0">
              <a:solidFill>
                <a:prstClr val="black"/>
              </a:solidFill>
              <a:cs typeface="Times New Roman" pitchFamily="18" charset="0"/>
            </a:endParaRPr>
          </a:p>
          <a:p>
            <a:r>
              <a:rPr lang="en-US" sz="2600" dirty="0">
                <a:solidFill>
                  <a:prstClr val="black"/>
                </a:solidFill>
                <a:cs typeface="Times New Roman" pitchFamily="18" charset="0"/>
              </a:rPr>
              <a:t> No emergence phenomena (e.g. Nightmares)</a:t>
            </a:r>
          </a:p>
          <a:p>
            <a:r>
              <a:rPr lang="en-US" sz="2600" dirty="0">
                <a:solidFill>
                  <a:prstClr val="black"/>
                </a:solidFill>
                <a:cs typeface="Times New Roman" pitchFamily="18" charset="0"/>
              </a:rPr>
              <a:t> No interaction with NMB drugs</a:t>
            </a:r>
          </a:p>
          <a:p>
            <a:endParaRPr lang="en-US" sz="2600" dirty="0">
              <a:solidFill>
                <a:prstClr val="black"/>
              </a:solidFill>
              <a:cs typeface="Times New Roman" pitchFamily="18" charset="0"/>
            </a:endParaRPr>
          </a:p>
          <a:p>
            <a:endParaRPr lang="en-US" sz="2600" dirty="0">
              <a:cs typeface="Times New Roman" pitchFamily="18" charset="0"/>
            </a:endParaRPr>
          </a:p>
        </p:txBody>
      </p:sp>
    </p:spTree>
    <p:extLst>
      <p:ext uri="{BB962C8B-B14F-4D97-AF65-F5344CB8AC3E}">
        <p14:creationId xmlns:p14="http://schemas.microsoft.com/office/powerpoint/2010/main" val="2621526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n-lt"/>
              </a:rPr>
              <a:t>Properties…</a:t>
            </a:r>
          </a:p>
        </p:txBody>
      </p:sp>
      <p:sp>
        <p:nvSpPr>
          <p:cNvPr id="3" name="Content Placeholder 2"/>
          <p:cNvSpPr>
            <a:spLocks noGrp="1"/>
          </p:cNvSpPr>
          <p:nvPr>
            <p:ph idx="1"/>
          </p:nvPr>
        </p:nvSpPr>
        <p:spPr>
          <a:xfrm>
            <a:off x="266700" y="1417638"/>
            <a:ext cx="8610600" cy="4648200"/>
          </a:xfrm>
        </p:spPr>
        <p:txBody>
          <a:bodyPr>
            <a:noAutofit/>
          </a:bodyPr>
          <a:lstStyle/>
          <a:p>
            <a:r>
              <a:rPr lang="en-US" sz="2400" dirty="0">
                <a:cs typeface="Times New Roman" pitchFamily="18" charset="0"/>
              </a:rPr>
              <a:t>Drug compatibility (water-solubility) and stability in solution.</a:t>
            </a:r>
          </a:p>
          <a:p>
            <a:r>
              <a:rPr lang="en-US" sz="2400" dirty="0">
                <a:cs typeface="Times New Roman" pitchFamily="18" charset="0"/>
              </a:rPr>
              <a:t>Lack of pain on injection, veno-irritation, and local tissue damage following extravasation.</a:t>
            </a:r>
          </a:p>
          <a:p>
            <a:r>
              <a:rPr lang="en-US" sz="2400" dirty="0">
                <a:cs typeface="Times New Roman" pitchFamily="18" charset="0"/>
              </a:rPr>
              <a:t>Low potential to release histamine or precipitate hypersensitivity reactions.</a:t>
            </a:r>
          </a:p>
          <a:p>
            <a:r>
              <a:rPr lang="en-US" sz="2400" dirty="0">
                <a:cs typeface="Times New Roman" pitchFamily="18" charset="0"/>
              </a:rPr>
              <a:t>Rapid and smooth onset of hypnotic action without excitatory activity.</a:t>
            </a:r>
          </a:p>
          <a:p>
            <a:r>
              <a:rPr lang="en-US" sz="2400" dirty="0">
                <a:cs typeface="Times New Roman" pitchFamily="18" charset="0"/>
              </a:rPr>
              <a:t>Rapid metabolism to pharmacologically inactive metabolites.</a:t>
            </a:r>
          </a:p>
        </p:txBody>
      </p:sp>
    </p:spTree>
    <p:extLst>
      <p:ext uri="{BB962C8B-B14F-4D97-AF65-F5344CB8AC3E}">
        <p14:creationId xmlns:p14="http://schemas.microsoft.com/office/powerpoint/2010/main" val="2779238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457200"/>
            <a:ext cx="8229600" cy="1143000"/>
          </a:xfrm>
        </p:spPr>
        <p:txBody>
          <a:bodyPr/>
          <a:lstStyle/>
          <a:p>
            <a:r>
              <a:rPr lang="en-US" dirty="0">
                <a:latin typeface="+mn-lt"/>
              </a:rPr>
              <a:t>Properties…</a:t>
            </a:r>
          </a:p>
        </p:txBody>
      </p:sp>
      <p:sp>
        <p:nvSpPr>
          <p:cNvPr id="3" name="Content Placeholder 2"/>
          <p:cNvSpPr>
            <a:spLocks noGrp="1"/>
          </p:cNvSpPr>
          <p:nvPr>
            <p:ph idx="1"/>
          </p:nvPr>
        </p:nvSpPr>
        <p:spPr>
          <a:xfrm>
            <a:off x="457200" y="1600200"/>
            <a:ext cx="8382000" cy="4525963"/>
          </a:xfrm>
        </p:spPr>
        <p:txBody>
          <a:bodyPr>
            <a:normAutofit/>
          </a:bodyPr>
          <a:lstStyle/>
          <a:p>
            <a:pPr>
              <a:buFont typeface="Wingdings" pitchFamily="2" charset="2"/>
              <a:buChar char="§"/>
            </a:pPr>
            <a:r>
              <a:rPr lang="en-US" sz="2600" dirty="0">
                <a:cs typeface="Times New Roman" pitchFamily="18" charset="0"/>
              </a:rPr>
              <a:t>↓ in cerebral metabolism and intracranial pressure.</a:t>
            </a:r>
          </a:p>
          <a:p>
            <a:pPr>
              <a:buFont typeface="Wingdings" pitchFamily="2" charset="2"/>
              <a:buChar char="§"/>
            </a:pPr>
            <a:r>
              <a:rPr lang="en-US" sz="2600" dirty="0">
                <a:cs typeface="Times New Roman" pitchFamily="18" charset="0"/>
              </a:rPr>
              <a:t>Rapid and smooth return of consciousness and cognitive skills with residual analgesia.</a:t>
            </a:r>
          </a:p>
          <a:p>
            <a:pPr>
              <a:buFont typeface="Wingdings" pitchFamily="2" charset="2"/>
              <a:buChar char="§"/>
            </a:pPr>
            <a:r>
              <a:rPr lang="en-US" sz="2600" dirty="0">
                <a:cs typeface="Times New Roman" pitchFamily="18" charset="0"/>
              </a:rPr>
              <a:t>Absence of postoperative nausea and vomiting, amnesia, psychomimetic reactions, dizziness, headache, or prolonged sedation (hangover effects).</a:t>
            </a:r>
          </a:p>
          <a:p>
            <a:pPr>
              <a:buFont typeface="Wingdings" pitchFamily="2" charset="2"/>
              <a:buChar char="§"/>
            </a:pPr>
            <a:r>
              <a:rPr lang="en-US" sz="2600" dirty="0">
                <a:solidFill>
                  <a:srgbClr val="FF0000"/>
                </a:solidFill>
                <a:cs typeface="Times New Roman" pitchFamily="18" charset="0"/>
              </a:rPr>
              <a:t>However, the “ideal” IV anesthetic is yet to be developed</a:t>
            </a:r>
          </a:p>
          <a:p>
            <a:pPr>
              <a:buFont typeface="Wingdings" pitchFamily="2" charset="2"/>
              <a:buChar char="§"/>
            </a:pPr>
            <a:endParaRPr lang="en-US" sz="2600" dirty="0">
              <a:cs typeface="Times New Roman" pitchFamily="18" charset="0"/>
            </a:endParaRPr>
          </a:p>
        </p:txBody>
      </p:sp>
    </p:spTree>
    <p:extLst>
      <p:ext uri="{BB962C8B-B14F-4D97-AF65-F5344CB8AC3E}">
        <p14:creationId xmlns:p14="http://schemas.microsoft.com/office/powerpoint/2010/main" val="3178610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DF0DE-AD88-BEFB-BF5B-76EE79AB6A98}"/>
              </a:ext>
            </a:extLst>
          </p:cNvPr>
          <p:cNvSpPr>
            <a:spLocks noGrp="1"/>
          </p:cNvSpPr>
          <p:nvPr>
            <p:ph type="title"/>
          </p:nvPr>
        </p:nvSpPr>
        <p:spPr>
          <a:xfrm>
            <a:off x="457200" y="274638"/>
            <a:ext cx="8229600" cy="457199"/>
          </a:xfrm>
        </p:spPr>
        <p:txBody>
          <a:bodyPr>
            <a:noAutofit/>
          </a:bodyPr>
          <a:lstStyle/>
          <a:p>
            <a:r>
              <a:rPr lang="en-US" sz="2800" dirty="0"/>
              <a:t>Properties of the Ideal IV Anesthetic Agent</a:t>
            </a:r>
          </a:p>
        </p:txBody>
      </p:sp>
      <p:sp>
        <p:nvSpPr>
          <p:cNvPr id="3" name="Content Placeholder 2">
            <a:extLst>
              <a:ext uri="{FF2B5EF4-FFF2-40B4-BE49-F238E27FC236}">
                <a16:creationId xmlns:a16="http://schemas.microsoft.com/office/drawing/2014/main" id="{5B1F1A45-FE74-682C-8871-672B2A5FA27D}"/>
              </a:ext>
            </a:extLst>
          </p:cNvPr>
          <p:cNvSpPr>
            <a:spLocks noGrp="1"/>
          </p:cNvSpPr>
          <p:nvPr>
            <p:ph idx="1"/>
          </p:nvPr>
        </p:nvSpPr>
        <p:spPr>
          <a:xfrm>
            <a:off x="457200" y="731837"/>
            <a:ext cx="8229600" cy="5851525"/>
          </a:xfrm>
        </p:spPr>
        <p:txBody>
          <a:bodyPr>
            <a:noAutofit/>
          </a:bodyPr>
          <a:lstStyle/>
          <a:p>
            <a:pPr algn="l">
              <a:buFont typeface="Wingdings" panose="05000000000000000000" pitchFamily="2" charset="2"/>
              <a:buChar char="q"/>
            </a:pPr>
            <a:r>
              <a:rPr lang="en-US" sz="1600" b="1" i="0" u="none" strike="noStrike" baseline="0" dirty="0">
                <a:cs typeface="Arial" panose="020B0604020202020204" pitchFamily="34" charset="0"/>
              </a:rPr>
              <a:t>Pharmacodynamic/Pharmacokinetic Properties</a:t>
            </a:r>
          </a:p>
          <a:p>
            <a:pPr lvl="1"/>
            <a:r>
              <a:rPr lang="en-US" sz="1600" b="0" i="0" u="none" strike="noStrike" baseline="0" dirty="0">
                <a:cs typeface="Arial" panose="020B0604020202020204" pitchFamily="34" charset="0"/>
              </a:rPr>
              <a:t>Hypnosis and amnesia</a:t>
            </a:r>
          </a:p>
          <a:p>
            <a:pPr lvl="1"/>
            <a:r>
              <a:rPr lang="en-US" sz="1600" b="0" i="0" u="none" strike="noStrike" baseline="0" dirty="0">
                <a:cs typeface="Arial" panose="020B0604020202020204" pitchFamily="34" charset="0"/>
              </a:rPr>
              <a:t>Rapid onset (time of one arm-brain circulation)</a:t>
            </a:r>
          </a:p>
          <a:p>
            <a:pPr lvl="1"/>
            <a:r>
              <a:rPr lang="en-US" sz="1600" b="0" i="0" u="none" strike="noStrike" baseline="0" dirty="0">
                <a:cs typeface="Arial" panose="020B0604020202020204" pitchFamily="34" charset="0"/>
              </a:rPr>
              <a:t>Rapid metabolism to inactive metabolites</a:t>
            </a:r>
          </a:p>
          <a:p>
            <a:pPr lvl="1"/>
            <a:r>
              <a:rPr lang="en-US" sz="1600" b="0" i="0" u="none" strike="noStrike" baseline="0" dirty="0">
                <a:cs typeface="Arial" panose="020B0604020202020204" pitchFamily="34" charset="0"/>
              </a:rPr>
              <a:t>Minimal cardiovascular and respiratory depression</a:t>
            </a:r>
          </a:p>
          <a:p>
            <a:pPr lvl="1"/>
            <a:r>
              <a:rPr lang="en-US" sz="1600" b="0" i="0" u="none" strike="noStrike" baseline="0" dirty="0">
                <a:cs typeface="Arial" panose="020B0604020202020204" pitchFamily="34" charset="0"/>
              </a:rPr>
              <a:t>No histamine release or hypersensitivity reactions</a:t>
            </a:r>
          </a:p>
          <a:p>
            <a:pPr lvl="1"/>
            <a:r>
              <a:rPr lang="en-US" sz="1600" b="0" i="0" u="none" strike="noStrike" baseline="0" dirty="0">
                <a:cs typeface="Arial" panose="020B0604020202020204" pitchFamily="34" charset="0"/>
              </a:rPr>
              <a:t>Nontoxic, </a:t>
            </a:r>
            <a:r>
              <a:rPr lang="en-US" sz="1600" b="0" i="0" u="none" strike="noStrike" baseline="0" dirty="0" err="1">
                <a:cs typeface="Arial" panose="020B0604020202020204" pitchFamily="34" charset="0"/>
              </a:rPr>
              <a:t>nonmutagenic</a:t>
            </a:r>
            <a:r>
              <a:rPr lang="en-US" sz="1600" b="0" i="0" u="none" strike="noStrike" baseline="0" dirty="0">
                <a:cs typeface="Arial" panose="020B0604020202020204" pitchFamily="34" charset="0"/>
              </a:rPr>
              <a:t>, noncarcinogenic</a:t>
            </a:r>
          </a:p>
          <a:p>
            <a:pPr lvl="1"/>
            <a:r>
              <a:rPr lang="en-US" sz="1600" b="0" i="0" u="none" strike="noStrike" baseline="0" dirty="0">
                <a:cs typeface="Arial" panose="020B0604020202020204" pitchFamily="34" charset="0"/>
              </a:rPr>
              <a:t>No untoward neurological effects, such as seizures, myoclonus, </a:t>
            </a:r>
            <a:r>
              <a:rPr lang="en-US" sz="1600" b="0" i="0" u="none" strike="noStrike" baseline="0" dirty="0" err="1">
                <a:cs typeface="Arial" panose="020B0604020202020204" pitchFamily="34" charset="0"/>
              </a:rPr>
              <a:t>antanalgesia</a:t>
            </a:r>
            <a:r>
              <a:rPr lang="en-US" sz="1600" b="0" i="0" u="none" strike="noStrike" baseline="0" dirty="0">
                <a:cs typeface="Arial" panose="020B0604020202020204" pitchFamily="34" charset="0"/>
              </a:rPr>
              <a:t>, neurotoxicity</a:t>
            </a:r>
          </a:p>
          <a:p>
            <a:pPr lvl="1"/>
            <a:r>
              <a:rPr lang="en-US" sz="1600" dirty="0">
                <a:cs typeface="Arial" panose="020B0604020202020204" pitchFamily="34" charset="0"/>
              </a:rPr>
              <a:t>Other beneficial effects: analgesia, antiemetic, neuroprotection, cardio-protection</a:t>
            </a:r>
          </a:p>
          <a:p>
            <a:pPr lvl="1"/>
            <a:r>
              <a:rPr lang="en-US" sz="1600" dirty="0">
                <a:cs typeface="Arial" panose="020B0604020202020204" pitchFamily="34" charset="0"/>
              </a:rPr>
              <a:t>Pharmacokinetic-based models to guide accurate dosing</a:t>
            </a:r>
          </a:p>
          <a:p>
            <a:pPr lvl="1"/>
            <a:r>
              <a:rPr lang="en-US" sz="1600" dirty="0">
                <a:cs typeface="Arial" panose="020B0604020202020204" pitchFamily="34" charset="0"/>
              </a:rPr>
              <a:t>Ability to continuously monitor delivery</a:t>
            </a:r>
            <a:endParaRPr lang="en-US" sz="1200" dirty="0">
              <a:cs typeface="Arial" panose="020B0604020202020204" pitchFamily="34" charset="0"/>
            </a:endParaRPr>
          </a:p>
          <a:p>
            <a:pPr algn="l">
              <a:buFont typeface="Wingdings" panose="05000000000000000000" pitchFamily="2" charset="2"/>
              <a:buChar char="q"/>
            </a:pPr>
            <a:r>
              <a:rPr lang="en-US" sz="1600" b="1" i="0" u="none" strike="noStrike" baseline="0" dirty="0">
                <a:cs typeface="Arial" panose="020B0604020202020204" pitchFamily="34" charset="0"/>
              </a:rPr>
              <a:t>Physiochemical Properties</a:t>
            </a:r>
          </a:p>
          <a:p>
            <a:pPr lvl="1"/>
            <a:r>
              <a:rPr lang="en-US" sz="1600" dirty="0">
                <a:cs typeface="Arial" panose="020B0604020202020204" pitchFamily="34" charset="0"/>
              </a:rPr>
              <a:t>Water-soluble</a:t>
            </a:r>
          </a:p>
          <a:p>
            <a:pPr lvl="1"/>
            <a:r>
              <a:rPr lang="en-US" sz="1600" dirty="0">
                <a:cs typeface="Arial" panose="020B0604020202020204" pitchFamily="34" charset="0"/>
              </a:rPr>
              <a:t>Stable formulation, nonpyrogenic</a:t>
            </a:r>
          </a:p>
          <a:p>
            <a:pPr lvl="1"/>
            <a:r>
              <a:rPr lang="en-US" sz="1600" dirty="0">
                <a:cs typeface="Arial" panose="020B0604020202020204" pitchFamily="34" charset="0"/>
              </a:rPr>
              <a:t>Nonirritating: painless on intravenous injection</a:t>
            </a:r>
          </a:p>
          <a:p>
            <a:pPr lvl="1"/>
            <a:r>
              <a:rPr lang="en-US" sz="1600" dirty="0">
                <a:cs typeface="Arial" panose="020B0604020202020204" pitchFamily="34" charset="0"/>
              </a:rPr>
              <a:t>Small volume needed for induction</a:t>
            </a:r>
          </a:p>
          <a:p>
            <a:pPr lvl="1"/>
            <a:r>
              <a:rPr lang="en-US" sz="1600" dirty="0">
                <a:cs typeface="Arial" panose="020B0604020202020204" pitchFamily="34" charset="0"/>
              </a:rPr>
              <a:t>Inexpensive to prepare and formulate</a:t>
            </a:r>
          </a:p>
          <a:p>
            <a:pPr lvl="1"/>
            <a:r>
              <a:rPr lang="en-US" sz="1600" dirty="0">
                <a:cs typeface="Arial" panose="020B0604020202020204" pitchFamily="34" charset="0"/>
              </a:rPr>
              <a:t>Antimicrobial preparation</a:t>
            </a:r>
          </a:p>
          <a:p>
            <a:pPr marL="457200" lvl="1" indent="0">
              <a:buNone/>
            </a:pPr>
            <a:r>
              <a:rPr lang="en-US" sz="1600" dirty="0">
                <a:cs typeface="Arial" panose="020B0604020202020204" pitchFamily="34" charset="0"/>
              </a:rPr>
              <a:t>N.B</a:t>
            </a:r>
            <a:r>
              <a:rPr lang="en-US" sz="1600" dirty="0">
                <a:solidFill>
                  <a:srgbClr val="FF0000"/>
                </a:solidFill>
                <a:cs typeface="Arial" panose="020B0604020202020204" pitchFamily="34" charset="0"/>
              </a:rPr>
              <a:t>. </a:t>
            </a:r>
            <a:r>
              <a:rPr lang="en-US" sz="2000" b="0" i="0" u="none" strike="noStrike" baseline="0" dirty="0">
                <a:solidFill>
                  <a:srgbClr val="FF0000"/>
                </a:solidFill>
              </a:rPr>
              <a:t>No single anesthetic agent is perfect</a:t>
            </a:r>
            <a:endParaRPr lang="en-US" sz="1200" dirty="0">
              <a:solidFill>
                <a:srgbClr val="FF0000"/>
              </a:solidFill>
              <a:cs typeface="Arial" panose="020B0604020202020204" pitchFamily="34" charset="0"/>
            </a:endParaRPr>
          </a:p>
        </p:txBody>
      </p:sp>
    </p:spTree>
    <p:extLst>
      <p:ext uri="{BB962C8B-B14F-4D97-AF65-F5344CB8AC3E}">
        <p14:creationId xmlns:p14="http://schemas.microsoft.com/office/powerpoint/2010/main" val="239449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
                                            <p:txEl>
                                              <p:pRg st="13" end="13"/>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
                                            <p:txEl>
                                              <p:pRg st="14" end="14"/>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
                                            <p:txEl>
                                              <p:pRg st="15" end="15"/>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
                                            <p:txEl>
                                              <p:pRg st="16" end="16"/>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gency FB" pitchFamily="34" charset="0"/>
              </a:rPr>
              <a:t>Uses of intravenous Anaesthetics </a:t>
            </a:r>
            <a:endParaRPr lang="en-US" dirty="0">
              <a:latin typeface="Agency FB" pitchFamily="34" charset="0"/>
            </a:endParaRPr>
          </a:p>
        </p:txBody>
      </p:sp>
      <p:sp>
        <p:nvSpPr>
          <p:cNvPr id="3" name="Content Placeholder 2"/>
          <p:cNvSpPr>
            <a:spLocks noGrp="1"/>
          </p:cNvSpPr>
          <p:nvPr>
            <p:ph idx="1"/>
          </p:nvPr>
        </p:nvSpPr>
        <p:spPr>
          <a:xfrm>
            <a:off x="457200" y="1600200"/>
            <a:ext cx="8458200" cy="4525963"/>
          </a:xfrm>
        </p:spPr>
        <p:txBody>
          <a:bodyPr>
            <a:normAutofit/>
          </a:bodyPr>
          <a:lstStyle/>
          <a:p>
            <a:pPr marL="571500" indent="-571500">
              <a:buFont typeface="+mj-lt"/>
              <a:buAutoNum type="romanUcPeriod"/>
            </a:pPr>
            <a:r>
              <a:rPr lang="en-US" sz="2800" dirty="0">
                <a:cs typeface="Times New Roman" pitchFamily="18" charset="0"/>
              </a:rPr>
              <a:t>Induction of anaesthesia - a single injection to induce anaesthesia </a:t>
            </a:r>
          </a:p>
          <a:p>
            <a:pPr marL="571500" indent="-571500">
              <a:buFont typeface="+mj-lt"/>
              <a:buAutoNum type="romanUcPeriod"/>
            </a:pPr>
            <a:r>
              <a:rPr lang="en-US" sz="2800" dirty="0">
                <a:cs typeface="Times New Roman" pitchFamily="18" charset="0"/>
              </a:rPr>
              <a:t>To supplement inhalation agents - used to supplement low potency inhalational agents </a:t>
            </a:r>
          </a:p>
          <a:p>
            <a:pPr marL="571500" indent="-571500">
              <a:buFont typeface="+mj-lt"/>
              <a:buAutoNum type="romanUcPeriod"/>
            </a:pPr>
            <a:r>
              <a:rPr lang="en-US" sz="2800" dirty="0">
                <a:cs typeface="Times New Roman" pitchFamily="18" charset="0"/>
              </a:rPr>
              <a:t> Total intravenous Anaesthesia (TIVA) </a:t>
            </a:r>
          </a:p>
          <a:p>
            <a:pPr marL="571500" indent="-571500">
              <a:buFont typeface="+mj-lt"/>
              <a:buAutoNum type="romanUcPeriod"/>
            </a:pPr>
            <a:r>
              <a:rPr lang="en-US" sz="2800" dirty="0">
                <a:cs typeface="Times New Roman" pitchFamily="18" charset="0"/>
              </a:rPr>
              <a:t> To produce sedation - in intensive care units, regional anaesthesia.</a:t>
            </a:r>
          </a:p>
          <a:p>
            <a:pPr marL="571500" indent="-571500">
              <a:buFont typeface="+mj-lt"/>
              <a:buAutoNum type="romanUcPeriod"/>
            </a:pPr>
            <a:r>
              <a:rPr lang="en-US" sz="2800" dirty="0">
                <a:cs typeface="Times New Roman" pitchFamily="18" charset="0"/>
              </a:rPr>
              <a:t>To control convulsions </a:t>
            </a:r>
          </a:p>
          <a:p>
            <a:pPr marL="571500" indent="-571500">
              <a:buFont typeface="+mj-lt"/>
              <a:buAutoNum type="romanUcPeriod"/>
            </a:pPr>
            <a:endParaRPr lang="en-US" sz="2800" dirty="0">
              <a:cs typeface="Times New Roman" pitchFamily="18" charset="0"/>
            </a:endParaRPr>
          </a:p>
        </p:txBody>
      </p:sp>
    </p:spTree>
    <p:extLst>
      <p:ext uri="{BB962C8B-B14F-4D97-AF65-F5344CB8AC3E}">
        <p14:creationId xmlns:p14="http://schemas.microsoft.com/office/powerpoint/2010/main" val="4278888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br>
              <a:rPr lang="en-US" sz="3600" dirty="0">
                <a:latin typeface="+mn-lt"/>
              </a:rPr>
            </a:br>
            <a:r>
              <a:rPr lang="en-US" sz="3600" dirty="0">
                <a:latin typeface="+mn-lt"/>
              </a:rPr>
              <a:t>General Pharmacology of IV Hypnotics</a:t>
            </a:r>
            <a:br>
              <a:rPr lang="en-US" sz="3600" dirty="0">
                <a:latin typeface="+mn-lt"/>
              </a:rPr>
            </a:br>
            <a:endParaRPr lang="en-US" sz="3600" dirty="0">
              <a:latin typeface="+mn-lt"/>
            </a:endParaRPr>
          </a:p>
        </p:txBody>
      </p:sp>
      <p:sp>
        <p:nvSpPr>
          <p:cNvPr id="3" name="Content Placeholder 2"/>
          <p:cNvSpPr>
            <a:spLocks noGrp="1"/>
          </p:cNvSpPr>
          <p:nvPr>
            <p:ph idx="1"/>
          </p:nvPr>
        </p:nvSpPr>
        <p:spPr>
          <a:xfrm>
            <a:off x="228600" y="1600200"/>
            <a:ext cx="8686800" cy="4525963"/>
          </a:xfrm>
        </p:spPr>
        <p:txBody>
          <a:bodyPr>
            <a:normAutofit/>
          </a:bodyPr>
          <a:lstStyle/>
          <a:p>
            <a:pPr algn="just">
              <a:buFont typeface="Wingdings" pitchFamily="2" charset="2"/>
              <a:buChar char="q"/>
            </a:pPr>
            <a:r>
              <a:rPr lang="en-US" sz="2800" dirty="0">
                <a:solidFill>
                  <a:srgbClr val="92D050"/>
                </a:solidFill>
                <a:cs typeface="Times New Roman" pitchFamily="18" charset="0"/>
              </a:rPr>
              <a:t>Mechanism of Action</a:t>
            </a:r>
          </a:p>
          <a:p>
            <a:pPr algn="just"/>
            <a:r>
              <a:rPr lang="en-US" sz="2400" b="1" dirty="0">
                <a:cs typeface="Times New Roman" pitchFamily="18" charset="0"/>
              </a:rPr>
              <a:t>A widely accepted theory</a:t>
            </a:r>
            <a:r>
              <a:rPr lang="en-US" sz="2400" dirty="0">
                <a:cs typeface="Times New Roman" pitchFamily="18" charset="0"/>
              </a:rPr>
              <a:t>:</a:t>
            </a:r>
          </a:p>
          <a:p>
            <a:pPr algn="just"/>
            <a:r>
              <a:rPr lang="en-US" sz="2400" dirty="0">
                <a:cs typeface="Times New Roman" pitchFamily="18" charset="0"/>
              </a:rPr>
              <a:t>both IV and IAA exert their sedative and hypnotic effects through </a:t>
            </a:r>
          </a:p>
          <a:p>
            <a:pPr marL="914400" lvl="1" indent="-457200"/>
            <a:r>
              <a:rPr lang="en-US" sz="2200" dirty="0">
                <a:cs typeface="Times New Roman" pitchFamily="18" charset="0"/>
              </a:rPr>
              <a:t>an interaction with the inhibitory </a:t>
            </a:r>
            <a:r>
              <a:rPr lang="en-US" sz="2200" dirty="0">
                <a:solidFill>
                  <a:srgbClr val="FF0000"/>
                </a:solidFill>
                <a:cs typeface="Times New Roman" pitchFamily="18" charset="0"/>
              </a:rPr>
              <a:t>γ-</a:t>
            </a:r>
            <a:r>
              <a:rPr lang="en-US" sz="2200" dirty="0" err="1">
                <a:solidFill>
                  <a:srgbClr val="FF0000"/>
                </a:solidFill>
                <a:cs typeface="Times New Roman" pitchFamily="18" charset="0"/>
              </a:rPr>
              <a:t>aminobutyric</a:t>
            </a:r>
            <a:r>
              <a:rPr lang="en-US" sz="2200" dirty="0">
                <a:solidFill>
                  <a:srgbClr val="FF0000"/>
                </a:solidFill>
                <a:cs typeface="Times New Roman" pitchFamily="18" charset="0"/>
              </a:rPr>
              <a:t> acid (GABA</a:t>
            </a:r>
            <a:r>
              <a:rPr lang="en-US" sz="2200" dirty="0">
                <a:cs typeface="Times New Roman" pitchFamily="18" charset="0"/>
              </a:rPr>
              <a:t>) neurotransmitter system.</a:t>
            </a:r>
          </a:p>
          <a:p>
            <a:pPr algn="just"/>
            <a:r>
              <a:rPr lang="en-US" sz="2400" dirty="0">
                <a:cs typeface="Times New Roman" pitchFamily="18" charset="0"/>
              </a:rPr>
              <a:t>When the GABA</a:t>
            </a:r>
            <a:r>
              <a:rPr lang="en-US" sz="2400" baseline="-25000" dirty="0">
                <a:cs typeface="Times New Roman" pitchFamily="18" charset="0"/>
              </a:rPr>
              <a:t>A</a:t>
            </a:r>
            <a:r>
              <a:rPr lang="en-US" sz="2400" dirty="0">
                <a:cs typeface="Times New Roman" pitchFamily="18" charset="0"/>
              </a:rPr>
              <a:t> receptor is activated, </a:t>
            </a:r>
            <a:r>
              <a:rPr lang="en-US" sz="2400" dirty="0">
                <a:solidFill>
                  <a:srgbClr val="FF0000"/>
                </a:solidFill>
                <a:cs typeface="Times New Roman" pitchFamily="18" charset="0"/>
                <a:sym typeface="Symbol"/>
              </a:rPr>
              <a:t></a:t>
            </a:r>
            <a:r>
              <a:rPr lang="en-US" sz="2400" dirty="0">
                <a:cs typeface="Times New Roman" pitchFamily="18" charset="0"/>
                <a:sym typeface="Symbol"/>
              </a:rPr>
              <a:t> </a:t>
            </a:r>
            <a:r>
              <a:rPr lang="en-US" sz="2400" dirty="0">
                <a:cs typeface="Times New Roman" pitchFamily="18" charset="0"/>
              </a:rPr>
              <a:t>transmembrane </a:t>
            </a:r>
            <a:r>
              <a:rPr lang="en-US" sz="2400" dirty="0">
                <a:solidFill>
                  <a:srgbClr val="FF0000"/>
                </a:solidFill>
                <a:cs typeface="Times New Roman" pitchFamily="18" charset="0"/>
              </a:rPr>
              <a:t>chloride conductance increases </a:t>
            </a:r>
            <a:r>
              <a:rPr lang="en-US" sz="2400" dirty="0">
                <a:solidFill>
                  <a:srgbClr val="FF0000"/>
                </a:solidFill>
                <a:cs typeface="Times New Roman" pitchFamily="18" charset="0"/>
                <a:sym typeface="Symbol"/>
              </a:rPr>
              <a:t></a:t>
            </a:r>
            <a:r>
              <a:rPr lang="en-US" sz="2400" dirty="0">
                <a:solidFill>
                  <a:srgbClr val="FF0000"/>
                </a:solidFill>
                <a:cs typeface="Times New Roman" pitchFamily="18" charset="0"/>
              </a:rPr>
              <a:t> </a:t>
            </a:r>
            <a:r>
              <a:rPr lang="en-US" sz="2400" dirty="0">
                <a:cs typeface="Times New Roman" pitchFamily="18" charset="0"/>
              </a:rPr>
              <a:t>resulting in </a:t>
            </a:r>
            <a:r>
              <a:rPr lang="en-US" sz="2400" dirty="0">
                <a:solidFill>
                  <a:srgbClr val="FF0000"/>
                </a:solidFill>
                <a:cs typeface="Times New Roman" pitchFamily="18" charset="0"/>
              </a:rPr>
              <a:t>hyperpolarization </a:t>
            </a:r>
            <a:r>
              <a:rPr lang="en-US" sz="2400" dirty="0">
                <a:cs typeface="Times New Roman" pitchFamily="18" charset="0"/>
              </a:rPr>
              <a:t>of the </a:t>
            </a:r>
            <a:r>
              <a:rPr lang="en-US" sz="2400" dirty="0">
                <a:solidFill>
                  <a:srgbClr val="FF0000"/>
                </a:solidFill>
                <a:cs typeface="Times New Roman" pitchFamily="18" charset="0"/>
              </a:rPr>
              <a:t>postsynaptic cell membrane </a:t>
            </a:r>
            <a:r>
              <a:rPr lang="en-US" sz="2400" dirty="0">
                <a:cs typeface="Times New Roman" pitchFamily="18" charset="0"/>
              </a:rPr>
              <a:t>and functional inhibition of the postsynaptic neuron.  </a:t>
            </a:r>
          </a:p>
          <a:p>
            <a:pPr algn="just"/>
            <a:endParaRPr lang="en-US" sz="2400" dirty="0">
              <a:cs typeface="Times New Roman" pitchFamily="18" charset="0"/>
            </a:endParaRPr>
          </a:p>
        </p:txBody>
      </p:sp>
    </p:spTree>
    <p:extLst>
      <p:ext uri="{BB962C8B-B14F-4D97-AF65-F5344CB8AC3E}">
        <p14:creationId xmlns:p14="http://schemas.microsoft.com/office/powerpoint/2010/main" val="264107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29F2F-9286-3774-F45F-A3C6A1C1A119}"/>
              </a:ext>
            </a:extLst>
          </p:cNvPr>
          <p:cNvSpPr>
            <a:spLocks noGrp="1"/>
          </p:cNvSpPr>
          <p:nvPr>
            <p:ph type="title"/>
          </p:nvPr>
        </p:nvSpPr>
        <p:spPr/>
        <p:txBody>
          <a:bodyPr/>
          <a:lstStyle/>
          <a:p>
            <a:r>
              <a:rPr lang="en-US" dirty="0"/>
              <a:t>Propofol</a:t>
            </a:r>
          </a:p>
        </p:txBody>
      </p:sp>
      <p:pic>
        <p:nvPicPr>
          <p:cNvPr id="1026" name="Picture 2">
            <a:extLst>
              <a:ext uri="{FF2B5EF4-FFF2-40B4-BE49-F238E27FC236}">
                <a16:creationId xmlns:a16="http://schemas.microsoft.com/office/drawing/2014/main" id="{8988E4FE-6842-C3E4-97FC-42257E75484D}"/>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26720" y="1548408"/>
            <a:ext cx="4450080" cy="41148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5021FB2B-5C47-023D-7F6D-65AC37F510D6}"/>
              </a:ext>
            </a:extLst>
          </p:cNvPr>
          <p:cNvPicPr>
            <a:picLocks noChangeAspect="1"/>
          </p:cNvPicPr>
          <p:nvPr/>
        </p:nvPicPr>
        <p:blipFill>
          <a:blip r:embed="rId3"/>
          <a:stretch>
            <a:fillRect/>
          </a:stretch>
        </p:blipFill>
        <p:spPr>
          <a:xfrm>
            <a:off x="5040630" y="1752600"/>
            <a:ext cx="3676650" cy="4572000"/>
          </a:xfrm>
          <a:prstGeom prst="rect">
            <a:avLst/>
          </a:prstGeom>
        </p:spPr>
      </p:pic>
    </p:spTree>
    <p:extLst>
      <p:ext uri="{BB962C8B-B14F-4D97-AF65-F5344CB8AC3E}">
        <p14:creationId xmlns:p14="http://schemas.microsoft.com/office/powerpoint/2010/main" val="1903525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800" dirty="0">
                <a:latin typeface="Agency FB" pitchFamily="34" charset="0"/>
              </a:rPr>
              <a:t>Propofol</a:t>
            </a:r>
            <a:br>
              <a:rPr lang="en-US" sz="4800" dirty="0">
                <a:latin typeface="Agency FB" pitchFamily="34" charset="0"/>
              </a:rPr>
            </a:br>
            <a:endParaRPr lang="en-US" sz="4800" dirty="0">
              <a:latin typeface="Agency FB" pitchFamily="34" charset="0"/>
            </a:endParaRPr>
          </a:p>
        </p:txBody>
      </p:sp>
      <p:sp>
        <p:nvSpPr>
          <p:cNvPr id="13" name="TextBox 12">
            <a:extLst>
              <a:ext uri="{FF2B5EF4-FFF2-40B4-BE49-F238E27FC236}">
                <a16:creationId xmlns:a16="http://schemas.microsoft.com/office/drawing/2014/main" id="{23EE3FBF-69C7-A666-B58C-B10050F5AB37}"/>
              </a:ext>
            </a:extLst>
          </p:cNvPr>
          <p:cNvSpPr txBox="1"/>
          <p:nvPr/>
        </p:nvSpPr>
        <p:spPr>
          <a:xfrm>
            <a:off x="762000" y="4903983"/>
            <a:ext cx="7696200" cy="707886"/>
          </a:xfrm>
          <a:prstGeom prst="rect">
            <a:avLst/>
          </a:prstGeom>
          <a:noFill/>
        </p:spPr>
        <p:txBody>
          <a:bodyPr wrap="square">
            <a:spAutoFit/>
          </a:bodyPr>
          <a:lstStyle/>
          <a:p>
            <a:pPr algn="l"/>
            <a:r>
              <a:rPr lang="en-US" sz="2000" b="0" i="0" u="none" strike="noStrike" baseline="0" dirty="0"/>
              <a:t>Propofol consists of a phenol ring substituted with two isopropyl groups (see </a:t>
            </a:r>
            <a:r>
              <a:rPr lang="en-US" sz="2000" dirty="0"/>
              <a:t>the f</a:t>
            </a:r>
            <a:r>
              <a:rPr lang="en-US" sz="2000" b="0" i="0" u="none" strike="noStrike" baseline="0" dirty="0"/>
              <a:t>igure).</a:t>
            </a:r>
            <a:endParaRPr lang="en-US" sz="2000" dirty="0"/>
          </a:p>
        </p:txBody>
      </p:sp>
      <p:sp>
        <p:nvSpPr>
          <p:cNvPr id="17" name="TextBox 16">
            <a:extLst>
              <a:ext uri="{FF2B5EF4-FFF2-40B4-BE49-F238E27FC236}">
                <a16:creationId xmlns:a16="http://schemas.microsoft.com/office/drawing/2014/main" id="{C6AEB5A8-953D-7622-D067-4F8E18E5FC4E}"/>
              </a:ext>
            </a:extLst>
          </p:cNvPr>
          <p:cNvSpPr txBox="1"/>
          <p:nvPr/>
        </p:nvSpPr>
        <p:spPr>
          <a:xfrm>
            <a:off x="868680" y="5602069"/>
            <a:ext cx="7200900" cy="461665"/>
          </a:xfrm>
          <a:prstGeom prst="rect">
            <a:avLst/>
          </a:prstGeom>
          <a:noFill/>
        </p:spPr>
        <p:txBody>
          <a:bodyPr wrap="square">
            <a:spAutoFit/>
          </a:bodyPr>
          <a:lstStyle/>
          <a:p>
            <a:pPr marL="285750" indent="-285750">
              <a:buFont typeface="Arial" panose="020B0604020202020204" pitchFamily="34" charset="0"/>
              <a:buChar char="•"/>
            </a:pPr>
            <a:r>
              <a:rPr lang="en-US" sz="2400" b="0" i="0" u="none" strike="noStrike" baseline="0" dirty="0">
                <a:solidFill>
                  <a:srgbClr val="000000"/>
                </a:solidFill>
                <a:cs typeface="Arial" panose="020B0604020202020204" pitchFamily="34" charset="0"/>
              </a:rPr>
              <a:t>It is the most frequently used IV hypnotic today.</a:t>
            </a:r>
            <a:endParaRPr lang="en-US" sz="4000" b="0" i="0" u="none" strike="noStrike" baseline="0" dirty="0">
              <a:solidFill>
                <a:srgbClr val="000000"/>
              </a:solidFill>
              <a:cs typeface="Arial" panose="020B0604020202020204" pitchFamily="34" charset="0"/>
            </a:endParaRPr>
          </a:p>
        </p:txBody>
      </p:sp>
      <p:pic>
        <p:nvPicPr>
          <p:cNvPr id="2050" name="Picture 2">
            <a:extLst>
              <a:ext uri="{FF2B5EF4-FFF2-40B4-BE49-F238E27FC236}">
                <a16:creationId xmlns:a16="http://schemas.microsoft.com/office/drawing/2014/main" id="{7D20B5FF-2D17-F9CB-BC36-48A6D89589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181981"/>
            <a:ext cx="6774180" cy="3722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80381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Propofol…</a:t>
            </a:r>
          </a:p>
        </p:txBody>
      </p:sp>
      <p:sp>
        <p:nvSpPr>
          <p:cNvPr id="3" name="Content Placeholder 2"/>
          <p:cNvSpPr>
            <a:spLocks noGrp="1"/>
          </p:cNvSpPr>
          <p:nvPr>
            <p:ph idx="1"/>
          </p:nvPr>
        </p:nvSpPr>
        <p:spPr>
          <a:xfrm>
            <a:off x="457200" y="1417638"/>
            <a:ext cx="8382000" cy="4708525"/>
          </a:xfrm>
        </p:spPr>
        <p:txBody>
          <a:bodyPr>
            <a:normAutofit lnSpcReduction="10000"/>
          </a:bodyPr>
          <a:lstStyle/>
          <a:p>
            <a:pPr>
              <a:lnSpc>
                <a:spcPct val="150000"/>
              </a:lnSpc>
              <a:buFont typeface="Symbol" pitchFamily="18" charset="2"/>
              <a:buChar char=""/>
            </a:pPr>
            <a:r>
              <a:rPr lang="en-US" sz="2400" dirty="0">
                <a:latin typeface="Arial" panose="020B0604020202020204" pitchFamily="34" charset="0"/>
                <a:cs typeface="Arial" panose="020B0604020202020204" pitchFamily="34" charset="0"/>
              </a:rPr>
              <a:t>Appearance:  milky white, slightly viscous</a:t>
            </a:r>
          </a:p>
          <a:p>
            <a:pPr>
              <a:lnSpc>
                <a:spcPct val="150000"/>
              </a:lnSpc>
              <a:buFont typeface="Symbol" pitchFamily="18" charset="2"/>
              <a:buChar char=""/>
            </a:pPr>
            <a:r>
              <a:rPr lang="en-US" sz="2400" dirty="0">
                <a:latin typeface="Arial" panose="020B0604020202020204" pitchFamily="34" charset="0"/>
                <a:cs typeface="Arial" panose="020B0604020202020204" pitchFamily="34" charset="0"/>
              </a:rPr>
              <a:t>Relatively insoluble in aqueous solutions</a:t>
            </a:r>
          </a:p>
          <a:p>
            <a:pPr>
              <a:lnSpc>
                <a:spcPct val="150000"/>
              </a:lnSpc>
              <a:buFont typeface="Symbol" pitchFamily="18" charset="2"/>
              <a:buChar char=""/>
            </a:pPr>
            <a:r>
              <a:rPr lang="en-US" sz="2400" dirty="0">
                <a:latin typeface="Arial" panose="020B0604020202020204" pitchFamily="34" charset="0"/>
                <a:cs typeface="Arial" panose="020B0604020202020204" pitchFamily="34" charset="0"/>
              </a:rPr>
              <a:t>May be diluted with 5% dextrose in water</a:t>
            </a:r>
          </a:p>
          <a:p>
            <a:pPr>
              <a:lnSpc>
                <a:spcPct val="150000"/>
              </a:lnSpc>
              <a:buFont typeface="Symbol" pitchFamily="18" charset="2"/>
              <a:buChar char=""/>
            </a:pPr>
            <a:r>
              <a:rPr lang="en-US" sz="2400" dirty="0">
                <a:latin typeface="Arial" panose="020B0604020202020204" pitchFamily="34" charset="0"/>
                <a:cs typeface="Arial" panose="020B0604020202020204" pitchFamily="34" charset="0"/>
              </a:rPr>
              <a:t>Concentration= 1% or 10 mg/mL; PH =7</a:t>
            </a:r>
          </a:p>
          <a:p>
            <a:pPr>
              <a:lnSpc>
                <a:spcPct val="150000"/>
              </a:lnSpc>
              <a:buFont typeface="Symbol" pitchFamily="18" charset="2"/>
              <a:buChar char=""/>
            </a:pPr>
            <a:r>
              <a:rPr lang="en-US" sz="2400" dirty="0">
                <a:latin typeface="Arial" panose="020B0604020202020204" pitchFamily="34" charset="0"/>
                <a:cs typeface="Arial" panose="020B0604020202020204" pitchFamily="34" charset="0"/>
              </a:rPr>
              <a:t>Properties: hypnosis, amnesia</a:t>
            </a:r>
          </a:p>
          <a:p>
            <a:pPr>
              <a:lnSpc>
                <a:spcPct val="150000"/>
              </a:lnSpc>
              <a:buFont typeface="Symbol" pitchFamily="18" charset="2"/>
              <a:buChar char=""/>
            </a:pPr>
            <a:r>
              <a:rPr lang="en-US" sz="2400" dirty="0">
                <a:latin typeface="Arial" panose="020B0604020202020204" pitchFamily="34" charset="0"/>
                <a:cs typeface="Arial" panose="020B0604020202020204" pitchFamily="34" charset="0"/>
              </a:rPr>
              <a:t>Stable at room temperature</a:t>
            </a:r>
          </a:p>
          <a:p>
            <a:pPr>
              <a:lnSpc>
                <a:spcPct val="150000"/>
              </a:lnSpc>
              <a:buFont typeface="Symbol" pitchFamily="18" charset="2"/>
              <a:buChar char=""/>
            </a:pPr>
            <a:r>
              <a:rPr lang="en-US" sz="2400" dirty="0">
                <a:latin typeface="Arial" panose="020B0604020202020204" pitchFamily="34" charset="0"/>
                <a:cs typeface="Arial" panose="020B0604020202020204" pitchFamily="34" charset="0"/>
              </a:rPr>
              <a:t>Not light sensitive</a:t>
            </a:r>
          </a:p>
          <a:p>
            <a:pPr>
              <a:lnSpc>
                <a:spcPct val="150000"/>
              </a:lnSpc>
              <a:buFont typeface="Symbol" pitchFamily="18" charset="2"/>
              <a:buChar char=""/>
            </a:pPr>
            <a:r>
              <a:rPr lang="en-US" sz="2400" dirty="0">
                <a:latin typeface="Arial" panose="020B0604020202020204" pitchFamily="34" charset="0"/>
                <a:cs typeface="Arial" panose="020B0604020202020204" pitchFamily="34" charset="0"/>
              </a:rPr>
              <a:t>Unconsciousness in ~ 45 seconds and lasts ~15 minutes.</a:t>
            </a:r>
          </a:p>
          <a:p>
            <a:pPr>
              <a:buFont typeface="Symbol" pitchFamily="18" charset="2"/>
              <a:buChar char=""/>
            </a:pPr>
            <a:endParaRPr lang="en-US" sz="2400" dirty="0">
              <a:latin typeface="Arial" panose="020B0604020202020204" pitchFamily="34" charset="0"/>
              <a:cs typeface="Arial" panose="020B0604020202020204" pitchFamily="34" charset="0"/>
            </a:endParaRPr>
          </a:p>
          <a:p>
            <a:pPr>
              <a:buFont typeface="Symbol" pitchFamily="18" charset="2"/>
              <a:buChar char=""/>
            </a:pPr>
            <a:endParaRPr lang="en-US" dirty="0">
              <a:latin typeface="Arial" panose="020B0604020202020204" pitchFamily="34" charset="0"/>
              <a:cs typeface="Arial" panose="020B0604020202020204" pitchFamily="34" charset="0"/>
            </a:endParaRPr>
          </a:p>
          <a:p>
            <a:pPr>
              <a:buFont typeface="Symbol" pitchFamily="18" charset="2"/>
              <a:buChar char=""/>
            </a:pPr>
            <a:endParaRPr lang="en-US" dirty="0">
              <a:latin typeface="Arial" panose="020B0604020202020204" pitchFamily="34" charset="0"/>
              <a:cs typeface="Arial" panose="020B0604020202020204" pitchFamily="34" charset="0"/>
            </a:endParaRPr>
          </a:p>
          <a:p>
            <a:pPr>
              <a:buFont typeface="Symbol" pitchFamily="18" charset="2"/>
              <a:buChar char=""/>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953304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55AE9-AFBF-C896-C437-8CD89D3AE4A3}"/>
              </a:ext>
            </a:extLst>
          </p:cNvPr>
          <p:cNvSpPr>
            <a:spLocks noGrp="1"/>
          </p:cNvSpPr>
          <p:nvPr>
            <p:ph type="title"/>
          </p:nvPr>
        </p:nvSpPr>
        <p:spPr>
          <a:xfrm>
            <a:off x="457200" y="274638"/>
            <a:ext cx="8229600" cy="1020762"/>
          </a:xfrm>
        </p:spPr>
        <p:txBody>
          <a:bodyPr/>
          <a:lstStyle/>
          <a:p>
            <a:r>
              <a:rPr lang="en-US" dirty="0"/>
              <a:t>Propofol</a:t>
            </a:r>
          </a:p>
        </p:txBody>
      </p:sp>
      <p:sp>
        <p:nvSpPr>
          <p:cNvPr id="3" name="Content Placeholder 2">
            <a:extLst>
              <a:ext uri="{FF2B5EF4-FFF2-40B4-BE49-F238E27FC236}">
                <a16:creationId xmlns:a16="http://schemas.microsoft.com/office/drawing/2014/main" id="{7F9FA636-1D4C-949A-FF5C-66247498A835}"/>
              </a:ext>
            </a:extLst>
          </p:cNvPr>
          <p:cNvSpPr>
            <a:spLocks noGrp="1"/>
          </p:cNvSpPr>
          <p:nvPr>
            <p:ph idx="1"/>
          </p:nvPr>
        </p:nvSpPr>
        <p:spPr>
          <a:xfrm>
            <a:off x="457200" y="1417638"/>
            <a:ext cx="8229600" cy="4708525"/>
          </a:xfrm>
        </p:spPr>
        <p:txBody>
          <a:bodyPr>
            <a:normAutofit/>
          </a:bodyPr>
          <a:lstStyle/>
          <a:p>
            <a:r>
              <a:rPr lang="en-US" sz="2400" b="0" i="0" u="none" strike="noStrike" baseline="0" dirty="0">
                <a:solidFill>
                  <a:srgbClr val="000000"/>
                </a:solidFill>
                <a:cs typeface="Arial" panose="020B0604020202020204" pitchFamily="34" charset="0"/>
              </a:rPr>
              <a:t>Introduced in the 1970s,</a:t>
            </a:r>
          </a:p>
          <a:p>
            <a:pPr lvl="1"/>
            <a:r>
              <a:rPr lang="en-US" sz="2000" b="0" i="0" u="none" strike="noStrike" baseline="0" dirty="0">
                <a:solidFill>
                  <a:srgbClr val="000000"/>
                </a:solidFill>
                <a:cs typeface="Arial" panose="020B0604020202020204" pitchFamily="34" charset="0"/>
              </a:rPr>
              <a:t>it was rapidly withdrawn from the market due to concern for anaphylactic reactions </a:t>
            </a:r>
          </a:p>
          <a:p>
            <a:pPr marL="342900" lvl="1" indent="-342900">
              <a:buFont typeface="Arial" pitchFamily="34" charset="0"/>
              <a:buChar char="•"/>
            </a:pPr>
            <a:r>
              <a:rPr lang="en-US" sz="2400" dirty="0">
                <a:solidFill>
                  <a:srgbClr val="000000"/>
                </a:solidFill>
                <a:cs typeface="Arial" panose="020B0604020202020204" pitchFamily="34" charset="0"/>
              </a:rPr>
              <a:t>Nearly a decade later, it was reintroduced in its more current form consisting of</a:t>
            </a:r>
          </a:p>
          <a:p>
            <a:pPr lvl="1"/>
            <a:r>
              <a:rPr lang="en-US" sz="2000" dirty="0">
                <a:solidFill>
                  <a:srgbClr val="000000"/>
                </a:solidFill>
                <a:cs typeface="Arial" panose="020B0604020202020204" pitchFamily="34" charset="0"/>
              </a:rPr>
              <a:t>1% propofol, 10% soybean oil,</a:t>
            </a:r>
          </a:p>
          <a:p>
            <a:pPr lvl="1"/>
            <a:r>
              <a:rPr lang="en-US" sz="2000" dirty="0">
                <a:solidFill>
                  <a:srgbClr val="000000"/>
                </a:solidFill>
                <a:cs typeface="Arial" panose="020B0604020202020204" pitchFamily="34" charset="0"/>
              </a:rPr>
              <a:t> 2.25% glycerol as a tonicity-adjusting agent, and </a:t>
            </a:r>
          </a:p>
          <a:p>
            <a:pPr lvl="1"/>
            <a:r>
              <a:rPr lang="en-US" sz="2000" dirty="0">
                <a:solidFill>
                  <a:srgbClr val="000000"/>
                </a:solidFill>
                <a:cs typeface="Arial" panose="020B0604020202020204" pitchFamily="34" charset="0"/>
              </a:rPr>
              <a:t>1.2% egg phospholipid emulsifier(egg lecithin)….</a:t>
            </a:r>
            <a:r>
              <a:rPr lang="en-US" sz="2000" dirty="0">
                <a:solidFill>
                  <a:srgbClr val="FF0000"/>
                </a:solidFill>
                <a:cs typeface="Arial" panose="020B0604020202020204" pitchFamily="34" charset="0"/>
              </a:rPr>
              <a:t>concerns regarding microbial growth in the emulsion</a:t>
            </a:r>
          </a:p>
          <a:p>
            <a:pPr marL="342900" lvl="1" indent="-342900">
              <a:buFont typeface="Arial" pitchFamily="34" charset="0"/>
              <a:buChar char="•"/>
            </a:pPr>
            <a:r>
              <a:rPr lang="en-US" sz="2400" dirty="0">
                <a:solidFill>
                  <a:srgbClr val="000000"/>
                </a:solidFill>
                <a:cs typeface="Arial" panose="020B0604020202020204" pitchFamily="34" charset="0"/>
              </a:rPr>
              <a:t>Remedy: In the 1990s, ethylene </a:t>
            </a:r>
            <a:r>
              <a:rPr lang="en-US" sz="2400" dirty="0" err="1">
                <a:solidFill>
                  <a:srgbClr val="000000"/>
                </a:solidFill>
                <a:cs typeface="Arial" panose="020B0604020202020204" pitchFamily="34" charset="0"/>
              </a:rPr>
              <a:t>diamene</a:t>
            </a:r>
            <a:r>
              <a:rPr lang="en-US" sz="2400" dirty="0">
                <a:solidFill>
                  <a:srgbClr val="000000"/>
                </a:solidFill>
                <a:cs typeface="Arial" panose="020B0604020202020204" pitchFamily="34" charset="0"/>
              </a:rPr>
              <a:t> </a:t>
            </a:r>
            <a:r>
              <a:rPr lang="en-US" sz="2400" dirty="0" err="1">
                <a:solidFill>
                  <a:srgbClr val="000000"/>
                </a:solidFill>
                <a:cs typeface="Arial" panose="020B0604020202020204" pitchFamily="34" charset="0"/>
              </a:rPr>
              <a:t>tetraacetic</a:t>
            </a:r>
            <a:r>
              <a:rPr lang="en-US" sz="2400" dirty="0">
                <a:solidFill>
                  <a:srgbClr val="000000"/>
                </a:solidFill>
                <a:cs typeface="Arial" panose="020B0604020202020204" pitchFamily="34" charset="0"/>
              </a:rPr>
              <a:t> acid (EDTA) was added to this formulation </a:t>
            </a:r>
          </a:p>
          <a:p>
            <a:pPr lvl="1"/>
            <a:r>
              <a:rPr lang="en-US" sz="2000" dirty="0">
                <a:solidFill>
                  <a:srgbClr val="000000"/>
                </a:solidFill>
                <a:cs typeface="Arial" panose="020B0604020202020204" pitchFamily="34" charset="0"/>
              </a:rPr>
              <a:t>To deter (prevent) microbial growth within the emulsion</a:t>
            </a:r>
            <a:r>
              <a:rPr lang="en-US" sz="1800" b="0" i="0" u="none" strike="noStrike" baseline="0" dirty="0">
                <a:solidFill>
                  <a:srgbClr val="000000"/>
                </a:solidFill>
              </a:rPr>
              <a:t> </a:t>
            </a:r>
            <a:endParaRPr lang="en-US" sz="2000" dirty="0">
              <a:solidFill>
                <a:srgbClr val="000000"/>
              </a:solidFill>
              <a:cs typeface="Arial" panose="020B0604020202020204" pitchFamily="34" charset="0"/>
            </a:endParaRPr>
          </a:p>
        </p:txBody>
      </p:sp>
    </p:spTree>
    <p:extLst>
      <p:ext uri="{BB962C8B-B14F-4D97-AF65-F5344CB8AC3E}">
        <p14:creationId xmlns:p14="http://schemas.microsoft.com/office/powerpoint/2010/main" val="32436358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9A514-2BA2-3E02-FB3D-BDA5FCFB5065}"/>
              </a:ext>
            </a:extLst>
          </p:cNvPr>
          <p:cNvSpPr>
            <a:spLocks noGrp="1"/>
          </p:cNvSpPr>
          <p:nvPr>
            <p:ph type="title"/>
          </p:nvPr>
        </p:nvSpPr>
        <p:spPr/>
        <p:txBody>
          <a:bodyPr/>
          <a:lstStyle/>
          <a:p>
            <a:r>
              <a:rPr lang="en-US" dirty="0"/>
              <a:t>Propofol…</a:t>
            </a:r>
          </a:p>
        </p:txBody>
      </p:sp>
      <p:sp>
        <p:nvSpPr>
          <p:cNvPr id="3" name="Content Placeholder 2">
            <a:extLst>
              <a:ext uri="{FF2B5EF4-FFF2-40B4-BE49-F238E27FC236}">
                <a16:creationId xmlns:a16="http://schemas.microsoft.com/office/drawing/2014/main" id="{2DC73F0B-DC93-415D-895F-86021E105E3C}"/>
              </a:ext>
            </a:extLst>
          </p:cNvPr>
          <p:cNvSpPr>
            <a:spLocks noGrp="1"/>
          </p:cNvSpPr>
          <p:nvPr>
            <p:ph idx="1"/>
          </p:nvPr>
        </p:nvSpPr>
        <p:spPr>
          <a:xfrm>
            <a:off x="304800" y="1600200"/>
            <a:ext cx="8686800" cy="4525963"/>
          </a:xfrm>
        </p:spPr>
        <p:txBody>
          <a:bodyPr/>
          <a:lstStyle/>
          <a:p>
            <a:r>
              <a:rPr lang="en-US" sz="2400" dirty="0">
                <a:solidFill>
                  <a:srgbClr val="000000"/>
                </a:solidFill>
                <a:cs typeface="Arial" panose="020B0604020202020204" pitchFamily="34" charset="0"/>
              </a:rPr>
              <a:t>It has become the new “gold standard” in anesthesia practice with </a:t>
            </a:r>
          </a:p>
          <a:p>
            <a:pPr lvl="1"/>
            <a:r>
              <a:rPr lang="en-US" sz="2400" dirty="0">
                <a:solidFill>
                  <a:srgbClr val="000000"/>
                </a:solidFill>
                <a:cs typeface="Arial" panose="020B0604020202020204" pitchFamily="34" charset="0"/>
              </a:rPr>
              <a:t>a rapid onset, rapid recovery after bolus administration from redistribution, and its utility as a continuous infusion</a:t>
            </a:r>
            <a:r>
              <a:rPr lang="en-US" sz="2000" dirty="0">
                <a:solidFill>
                  <a:srgbClr val="000000"/>
                </a:solidFill>
                <a:cs typeface="Arial" panose="020B0604020202020204" pitchFamily="34" charset="0"/>
              </a:rPr>
              <a:t>. </a:t>
            </a:r>
          </a:p>
          <a:p>
            <a:r>
              <a:rPr lang="en-US" sz="2400" dirty="0">
                <a:solidFill>
                  <a:srgbClr val="000000"/>
                </a:solidFill>
                <a:cs typeface="Arial" panose="020B0604020202020204" pitchFamily="34" charset="0"/>
              </a:rPr>
              <a:t>It is unique with patients awake and oriented after administration</a:t>
            </a:r>
          </a:p>
          <a:p>
            <a:pPr lvl="1"/>
            <a:r>
              <a:rPr lang="en-US" sz="2000" dirty="0">
                <a:solidFill>
                  <a:srgbClr val="000000"/>
                </a:solidFill>
                <a:cs typeface="Arial" panose="020B0604020202020204" pitchFamily="34" charset="0"/>
              </a:rPr>
              <a:t>with lack of “hangover” effect that was associated with older anesthetics.</a:t>
            </a:r>
          </a:p>
          <a:p>
            <a:endParaRPr lang="en-US" dirty="0"/>
          </a:p>
        </p:txBody>
      </p:sp>
    </p:spTree>
    <p:extLst>
      <p:ext uri="{BB962C8B-B14F-4D97-AF65-F5344CB8AC3E}">
        <p14:creationId xmlns:p14="http://schemas.microsoft.com/office/powerpoint/2010/main" val="18086049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655A5-E456-DE2C-D6CF-6E0F31857DA3}"/>
              </a:ext>
            </a:extLst>
          </p:cNvPr>
          <p:cNvSpPr>
            <a:spLocks noGrp="1"/>
          </p:cNvSpPr>
          <p:nvPr>
            <p:ph type="title"/>
          </p:nvPr>
        </p:nvSpPr>
        <p:spPr/>
        <p:txBody>
          <a:bodyPr>
            <a:normAutofit fontScale="90000"/>
          </a:bodyPr>
          <a:lstStyle/>
          <a:p>
            <a:r>
              <a:rPr lang="bg-BG" b="1" dirty="0">
                <a:effectLst>
                  <a:outerShdw blurRad="38100" dist="38100" dir="2700000" algn="tl">
                    <a:srgbClr val="000000">
                      <a:alpha val="43137"/>
                    </a:srgbClr>
                  </a:outerShdw>
                </a:effectLst>
              </a:rPr>
              <a:t>Mechanisms of Action</a:t>
            </a:r>
            <a:br>
              <a:rPr lang="bg-BG" b="1" dirty="0">
                <a:effectLst>
                  <a:outerShdw blurRad="38100" dist="38100" dir="2700000" algn="tl">
                    <a:srgbClr val="000000">
                      <a:alpha val="43137"/>
                    </a:srgbClr>
                  </a:outerShdw>
                </a:effectLst>
              </a:rPr>
            </a:br>
            <a:endParaRPr lang="en-US" dirty="0"/>
          </a:p>
        </p:txBody>
      </p:sp>
      <p:sp>
        <p:nvSpPr>
          <p:cNvPr id="3" name="Content Placeholder 2">
            <a:extLst>
              <a:ext uri="{FF2B5EF4-FFF2-40B4-BE49-F238E27FC236}">
                <a16:creationId xmlns:a16="http://schemas.microsoft.com/office/drawing/2014/main" id="{FF794A50-F707-27E6-35A3-BE85CF5CB3D8}"/>
              </a:ext>
            </a:extLst>
          </p:cNvPr>
          <p:cNvSpPr>
            <a:spLocks noGrp="1"/>
          </p:cNvSpPr>
          <p:nvPr>
            <p:ph idx="1"/>
          </p:nvPr>
        </p:nvSpPr>
        <p:spPr>
          <a:xfrm>
            <a:off x="457200" y="1295400"/>
            <a:ext cx="8229600" cy="4830763"/>
          </a:xfrm>
        </p:spPr>
        <p:txBody>
          <a:bodyPr>
            <a:normAutofit/>
          </a:bodyPr>
          <a:lstStyle/>
          <a:p>
            <a:pPr algn="l"/>
            <a:r>
              <a:rPr lang="en-US" sz="2800" b="0" i="0" u="none" strike="noStrike" baseline="0" dirty="0"/>
              <a:t>How is the unconscious state attained by propofol?</a:t>
            </a:r>
          </a:p>
          <a:p>
            <a:pPr lvl="1"/>
            <a:r>
              <a:rPr lang="en-US" sz="2400" dirty="0"/>
              <a:t>It is complicated and not fully understood</a:t>
            </a:r>
          </a:p>
          <a:p>
            <a:pPr lvl="1"/>
            <a:r>
              <a:rPr lang="en-US" sz="2400" dirty="0"/>
              <a:t>Primarily, it occurs via enhancement of gamma-aminobutyric acid-A (GABA-A) inhibitory pathways.</a:t>
            </a:r>
          </a:p>
          <a:p>
            <a:pPr lvl="1"/>
            <a:r>
              <a:rPr lang="en-US" sz="2400" dirty="0"/>
              <a:t>i.e., enhancement of gamma-aminobutyric acid (GABA)-induced chloride currents.</a:t>
            </a:r>
          </a:p>
        </p:txBody>
      </p:sp>
    </p:spTree>
    <p:extLst>
      <p:ext uri="{BB962C8B-B14F-4D97-AF65-F5344CB8AC3E}">
        <p14:creationId xmlns:p14="http://schemas.microsoft.com/office/powerpoint/2010/main" val="3700162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bg-BG" b="1" dirty="0">
                <a:effectLst>
                  <a:outerShdw blurRad="38100" dist="38100" dir="2700000" algn="tl">
                    <a:srgbClr val="000000">
                      <a:alpha val="43137"/>
                    </a:srgbClr>
                  </a:outerShdw>
                </a:effectLst>
              </a:rPr>
              <a:t>Mechanisms of Action</a:t>
            </a:r>
            <a:br>
              <a:rPr lang="bg-BG" b="1" dirty="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latin typeface="AaSansOutline" pitchFamily="2" charset="0"/>
            </a:endParaRPr>
          </a:p>
        </p:txBody>
      </p:sp>
      <p:sp>
        <p:nvSpPr>
          <p:cNvPr id="3" name="Content Placeholder 2"/>
          <p:cNvSpPr>
            <a:spLocks noGrp="1"/>
          </p:cNvSpPr>
          <p:nvPr>
            <p:ph idx="1"/>
          </p:nvPr>
        </p:nvSpPr>
        <p:spPr/>
        <p:txBody>
          <a:bodyPr>
            <a:normAutofit/>
          </a:bodyPr>
          <a:lstStyle/>
          <a:p>
            <a:r>
              <a:rPr lang="bg-BG" sz="2400" dirty="0">
                <a:cs typeface="Arial" panose="020B0604020202020204" pitchFamily="34" charset="0"/>
              </a:rPr>
              <a:t>The mechanism by which propofol induces a state of general anesthesia involve </a:t>
            </a:r>
            <a:endParaRPr lang="en-US" sz="2400" dirty="0">
              <a:cs typeface="Arial" panose="020B0604020202020204" pitchFamily="34" charset="0"/>
            </a:endParaRPr>
          </a:p>
          <a:p>
            <a:pPr lvl="1" algn="just">
              <a:lnSpc>
                <a:spcPct val="150000"/>
              </a:lnSpc>
            </a:pPr>
            <a:r>
              <a:rPr lang="bg-BG" sz="2000" dirty="0">
                <a:solidFill>
                  <a:srgbClr val="FF0000"/>
                </a:solidFill>
                <a:cs typeface="Arial" panose="020B0604020202020204" pitchFamily="34" charset="0"/>
              </a:rPr>
              <a:t>facilitation of inhibitory neurotransmission mediated by GABA</a:t>
            </a:r>
            <a:r>
              <a:rPr lang="en-US" sz="2000" dirty="0">
                <a:solidFill>
                  <a:srgbClr val="FF0000"/>
                </a:solidFill>
                <a:cs typeface="Arial" panose="020B0604020202020204" pitchFamily="34" charset="0"/>
              </a:rPr>
              <a:t>  </a:t>
            </a:r>
            <a:r>
              <a:rPr lang="bg-BG" sz="2000" dirty="0">
                <a:solidFill>
                  <a:srgbClr val="FF0000"/>
                </a:solidFill>
                <a:cs typeface="Arial" panose="020B0604020202020204" pitchFamily="34" charset="0"/>
              </a:rPr>
              <a:t>→</a:t>
            </a:r>
            <a:r>
              <a:rPr lang="en-US" sz="2000" dirty="0">
                <a:solidFill>
                  <a:srgbClr val="FF0000"/>
                </a:solidFill>
                <a:cs typeface="Arial" panose="020B0604020202020204" pitchFamily="34" charset="0"/>
              </a:rPr>
              <a:t> </a:t>
            </a:r>
          </a:p>
          <a:p>
            <a:pPr lvl="1" algn="just">
              <a:lnSpc>
                <a:spcPct val="150000"/>
              </a:lnSpc>
            </a:pPr>
            <a:r>
              <a:rPr lang="en-US" sz="2000" dirty="0">
                <a:cs typeface="Arial" panose="020B0604020202020204" pitchFamily="34" charset="0"/>
              </a:rPr>
              <a:t>allosterically increases binding affinity of GABA for the GABA A receptor </a:t>
            </a:r>
            <a:r>
              <a:rPr lang="bg-BG" sz="2400" dirty="0">
                <a:solidFill>
                  <a:srgbClr val="FF0000"/>
                </a:solidFill>
                <a:cs typeface="Arial" panose="020B0604020202020204" pitchFamily="34" charset="0"/>
              </a:rPr>
              <a:t>→</a:t>
            </a:r>
            <a:endParaRPr lang="en-US" sz="2400" dirty="0">
              <a:solidFill>
                <a:srgbClr val="FF0000"/>
              </a:solidFill>
              <a:cs typeface="Arial" panose="020B0604020202020204" pitchFamily="34" charset="0"/>
            </a:endParaRPr>
          </a:p>
          <a:p>
            <a:pPr lvl="1" algn="just">
              <a:lnSpc>
                <a:spcPct val="150000"/>
              </a:lnSpc>
            </a:pPr>
            <a:r>
              <a:rPr lang="bg-BG" sz="2400" dirty="0">
                <a:solidFill>
                  <a:srgbClr val="FF0000"/>
                </a:solidFill>
                <a:cs typeface="Arial" panose="020B0604020202020204" pitchFamily="34" charset="0"/>
              </a:rPr>
              <a:t> </a:t>
            </a:r>
            <a:r>
              <a:rPr lang="en-US" sz="2000" dirty="0">
                <a:cs typeface="Arial" panose="020B0604020202020204" pitchFamily="34" charset="0"/>
              </a:rPr>
              <a:t>This receptor is coupled to a chloride channel </a:t>
            </a:r>
            <a:r>
              <a:rPr lang="bg-BG" sz="2000" dirty="0">
                <a:solidFill>
                  <a:srgbClr val="FF0000"/>
                </a:solidFill>
                <a:cs typeface="Arial" panose="020B0604020202020204" pitchFamily="34" charset="0"/>
              </a:rPr>
              <a:t>→ </a:t>
            </a:r>
            <a:r>
              <a:rPr lang="en-US" sz="2000" dirty="0">
                <a:cs typeface="Arial" panose="020B0604020202020204" pitchFamily="34" charset="0"/>
              </a:rPr>
              <a:t>and activation of the receptor leads to hyperpolarization of the nerve membrane. </a:t>
            </a:r>
            <a:endParaRPr lang="bg-BG" sz="2400" dirty="0">
              <a:cs typeface="Arial" panose="020B0604020202020204" pitchFamily="34" charset="0"/>
            </a:endParaRPr>
          </a:p>
          <a:p>
            <a:endParaRPr lang="en-US" sz="2400" dirty="0">
              <a:cs typeface="Arial" panose="020B0604020202020204" pitchFamily="34" charset="0"/>
            </a:endParaRPr>
          </a:p>
        </p:txBody>
      </p:sp>
    </p:spTree>
    <p:extLst>
      <p:ext uri="{BB962C8B-B14F-4D97-AF65-F5344CB8AC3E}">
        <p14:creationId xmlns:p14="http://schemas.microsoft.com/office/powerpoint/2010/main" val="338296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solidFill>
                  <a:schemeClr val="tx2">
                    <a:satMod val="130000"/>
                  </a:schemeClr>
                </a:solidFill>
                <a:effectLst>
                  <a:outerShdw blurRad="38100" dist="38100" dir="2700000" algn="tl">
                    <a:srgbClr val="000000">
                      <a:alpha val="43137"/>
                    </a:srgbClr>
                  </a:outerShdw>
                </a:effectLst>
                <a:latin typeface="Agency FB" pitchFamily="34" charset="0"/>
              </a:rPr>
              <a:t>Pharmacokinetics of propofol </a:t>
            </a:r>
            <a:endParaRPr lang="en-US" sz="5400" dirty="0">
              <a:effectLst>
                <a:outerShdw blurRad="38100" dist="38100" dir="2700000" algn="tl">
                  <a:srgbClr val="000000">
                    <a:alpha val="43137"/>
                  </a:srgbClr>
                </a:outerShdw>
              </a:effectLst>
              <a:latin typeface="Agency FB" pitchFamily="34" charset="0"/>
            </a:endParaRPr>
          </a:p>
        </p:txBody>
      </p:sp>
      <p:sp>
        <p:nvSpPr>
          <p:cNvPr id="3" name="Content Placeholder 2"/>
          <p:cNvSpPr>
            <a:spLocks noGrp="1"/>
          </p:cNvSpPr>
          <p:nvPr>
            <p:ph idx="1"/>
          </p:nvPr>
        </p:nvSpPr>
        <p:spPr>
          <a:xfrm>
            <a:off x="457200" y="1600200"/>
            <a:ext cx="8534400" cy="4525963"/>
          </a:xfrm>
        </p:spPr>
        <p:txBody>
          <a:bodyPr>
            <a:noAutofit/>
          </a:bodyPr>
          <a:lstStyle/>
          <a:p>
            <a:pPr>
              <a:buFont typeface="Wingdings" panose="05000000000000000000" pitchFamily="2" charset="2"/>
              <a:buChar char="ü"/>
            </a:pPr>
            <a:r>
              <a:rPr lang="en-US" sz="2800" b="1" dirty="0">
                <a:cs typeface="Times New Roman" pitchFamily="18" charset="0"/>
              </a:rPr>
              <a:t>Absorption</a:t>
            </a:r>
          </a:p>
          <a:p>
            <a:r>
              <a:rPr lang="bg-BG" sz="2400" dirty="0">
                <a:cs typeface="Times New Roman" pitchFamily="18" charset="0"/>
              </a:rPr>
              <a:t>Propofol is available only for intravenous administration</a:t>
            </a:r>
            <a:endParaRPr lang="en-US" sz="2400" dirty="0">
              <a:cs typeface="Times New Roman" pitchFamily="18" charset="0"/>
            </a:endParaRPr>
          </a:p>
          <a:p>
            <a:pPr lvl="1"/>
            <a:r>
              <a:rPr lang="bg-BG" sz="2400" dirty="0">
                <a:cs typeface="Times New Roman" pitchFamily="18" charset="0"/>
              </a:rPr>
              <a:t> for the induction of </a:t>
            </a:r>
            <a:r>
              <a:rPr lang="en-US" sz="2400" dirty="0">
                <a:cs typeface="Times New Roman" pitchFamily="18" charset="0"/>
              </a:rPr>
              <a:t>GA </a:t>
            </a:r>
            <a:r>
              <a:rPr lang="bg-BG" sz="2400" dirty="0">
                <a:cs typeface="Times New Roman" pitchFamily="18" charset="0"/>
              </a:rPr>
              <a:t>and for moderate to deep sedation </a:t>
            </a:r>
            <a:endParaRPr lang="en-US" sz="2400" dirty="0">
              <a:cs typeface="Times New Roman" pitchFamily="18" charset="0"/>
            </a:endParaRPr>
          </a:p>
          <a:p>
            <a:pPr>
              <a:buFont typeface="Wingdings" panose="05000000000000000000" pitchFamily="2" charset="2"/>
              <a:buChar char="ü"/>
            </a:pPr>
            <a:r>
              <a:rPr lang="en-US" sz="2800" b="1" dirty="0">
                <a:cs typeface="Times New Roman" pitchFamily="18" charset="0"/>
              </a:rPr>
              <a:t>Distribution</a:t>
            </a:r>
          </a:p>
          <a:p>
            <a:r>
              <a:rPr lang="en-US" sz="2400" dirty="0">
                <a:cs typeface="Times New Roman" pitchFamily="18" charset="0"/>
              </a:rPr>
              <a:t>Propofol has a rapid onset of action. </a:t>
            </a:r>
          </a:p>
          <a:p>
            <a:r>
              <a:rPr lang="en-US" sz="2400" dirty="0">
                <a:cs typeface="Times New Roman" pitchFamily="18" charset="0"/>
              </a:rPr>
              <a:t>Awakening from a single bolus dose is also rapid due to a very</a:t>
            </a:r>
          </a:p>
          <a:p>
            <a:pPr marL="0" indent="0">
              <a:buNone/>
            </a:pPr>
            <a:r>
              <a:rPr lang="en-US" sz="2400" dirty="0">
                <a:cs typeface="Times New Roman" pitchFamily="18" charset="0"/>
              </a:rPr>
              <a:t>short initial distribution half-life (2–8 min)</a:t>
            </a:r>
          </a:p>
          <a:p>
            <a:r>
              <a:rPr lang="en-US" sz="2000" dirty="0">
                <a:cs typeface="Times New Roman" pitchFamily="18" charset="0"/>
              </a:rPr>
              <a:t>More rapid recovery and less “hangover” than other induction agents</a:t>
            </a:r>
          </a:p>
          <a:p>
            <a:pPr lvl="1"/>
            <a:r>
              <a:rPr lang="en-US" sz="2000" dirty="0">
                <a:cs typeface="Times New Roman" pitchFamily="18" charset="0"/>
              </a:rPr>
              <a:t>This makes it a good agent for outpatient anesthesia.</a:t>
            </a:r>
          </a:p>
          <a:p>
            <a:pPr marL="0" indent="0">
              <a:buNone/>
            </a:pPr>
            <a:endParaRPr lang="en-US" sz="2800" dirty="0">
              <a:cs typeface="Times New Roman" pitchFamily="18" charset="0"/>
            </a:endParaRPr>
          </a:p>
        </p:txBody>
      </p:sp>
    </p:spTree>
    <p:extLst>
      <p:ext uri="{BB962C8B-B14F-4D97-AF65-F5344CB8AC3E}">
        <p14:creationId xmlns:p14="http://schemas.microsoft.com/office/powerpoint/2010/main" val="2619124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EB0EA-FFD7-5D86-C187-BAA01D51BDB9}"/>
              </a:ext>
            </a:extLst>
          </p:cNvPr>
          <p:cNvSpPr>
            <a:spLocks noGrp="1"/>
          </p:cNvSpPr>
          <p:nvPr>
            <p:ph type="title"/>
          </p:nvPr>
        </p:nvSpPr>
        <p:spPr>
          <a:xfrm>
            <a:off x="457200" y="274638"/>
            <a:ext cx="8229600" cy="868362"/>
          </a:xfrm>
        </p:spPr>
        <p:txBody>
          <a:bodyPr/>
          <a:lstStyle/>
          <a:p>
            <a:r>
              <a:rPr lang="en-US" dirty="0"/>
              <a:t>Cont.….</a:t>
            </a:r>
          </a:p>
        </p:txBody>
      </p:sp>
      <p:sp>
        <p:nvSpPr>
          <p:cNvPr id="3" name="Content Placeholder 2">
            <a:extLst>
              <a:ext uri="{FF2B5EF4-FFF2-40B4-BE49-F238E27FC236}">
                <a16:creationId xmlns:a16="http://schemas.microsoft.com/office/drawing/2014/main" id="{8F7CFDF8-20C8-9653-7CCC-33932B1DB506}"/>
              </a:ext>
            </a:extLst>
          </p:cNvPr>
          <p:cNvSpPr>
            <a:spLocks noGrp="1"/>
          </p:cNvSpPr>
          <p:nvPr>
            <p:ph idx="1"/>
          </p:nvPr>
        </p:nvSpPr>
        <p:spPr>
          <a:xfrm>
            <a:off x="457200" y="1371600"/>
            <a:ext cx="8382000" cy="4754563"/>
          </a:xfrm>
        </p:spPr>
        <p:txBody>
          <a:bodyPr>
            <a:normAutofit/>
          </a:bodyPr>
          <a:lstStyle/>
          <a:p>
            <a:pPr>
              <a:buFont typeface="Wingdings" panose="05000000000000000000" pitchFamily="2" charset="2"/>
              <a:buChar char="ü"/>
            </a:pPr>
            <a:r>
              <a:rPr lang="en-US" sz="2800" b="1" dirty="0">
                <a:cs typeface="Times New Roman" pitchFamily="18" charset="0"/>
              </a:rPr>
              <a:t>Biotransformation</a:t>
            </a:r>
          </a:p>
          <a:p>
            <a:r>
              <a:rPr lang="en-US" sz="2400" dirty="0">
                <a:cs typeface="Times New Roman" pitchFamily="18" charset="0"/>
              </a:rPr>
              <a:t>Rapidly metabolized in the liver to its inactive and water-soluble metabolites which are </a:t>
            </a:r>
            <a:r>
              <a:rPr lang="en-US" sz="2400" b="0" i="0" u="none" strike="noStrike" baseline="0" dirty="0"/>
              <a:t>is excreted by the kidneys</a:t>
            </a:r>
            <a:endParaRPr lang="en-US" sz="2400" dirty="0">
              <a:cs typeface="Times New Roman" pitchFamily="18" charset="0"/>
            </a:endParaRPr>
          </a:p>
          <a:p>
            <a:r>
              <a:rPr lang="en-US" sz="2400" dirty="0">
                <a:cs typeface="Times New Roman" pitchFamily="18" charset="0"/>
              </a:rPr>
              <a:t>Can undergo extrahepatic metabolism (kidneys and lungs ~ 30%).</a:t>
            </a:r>
          </a:p>
          <a:p>
            <a:pPr lvl="1"/>
            <a:r>
              <a:rPr lang="en-US" sz="2400" dirty="0">
                <a:cs typeface="Times New Roman" pitchFamily="18" charset="0"/>
              </a:rPr>
              <a:t>Thus, clearance of propofol exceeds hepatic blood flow </a:t>
            </a:r>
          </a:p>
          <a:p>
            <a:r>
              <a:rPr lang="en-US" sz="2400" dirty="0">
                <a:cs typeface="Times New Roman" pitchFamily="18" charset="0"/>
              </a:rPr>
              <a:t>High plasma clearance rate—</a:t>
            </a:r>
          </a:p>
          <a:p>
            <a:pPr lvl="1"/>
            <a:r>
              <a:rPr lang="en-US" sz="2400" dirty="0">
                <a:cs typeface="Times New Roman" pitchFamily="18" charset="0"/>
              </a:rPr>
              <a:t> explains the more complete recovery when compared with thiopental (no “hang-over”)</a:t>
            </a:r>
          </a:p>
          <a:p>
            <a:r>
              <a:rPr lang="en-US" sz="2400" dirty="0">
                <a:cs typeface="Times New Roman" pitchFamily="18" charset="0"/>
              </a:rPr>
              <a:t>Wake-up after induction dose is mainly due to redistribution, which occurs in 8-10 min</a:t>
            </a:r>
            <a:r>
              <a:rPr lang="en-US" sz="2800" dirty="0">
                <a:cs typeface="Times New Roman" pitchFamily="18" charset="0"/>
              </a:rPr>
              <a:t>.</a:t>
            </a:r>
          </a:p>
          <a:p>
            <a:endParaRPr lang="en-US" dirty="0"/>
          </a:p>
        </p:txBody>
      </p:sp>
    </p:spTree>
    <p:extLst>
      <p:ext uri="{BB962C8B-B14F-4D97-AF65-F5344CB8AC3E}">
        <p14:creationId xmlns:p14="http://schemas.microsoft.com/office/powerpoint/2010/main" val="4024672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D8EE-9214-C686-F3B6-D41DD622D563}"/>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ED9A9D47-76BC-7421-CD1D-15A5233108FA}"/>
              </a:ext>
            </a:extLst>
          </p:cNvPr>
          <p:cNvSpPr>
            <a:spLocks noGrp="1"/>
          </p:cNvSpPr>
          <p:nvPr>
            <p:ph idx="1"/>
          </p:nvPr>
        </p:nvSpPr>
        <p:spPr/>
        <p:txBody>
          <a:bodyPr>
            <a:normAutofit/>
          </a:bodyPr>
          <a:lstStyle/>
          <a:p>
            <a:r>
              <a:rPr lang="en-US" sz="2400" dirty="0">
                <a:cs typeface="Arial" panose="020B0604020202020204" pitchFamily="34" charset="0"/>
              </a:rPr>
              <a:t>The pharmacokinetics of propofol do not appear to be affected by obesity, cirrhosis, or kidney failure.</a:t>
            </a:r>
          </a:p>
          <a:p>
            <a:pPr>
              <a:buFont typeface="Wingdings" panose="05000000000000000000" pitchFamily="2" charset="2"/>
              <a:buChar char="ü"/>
            </a:pPr>
            <a:r>
              <a:rPr lang="en-US" dirty="0">
                <a:cs typeface="Arial" panose="020B0604020202020204" pitchFamily="34" charset="0"/>
              </a:rPr>
              <a:t> </a:t>
            </a:r>
            <a:r>
              <a:rPr lang="en-US" b="1" dirty="0">
                <a:cs typeface="Arial" panose="020B0604020202020204" pitchFamily="34" charset="0"/>
              </a:rPr>
              <a:t>Excretion</a:t>
            </a:r>
          </a:p>
          <a:p>
            <a:r>
              <a:rPr lang="en-US" sz="2400" dirty="0">
                <a:cs typeface="Arial" panose="020B0604020202020204" pitchFamily="34" charset="0"/>
              </a:rPr>
              <a:t>Although metabolites of propofol are primarily excreted in the urine, </a:t>
            </a:r>
          </a:p>
          <a:p>
            <a:pPr lvl="1"/>
            <a:r>
              <a:rPr lang="en-US" sz="2400" dirty="0">
                <a:cs typeface="Arial" panose="020B0604020202020204" pitchFamily="34" charset="0"/>
              </a:rPr>
              <a:t>chronic kidney failure does not affect clearance of the parent drug.</a:t>
            </a:r>
          </a:p>
          <a:p>
            <a:r>
              <a:rPr lang="en-US" sz="2600" dirty="0">
                <a:cs typeface="Arial" panose="020B0604020202020204" pitchFamily="34" charset="0"/>
              </a:rPr>
              <a:t>Less than 1% propofol is  excreted unchanged (unmetabolized) in urine, and </a:t>
            </a:r>
          </a:p>
          <a:p>
            <a:r>
              <a:rPr lang="en-US" sz="2600" dirty="0">
                <a:cs typeface="Arial" panose="020B0604020202020204" pitchFamily="34" charset="0"/>
              </a:rPr>
              <a:t>only 2% is excreted in feces.</a:t>
            </a:r>
          </a:p>
        </p:txBody>
      </p:sp>
    </p:spTree>
    <p:extLst>
      <p:ext uri="{BB962C8B-B14F-4D97-AF65-F5344CB8AC3E}">
        <p14:creationId xmlns:p14="http://schemas.microsoft.com/office/powerpoint/2010/main" val="29452704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effectLst>
                  <a:outerShdw blurRad="38100" dist="38100" dir="2700000" algn="tl">
                    <a:srgbClr val="000000">
                      <a:alpha val="43137"/>
                    </a:srgbClr>
                  </a:outerShdw>
                </a:effectLst>
                <a:latin typeface="+mn-lt"/>
              </a:rPr>
              <a:t>Cont.…</a:t>
            </a:r>
          </a:p>
        </p:txBody>
      </p:sp>
      <p:sp>
        <p:nvSpPr>
          <p:cNvPr id="3" name="Content Placeholder 2"/>
          <p:cNvSpPr>
            <a:spLocks noGrp="1"/>
          </p:cNvSpPr>
          <p:nvPr>
            <p:ph idx="1"/>
          </p:nvPr>
        </p:nvSpPr>
        <p:spPr>
          <a:xfrm>
            <a:off x="457200" y="1447800"/>
            <a:ext cx="8305800" cy="5029200"/>
          </a:xfrm>
        </p:spPr>
        <p:txBody>
          <a:bodyPr>
            <a:noAutofit/>
          </a:bodyPr>
          <a:lstStyle/>
          <a:p>
            <a:pPr>
              <a:buFont typeface="Wingdings" panose="05000000000000000000" pitchFamily="2" charset="2"/>
              <a:buChar char="q"/>
            </a:pPr>
            <a:r>
              <a:rPr lang="en-US" dirty="0">
                <a:effectLst>
                  <a:outerShdw blurRad="38100" dist="38100" dir="2700000" algn="tl">
                    <a:srgbClr val="000000">
                      <a:alpha val="43137"/>
                    </a:srgbClr>
                  </a:outerShdw>
                </a:effectLst>
                <a:latin typeface="+mn-lt"/>
              </a:rPr>
              <a:t>Pharmacodynamics </a:t>
            </a:r>
            <a:r>
              <a:rPr lang="en-US" dirty="0">
                <a:effectLst>
                  <a:outerShdw blurRad="38100" dist="38100" dir="2700000" algn="tl">
                    <a:srgbClr val="000000">
                      <a:alpha val="43137"/>
                    </a:srgbClr>
                  </a:outerShdw>
                </a:effectLst>
                <a:latin typeface="+mn-lt"/>
                <a:cs typeface="Times New Roman" pitchFamily="18" charset="0"/>
              </a:rPr>
              <a:t>of propofol</a:t>
            </a:r>
          </a:p>
          <a:p>
            <a:pPr>
              <a:buFont typeface="Wingdings" pitchFamily="2" charset="2"/>
              <a:buChar char="Ø"/>
            </a:pPr>
            <a:r>
              <a:rPr lang="en-US" sz="2800" dirty="0">
                <a:cs typeface="Times New Roman" pitchFamily="18" charset="0"/>
              </a:rPr>
              <a:t>CNS effects</a:t>
            </a:r>
          </a:p>
          <a:p>
            <a:pPr lvl="1">
              <a:buFont typeface="Arial" panose="020B0604020202020204" pitchFamily="34" charset="0"/>
              <a:buChar char="•"/>
            </a:pPr>
            <a:r>
              <a:rPr lang="en-US" sz="2400" dirty="0">
                <a:cs typeface="Times New Roman" pitchFamily="18" charset="0"/>
              </a:rPr>
              <a:t>Hypnosis but no analgesia</a:t>
            </a:r>
          </a:p>
          <a:p>
            <a:pPr lvl="1">
              <a:buFont typeface="Arial" panose="020B0604020202020204" pitchFamily="34" charset="0"/>
              <a:buChar char="•"/>
            </a:pPr>
            <a:r>
              <a:rPr lang="en-US" sz="2400" dirty="0">
                <a:cs typeface="Times New Roman" pitchFamily="18" charset="0"/>
              </a:rPr>
              <a:t>Decreased cerebral blood blow (CBF) and cerebral metabolic rate for oxygen (CMRO2).</a:t>
            </a:r>
          </a:p>
          <a:p>
            <a:pPr lvl="3"/>
            <a:r>
              <a:rPr lang="en-US" sz="2400" dirty="0">
                <a:solidFill>
                  <a:srgbClr val="FF0000"/>
                </a:solidFill>
                <a:cs typeface="Times New Roman" pitchFamily="18" charset="0"/>
              </a:rPr>
              <a:t>causing a decreased ICP </a:t>
            </a:r>
          </a:p>
          <a:p>
            <a:pPr lvl="1">
              <a:buFont typeface="Arial" panose="020B0604020202020204" pitchFamily="34" charset="0"/>
              <a:buChar char="•"/>
            </a:pPr>
            <a:r>
              <a:rPr lang="en-US" sz="2400" dirty="0">
                <a:cs typeface="Times New Roman" pitchFamily="18" charset="0"/>
              </a:rPr>
              <a:t>Occasional excitatory effects seen, such as twitching </a:t>
            </a:r>
            <a:r>
              <a:rPr lang="en-US" sz="2400" dirty="0">
                <a:solidFill>
                  <a:srgbClr val="FF0000"/>
                </a:solidFill>
                <a:cs typeface="Times New Roman" pitchFamily="18" charset="0"/>
              </a:rPr>
              <a:t>“this is not a seizure”</a:t>
            </a:r>
          </a:p>
          <a:p>
            <a:pPr lvl="1">
              <a:buFont typeface="Arial" panose="020B0604020202020204" pitchFamily="34" charset="0"/>
              <a:buChar char="•"/>
            </a:pPr>
            <a:r>
              <a:rPr lang="en-US" sz="2400" dirty="0">
                <a:cs typeface="Times New Roman" pitchFamily="18" charset="0"/>
              </a:rPr>
              <a:t>Neuroprotective</a:t>
            </a:r>
          </a:p>
          <a:p>
            <a:pPr lvl="1"/>
            <a:r>
              <a:rPr lang="en-US" sz="2000" dirty="0">
                <a:cs typeface="Times New Roman" pitchFamily="18" charset="0"/>
              </a:rPr>
              <a:t>Lowers CMRO2 and decreases ICP primarily by lowering CBF.</a:t>
            </a:r>
          </a:p>
          <a:p>
            <a:endParaRPr lang="en-US" sz="2400" dirty="0">
              <a:cs typeface="Times New Roman" pitchFamily="18" charset="0"/>
            </a:endParaRPr>
          </a:p>
          <a:p>
            <a:endParaRPr lang="en-US" sz="2400" dirty="0">
              <a:cs typeface="Times New Roman" pitchFamily="18" charset="0"/>
            </a:endParaRPr>
          </a:p>
        </p:txBody>
      </p:sp>
    </p:spTree>
    <p:extLst>
      <p:ext uri="{BB962C8B-B14F-4D97-AF65-F5344CB8AC3E}">
        <p14:creationId xmlns:p14="http://schemas.microsoft.com/office/powerpoint/2010/main" val="22753772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97B2B-66AC-2623-258D-C6B2E5ACD238}"/>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FA88B930-EC34-BE88-8C53-3336ADE23B23}"/>
              </a:ext>
            </a:extLst>
          </p:cNvPr>
          <p:cNvSpPr>
            <a:spLocks noGrp="1"/>
          </p:cNvSpPr>
          <p:nvPr>
            <p:ph idx="1"/>
          </p:nvPr>
        </p:nvSpPr>
        <p:spPr/>
        <p:txBody>
          <a:bodyPr>
            <a:normAutofit/>
          </a:bodyPr>
          <a:lstStyle/>
          <a:p>
            <a:r>
              <a:rPr lang="en-US" sz="2400" dirty="0">
                <a:cs typeface="Times New Roman" pitchFamily="18" charset="0"/>
              </a:rPr>
              <a:t>Has antioxidant properties, </a:t>
            </a:r>
          </a:p>
          <a:p>
            <a:pPr lvl="1"/>
            <a:r>
              <a:rPr lang="en-US" sz="2400" dirty="0">
                <a:cs typeface="Times New Roman" pitchFamily="18" charset="0"/>
              </a:rPr>
              <a:t>and its function as a free radical scavenger</a:t>
            </a:r>
          </a:p>
          <a:p>
            <a:r>
              <a:rPr lang="en-US" sz="2400" dirty="0"/>
              <a:t>Anti-convulsant</a:t>
            </a:r>
          </a:p>
          <a:p>
            <a:pPr lvl="1"/>
            <a:r>
              <a:rPr lang="en-US" sz="2000" dirty="0"/>
              <a:t>The anesthetic of choice during induction of anesthesia for electroconvulsive therapy (ECT) because it shortens seizure duration</a:t>
            </a:r>
          </a:p>
          <a:p>
            <a:r>
              <a:rPr lang="en-US" sz="2400" dirty="0"/>
              <a:t>Attenuation of excitotoxic glutamate pathways </a:t>
            </a:r>
          </a:p>
          <a:p>
            <a:pPr lvl="1"/>
            <a:r>
              <a:rPr lang="en-US" sz="2000" dirty="0"/>
              <a:t>that lower the likelihood of programmed neuronal apoptosis</a:t>
            </a:r>
          </a:p>
          <a:p>
            <a:r>
              <a:rPr lang="en-US" sz="2400" dirty="0"/>
              <a:t>Anti-inflammatory effects (e.g., decreasing TNF-alpha)</a:t>
            </a:r>
          </a:p>
        </p:txBody>
      </p:sp>
    </p:spTree>
    <p:extLst>
      <p:ext uri="{BB962C8B-B14F-4D97-AF65-F5344CB8AC3E}">
        <p14:creationId xmlns:p14="http://schemas.microsoft.com/office/powerpoint/2010/main" val="17739260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atMod val="130000"/>
                  </a:schemeClr>
                </a:solidFill>
                <a:effectLst>
                  <a:outerShdw blurRad="38100" dist="38100" dir="2700000" algn="tl">
                    <a:srgbClr val="000000">
                      <a:alpha val="43137"/>
                    </a:srgbClr>
                  </a:outerShdw>
                </a:effectLst>
                <a:latin typeface="Agency FB" pitchFamily="34" charset="0"/>
              </a:rPr>
              <a:t>Cont.…</a:t>
            </a:r>
            <a:endParaRPr lang="en-US" dirty="0"/>
          </a:p>
        </p:txBody>
      </p:sp>
      <p:sp>
        <p:nvSpPr>
          <p:cNvPr id="3" name="Content Placeholder 2"/>
          <p:cNvSpPr>
            <a:spLocks noGrp="1"/>
          </p:cNvSpPr>
          <p:nvPr>
            <p:ph idx="1"/>
          </p:nvPr>
        </p:nvSpPr>
        <p:spPr>
          <a:xfrm>
            <a:off x="457200" y="1600200"/>
            <a:ext cx="8382000" cy="4800600"/>
          </a:xfrm>
        </p:spPr>
        <p:txBody>
          <a:bodyPr>
            <a:normAutofit fontScale="85000" lnSpcReduction="20000"/>
          </a:bodyPr>
          <a:lstStyle/>
          <a:p>
            <a:pPr marL="539496" indent="-457200">
              <a:buFont typeface="Wingdings" pitchFamily="2" charset="2"/>
              <a:buChar char="Ø"/>
              <a:defRPr/>
            </a:pPr>
            <a:r>
              <a:rPr lang="en-US" sz="3500" b="1" dirty="0">
                <a:cs typeface="Times New Roman" pitchFamily="18" charset="0"/>
              </a:rPr>
              <a:t>CVS effects</a:t>
            </a:r>
          </a:p>
          <a:p>
            <a:pPr marL="859536" lvl="1" indent="-457200">
              <a:buFont typeface="Arial" pitchFamily="34" charset="0"/>
              <a:buChar char="•"/>
              <a:defRPr/>
            </a:pPr>
            <a:r>
              <a:rPr lang="en-US" dirty="0">
                <a:cs typeface="Times New Roman" pitchFamily="18" charset="0"/>
              </a:rPr>
              <a:t>It has the most profound effect on blood pressure</a:t>
            </a:r>
          </a:p>
          <a:p>
            <a:pPr marL="1716786" lvl="3" indent="-457200">
              <a:defRPr/>
            </a:pPr>
            <a:r>
              <a:rPr lang="en-US" sz="2600" dirty="0">
                <a:cs typeface="Times New Roman" pitchFamily="18" charset="0"/>
              </a:rPr>
              <a:t>compared with similar doses of other IV anesthetics </a:t>
            </a:r>
          </a:p>
          <a:p>
            <a:pPr marL="859536" lvl="1" indent="-457200">
              <a:buFont typeface="Arial" pitchFamily="34" charset="0"/>
              <a:buChar char="•"/>
              <a:defRPr/>
            </a:pPr>
            <a:r>
              <a:rPr lang="en-US" dirty="0">
                <a:cs typeface="Times New Roman" pitchFamily="18" charset="0"/>
              </a:rPr>
              <a:t>Depresses baroreceptor reflex</a:t>
            </a:r>
          </a:p>
          <a:p>
            <a:pPr marL="1259586" lvl="2" indent="-457200">
              <a:defRPr/>
            </a:pPr>
            <a:r>
              <a:rPr lang="en-US" sz="2800" dirty="0">
                <a:cs typeface="Times New Roman" pitchFamily="18" charset="0"/>
              </a:rPr>
              <a:t>↓SBP and DBP without the expected increase in HR due to a drop in</a:t>
            </a:r>
          </a:p>
          <a:p>
            <a:pPr marL="1716786" lvl="3" indent="-457200">
              <a:defRPr/>
            </a:pPr>
            <a:r>
              <a:rPr lang="en-US" sz="2400" dirty="0">
                <a:cs typeface="Times New Roman" pitchFamily="18" charset="0"/>
              </a:rPr>
              <a:t>systemic vascular resistance (inhibition of sympathetic vasoconstrictor activity), preload, and cardiac contractility.</a:t>
            </a:r>
          </a:p>
          <a:p>
            <a:pPr marL="859536" lvl="1" indent="-457200">
              <a:buFont typeface="Arial" pitchFamily="34" charset="0"/>
              <a:buChar char="•"/>
              <a:defRPr/>
            </a:pPr>
            <a:r>
              <a:rPr lang="en-US" dirty="0">
                <a:cs typeface="Times New Roman" pitchFamily="18" charset="0"/>
              </a:rPr>
              <a:t>Profound indirect arterial vasodilation and venodilation + direct myocardial depression</a:t>
            </a:r>
          </a:p>
          <a:p>
            <a:pPr marL="1716786" lvl="3" indent="-457200">
              <a:defRPr/>
            </a:pPr>
            <a:r>
              <a:rPr lang="en-US" sz="1900" dirty="0">
                <a:cs typeface="Times New Roman" pitchFamily="18" charset="0"/>
              </a:rPr>
              <a:t>both arterial and venous, causing drops in preload and afterload</a:t>
            </a:r>
          </a:p>
          <a:p>
            <a:pPr marL="1716786" lvl="3" indent="-457200">
              <a:defRPr/>
            </a:pPr>
            <a:r>
              <a:rPr lang="en-US" sz="1900" dirty="0">
                <a:cs typeface="Times New Roman" pitchFamily="18" charset="0"/>
              </a:rPr>
              <a:t>decrease in cardiac output, stroke volume, and systemic vascular resistance (SVR).</a:t>
            </a:r>
          </a:p>
          <a:p>
            <a:pPr marL="1001268" lvl="2" indent="-342900">
              <a:defRPr/>
            </a:pPr>
            <a:r>
              <a:rPr lang="en-US" sz="2800" dirty="0">
                <a:cs typeface="Times New Roman" pitchFamily="18" charset="0"/>
              </a:rPr>
              <a:t>Must be careful with elderly and hypovolemic patients	</a:t>
            </a:r>
          </a:p>
          <a:p>
            <a:endParaRPr lang="en-US" dirty="0"/>
          </a:p>
        </p:txBody>
      </p:sp>
    </p:spTree>
    <p:extLst>
      <p:ext uri="{BB962C8B-B14F-4D97-AF65-F5344CB8AC3E}">
        <p14:creationId xmlns:p14="http://schemas.microsoft.com/office/powerpoint/2010/main" val="12505175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atMod val="130000"/>
                  </a:schemeClr>
                </a:solidFill>
                <a:effectLst>
                  <a:outerShdw blurRad="38100" dist="38100" dir="2700000" algn="tl">
                    <a:srgbClr val="000000">
                      <a:alpha val="43137"/>
                    </a:srgbClr>
                  </a:outerShdw>
                </a:effectLst>
                <a:latin typeface="Agency FB" pitchFamily="34" charset="0"/>
              </a:rPr>
              <a:t>Cont.…</a:t>
            </a:r>
            <a:endParaRPr lang="en-US" dirty="0"/>
          </a:p>
        </p:txBody>
      </p:sp>
      <p:sp>
        <p:nvSpPr>
          <p:cNvPr id="3" name="Content Placeholder 2"/>
          <p:cNvSpPr>
            <a:spLocks noGrp="1"/>
          </p:cNvSpPr>
          <p:nvPr>
            <p:ph idx="1"/>
          </p:nvPr>
        </p:nvSpPr>
        <p:spPr>
          <a:xfrm>
            <a:off x="457200" y="1219200"/>
            <a:ext cx="8382000" cy="4906963"/>
          </a:xfrm>
        </p:spPr>
        <p:txBody>
          <a:bodyPr>
            <a:noAutofit/>
          </a:bodyPr>
          <a:lstStyle/>
          <a:p>
            <a:pPr marL="539496" indent="-457200">
              <a:buFont typeface="Wingdings" pitchFamily="2" charset="2"/>
              <a:buChar char="Ø"/>
              <a:defRPr/>
            </a:pPr>
            <a:r>
              <a:rPr lang="en-US" b="1" dirty="0">
                <a:cs typeface="Times New Roman" pitchFamily="18" charset="0"/>
              </a:rPr>
              <a:t>Respiratory</a:t>
            </a:r>
            <a:r>
              <a:rPr lang="en-US" sz="2400" b="1" dirty="0">
                <a:cs typeface="Times New Roman" pitchFamily="18" charset="0"/>
              </a:rPr>
              <a:t> effects</a:t>
            </a:r>
          </a:p>
          <a:p>
            <a:pPr marL="345186">
              <a:defRPr/>
            </a:pPr>
            <a:r>
              <a:rPr lang="en-US" sz="2400" dirty="0">
                <a:cs typeface="Times New Roman" pitchFamily="18" charset="0"/>
              </a:rPr>
              <a:t>Potent respiratory depressant (dose dependent)</a:t>
            </a:r>
          </a:p>
          <a:p>
            <a:pPr marL="345186">
              <a:defRPr/>
            </a:pPr>
            <a:r>
              <a:rPr lang="en-US" sz="2400" dirty="0">
                <a:cs typeface="Times New Roman" pitchFamily="18" charset="0"/>
              </a:rPr>
              <a:t>Usually produces apnea with higher induction dose</a:t>
            </a:r>
          </a:p>
          <a:p>
            <a:pPr marL="345186">
              <a:defRPr/>
            </a:pPr>
            <a:r>
              <a:rPr lang="en-US" sz="2400" dirty="0">
                <a:cs typeface="Times New Roman" pitchFamily="18" charset="0"/>
              </a:rPr>
              <a:t>A typical maintenance dose results in diminished tidal volumes and increased respiratory rate</a:t>
            </a:r>
          </a:p>
          <a:p>
            <a:pPr marL="345186">
              <a:defRPr/>
            </a:pPr>
            <a:r>
              <a:rPr lang="en-US" sz="2400" dirty="0">
                <a:cs typeface="Times New Roman" pitchFamily="18" charset="0"/>
                <a:sym typeface="Symbol"/>
              </a:rPr>
              <a:t>Inhibits </a:t>
            </a:r>
            <a:r>
              <a:rPr lang="en-US" sz="2400" dirty="0">
                <a:cs typeface="Times New Roman" pitchFamily="18" charset="0"/>
              </a:rPr>
              <a:t>ventilatory response to hypoxia and hypercapnia</a:t>
            </a:r>
          </a:p>
          <a:p>
            <a:pPr marL="345186">
              <a:defRPr/>
            </a:pPr>
            <a:r>
              <a:rPr lang="en-US" sz="2400" dirty="0">
                <a:cs typeface="Times New Roman" pitchFamily="18" charset="0"/>
              </a:rPr>
              <a:t>Great reduction in upper airway reflexes</a:t>
            </a:r>
          </a:p>
        </p:txBody>
      </p:sp>
    </p:spTree>
    <p:extLst>
      <p:ext uri="{BB962C8B-B14F-4D97-AF65-F5344CB8AC3E}">
        <p14:creationId xmlns:p14="http://schemas.microsoft.com/office/powerpoint/2010/main" val="15957849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A6122-ECFB-FF45-1D11-40BCFEB6A180}"/>
              </a:ext>
            </a:extLst>
          </p:cNvPr>
          <p:cNvSpPr>
            <a:spLocks noGrp="1"/>
          </p:cNvSpPr>
          <p:nvPr>
            <p:ph type="title"/>
          </p:nvPr>
        </p:nvSpPr>
        <p:spPr/>
        <p:txBody>
          <a:bodyPr/>
          <a:lstStyle/>
          <a:p>
            <a:r>
              <a:rPr lang="en-US" dirty="0">
                <a:solidFill>
                  <a:schemeClr val="tx2">
                    <a:satMod val="130000"/>
                  </a:schemeClr>
                </a:solidFill>
                <a:effectLst>
                  <a:outerShdw blurRad="38100" dist="38100" dir="2700000" algn="tl">
                    <a:srgbClr val="000000">
                      <a:alpha val="43137"/>
                    </a:srgbClr>
                  </a:outerShdw>
                </a:effectLst>
                <a:latin typeface="Agency FB" pitchFamily="34" charset="0"/>
              </a:rPr>
              <a:t>Cont.…</a:t>
            </a:r>
            <a:endParaRPr lang="en-US" dirty="0"/>
          </a:p>
        </p:txBody>
      </p:sp>
      <p:sp>
        <p:nvSpPr>
          <p:cNvPr id="3" name="Content Placeholder 2">
            <a:extLst>
              <a:ext uri="{FF2B5EF4-FFF2-40B4-BE49-F238E27FC236}">
                <a16:creationId xmlns:a16="http://schemas.microsoft.com/office/drawing/2014/main" id="{83DD0761-56A5-3C91-A4E5-8179BC19040C}"/>
              </a:ext>
            </a:extLst>
          </p:cNvPr>
          <p:cNvSpPr>
            <a:spLocks noGrp="1"/>
          </p:cNvSpPr>
          <p:nvPr>
            <p:ph idx="1"/>
          </p:nvPr>
        </p:nvSpPr>
        <p:spPr>
          <a:xfrm>
            <a:off x="457200" y="1600200"/>
            <a:ext cx="8382000" cy="4525963"/>
          </a:xfrm>
        </p:spPr>
        <p:txBody>
          <a:bodyPr>
            <a:normAutofit/>
          </a:bodyPr>
          <a:lstStyle/>
          <a:p>
            <a:r>
              <a:rPr lang="en-US" sz="2400" dirty="0"/>
              <a:t>Good for asthmatics and for insertion of LMA</a:t>
            </a:r>
          </a:p>
          <a:p>
            <a:r>
              <a:rPr lang="en-US" sz="2400" dirty="0"/>
              <a:t>Can sometimes intubate without muscle relaxant</a:t>
            </a:r>
          </a:p>
          <a:p>
            <a:r>
              <a:rPr lang="en-US" sz="2400" dirty="0"/>
              <a:t>Must be ready to “control the airway” once given even in small doses. </a:t>
            </a:r>
          </a:p>
          <a:p>
            <a:r>
              <a:rPr lang="en-US" sz="2400" dirty="0"/>
              <a:t>Potent bronchodilator, </a:t>
            </a:r>
          </a:p>
          <a:p>
            <a:pPr lvl="1"/>
            <a:r>
              <a:rPr lang="en-US" sz="2400" dirty="0"/>
              <a:t>Primarily because of its direct effects on intracellular calcium homeostasis.</a:t>
            </a:r>
          </a:p>
          <a:p>
            <a:endParaRPr lang="en-US" sz="2400" dirty="0"/>
          </a:p>
        </p:txBody>
      </p:sp>
    </p:spTree>
    <p:extLst>
      <p:ext uri="{BB962C8B-B14F-4D97-AF65-F5344CB8AC3E}">
        <p14:creationId xmlns:p14="http://schemas.microsoft.com/office/powerpoint/2010/main" val="4114343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atMod val="130000"/>
                  </a:schemeClr>
                </a:solidFill>
                <a:effectLst>
                  <a:outerShdw blurRad="38100" dist="38100" dir="2700000" algn="tl">
                    <a:srgbClr val="000000">
                      <a:alpha val="43137"/>
                    </a:srgbClr>
                  </a:outerShdw>
                </a:effectLst>
                <a:latin typeface="Agency FB" pitchFamily="34" charset="0"/>
              </a:rPr>
              <a:t>Pharmacodynamics…</a:t>
            </a:r>
            <a:endParaRPr lang="en-US" dirty="0"/>
          </a:p>
        </p:txBody>
      </p:sp>
      <p:sp>
        <p:nvSpPr>
          <p:cNvPr id="3" name="Content Placeholder 2"/>
          <p:cNvSpPr>
            <a:spLocks noGrp="1"/>
          </p:cNvSpPr>
          <p:nvPr>
            <p:ph idx="1"/>
          </p:nvPr>
        </p:nvSpPr>
        <p:spPr/>
        <p:txBody>
          <a:bodyPr/>
          <a:lstStyle/>
          <a:p>
            <a:pPr marL="0" indent="0">
              <a:buNone/>
            </a:pPr>
            <a:endParaRPr lang="en-US" dirty="0">
              <a:cs typeface="Times New Roman" pitchFamily="18" charset="0"/>
            </a:endParaRPr>
          </a:p>
          <a:p>
            <a:r>
              <a:rPr lang="en-US" dirty="0">
                <a:cs typeface="Times New Roman" pitchFamily="18" charset="0"/>
              </a:rPr>
              <a:t>Other:  antiemetic effect</a:t>
            </a:r>
          </a:p>
          <a:p>
            <a:pPr lvl="1"/>
            <a:r>
              <a:rPr lang="en-US" dirty="0">
                <a:cs typeface="Times New Roman" pitchFamily="18" charset="0"/>
              </a:rPr>
              <a:t>used for post-operative nausea and vomiting: can be given in 10-20 mg doses</a:t>
            </a:r>
          </a:p>
          <a:p>
            <a:pPr marL="0" indent="0">
              <a:buNone/>
            </a:pPr>
            <a:endParaRPr lang="en-US" dirty="0">
              <a:cs typeface="Times New Roman" pitchFamily="18" charset="0"/>
            </a:endParaRPr>
          </a:p>
          <a:p>
            <a:pPr lvl="1"/>
            <a:endParaRPr lang="en-US" dirty="0">
              <a:cs typeface="Times New Roman" pitchFamily="18" charset="0"/>
            </a:endParaRPr>
          </a:p>
          <a:p>
            <a:endParaRPr lang="en-US" dirty="0">
              <a:cs typeface="Times New Roman" pitchFamily="18" charset="0"/>
            </a:endParaRPr>
          </a:p>
        </p:txBody>
      </p:sp>
    </p:spTree>
    <p:extLst>
      <p:ext uri="{BB962C8B-B14F-4D97-AF65-F5344CB8AC3E}">
        <p14:creationId xmlns:p14="http://schemas.microsoft.com/office/powerpoint/2010/main" val="13118393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noAutofit/>
          </a:bodyPr>
          <a:lstStyle/>
          <a:p>
            <a:r>
              <a:rPr lang="en-US" sz="3600" dirty="0">
                <a:solidFill>
                  <a:schemeClr val="tx2">
                    <a:satMod val="13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Clinical Uses of Propofol</a:t>
            </a:r>
            <a:br>
              <a:rPr lang="en-US" sz="36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br>
            <a:endParaRPr lang="en-US" sz="3600"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57200" y="1600200"/>
            <a:ext cx="8229600" cy="4525963"/>
          </a:xfrm>
        </p:spPr>
        <p:txBody>
          <a:bodyPr>
            <a:normAutofit/>
          </a:bodyPr>
          <a:lstStyle/>
          <a:p>
            <a:r>
              <a:rPr lang="en-US" sz="2400" b="1" dirty="0">
                <a:cs typeface="Arial" panose="020B0604020202020204" pitchFamily="34" charset="0"/>
              </a:rPr>
              <a:t>Induction of general anesthesia</a:t>
            </a:r>
            <a:r>
              <a:rPr lang="en-US" sz="2400" dirty="0">
                <a:cs typeface="Arial" panose="020B0604020202020204" pitchFamily="34" charset="0"/>
              </a:rPr>
              <a:t>, including </a:t>
            </a:r>
            <a:r>
              <a:rPr lang="en-US" sz="2400" dirty="0">
                <a:solidFill>
                  <a:srgbClr val="FF0000"/>
                </a:solidFill>
                <a:cs typeface="Arial" panose="020B0604020202020204" pitchFamily="34" charset="0"/>
              </a:rPr>
              <a:t>rapid sequence</a:t>
            </a:r>
            <a:r>
              <a:rPr lang="en-US" sz="2400" dirty="0">
                <a:cs typeface="Arial" panose="020B0604020202020204" pitchFamily="34" charset="0"/>
              </a:rPr>
              <a:t> </a:t>
            </a:r>
            <a:r>
              <a:rPr lang="en-US" sz="2400" dirty="0">
                <a:solidFill>
                  <a:srgbClr val="FF0000"/>
                </a:solidFill>
                <a:cs typeface="Arial" panose="020B0604020202020204" pitchFamily="34" charset="0"/>
              </a:rPr>
              <a:t>Induction</a:t>
            </a:r>
          </a:p>
          <a:p>
            <a:pPr algn="l"/>
            <a:r>
              <a:rPr lang="en-US" sz="1800" b="0" i="0" u="none" strike="noStrike" baseline="0" dirty="0"/>
              <a:t> </a:t>
            </a:r>
            <a:r>
              <a:rPr lang="en-US" sz="2400" b="1" dirty="0">
                <a:cs typeface="Arial" panose="020B0604020202020204" pitchFamily="34" charset="0"/>
              </a:rPr>
              <a:t>Maintenance of anesthesia </a:t>
            </a:r>
          </a:p>
          <a:p>
            <a:pPr lvl="1"/>
            <a:r>
              <a:rPr lang="en-US" sz="2400" dirty="0">
                <a:cs typeface="Arial" panose="020B0604020202020204" pitchFamily="34" charset="0"/>
              </a:rPr>
              <a:t>either with volatile anesthetics or</a:t>
            </a:r>
          </a:p>
          <a:p>
            <a:pPr lvl="1"/>
            <a:r>
              <a:rPr lang="en-US" sz="2400" dirty="0">
                <a:cs typeface="Arial" panose="020B0604020202020204" pitchFamily="34" charset="0"/>
              </a:rPr>
              <a:t> as </a:t>
            </a:r>
            <a:r>
              <a:rPr lang="en-US" sz="2400" b="0" i="0" u="none" strike="noStrike" baseline="0" dirty="0">
                <a:cs typeface="Arial" panose="020B0604020202020204" pitchFamily="34" charset="0"/>
              </a:rPr>
              <a:t>a sole anesthetic agent in total intravenous anesthesia (TIVA</a:t>
            </a:r>
            <a:r>
              <a:rPr lang="en-US" sz="2400" dirty="0">
                <a:cs typeface="Arial" panose="020B0604020202020204" pitchFamily="34" charset="0"/>
              </a:rPr>
              <a:t>)</a:t>
            </a:r>
          </a:p>
          <a:p>
            <a:r>
              <a:rPr lang="en-US" sz="2400" b="1" dirty="0">
                <a:cs typeface="Arial" panose="020B0604020202020204" pitchFamily="34" charset="0"/>
              </a:rPr>
              <a:t>Sedation in the ICU</a:t>
            </a:r>
          </a:p>
          <a:p>
            <a:r>
              <a:rPr lang="en-US" sz="2400" b="1" dirty="0">
                <a:cs typeface="Arial" panose="020B0604020202020204" pitchFamily="34" charset="0"/>
              </a:rPr>
              <a:t>Monitored anesthesia care (MAC) </a:t>
            </a:r>
            <a:r>
              <a:rPr lang="en-US" sz="2400" dirty="0">
                <a:cs typeface="Arial" panose="020B0604020202020204" pitchFamily="34" charset="0"/>
              </a:rPr>
              <a:t>sedation for minor procedures</a:t>
            </a:r>
          </a:p>
          <a:p>
            <a:pPr lvl="1"/>
            <a:r>
              <a:rPr lang="en-US" sz="2000" dirty="0">
                <a:cs typeface="Arial" panose="020B0604020202020204" pitchFamily="34" charset="0"/>
              </a:rPr>
              <a:t>Sedation for procedure under regional block or local infiltration</a:t>
            </a:r>
          </a:p>
          <a:p>
            <a:endParaRPr lang="en-US" sz="2400" dirty="0">
              <a:cs typeface="Arial" panose="020B0604020202020204" pitchFamily="34" charset="0"/>
            </a:endParaRPr>
          </a:p>
          <a:p>
            <a:endParaRPr lang="en-US" sz="2400" dirty="0">
              <a:cs typeface="Arial" panose="020B0604020202020204" pitchFamily="34" charset="0"/>
            </a:endParaRPr>
          </a:p>
          <a:p>
            <a:endParaRPr lang="en-US" sz="2400" dirty="0">
              <a:cs typeface="Arial" panose="020B0604020202020204" pitchFamily="34" charset="0"/>
            </a:endParaRPr>
          </a:p>
        </p:txBody>
      </p:sp>
    </p:spTree>
    <p:extLst>
      <p:ext uri="{BB962C8B-B14F-4D97-AF65-F5344CB8AC3E}">
        <p14:creationId xmlns:p14="http://schemas.microsoft.com/office/powerpoint/2010/main" val="11491118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72BD4-0AE9-5C6E-AA52-5D28B39C5589}"/>
              </a:ext>
            </a:extLst>
          </p:cNvPr>
          <p:cNvSpPr>
            <a:spLocks noGrp="1"/>
          </p:cNvSpPr>
          <p:nvPr>
            <p:ph type="title"/>
          </p:nvPr>
        </p:nvSpPr>
        <p:spPr>
          <a:xfrm>
            <a:off x="457200" y="274638"/>
            <a:ext cx="8229600" cy="792162"/>
          </a:xfrm>
        </p:spPr>
        <p:txBody>
          <a:bodyPr/>
          <a:lstStyle/>
          <a:p>
            <a:r>
              <a:rPr lang="en-US" dirty="0"/>
              <a:t>Cont.…</a:t>
            </a:r>
          </a:p>
        </p:txBody>
      </p:sp>
      <p:graphicFrame>
        <p:nvGraphicFramePr>
          <p:cNvPr id="4" name="Table 4">
            <a:extLst>
              <a:ext uri="{FF2B5EF4-FFF2-40B4-BE49-F238E27FC236}">
                <a16:creationId xmlns:a16="http://schemas.microsoft.com/office/drawing/2014/main" id="{9AC1A1DC-1EF7-10A7-17B0-31A633E6DF7F}"/>
              </a:ext>
            </a:extLst>
          </p:cNvPr>
          <p:cNvGraphicFramePr>
            <a:graphicFrameLocks noGrp="1"/>
          </p:cNvGraphicFramePr>
          <p:nvPr>
            <p:ph idx="1"/>
            <p:extLst>
              <p:ext uri="{D42A27DB-BD31-4B8C-83A1-F6EECF244321}">
                <p14:modId xmlns:p14="http://schemas.microsoft.com/office/powerpoint/2010/main" val="1622013183"/>
              </p:ext>
            </p:extLst>
          </p:nvPr>
        </p:nvGraphicFramePr>
        <p:xfrm>
          <a:off x="491318" y="2057232"/>
          <a:ext cx="8424081" cy="4648423"/>
        </p:xfrm>
        <a:graphic>
          <a:graphicData uri="http://schemas.openxmlformats.org/drawingml/2006/table">
            <a:tbl>
              <a:tblPr firstRow="1" bandRow="1">
                <a:tableStyleId>{2A488322-F2BA-4B5B-9748-0D474271808F}</a:tableStyleId>
              </a:tblPr>
              <a:tblGrid>
                <a:gridCol w="4448890">
                  <a:extLst>
                    <a:ext uri="{9D8B030D-6E8A-4147-A177-3AD203B41FA5}">
                      <a16:colId xmlns:a16="http://schemas.microsoft.com/office/drawing/2014/main" val="124842365"/>
                    </a:ext>
                  </a:extLst>
                </a:gridCol>
                <a:gridCol w="3975191">
                  <a:extLst>
                    <a:ext uri="{9D8B030D-6E8A-4147-A177-3AD203B41FA5}">
                      <a16:colId xmlns:a16="http://schemas.microsoft.com/office/drawing/2014/main" val="2772644395"/>
                    </a:ext>
                  </a:extLst>
                </a:gridCol>
              </a:tblGrid>
              <a:tr h="661008">
                <a:tc>
                  <a:txBody>
                    <a:bodyPr/>
                    <a:lstStyle/>
                    <a:p>
                      <a:pPr marL="0" indent="0">
                        <a:lnSpc>
                          <a:spcPct val="100000"/>
                        </a:lnSpc>
                        <a:buNone/>
                      </a:pPr>
                      <a:r>
                        <a:rPr lang="en-US" sz="2800" dirty="0">
                          <a:latin typeface="+mn-lt"/>
                        </a:rPr>
                        <a:t>Clinical uses</a:t>
                      </a:r>
                    </a:p>
                  </a:txBody>
                  <a:tcPr/>
                </a:tc>
                <a:tc>
                  <a:txBody>
                    <a:bodyPr/>
                    <a:lstStyle/>
                    <a:p>
                      <a:pPr>
                        <a:lnSpc>
                          <a:spcPct val="100000"/>
                        </a:lnSpc>
                      </a:pPr>
                      <a:r>
                        <a:rPr lang="en-US" sz="2800" dirty="0">
                          <a:latin typeface="+mn-lt"/>
                        </a:rPr>
                        <a:t>Dose </a:t>
                      </a:r>
                    </a:p>
                  </a:txBody>
                  <a:tcPr/>
                </a:tc>
                <a:extLst>
                  <a:ext uri="{0D108BD9-81ED-4DB2-BD59-A6C34878D82A}">
                    <a16:rowId xmlns:a16="http://schemas.microsoft.com/office/drawing/2014/main" val="2545776224"/>
                  </a:ext>
                </a:extLst>
              </a:tr>
              <a:tr h="663784">
                <a:tc>
                  <a:txBody>
                    <a:bodyPr/>
                    <a:lstStyle/>
                    <a:p>
                      <a:pPr>
                        <a:lnSpc>
                          <a:spcPct val="100000"/>
                        </a:lnSpc>
                      </a:pPr>
                      <a:r>
                        <a:rPr lang="en-US" sz="2400" dirty="0">
                          <a:latin typeface="+mn-lt"/>
                        </a:rPr>
                        <a:t>Induction of </a:t>
                      </a:r>
                      <a:r>
                        <a:rPr lang="en-US" sz="2400" b="0" u="none" strike="noStrike" kern="1200" baseline="0" dirty="0">
                          <a:solidFill>
                            <a:schemeClr val="tx1"/>
                          </a:solidFill>
                          <a:latin typeface="+mn-lt"/>
                        </a:rPr>
                        <a:t>general anesthesia</a:t>
                      </a:r>
                      <a:r>
                        <a:rPr lang="en-US" sz="2400" dirty="0">
                          <a:latin typeface="+mn-lt"/>
                        </a:rPr>
                        <a:t> </a:t>
                      </a:r>
                    </a:p>
                  </a:txBody>
                  <a:tcPr/>
                </a:tc>
                <a:tc>
                  <a:txBody>
                    <a:bodyPr/>
                    <a:lstStyle/>
                    <a:p>
                      <a:pPr>
                        <a:lnSpc>
                          <a:spcPct val="100000"/>
                        </a:lnSpc>
                      </a:pPr>
                      <a:r>
                        <a:rPr lang="en-US" sz="2400" dirty="0">
                          <a:latin typeface="+mn-lt"/>
                        </a:rPr>
                        <a:t>1-2.5 mg/kg IV</a:t>
                      </a:r>
                    </a:p>
                  </a:txBody>
                  <a:tcPr/>
                </a:tc>
                <a:extLst>
                  <a:ext uri="{0D108BD9-81ED-4DB2-BD59-A6C34878D82A}">
                    <a16:rowId xmlns:a16="http://schemas.microsoft.com/office/drawing/2014/main" val="708106003"/>
                  </a:ext>
                </a:extLst>
              </a:tr>
              <a:tr h="663784">
                <a:tc>
                  <a:txBody>
                    <a:bodyPr/>
                    <a:lstStyle/>
                    <a:p>
                      <a:pPr>
                        <a:lnSpc>
                          <a:spcPct val="100000"/>
                        </a:lnSpc>
                      </a:pPr>
                      <a:r>
                        <a:rPr lang="en-US" sz="2400" b="0" u="none" strike="noStrike" kern="1200" baseline="0" dirty="0">
                          <a:solidFill>
                            <a:schemeClr val="tx1"/>
                          </a:solidFill>
                          <a:latin typeface="+mn-lt"/>
                        </a:rPr>
                        <a:t>Maintenance of general anesthesia</a:t>
                      </a:r>
                      <a:endParaRPr lang="en-US" sz="2400" dirty="0">
                        <a:latin typeface="+mn-lt"/>
                      </a:endParaRPr>
                    </a:p>
                  </a:txBody>
                  <a:tcPr/>
                </a:tc>
                <a:tc>
                  <a:txBody>
                    <a:bodyPr/>
                    <a:lstStyle/>
                    <a:p>
                      <a:pPr>
                        <a:lnSpc>
                          <a:spcPct val="100000"/>
                        </a:lnSpc>
                      </a:pPr>
                      <a:r>
                        <a:rPr lang="en-US" sz="2400" b="0" u="none" strike="noStrike" kern="1200" baseline="0" dirty="0">
                          <a:solidFill>
                            <a:schemeClr val="tx1"/>
                          </a:solidFill>
                          <a:latin typeface="+mn-lt"/>
                        </a:rPr>
                        <a:t>100 - 200 mcg/kg/min IV infusion</a:t>
                      </a:r>
                      <a:endParaRPr lang="en-US" sz="2400" dirty="0">
                        <a:latin typeface="+mn-lt"/>
                      </a:endParaRPr>
                    </a:p>
                  </a:txBody>
                  <a:tcPr/>
                </a:tc>
                <a:extLst>
                  <a:ext uri="{0D108BD9-81ED-4DB2-BD59-A6C34878D82A}">
                    <a16:rowId xmlns:a16="http://schemas.microsoft.com/office/drawing/2014/main" val="337549404"/>
                  </a:ext>
                </a:extLst>
              </a:tr>
              <a:tr h="830992">
                <a:tc>
                  <a:txBody>
                    <a:bodyPr/>
                    <a:lstStyle/>
                    <a:p>
                      <a:pPr>
                        <a:lnSpc>
                          <a:spcPct val="100000"/>
                        </a:lnSpc>
                      </a:pPr>
                      <a:r>
                        <a:rPr lang="en-US" sz="2400" dirty="0">
                          <a:latin typeface="+mn-lt"/>
                        </a:rPr>
                        <a:t>Sedation in </a:t>
                      </a:r>
                      <a:r>
                        <a:rPr lang="en-US" sz="2400">
                          <a:latin typeface="+mn-lt"/>
                        </a:rPr>
                        <a:t>the ICU, </a:t>
                      </a:r>
                      <a:r>
                        <a:rPr lang="en-US" sz="2400" dirty="0">
                          <a:latin typeface="+mn-lt"/>
                        </a:rPr>
                        <a:t>minor procedures…</a:t>
                      </a:r>
                    </a:p>
                  </a:txBody>
                  <a:tcPr/>
                </a:tc>
                <a:tc>
                  <a:txBody>
                    <a:bodyPr/>
                    <a:lstStyle/>
                    <a:p>
                      <a:pPr>
                        <a:lnSpc>
                          <a:spcPct val="100000"/>
                        </a:lnSpc>
                      </a:pPr>
                      <a:r>
                        <a:rPr lang="en-US" sz="2400" b="0" u="none" strike="noStrike" kern="1200" baseline="0" dirty="0">
                          <a:solidFill>
                            <a:schemeClr val="tx1"/>
                          </a:solidFill>
                          <a:latin typeface="+mn-lt"/>
                        </a:rPr>
                        <a:t>25 to 75 mcg/kg/</a:t>
                      </a:r>
                      <a:r>
                        <a:rPr lang="en-US" sz="2400" b="0" u="none" strike="noStrike" kern="1200" baseline="0">
                          <a:solidFill>
                            <a:schemeClr val="tx1"/>
                          </a:solidFill>
                          <a:latin typeface="+mn-lt"/>
                        </a:rPr>
                        <a:t>min IV infusion</a:t>
                      </a:r>
                      <a:endParaRPr lang="en-US" sz="2400" dirty="0">
                        <a:latin typeface="+mn-lt"/>
                      </a:endParaRPr>
                    </a:p>
                  </a:txBody>
                  <a:tcPr/>
                </a:tc>
                <a:extLst>
                  <a:ext uri="{0D108BD9-81ED-4DB2-BD59-A6C34878D82A}">
                    <a16:rowId xmlns:a16="http://schemas.microsoft.com/office/drawing/2014/main" val="1884734913"/>
                  </a:ext>
                </a:extLst>
              </a:tr>
              <a:tr h="16696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i="0" u="none" strike="noStrike" kern="1200" baseline="0" dirty="0">
                          <a:solidFill>
                            <a:schemeClr val="dk1"/>
                          </a:solidFill>
                          <a:latin typeface="+mn-lt"/>
                          <a:ea typeface="+mn-ea"/>
                          <a:cs typeface="+mn-cs"/>
                        </a:rPr>
                        <a:t>Antiemetic action 	</a:t>
                      </a:r>
                    </a:p>
                    <a:p>
                      <a:pPr>
                        <a:lnSpc>
                          <a:spcPct val="100000"/>
                        </a:lnSpc>
                      </a:pPr>
                      <a:endParaRPr lang="en-US" sz="2400" dirty="0">
                        <a:latin typeface="+mn-lt"/>
                      </a:endParaRPr>
                    </a:p>
                  </a:txBody>
                  <a:tcPr/>
                </a:tc>
                <a:tc>
                  <a:txBody>
                    <a:bodyPr/>
                    <a:lstStyle/>
                    <a:p>
                      <a:pPr>
                        <a:lnSpc>
                          <a:spcPct val="100000"/>
                        </a:lnSpc>
                      </a:pPr>
                      <a:r>
                        <a:rPr lang="en-US" sz="2400" b="0" i="0" u="none" strike="noStrike" kern="1200" baseline="0" dirty="0">
                          <a:solidFill>
                            <a:schemeClr val="dk1"/>
                          </a:solidFill>
                          <a:latin typeface="+mn-lt"/>
                          <a:ea typeface="+mn-ea"/>
                          <a:cs typeface="+mn-cs"/>
                        </a:rPr>
                        <a:t>10-20 mg IV, can repeat every 5-10 min or start infusion of 10 </a:t>
                      </a:r>
                      <a:r>
                        <a:rPr lang="en-US" sz="2400" b="0" i="0" u="none" strike="noStrike" kern="1200" baseline="0" dirty="0" err="1">
                          <a:solidFill>
                            <a:schemeClr val="dk1"/>
                          </a:solidFill>
                          <a:latin typeface="+mn-lt"/>
                          <a:ea typeface="+mn-ea"/>
                          <a:cs typeface="+mn-cs"/>
                        </a:rPr>
                        <a:t>μg</a:t>
                      </a:r>
                      <a:r>
                        <a:rPr lang="en-US" sz="2400" b="0" i="0" u="none" strike="noStrike" kern="1200" baseline="0" dirty="0">
                          <a:solidFill>
                            <a:schemeClr val="dk1"/>
                          </a:solidFill>
                          <a:latin typeface="+mn-lt"/>
                          <a:ea typeface="+mn-ea"/>
                          <a:cs typeface="+mn-cs"/>
                        </a:rPr>
                        <a:t>/kg/min 	</a:t>
                      </a:r>
                      <a:endParaRPr lang="en-US" sz="2400" dirty="0">
                        <a:latin typeface="+mn-lt"/>
                      </a:endParaRPr>
                    </a:p>
                  </a:txBody>
                  <a:tcPr/>
                </a:tc>
                <a:extLst>
                  <a:ext uri="{0D108BD9-81ED-4DB2-BD59-A6C34878D82A}">
                    <a16:rowId xmlns:a16="http://schemas.microsoft.com/office/drawing/2014/main" val="2779597037"/>
                  </a:ext>
                </a:extLst>
              </a:tr>
            </a:tbl>
          </a:graphicData>
        </a:graphic>
      </p:graphicFrame>
      <p:sp>
        <p:nvSpPr>
          <p:cNvPr id="6" name="TextBox 5">
            <a:extLst>
              <a:ext uri="{FF2B5EF4-FFF2-40B4-BE49-F238E27FC236}">
                <a16:creationId xmlns:a16="http://schemas.microsoft.com/office/drawing/2014/main" id="{C554B606-6C03-EB80-BD83-EE18BDB0F2D3}"/>
              </a:ext>
            </a:extLst>
          </p:cNvPr>
          <p:cNvSpPr txBox="1"/>
          <p:nvPr/>
        </p:nvSpPr>
        <p:spPr>
          <a:xfrm>
            <a:off x="746077" y="1377350"/>
            <a:ext cx="7651845" cy="523220"/>
          </a:xfrm>
          <a:prstGeom prst="rect">
            <a:avLst/>
          </a:prstGeom>
          <a:noFill/>
        </p:spPr>
        <p:txBody>
          <a:bodyPr wrap="square">
            <a:spAutoFit/>
          </a:bodyPr>
          <a:lstStyle/>
          <a:p>
            <a:pPr marL="285750" indent="-285750">
              <a:buFont typeface="Wingdings" panose="05000000000000000000" pitchFamily="2" charset="2"/>
              <a:buChar char="q"/>
            </a:pPr>
            <a:r>
              <a:rPr lang="en-US" sz="2800" b="1" i="0" u="none" strike="noStrike" baseline="0" dirty="0">
                <a:solidFill>
                  <a:srgbClr val="000000"/>
                </a:solidFill>
                <a:latin typeface="+mj-lt"/>
              </a:rPr>
              <a:t>Uses and Doses of Intravenous Propofol </a:t>
            </a:r>
            <a:endParaRPr lang="en-US" sz="2800" dirty="0">
              <a:latin typeface="+mj-lt"/>
            </a:endParaRPr>
          </a:p>
        </p:txBody>
      </p:sp>
    </p:spTree>
    <p:extLst>
      <p:ext uri="{BB962C8B-B14F-4D97-AF65-F5344CB8AC3E}">
        <p14:creationId xmlns:p14="http://schemas.microsoft.com/office/powerpoint/2010/main" val="12502291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38200"/>
          </a:xfrm>
        </p:spPr>
        <p:txBody>
          <a:bodyPr>
            <a:normAutofit/>
          </a:bodyPr>
          <a:lstStyle/>
          <a:p>
            <a:r>
              <a:rPr lang="en-US" sz="4000" dirty="0">
                <a:effectLst>
                  <a:outerShdw blurRad="38100" dist="38100" dir="2700000" algn="tl">
                    <a:srgbClr val="000000">
                      <a:alpha val="43137"/>
                    </a:srgbClr>
                  </a:outerShdw>
                </a:effectLst>
              </a:rPr>
              <a:t>Advantages of propofol</a:t>
            </a:r>
          </a:p>
        </p:txBody>
      </p:sp>
      <p:sp>
        <p:nvSpPr>
          <p:cNvPr id="3" name="Content Placeholder 2"/>
          <p:cNvSpPr>
            <a:spLocks noGrp="1"/>
          </p:cNvSpPr>
          <p:nvPr>
            <p:ph idx="1"/>
          </p:nvPr>
        </p:nvSpPr>
        <p:spPr>
          <a:xfrm>
            <a:off x="457200" y="1219200"/>
            <a:ext cx="8382000" cy="5181600"/>
          </a:xfrm>
        </p:spPr>
        <p:txBody>
          <a:bodyPr>
            <a:noAutofit/>
          </a:bodyPr>
          <a:lstStyle/>
          <a:p>
            <a:pPr marL="575754" indent="-457200">
              <a:buClr>
                <a:schemeClr val="tx1"/>
              </a:buClr>
              <a:defRPr/>
            </a:pPr>
            <a:r>
              <a:rPr lang="en-US" sz="2400" dirty="0">
                <a:cs typeface="Times New Roman" pitchFamily="18" charset="0"/>
              </a:rPr>
              <a:t>Rapid and smooth induction and emergence from anesthesia  </a:t>
            </a:r>
          </a:p>
          <a:p>
            <a:pPr marL="575754" indent="-457200">
              <a:buClr>
                <a:schemeClr val="tx1"/>
              </a:buClr>
              <a:defRPr/>
            </a:pPr>
            <a:r>
              <a:rPr lang="en-US" sz="2400" dirty="0">
                <a:cs typeface="Times New Roman" pitchFamily="18" charset="0"/>
              </a:rPr>
              <a:t>Quick offset - quicker than thiopental, even if repeated or continuous infusion.</a:t>
            </a:r>
          </a:p>
          <a:p>
            <a:pPr marL="575754" indent="-457200">
              <a:buClr>
                <a:schemeClr val="tx1"/>
              </a:buClr>
              <a:defRPr/>
            </a:pPr>
            <a:r>
              <a:rPr lang="en-US" sz="2400" dirty="0">
                <a:cs typeface="Times New Roman" pitchFamily="18" charset="0"/>
              </a:rPr>
              <a:t>Good for bronchospasm vs. thiopental</a:t>
            </a:r>
          </a:p>
          <a:p>
            <a:pPr marL="575754" indent="-457200">
              <a:buClr>
                <a:schemeClr val="tx1"/>
              </a:buClr>
              <a:defRPr/>
            </a:pPr>
            <a:r>
              <a:rPr lang="en-US" sz="2400" dirty="0">
                <a:cs typeface="Times New Roman" pitchFamily="18" charset="0"/>
                <a:sym typeface="Symbol"/>
              </a:rPr>
              <a:t> </a:t>
            </a:r>
            <a:r>
              <a:rPr lang="en-US" sz="2400" dirty="0">
                <a:cs typeface="Times New Roman" pitchFamily="18" charset="0"/>
              </a:rPr>
              <a:t>ICP (neuroprotective)</a:t>
            </a:r>
          </a:p>
          <a:p>
            <a:pPr marL="575754" indent="-457200">
              <a:buClr>
                <a:schemeClr val="tx1"/>
              </a:buClr>
              <a:defRPr/>
            </a:pPr>
            <a:r>
              <a:rPr lang="en-US" sz="2400" dirty="0">
                <a:cs typeface="Times New Roman" pitchFamily="18" charset="0"/>
                <a:sym typeface="Symbol"/>
              </a:rPr>
              <a:t>es </a:t>
            </a:r>
            <a:r>
              <a:rPr lang="en-US" sz="2400" dirty="0">
                <a:cs typeface="Times New Roman" pitchFamily="18" charset="0"/>
              </a:rPr>
              <a:t> nausea and vomiting  vs. thiopental and Etomidate</a:t>
            </a:r>
          </a:p>
          <a:p>
            <a:pPr marL="575754" indent="-457200">
              <a:buClr>
                <a:schemeClr val="tx1"/>
              </a:buClr>
              <a:defRPr/>
            </a:pPr>
            <a:r>
              <a:rPr lang="en-US" sz="2400" dirty="0">
                <a:cs typeface="Times New Roman" pitchFamily="18" charset="0"/>
              </a:rPr>
              <a:t>Can be used as a maintenance anesthetic</a:t>
            </a:r>
          </a:p>
          <a:p>
            <a:pPr marL="575754" indent="-457200">
              <a:buClr>
                <a:schemeClr val="tx1"/>
              </a:buClr>
              <a:defRPr/>
            </a:pPr>
            <a:r>
              <a:rPr lang="en-US" sz="2400" dirty="0">
                <a:cs typeface="Times New Roman" pitchFamily="18" charset="0"/>
              </a:rPr>
              <a:t>No adrenal suppression vs. Etomidate</a:t>
            </a:r>
          </a:p>
          <a:p>
            <a:pPr marL="575754" indent="-457200">
              <a:buClr>
                <a:schemeClr val="tx1"/>
              </a:buClr>
              <a:defRPr/>
            </a:pPr>
            <a:r>
              <a:rPr lang="en-US" sz="2400" dirty="0">
                <a:cs typeface="Times New Roman" pitchFamily="18" charset="0"/>
              </a:rPr>
              <a:t>Can sometimes intubate without muscle relaxant </a:t>
            </a:r>
          </a:p>
          <a:p>
            <a:pPr lvl="2">
              <a:buClr>
                <a:schemeClr val="tx1"/>
              </a:buClr>
              <a:defRPr/>
            </a:pPr>
            <a:r>
              <a:rPr lang="en-US" sz="2000" dirty="0">
                <a:cs typeface="Times New Roman" pitchFamily="18" charset="0"/>
              </a:rPr>
              <a:t>thereby eliminating risks of suxamethonium or NMB; no need to “reverse”; patient may occasionally breathe spontaneously during case</a:t>
            </a:r>
          </a:p>
          <a:p>
            <a:pPr>
              <a:buClr>
                <a:schemeClr val="tx1"/>
              </a:buClr>
            </a:pPr>
            <a:endParaRPr lang="en-US" sz="2400" dirty="0">
              <a:cs typeface="Times New Roman" pitchFamily="18" charset="0"/>
            </a:endParaRPr>
          </a:p>
        </p:txBody>
      </p:sp>
    </p:spTree>
    <p:extLst>
      <p:ext uri="{BB962C8B-B14F-4D97-AF65-F5344CB8AC3E}">
        <p14:creationId xmlns:p14="http://schemas.microsoft.com/office/powerpoint/2010/main" val="1230566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effectLst>
                  <a:outerShdw blurRad="38100" dist="38100" dir="2700000" algn="tl">
                    <a:srgbClr val="000000">
                      <a:alpha val="43137"/>
                    </a:srgbClr>
                  </a:outerShdw>
                </a:effectLst>
              </a:rPr>
              <a:t>Cont.….</a:t>
            </a:r>
          </a:p>
        </p:txBody>
      </p:sp>
      <p:sp>
        <p:nvSpPr>
          <p:cNvPr id="3" name="Content Placeholder 2"/>
          <p:cNvSpPr>
            <a:spLocks noGrp="1"/>
          </p:cNvSpPr>
          <p:nvPr>
            <p:ph idx="1"/>
          </p:nvPr>
        </p:nvSpPr>
        <p:spPr>
          <a:xfrm>
            <a:off x="457200" y="1600200"/>
            <a:ext cx="8382000" cy="4525963"/>
          </a:xfrm>
        </p:spPr>
        <p:txBody>
          <a:bodyPr>
            <a:normAutofit fontScale="85000" lnSpcReduction="20000"/>
          </a:bodyPr>
          <a:lstStyle/>
          <a:p>
            <a:pPr>
              <a:buClr>
                <a:schemeClr val="accent3"/>
              </a:buClr>
              <a:buFont typeface="Wingdings" panose="05000000000000000000" pitchFamily="2" charset="2"/>
              <a:buChar char="q"/>
              <a:defRPr/>
            </a:pPr>
            <a:r>
              <a:rPr lang="en-US" sz="5200" dirty="0">
                <a:solidFill>
                  <a:schemeClr val="tx2">
                    <a:satMod val="130000"/>
                  </a:schemeClr>
                </a:solidFill>
                <a:effectLst>
                  <a:outerShdw blurRad="38100" dist="38100" dir="2700000" algn="tl">
                    <a:srgbClr val="000000">
                      <a:alpha val="43137"/>
                    </a:srgbClr>
                  </a:outerShdw>
                </a:effectLst>
              </a:rPr>
              <a:t>Side effects of propofol</a:t>
            </a:r>
          </a:p>
          <a:p>
            <a:pPr>
              <a:defRPr/>
            </a:pPr>
            <a:r>
              <a:rPr lang="en-US" sz="2800" b="1" dirty="0">
                <a:cs typeface="Times New Roman" pitchFamily="18" charset="0"/>
              </a:rPr>
              <a:t>Pain on injection (60-70% of  patients)</a:t>
            </a:r>
          </a:p>
          <a:p>
            <a:pPr lvl="1">
              <a:buFont typeface="Courier New" panose="02070309020205020404" pitchFamily="49" charset="0"/>
              <a:buChar char="o"/>
              <a:defRPr/>
            </a:pPr>
            <a:r>
              <a:rPr lang="en-US" sz="2400" dirty="0">
                <a:cs typeface="Times New Roman" pitchFamily="18" charset="0"/>
              </a:rPr>
              <a:t>How to intervene this S/E?</a:t>
            </a:r>
          </a:p>
          <a:p>
            <a:pPr>
              <a:defRPr/>
            </a:pPr>
            <a:r>
              <a:rPr lang="en-US" sz="2800" dirty="0">
                <a:cs typeface="Times New Roman" pitchFamily="18" charset="0"/>
              </a:rPr>
              <a:t>Remedy:</a:t>
            </a:r>
          </a:p>
          <a:p>
            <a:pPr lvl="1">
              <a:defRPr/>
            </a:pPr>
            <a:r>
              <a:rPr lang="en-US" sz="2400" dirty="0">
                <a:cs typeface="Times New Roman" pitchFamily="18" charset="0"/>
              </a:rPr>
              <a:t>Pretreatment with opioids prior to induction with propofol</a:t>
            </a:r>
          </a:p>
          <a:p>
            <a:pPr lvl="1">
              <a:defRPr/>
            </a:pPr>
            <a:r>
              <a:rPr lang="en-US" sz="2400" dirty="0">
                <a:cs typeface="Times New Roman" pitchFamily="18" charset="0"/>
              </a:rPr>
              <a:t>Pretreatment with a local anesthetic such as lidocaine in conjunction with venous occlusion using a tourniquet,</a:t>
            </a:r>
          </a:p>
          <a:p>
            <a:pPr lvl="1">
              <a:defRPr/>
            </a:pPr>
            <a:r>
              <a:rPr lang="en-US" sz="2400" dirty="0">
                <a:cs typeface="Times New Roman" pitchFamily="18" charset="0"/>
              </a:rPr>
              <a:t>Addition of Lidocaine with propofol (2 mL of 1% IV lidocaine in 18 mL propofol).</a:t>
            </a:r>
          </a:p>
          <a:p>
            <a:pPr lvl="1">
              <a:defRPr/>
            </a:pPr>
            <a:r>
              <a:rPr lang="en-US" sz="2400" dirty="0">
                <a:cs typeface="Times New Roman" pitchFamily="18" charset="0"/>
              </a:rPr>
              <a:t>Pretreatment with nonsteroidal anti-inflammatory drugs (NSAIDs), ketamine, steroids, and beta-blockers (limited success).</a:t>
            </a:r>
          </a:p>
          <a:p>
            <a:pPr lvl="1">
              <a:defRPr/>
            </a:pPr>
            <a:r>
              <a:rPr lang="en-US" sz="2400" dirty="0">
                <a:cs typeface="Times New Roman" pitchFamily="18" charset="0"/>
              </a:rPr>
              <a:t>Using the large antecubital vein as an alternative to smaller peripheral vein sites</a:t>
            </a:r>
          </a:p>
          <a:p>
            <a:pPr>
              <a:defRPr/>
            </a:pPr>
            <a:r>
              <a:rPr lang="en-US" sz="2600" dirty="0">
                <a:cs typeface="Times New Roman" pitchFamily="18" charset="0"/>
              </a:rPr>
              <a:t>Expensive???</a:t>
            </a:r>
          </a:p>
          <a:p>
            <a:pPr>
              <a:buFont typeface="Wingdings" pitchFamily="2" charset="2"/>
              <a:buChar char="§"/>
            </a:pPr>
            <a:endParaRPr lang="en-US" dirty="0">
              <a:latin typeface="+mj-lt"/>
            </a:endParaRPr>
          </a:p>
        </p:txBody>
      </p:sp>
    </p:spTree>
    <p:extLst>
      <p:ext uri="{BB962C8B-B14F-4D97-AF65-F5344CB8AC3E}">
        <p14:creationId xmlns:p14="http://schemas.microsoft.com/office/powerpoint/2010/main" val="1807424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98A1B-B557-D4AD-9971-05F38E0D55CB}"/>
              </a:ext>
            </a:extLst>
          </p:cNvPr>
          <p:cNvSpPr>
            <a:spLocks noGrp="1"/>
          </p:cNvSpPr>
          <p:nvPr>
            <p:ph type="title"/>
          </p:nvPr>
        </p:nvSpPr>
        <p:spPr/>
        <p:txBody>
          <a:bodyPr/>
          <a:lstStyle/>
          <a:p>
            <a:r>
              <a:rPr lang="en-US" sz="4400" dirty="0">
                <a:effectLst>
                  <a:outerShdw blurRad="38100" dist="38100" dir="2700000" algn="tl">
                    <a:srgbClr val="000000">
                      <a:alpha val="43137"/>
                    </a:srgbClr>
                  </a:outerShdw>
                </a:effectLst>
              </a:rPr>
              <a:t>Cont.….</a:t>
            </a:r>
            <a:endParaRPr lang="en-US" dirty="0"/>
          </a:p>
        </p:txBody>
      </p:sp>
      <p:sp>
        <p:nvSpPr>
          <p:cNvPr id="3" name="Content Placeholder 2">
            <a:extLst>
              <a:ext uri="{FF2B5EF4-FFF2-40B4-BE49-F238E27FC236}">
                <a16:creationId xmlns:a16="http://schemas.microsoft.com/office/drawing/2014/main" id="{6F256A2B-BDD7-BCF4-3E0B-ABAFF0B1F007}"/>
              </a:ext>
            </a:extLst>
          </p:cNvPr>
          <p:cNvSpPr>
            <a:spLocks noGrp="1"/>
          </p:cNvSpPr>
          <p:nvPr>
            <p:ph idx="1"/>
          </p:nvPr>
        </p:nvSpPr>
        <p:spPr/>
        <p:txBody>
          <a:bodyPr>
            <a:normAutofit/>
          </a:bodyPr>
          <a:lstStyle/>
          <a:p>
            <a:pPr>
              <a:defRPr/>
            </a:pPr>
            <a:r>
              <a:rPr lang="en-US" sz="2400" b="1" dirty="0">
                <a:latin typeface="Times New Roman" pitchFamily="18" charset="0"/>
                <a:cs typeface="Times New Roman" pitchFamily="18" charset="0"/>
              </a:rPr>
              <a:t>Supports bacterial growth</a:t>
            </a:r>
          </a:p>
          <a:p>
            <a:pPr lvl="1">
              <a:buFont typeface="Wingdings" panose="05000000000000000000" pitchFamily="2" charset="2"/>
              <a:buChar char="§"/>
              <a:defRPr/>
            </a:pPr>
            <a:r>
              <a:rPr lang="en-US" sz="2000" dirty="0">
                <a:latin typeface="Times New Roman" pitchFamily="18" charset="0"/>
                <a:cs typeface="Times New Roman" pitchFamily="18" charset="0"/>
              </a:rPr>
              <a:t>Remedy:</a:t>
            </a:r>
          </a:p>
          <a:p>
            <a:pPr lvl="1">
              <a:defRPr/>
            </a:pPr>
            <a:r>
              <a:rPr lang="en-US" sz="2200" dirty="0">
                <a:latin typeface="Times New Roman" pitchFamily="18" charset="0"/>
                <a:cs typeface="Times New Roman" pitchFamily="18" charset="0"/>
              </a:rPr>
              <a:t>Sterile technique must be observed in preparation and handling. </a:t>
            </a:r>
          </a:p>
          <a:p>
            <a:pPr lvl="1">
              <a:defRPr/>
            </a:pPr>
            <a:r>
              <a:rPr lang="en-US" sz="2200" dirty="0">
                <a:latin typeface="Times New Roman" pitchFamily="18" charset="0"/>
                <a:cs typeface="Times New Roman" pitchFamily="18" charset="0"/>
              </a:rPr>
              <a:t>Propofol should be administered within 6 h of opening the vial.</a:t>
            </a:r>
          </a:p>
          <a:p>
            <a:pPr>
              <a:defRPr/>
            </a:pPr>
            <a:r>
              <a:rPr lang="en-US" sz="2400" b="1" dirty="0">
                <a:latin typeface="Times New Roman" pitchFamily="18" charset="0"/>
                <a:cs typeface="Times New Roman" pitchFamily="18" charset="0"/>
                <a:sym typeface="Symbol"/>
              </a:rPr>
              <a:t>Hypotension</a:t>
            </a:r>
          </a:p>
          <a:p>
            <a:pPr lvl="1">
              <a:defRPr/>
            </a:pPr>
            <a:r>
              <a:rPr lang="en-US" sz="2000" dirty="0">
                <a:latin typeface="Times New Roman" pitchFamily="18" charset="0"/>
                <a:cs typeface="Times New Roman" pitchFamily="18" charset="0"/>
                <a:sym typeface="Symbol"/>
              </a:rPr>
              <a:t></a:t>
            </a:r>
            <a:r>
              <a:rPr lang="en-US" sz="2000" dirty="0">
                <a:latin typeface="Times New Roman" pitchFamily="18" charset="0"/>
                <a:cs typeface="Times New Roman" pitchFamily="18" charset="0"/>
              </a:rPr>
              <a:t>es blood pressure to a greater degree than Etomidate and Thiopental</a:t>
            </a:r>
          </a:p>
          <a:p>
            <a:pPr>
              <a:defRPr/>
            </a:pPr>
            <a:r>
              <a:rPr lang="en-US" sz="2400" b="1" dirty="0">
                <a:latin typeface="Times New Roman" pitchFamily="18" charset="0"/>
                <a:cs typeface="Times New Roman" pitchFamily="18" charset="0"/>
              </a:rPr>
              <a:t>Respiratory depression</a:t>
            </a:r>
          </a:p>
          <a:p>
            <a:pPr>
              <a:defRPr/>
            </a:pPr>
            <a:r>
              <a:rPr lang="en-US" sz="2400" b="1" dirty="0">
                <a:latin typeface="Times New Roman" pitchFamily="18" charset="0"/>
                <a:cs typeface="Times New Roman" pitchFamily="18" charset="0"/>
              </a:rPr>
              <a:t>No analgesia vs. ketamine</a:t>
            </a:r>
          </a:p>
          <a:p>
            <a:pPr>
              <a:buFont typeface="Wingdings" pitchFamily="2" charset="2"/>
              <a:buChar char="§"/>
              <a:defRPr/>
            </a:pPr>
            <a:endParaRPr lang="en-US" sz="2400" b="1" dirty="0">
              <a:latin typeface="Times New Roman" pitchFamily="18" charset="0"/>
              <a:cs typeface="Times New Roman" pitchFamily="18" charset="0"/>
            </a:endParaRPr>
          </a:p>
          <a:p>
            <a:endParaRPr lang="en-US" sz="2400" dirty="0"/>
          </a:p>
        </p:txBody>
      </p:sp>
    </p:spTree>
    <p:extLst>
      <p:ext uri="{BB962C8B-B14F-4D97-AF65-F5344CB8AC3E}">
        <p14:creationId xmlns:p14="http://schemas.microsoft.com/office/powerpoint/2010/main" val="39738916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55150-9099-2F8E-5850-EA944A49F9A2}"/>
              </a:ext>
            </a:extLst>
          </p:cNvPr>
          <p:cNvSpPr>
            <a:spLocks noGrp="1"/>
          </p:cNvSpPr>
          <p:nvPr>
            <p:ph type="title"/>
          </p:nvPr>
        </p:nvSpPr>
        <p:spPr/>
        <p:txBody>
          <a:bodyPr/>
          <a:lstStyle/>
          <a:p>
            <a:r>
              <a:rPr lang="en-US" sz="4400" dirty="0">
                <a:effectLst>
                  <a:outerShdw blurRad="38100" dist="38100" dir="2700000" algn="tl">
                    <a:srgbClr val="000000">
                      <a:alpha val="43137"/>
                    </a:srgbClr>
                  </a:outerShdw>
                </a:effectLst>
              </a:rPr>
              <a:t>Cont.….</a:t>
            </a:r>
            <a:endParaRPr lang="en-US" dirty="0"/>
          </a:p>
        </p:txBody>
      </p:sp>
      <p:sp>
        <p:nvSpPr>
          <p:cNvPr id="3" name="Content Placeholder 2">
            <a:extLst>
              <a:ext uri="{FF2B5EF4-FFF2-40B4-BE49-F238E27FC236}">
                <a16:creationId xmlns:a16="http://schemas.microsoft.com/office/drawing/2014/main" id="{523D4ABA-EA45-4093-B0BA-BECCFA637619}"/>
              </a:ext>
            </a:extLst>
          </p:cNvPr>
          <p:cNvSpPr>
            <a:spLocks noGrp="1"/>
          </p:cNvSpPr>
          <p:nvPr>
            <p:ph idx="1"/>
          </p:nvPr>
        </p:nvSpPr>
        <p:spPr/>
        <p:txBody>
          <a:bodyPr>
            <a:normAutofit lnSpcReduction="10000"/>
          </a:bodyPr>
          <a:lstStyle/>
          <a:p>
            <a:pPr algn="l"/>
            <a:r>
              <a:rPr lang="en-US" sz="2800" b="1" dirty="0"/>
              <a:t>Propofol infusion syndrome (PRIS) </a:t>
            </a:r>
          </a:p>
          <a:p>
            <a:pPr lvl="1">
              <a:buFont typeface="Wingdings" panose="05000000000000000000" pitchFamily="2" charset="2"/>
              <a:buChar char="ü"/>
            </a:pPr>
            <a:r>
              <a:rPr lang="en-US" sz="2400" b="0" i="0" u="none" strike="noStrike" baseline="0" dirty="0"/>
              <a:t>a prolonged duration with continuous infusion</a:t>
            </a:r>
            <a:endParaRPr lang="en-US" sz="3200" dirty="0"/>
          </a:p>
          <a:p>
            <a:pPr lvl="1"/>
            <a:r>
              <a:rPr lang="en-US" sz="2400" dirty="0"/>
              <a:t>extremely rare, but potentially deadly</a:t>
            </a:r>
          </a:p>
          <a:p>
            <a:pPr algn="l"/>
            <a:r>
              <a:rPr lang="en-US" sz="2400" dirty="0"/>
              <a:t>Cause: Use of propofol infusion for long-term sedation in the ICU (dose of 4 mg/kg/h for &gt;48 hr.)</a:t>
            </a:r>
            <a:r>
              <a:rPr lang="en-US" sz="1800" b="0" i="0" u="none" strike="noStrike" baseline="0" dirty="0"/>
              <a:t> </a:t>
            </a:r>
          </a:p>
          <a:p>
            <a:pPr algn="l"/>
            <a:r>
              <a:rPr lang="en-US" sz="2800" dirty="0"/>
              <a:t>key clinical characteristics </a:t>
            </a:r>
          </a:p>
          <a:p>
            <a:pPr lvl="1"/>
            <a:r>
              <a:rPr lang="en-US" sz="2400" dirty="0"/>
              <a:t>unexplained metabolic acidosis, hyperkalemia,</a:t>
            </a:r>
          </a:p>
          <a:p>
            <a:pPr lvl="1"/>
            <a:r>
              <a:rPr lang="en-US" sz="2400" dirty="0"/>
              <a:t>hyperlipidemia, rhabdomyolysis, hepatomegaly, renal failure, and ECG changes, arrhythmias, and</a:t>
            </a:r>
          </a:p>
          <a:p>
            <a:pPr lvl="1"/>
            <a:r>
              <a:rPr lang="en-US" sz="2400" dirty="0"/>
              <a:t> progression to cardiac failure</a:t>
            </a:r>
          </a:p>
          <a:p>
            <a:r>
              <a:rPr lang="en-US" sz="2800" dirty="0"/>
              <a:t>P</a:t>
            </a:r>
            <a:r>
              <a:rPr lang="en-US" sz="2800" b="0" i="0" u="none" strike="noStrike" baseline="0" dirty="0"/>
              <a:t>athophysiology of PRIS??? </a:t>
            </a:r>
            <a:endParaRPr lang="en-US" sz="2800" dirty="0"/>
          </a:p>
          <a:p>
            <a:pPr algn="l"/>
            <a:endParaRPr lang="en-US" sz="2400" dirty="0"/>
          </a:p>
        </p:txBody>
      </p:sp>
    </p:spTree>
    <p:extLst>
      <p:ext uri="{BB962C8B-B14F-4D97-AF65-F5344CB8AC3E}">
        <p14:creationId xmlns:p14="http://schemas.microsoft.com/office/powerpoint/2010/main" val="38888055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58BA9-4751-4B0F-4E4A-C4D761FCEDE2}"/>
              </a:ext>
            </a:extLst>
          </p:cNvPr>
          <p:cNvSpPr>
            <a:spLocks noGrp="1"/>
          </p:cNvSpPr>
          <p:nvPr>
            <p:ph type="title"/>
          </p:nvPr>
        </p:nvSpPr>
        <p:spPr/>
        <p:txBody>
          <a:bodyPr/>
          <a:lstStyle/>
          <a:p>
            <a:r>
              <a:rPr lang="en-US" sz="4400" dirty="0">
                <a:effectLst>
                  <a:outerShdw blurRad="38100" dist="38100" dir="2700000" algn="tl">
                    <a:srgbClr val="000000">
                      <a:alpha val="43137"/>
                    </a:srgbClr>
                  </a:outerShdw>
                </a:effectLst>
              </a:rPr>
              <a:t>Cont.….</a:t>
            </a:r>
            <a:endParaRPr lang="en-US" dirty="0"/>
          </a:p>
        </p:txBody>
      </p:sp>
      <p:sp>
        <p:nvSpPr>
          <p:cNvPr id="3" name="Content Placeholder 2">
            <a:extLst>
              <a:ext uri="{FF2B5EF4-FFF2-40B4-BE49-F238E27FC236}">
                <a16:creationId xmlns:a16="http://schemas.microsoft.com/office/drawing/2014/main" id="{13A9C100-EC23-8730-1035-8743A97D4616}"/>
              </a:ext>
            </a:extLst>
          </p:cNvPr>
          <p:cNvSpPr>
            <a:spLocks noGrp="1"/>
          </p:cNvSpPr>
          <p:nvPr>
            <p:ph idx="1"/>
          </p:nvPr>
        </p:nvSpPr>
        <p:spPr/>
        <p:txBody>
          <a:bodyPr>
            <a:normAutofit/>
          </a:bodyPr>
          <a:lstStyle/>
          <a:p>
            <a:r>
              <a:rPr lang="en-US" dirty="0"/>
              <a:t>Drug Interactions</a:t>
            </a:r>
          </a:p>
          <a:p>
            <a:pPr lvl="1"/>
            <a:r>
              <a:rPr lang="en-US" sz="2400" dirty="0"/>
              <a:t>Fentanyl and alfentanil concentrations may be increased with concomitant administration of propofol.</a:t>
            </a:r>
          </a:p>
          <a:p>
            <a:pPr lvl="1"/>
            <a:r>
              <a:rPr lang="en-US" sz="2400" dirty="0"/>
              <a:t> Midazolam can reduce the required propofol dose by more than 10%.</a:t>
            </a:r>
            <a:endParaRPr lang="en-US" sz="3200" dirty="0"/>
          </a:p>
        </p:txBody>
      </p:sp>
    </p:spTree>
    <p:extLst>
      <p:ext uri="{BB962C8B-B14F-4D97-AF65-F5344CB8AC3E}">
        <p14:creationId xmlns:p14="http://schemas.microsoft.com/office/powerpoint/2010/main" val="10743002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A99BD-43B3-2891-ED1F-A34C29795AED}"/>
              </a:ext>
            </a:extLst>
          </p:cNvPr>
          <p:cNvSpPr>
            <a:spLocks noGrp="1"/>
          </p:cNvSpPr>
          <p:nvPr>
            <p:ph type="title"/>
          </p:nvPr>
        </p:nvSpPr>
        <p:spPr>
          <a:xfrm>
            <a:off x="457200" y="274638"/>
            <a:ext cx="8229600" cy="1096962"/>
          </a:xfrm>
        </p:spPr>
        <p:txBody>
          <a:bodyPr/>
          <a:lstStyle/>
          <a:p>
            <a:r>
              <a:rPr lang="en-US" dirty="0"/>
              <a:t>Summary Of propofol</a:t>
            </a:r>
          </a:p>
        </p:txBody>
      </p:sp>
      <p:graphicFrame>
        <p:nvGraphicFramePr>
          <p:cNvPr id="5" name="Table 5">
            <a:extLst>
              <a:ext uri="{FF2B5EF4-FFF2-40B4-BE49-F238E27FC236}">
                <a16:creationId xmlns:a16="http://schemas.microsoft.com/office/drawing/2014/main" id="{DC2A9510-3573-A9DB-0C76-3587313B7D3F}"/>
              </a:ext>
            </a:extLst>
          </p:cNvPr>
          <p:cNvGraphicFramePr>
            <a:graphicFrameLocks noGrp="1"/>
          </p:cNvGraphicFramePr>
          <p:nvPr>
            <p:ph idx="1"/>
            <p:extLst>
              <p:ext uri="{D42A27DB-BD31-4B8C-83A1-F6EECF244321}">
                <p14:modId xmlns:p14="http://schemas.microsoft.com/office/powerpoint/2010/main" val="187633312"/>
              </p:ext>
            </p:extLst>
          </p:nvPr>
        </p:nvGraphicFramePr>
        <p:xfrm>
          <a:off x="436728" y="1295400"/>
          <a:ext cx="8229599" cy="4899379"/>
        </p:xfrm>
        <a:graphic>
          <a:graphicData uri="http://schemas.openxmlformats.org/drawingml/2006/table">
            <a:tbl>
              <a:tblPr firstRow="1" bandRow="1">
                <a:tableStyleId>{D27102A9-8310-4765-A935-A1911B00CA55}</a:tableStyleId>
              </a:tblPr>
              <a:tblGrid>
                <a:gridCol w="4363872">
                  <a:extLst>
                    <a:ext uri="{9D8B030D-6E8A-4147-A177-3AD203B41FA5}">
                      <a16:colId xmlns:a16="http://schemas.microsoft.com/office/drawing/2014/main" val="3831453549"/>
                    </a:ext>
                  </a:extLst>
                </a:gridCol>
                <a:gridCol w="3865727">
                  <a:extLst>
                    <a:ext uri="{9D8B030D-6E8A-4147-A177-3AD203B41FA5}">
                      <a16:colId xmlns:a16="http://schemas.microsoft.com/office/drawing/2014/main" val="2524496334"/>
                    </a:ext>
                  </a:extLst>
                </a:gridCol>
              </a:tblGrid>
              <a:tr h="373660">
                <a:tc>
                  <a:txBody>
                    <a:bodyPr/>
                    <a:lstStyle/>
                    <a:p>
                      <a:r>
                        <a:rPr lang="en-US" sz="1800" b="1" u="none" strike="noStrike" kern="1200" baseline="0" dirty="0">
                          <a:solidFill>
                            <a:schemeClr val="tx1"/>
                          </a:solidFill>
                        </a:rPr>
                        <a:t>Key Pharmacology</a:t>
                      </a:r>
                      <a:endParaRPr lang="en-US" dirty="0"/>
                    </a:p>
                  </a:txBody>
                  <a:tcPr/>
                </a:tc>
                <a:tc>
                  <a:txBody>
                    <a:bodyPr/>
                    <a:lstStyle/>
                    <a:p>
                      <a:r>
                        <a:rPr lang="en-US" sz="1800" b="1" u="none" strike="noStrike" kern="1200" baseline="0" dirty="0">
                          <a:solidFill>
                            <a:schemeClr val="tx1"/>
                          </a:solidFill>
                        </a:rPr>
                        <a:t>Key Clinical Uses</a:t>
                      </a:r>
                      <a:endParaRPr lang="en-US" dirty="0"/>
                    </a:p>
                  </a:txBody>
                  <a:tcPr/>
                </a:tc>
                <a:extLst>
                  <a:ext uri="{0D108BD9-81ED-4DB2-BD59-A6C34878D82A}">
                    <a16:rowId xmlns:a16="http://schemas.microsoft.com/office/drawing/2014/main" val="526138053"/>
                  </a:ext>
                </a:extLst>
              </a:tr>
              <a:tr h="650947">
                <a:tc>
                  <a:txBody>
                    <a:bodyPr/>
                    <a:lstStyle/>
                    <a:p>
                      <a:r>
                        <a:rPr lang="en-US" sz="1800" b="0" u="none" strike="noStrike" kern="1200" baseline="0" dirty="0">
                          <a:solidFill>
                            <a:schemeClr val="tx1"/>
                          </a:solidFill>
                        </a:rPr>
                        <a:t> Predictable context-sensitive half-time (half life) across various comorbidities</a:t>
                      </a:r>
                      <a:endParaRPr lang="en-US" dirty="0"/>
                    </a:p>
                  </a:txBody>
                  <a:tcPr/>
                </a:tc>
                <a:tc>
                  <a:txBody>
                    <a:bodyPr/>
                    <a:lstStyle/>
                    <a:p>
                      <a:r>
                        <a:rPr lang="en-US" sz="1800" b="0" u="none" strike="noStrike" kern="1200" baseline="0" dirty="0">
                          <a:solidFill>
                            <a:schemeClr val="tx1"/>
                          </a:solidFill>
                        </a:rPr>
                        <a:t>General anesthesia induction and</a:t>
                      </a:r>
                    </a:p>
                    <a:p>
                      <a:r>
                        <a:rPr lang="en-US" sz="1800" b="0" u="none" strike="noStrike" kern="1200" baseline="0" dirty="0">
                          <a:solidFill>
                            <a:schemeClr val="tx1"/>
                          </a:solidFill>
                        </a:rPr>
                        <a:t>maintenance</a:t>
                      </a:r>
                      <a:endParaRPr lang="en-US" sz="1800" b="0" i="0" u="none" strike="noStrike" kern="1200" baseline="0" dirty="0">
                        <a:solidFill>
                          <a:schemeClr val="tx1"/>
                        </a:solidFill>
                        <a:latin typeface="+mn-lt"/>
                        <a:ea typeface="+mn-ea"/>
                        <a:cs typeface="+mn-cs"/>
                      </a:endParaRPr>
                    </a:p>
                  </a:txBody>
                  <a:tcPr/>
                </a:tc>
                <a:extLst>
                  <a:ext uri="{0D108BD9-81ED-4DB2-BD59-A6C34878D82A}">
                    <a16:rowId xmlns:a16="http://schemas.microsoft.com/office/drawing/2014/main" val="2147097471"/>
                  </a:ext>
                </a:extLst>
              </a:tr>
              <a:tr h="929925">
                <a:tc>
                  <a:txBody>
                    <a:bodyPr/>
                    <a:lstStyle/>
                    <a:p>
                      <a:r>
                        <a:rPr lang="en-US" sz="1800" b="0" u="none" strike="noStrike" kern="1200" baseline="0" dirty="0">
                          <a:solidFill>
                            <a:schemeClr val="tx1"/>
                          </a:solidFill>
                        </a:rPr>
                        <a:t>CNS depressant, neuroprotective,</a:t>
                      </a:r>
                    </a:p>
                    <a:p>
                      <a:r>
                        <a:rPr lang="en-US" sz="1800" b="0" u="none" strike="noStrike" kern="1200" baseline="0" dirty="0">
                          <a:solidFill>
                            <a:schemeClr val="tx1"/>
                          </a:solidFill>
                        </a:rPr>
                        <a:t>anticonvulsant, decreases CMRO2, CBF,</a:t>
                      </a:r>
                    </a:p>
                    <a:p>
                      <a:r>
                        <a:rPr lang="en-US" sz="1800" b="0" u="none" strike="noStrike" kern="1200" baseline="0" dirty="0">
                          <a:solidFill>
                            <a:schemeClr val="tx1"/>
                          </a:solidFill>
                        </a:rPr>
                        <a:t>and ICP</a:t>
                      </a:r>
                      <a:endParaRPr lang="en-US" sz="1800" b="0" i="0" u="none" strike="noStrike" kern="1200" baseline="0" dirty="0">
                        <a:solidFill>
                          <a:schemeClr val="tx1"/>
                        </a:solidFill>
                        <a:latin typeface="+mn-lt"/>
                        <a:ea typeface="+mn-ea"/>
                        <a:cs typeface="+mn-cs"/>
                      </a:endParaRPr>
                    </a:p>
                  </a:txBody>
                  <a:tcPr/>
                </a:tc>
                <a:tc>
                  <a:txBody>
                    <a:bodyPr/>
                    <a:lstStyle/>
                    <a:p>
                      <a:r>
                        <a:rPr lang="en-US" sz="1800" b="0" u="none" strike="noStrike" kern="1200" baseline="0" dirty="0">
                          <a:solidFill>
                            <a:schemeClr val="tx1"/>
                          </a:solidFill>
                        </a:rPr>
                        <a:t>Conscious and deep sedation, including out of-operative-room settings</a:t>
                      </a:r>
                      <a:endParaRPr lang="en-US" dirty="0"/>
                    </a:p>
                  </a:txBody>
                  <a:tcPr/>
                </a:tc>
                <a:extLst>
                  <a:ext uri="{0D108BD9-81ED-4DB2-BD59-A6C34878D82A}">
                    <a16:rowId xmlns:a16="http://schemas.microsoft.com/office/drawing/2014/main" val="640808038"/>
                  </a:ext>
                </a:extLst>
              </a:tr>
              <a:tr h="373660">
                <a:tc>
                  <a:txBody>
                    <a:bodyPr/>
                    <a:lstStyle/>
                    <a:p>
                      <a:r>
                        <a:rPr lang="en-US" sz="1800" b="0" u="none" strike="noStrike" kern="1200" baseline="0" dirty="0">
                          <a:solidFill>
                            <a:schemeClr val="tx1"/>
                          </a:solidFill>
                        </a:rPr>
                        <a:t>Can be used for EEG burst suppression</a:t>
                      </a:r>
                      <a:endParaRPr lang="en-US" dirty="0"/>
                    </a:p>
                  </a:txBody>
                  <a:tcPr/>
                </a:tc>
                <a:tc>
                  <a:txBody>
                    <a:bodyPr/>
                    <a:lstStyle/>
                    <a:p>
                      <a:r>
                        <a:rPr lang="en-US" sz="1800" b="0" u="none" strike="noStrike" kern="1200" baseline="0" dirty="0">
                          <a:solidFill>
                            <a:schemeClr val="tx1"/>
                          </a:solidFill>
                        </a:rPr>
                        <a:t>Intensive care unit sedation</a:t>
                      </a:r>
                      <a:endParaRPr lang="en-US" dirty="0"/>
                    </a:p>
                  </a:txBody>
                  <a:tcPr/>
                </a:tc>
                <a:extLst>
                  <a:ext uri="{0D108BD9-81ED-4DB2-BD59-A6C34878D82A}">
                    <a16:rowId xmlns:a16="http://schemas.microsoft.com/office/drawing/2014/main" val="1214036921"/>
                  </a:ext>
                </a:extLst>
              </a:tr>
              <a:tr h="650947">
                <a:tc>
                  <a:txBody>
                    <a:bodyPr/>
                    <a:lstStyle/>
                    <a:p>
                      <a:r>
                        <a:rPr lang="en-US" sz="1800" b="0" u="none" strike="noStrike" kern="1200" baseline="0" dirty="0">
                          <a:solidFill>
                            <a:schemeClr val="tx1"/>
                          </a:solidFill>
                        </a:rPr>
                        <a:t>Cardiovascular: Significant decreases in</a:t>
                      </a:r>
                    </a:p>
                    <a:p>
                      <a:r>
                        <a:rPr lang="en-US" sz="1800" b="0" u="none" strike="noStrike" kern="1200" baseline="0" dirty="0">
                          <a:solidFill>
                            <a:schemeClr val="tx1"/>
                          </a:solidFill>
                        </a:rPr>
                        <a:t>SVR, SV, and cardiac output</a:t>
                      </a:r>
                      <a:endParaRPr lang="en-US" sz="1800" b="0" i="0" u="none" strike="noStrike" kern="1200" baseline="0" dirty="0">
                        <a:solidFill>
                          <a:schemeClr val="tx1"/>
                        </a:solidFill>
                        <a:latin typeface="+mn-lt"/>
                        <a:ea typeface="+mn-ea"/>
                        <a:cs typeface="+mn-cs"/>
                      </a:endParaRPr>
                    </a:p>
                  </a:txBody>
                  <a:tcPr/>
                </a:tc>
                <a:tc>
                  <a:txBody>
                    <a:bodyPr/>
                    <a:lstStyle/>
                    <a:p>
                      <a:r>
                        <a:rPr lang="en-US" sz="1800" b="0" u="none" strike="noStrike" kern="1200" baseline="0" dirty="0">
                          <a:solidFill>
                            <a:schemeClr val="tx1"/>
                          </a:solidFill>
                        </a:rPr>
                        <a:t>Postoperative nausea and vomiting</a:t>
                      </a:r>
                    </a:p>
                    <a:p>
                      <a:r>
                        <a:rPr lang="en-US" sz="1800" b="0" u="none" strike="noStrike" kern="1200" baseline="0" dirty="0">
                          <a:solidFill>
                            <a:schemeClr val="tx1"/>
                          </a:solidFill>
                        </a:rPr>
                        <a:t>prophylaxis</a:t>
                      </a:r>
                      <a:endParaRPr lang="en-US" dirty="0"/>
                    </a:p>
                  </a:txBody>
                  <a:tcPr/>
                </a:tc>
                <a:extLst>
                  <a:ext uri="{0D108BD9-81ED-4DB2-BD59-A6C34878D82A}">
                    <a16:rowId xmlns:a16="http://schemas.microsoft.com/office/drawing/2014/main" val="4029456820"/>
                  </a:ext>
                </a:extLst>
              </a:tr>
              <a:tr h="373660">
                <a:tc>
                  <a:txBody>
                    <a:bodyPr/>
                    <a:lstStyle/>
                    <a:p>
                      <a:r>
                        <a:rPr lang="en-US" sz="1800" b="0" u="none" strike="noStrike" kern="1200" baseline="0" dirty="0">
                          <a:solidFill>
                            <a:schemeClr val="tx1"/>
                          </a:solidFill>
                        </a:rPr>
                        <a:t>Pulmonary: Respiratory depressant and</a:t>
                      </a:r>
                    </a:p>
                    <a:p>
                      <a:r>
                        <a:rPr lang="en-US" sz="1800" b="0" u="none" strike="noStrike" kern="1200" baseline="0" dirty="0">
                          <a:solidFill>
                            <a:schemeClr val="tx1"/>
                          </a:solidFill>
                        </a:rPr>
                        <a:t>potent bronchodilator</a:t>
                      </a:r>
                      <a:endParaRPr lang="en-US" sz="1800" b="0" i="0" u="none" strike="noStrike" kern="1200" baseline="0" dirty="0">
                        <a:solidFill>
                          <a:schemeClr val="tx1"/>
                        </a:solidFill>
                        <a:latin typeface="+mn-lt"/>
                        <a:ea typeface="+mn-ea"/>
                        <a:cs typeface="+mn-cs"/>
                      </a:endParaRPr>
                    </a:p>
                  </a:txBody>
                  <a:tcPr/>
                </a:tc>
                <a:tc>
                  <a:txBody>
                    <a:bodyPr/>
                    <a:lstStyle/>
                    <a:p>
                      <a:r>
                        <a:rPr lang="en-US" sz="1800" b="0" u="none" strike="noStrike" kern="1200" baseline="0" dirty="0">
                          <a:solidFill>
                            <a:schemeClr val="tx1"/>
                          </a:solidFill>
                        </a:rPr>
                        <a:t>Safe for use in patients with malignant</a:t>
                      </a:r>
                    </a:p>
                    <a:p>
                      <a:r>
                        <a:rPr lang="en-US" sz="1800" b="0" u="none" strike="noStrike" kern="1200" baseline="0" dirty="0">
                          <a:solidFill>
                            <a:schemeClr val="tx1"/>
                          </a:solidFill>
                        </a:rPr>
                        <a:t>hyperthermia</a:t>
                      </a:r>
                      <a:endParaRPr lang="en-US" dirty="0"/>
                    </a:p>
                  </a:txBody>
                  <a:tcPr/>
                </a:tc>
                <a:extLst>
                  <a:ext uri="{0D108BD9-81ED-4DB2-BD59-A6C34878D82A}">
                    <a16:rowId xmlns:a16="http://schemas.microsoft.com/office/drawing/2014/main" val="1200399324"/>
                  </a:ext>
                </a:extLst>
              </a:tr>
              <a:tr h="373660">
                <a:tc>
                  <a:txBody>
                    <a:bodyPr/>
                    <a:lstStyle/>
                    <a:p>
                      <a:pPr algn="l"/>
                      <a:r>
                        <a:rPr lang="en-US" sz="1800" b="0" u="none" strike="noStrike" baseline="0" dirty="0"/>
                        <a:t>Addiction potential: May elicit feelings of wellbeing or euphoria during emergence</a:t>
                      </a:r>
                      <a:endParaRPr lang="en-US" sz="1800" b="0" i="0" u="none" strike="noStrike" baseline="0" dirty="0">
                        <a:latin typeface="ArialMT"/>
                      </a:endParaRPr>
                    </a:p>
                  </a:txBody>
                  <a:tcPr/>
                </a:tc>
                <a:tc>
                  <a:txBody>
                    <a:bodyPr/>
                    <a:lstStyle/>
                    <a:p>
                      <a:endParaRPr lang="en-US" dirty="0"/>
                    </a:p>
                  </a:txBody>
                  <a:tcPr/>
                </a:tc>
                <a:extLst>
                  <a:ext uri="{0D108BD9-81ED-4DB2-BD59-A6C34878D82A}">
                    <a16:rowId xmlns:a16="http://schemas.microsoft.com/office/drawing/2014/main" val="1817680700"/>
                  </a:ext>
                </a:extLst>
              </a:tr>
              <a:tr h="373660">
                <a:tc>
                  <a:txBody>
                    <a:bodyPr/>
                    <a:lstStyle/>
                    <a:p>
                      <a:pPr algn="l"/>
                      <a:r>
                        <a:rPr lang="en-US" sz="1800" b="0" u="none" strike="noStrike" baseline="0" dirty="0"/>
                        <a:t>Side effects: Associated pain with injection, propofol infusion syndrome</a:t>
                      </a:r>
                      <a:endParaRPr lang="en-US" dirty="0"/>
                    </a:p>
                  </a:txBody>
                  <a:tcPr/>
                </a:tc>
                <a:tc>
                  <a:txBody>
                    <a:bodyPr/>
                    <a:lstStyle/>
                    <a:p>
                      <a:endParaRPr lang="en-US" dirty="0"/>
                    </a:p>
                  </a:txBody>
                  <a:tcPr/>
                </a:tc>
                <a:extLst>
                  <a:ext uri="{0D108BD9-81ED-4DB2-BD59-A6C34878D82A}">
                    <a16:rowId xmlns:a16="http://schemas.microsoft.com/office/drawing/2014/main" val="2549202115"/>
                  </a:ext>
                </a:extLst>
              </a:tr>
            </a:tbl>
          </a:graphicData>
        </a:graphic>
      </p:graphicFrame>
    </p:spTree>
    <p:extLst>
      <p:ext uri="{BB962C8B-B14F-4D97-AF65-F5344CB8AC3E}">
        <p14:creationId xmlns:p14="http://schemas.microsoft.com/office/powerpoint/2010/main" val="2210081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dirty="0">
                <a:effectLst>
                  <a:outerShdw blurRad="38100" dist="38100" dir="2700000" algn="tl">
                    <a:srgbClr val="000000">
                      <a:alpha val="43137"/>
                    </a:srgbClr>
                  </a:outerShdw>
                </a:effectLst>
                <a:latin typeface="Agency FB" pitchFamily="34" charset="0"/>
              </a:rPr>
              <a:t> Ketamine</a:t>
            </a:r>
          </a:p>
        </p:txBody>
      </p:sp>
      <p:sp>
        <p:nvSpPr>
          <p:cNvPr id="3" name="Content Placeholder 2"/>
          <p:cNvSpPr>
            <a:spLocks noGrp="1"/>
          </p:cNvSpPr>
          <p:nvPr>
            <p:ph idx="1"/>
          </p:nvPr>
        </p:nvSpPr>
        <p:spPr>
          <a:xfrm>
            <a:off x="457200" y="2037992"/>
            <a:ext cx="8229600" cy="4525963"/>
          </a:xfrm>
        </p:spPr>
        <p:txBody>
          <a:bodyPr>
            <a:normAutofit/>
          </a:bodyPr>
          <a:lstStyle/>
          <a:p>
            <a:pPr marL="0" indent="0">
              <a:lnSpc>
                <a:spcPct val="90000"/>
              </a:lnSpc>
              <a:buNone/>
            </a:pPr>
            <a:endParaRPr lang="en-US" dirty="0">
              <a:solidFill>
                <a:schemeClr val="tx2"/>
              </a:solidFill>
              <a:latin typeface="Arial" pitchFamily="34" charset="0"/>
              <a:cs typeface="Arial" pitchFamily="34" charset="0"/>
            </a:endParaRPr>
          </a:p>
          <a:p>
            <a:pPr>
              <a:lnSpc>
                <a:spcPct val="90000"/>
              </a:lnSpc>
            </a:pPr>
            <a:endParaRPr lang="en-US" dirty="0"/>
          </a:p>
          <a:p>
            <a:pPr>
              <a:lnSpc>
                <a:spcPct val="90000"/>
              </a:lnSpc>
              <a:buNone/>
            </a:pPr>
            <a:r>
              <a:rPr lang="en-US" dirty="0"/>
              <a:t>    </a:t>
            </a:r>
          </a:p>
          <a:p>
            <a:endParaRPr lang="en-US" dirty="0"/>
          </a:p>
        </p:txBody>
      </p:sp>
      <p:sp>
        <p:nvSpPr>
          <p:cNvPr id="10" name="TextBox 9">
            <a:extLst>
              <a:ext uri="{FF2B5EF4-FFF2-40B4-BE49-F238E27FC236}">
                <a16:creationId xmlns:a16="http://schemas.microsoft.com/office/drawing/2014/main" id="{7F777A46-8400-484D-448C-F0D3692EEECD}"/>
              </a:ext>
            </a:extLst>
          </p:cNvPr>
          <p:cNvSpPr txBox="1"/>
          <p:nvPr/>
        </p:nvSpPr>
        <p:spPr>
          <a:xfrm>
            <a:off x="4724400" y="2365395"/>
            <a:ext cx="3962399" cy="2308324"/>
          </a:xfrm>
          <a:prstGeom prst="rect">
            <a:avLst/>
          </a:prstGeom>
          <a:noFill/>
        </p:spPr>
        <p:txBody>
          <a:bodyPr wrap="square">
            <a:spAutoFit/>
          </a:bodyPr>
          <a:lstStyle/>
          <a:p>
            <a:pPr marL="342900" indent="-342900" algn="l">
              <a:buFont typeface="Arial" panose="020B0604020202020204" pitchFamily="34" charset="0"/>
              <a:buChar char="•"/>
            </a:pPr>
            <a:r>
              <a:rPr lang="en-US" sz="2400" dirty="0">
                <a:latin typeface="MinionPro-Regular"/>
              </a:rPr>
              <a:t>K</a:t>
            </a:r>
            <a:r>
              <a:rPr lang="en-US" sz="2400" b="0" i="0" u="none" strike="noStrike" baseline="0" dirty="0">
                <a:latin typeface="MinionPro-Regular"/>
              </a:rPr>
              <a:t>etamine comes closest to being a “complete” anesthetic as it induces </a:t>
            </a:r>
          </a:p>
          <a:p>
            <a:pPr marL="1257300" lvl="2" indent="-342900">
              <a:buFont typeface="Arial" panose="020B0604020202020204" pitchFamily="34" charset="0"/>
              <a:buChar char="•"/>
            </a:pPr>
            <a:r>
              <a:rPr lang="en-US" sz="2400" dirty="0">
                <a:latin typeface="MinionPro-Regular"/>
              </a:rPr>
              <a:t>analgesia, </a:t>
            </a:r>
          </a:p>
          <a:p>
            <a:pPr marL="1257300" lvl="2" indent="-342900">
              <a:buFont typeface="Arial" panose="020B0604020202020204" pitchFamily="34" charset="0"/>
              <a:buChar char="•"/>
            </a:pPr>
            <a:r>
              <a:rPr lang="en-US" sz="2400" b="0" i="0" u="none" strike="noStrike" baseline="0" dirty="0">
                <a:latin typeface="MinionPro-Regular"/>
              </a:rPr>
              <a:t>amnesia,</a:t>
            </a:r>
            <a:r>
              <a:rPr lang="en-US" sz="2400" b="0" i="0" u="none" strike="noStrike" dirty="0">
                <a:latin typeface="MinionPro-Regular"/>
              </a:rPr>
              <a:t> a</a:t>
            </a:r>
            <a:r>
              <a:rPr lang="en-US" sz="2400" b="0" i="0" u="none" strike="noStrike" baseline="0" dirty="0">
                <a:latin typeface="MinionPro-Regular"/>
              </a:rPr>
              <a:t>nd</a:t>
            </a:r>
          </a:p>
          <a:p>
            <a:pPr marL="1257300" lvl="2" indent="-342900">
              <a:buFont typeface="Arial" panose="020B0604020202020204" pitchFamily="34" charset="0"/>
              <a:buChar char="•"/>
            </a:pPr>
            <a:r>
              <a:rPr lang="en-US" sz="2400" b="0" i="0" u="none" strike="noStrike" baseline="0" dirty="0">
                <a:latin typeface="MinionPro-Regular"/>
              </a:rPr>
              <a:t>unconsciousness.</a:t>
            </a:r>
            <a:endParaRPr lang="en-US" sz="2400" dirty="0"/>
          </a:p>
        </p:txBody>
      </p:sp>
      <p:pic>
        <p:nvPicPr>
          <p:cNvPr id="3076" name="Picture 4">
            <a:extLst>
              <a:ext uri="{FF2B5EF4-FFF2-40B4-BE49-F238E27FC236}">
                <a16:creationId xmlns:a16="http://schemas.microsoft.com/office/drawing/2014/main" id="{907AEFCD-17F0-7270-AB54-87601F7433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417638"/>
            <a:ext cx="4724400" cy="51463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6285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8000" b="1" dirty="0">
                <a:effectLst>
                  <a:outerShdw blurRad="38100" dist="38100" dir="2700000" algn="tl">
                    <a:srgbClr val="000000">
                      <a:alpha val="43137"/>
                    </a:srgbClr>
                  </a:outerShdw>
                </a:effectLst>
                <a:latin typeface="Agency FB" pitchFamily="34" charset="0"/>
              </a:rPr>
              <a:t>            </a:t>
            </a:r>
            <a:r>
              <a:rPr lang="en-US" sz="8000" dirty="0">
                <a:effectLst>
                  <a:outerShdw blurRad="38100" dist="38100" dir="2700000" algn="tl">
                    <a:srgbClr val="000000">
                      <a:alpha val="43137"/>
                    </a:srgbClr>
                  </a:outerShdw>
                </a:effectLst>
                <a:latin typeface="Agency FB" pitchFamily="34" charset="0"/>
              </a:rPr>
              <a:t>Ketamine</a:t>
            </a:r>
          </a:p>
        </p:txBody>
      </p:sp>
      <p:sp>
        <p:nvSpPr>
          <p:cNvPr id="3" name="Content Placeholder 2"/>
          <p:cNvSpPr>
            <a:spLocks noGrp="1"/>
          </p:cNvSpPr>
          <p:nvPr>
            <p:ph idx="1"/>
          </p:nvPr>
        </p:nvSpPr>
        <p:spPr>
          <a:xfrm>
            <a:off x="457200" y="1524000"/>
            <a:ext cx="8458200" cy="5039955"/>
          </a:xfrm>
        </p:spPr>
        <p:txBody>
          <a:bodyPr>
            <a:noAutofit/>
          </a:bodyPr>
          <a:lstStyle/>
          <a:p>
            <a:pPr>
              <a:lnSpc>
                <a:spcPct val="90000"/>
              </a:lnSpc>
            </a:pPr>
            <a:r>
              <a:rPr lang="en-US" sz="2400" dirty="0">
                <a:cs typeface="Times New Roman" pitchFamily="18" charset="0"/>
              </a:rPr>
              <a:t>Ketamine (</a:t>
            </a:r>
            <a:r>
              <a:rPr lang="en-US" sz="2400" dirty="0" err="1">
                <a:cs typeface="Times New Roman" pitchFamily="18" charset="0"/>
              </a:rPr>
              <a:t>Ketalar</a:t>
            </a:r>
            <a:r>
              <a:rPr lang="en-US" sz="2400" dirty="0">
                <a:cs typeface="Times New Roman" pitchFamily="18" charset="0"/>
              </a:rPr>
              <a:t>) was synthesized in 1962 by Stevens</a:t>
            </a:r>
          </a:p>
          <a:p>
            <a:pPr>
              <a:lnSpc>
                <a:spcPct val="90000"/>
              </a:lnSpc>
            </a:pPr>
            <a:r>
              <a:rPr lang="en-US" sz="2400" dirty="0">
                <a:cs typeface="Times New Roman" pitchFamily="18" charset="0"/>
              </a:rPr>
              <a:t>It was first used in humans in 1965 by </a:t>
            </a:r>
            <a:r>
              <a:rPr lang="en-US" sz="2400" dirty="0" err="1">
                <a:cs typeface="Times New Roman" pitchFamily="18" charset="0"/>
              </a:rPr>
              <a:t>Corssen</a:t>
            </a:r>
            <a:r>
              <a:rPr lang="en-US" sz="2400" dirty="0">
                <a:cs typeface="Times New Roman" pitchFamily="18" charset="0"/>
              </a:rPr>
              <a:t> and Domino.</a:t>
            </a:r>
          </a:p>
          <a:p>
            <a:pPr>
              <a:lnSpc>
                <a:spcPct val="90000"/>
              </a:lnSpc>
            </a:pPr>
            <a:r>
              <a:rPr lang="en-US" sz="2400" dirty="0">
                <a:cs typeface="Times New Roman" pitchFamily="18" charset="0"/>
              </a:rPr>
              <a:t>Ketamine was released for clinical use in 1970</a:t>
            </a:r>
          </a:p>
          <a:p>
            <a:pPr>
              <a:lnSpc>
                <a:spcPct val="90000"/>
              </a:lnSpc>
            </a:pPr>
            <a:r>
              <a:rPr lang="en-US" sz="2400" dirty="0">
                <a:cs typeface="Times New Roman" pitchFamily="18" charset="0"/>
              </a:rPr>
              <a:t>Ketamine is a racemic mixture of the isomers R(-)-ketamine and S(+)-ketamine.</a:t>
            </a:r>
          </a:p>
          <a:p>
            <a:pPr lvl="1">
              <a:lnSpc>
                <a:spcPct val="90000"/>
              </a:lnSpc>
            </a:pPr>
            <a:r>
              <a:rPr lang="en-US" sz="2400" dirty="0">
                <a:cs typeface="Times New Roman" pitchFamily="18" charset="0"/>
              </a:rPr>
              <a:t>The S(+)-isomer (</a:t>
            </a:r>
            <a:r>
              <a:rPr lang="en-US" sz="2400" dirty="0" err="1">
                <a:cs typeface="Times New Roman" pitchFamily="18" charset="0"/>
              </a:rPr>
              <a:t>Ketanest</a:t>
            </a:r>
            <a:r>
              <a:rPr lang="en-US" sz="2400" dirty="0">
                <a:cs typeface="Times New Roman" pitchFamily="18" charset="0"/>
              </a:rPr>
              <a:t>) is 3 to 4 times more potent as an analgesic with a faster clearance and recovery and with fewer psychomimetic side effects.</a:t>
            </a:r>
          </a:p>
          <a:p>
            <a:pPr marL="285750" indent="-285750">
              <a:buFont typeface="Arial" panose="020B0604020202020204" pitchFamily="34" charset="0"/>
              <a:buChar char="•"/>
            </a:pPr>
            <a:r>
              <a:rPr lang="en-US" sz="2400" dirty="0">
                <a:solidFill>
                  <a:srgbClr val="000000"/>
                </a:solidFill>
                <a:latin typeface="Photina MT"/>
              </a:rPr>
              <a:t>P</a:t>
            </a:r>
            <a:r>
              <a:rPr lang="en-US" sz="2400" b="0" i="0" u="none" strike="noStrike" baseline="0" dirty="0">
                <a:solidFill>
                  <a:srgbClr val="000000"/>
                </a:solidFill>
                <a:latin typeface="Photina MT"/>
              </a:rPr>
              <a:t>artially water soluble</a:t>
            </a:r>
          </a:p>
          <a:p>
            <a:pPr marL="285750" indent="-285750">
              <a:buFont typeface="Arial" panose="020B0604020202020204" pitchFamily="34" charset="0"/>
              <a:buChar char="•"/>
            </a:pPr>
            <a:r>
              <a:rPr lang="en-US" sz="2400" dirty="0">
                <a:solidFill>
                  <a:srgbClr val="000000"/>
                </a:solidFill>
                <a:latin typeface="Photina MT"/>
              </a:rPr>
              <a:t>F</a:t>
            </a:r>
            <a:r>
              <a:rPr lang="en-US" sz="2400" b="0" i="0" u="none" strike="noStrike" baseline="0" dirty="0">
                <a:solidFill>
                  <a:srgbClr val="000000"/>
                </a:solidFill>
                <a:latin typeface="Photina MT"/>
              </a:rPr>
              <a:t>orms a white crystalline salt with a </a:t>
            </a:r>
            <a:r>
              <a:rPr lang="en-US" sz="2400" b="0" i="0" u="none" strike="noStrike" baseline="0" dirty="0" err="1">
                <a:solidFill>
                  <a:srgbClr val="000000"/>
                </a:solidFill>
                <a:latin typeface="Photina MT"/>
              </a:rPr>
              <a:t>p</a:t>
            </a:r>
            <a:r>
              <a:rPr lang="en-US" sz="2400" b="0" i="1" u="none" strike="noStrike" baseline="0" dirty="0" err="1">
                <a:solidFill>
                  <a:srgbClr val="000000"/>
                </a:solidFill>
                <a:latin typeface="Photina MT"/>
              </a:rPr>
              <a:t>K</a:t>
            </a:r>
            <a:r>
              <a:rPr lang="en-US" sz="1000" b="0" i="0" u="none" strike="noStrike" baseline="0" dirty="0" err="1">
                <a:solidFill>
                  <a:srgbClr val="000000"/>
                </a:solidFill>
                <a:latin typeface="Photina MT"/>
              </a:rPr>
              <a:t>a</a:t>
            </a:r>
            <a:r>
              <a:rPr lang="en-US" sz="1000" b="0" i="0" u="none" strike="noStrike" baseline="0" dirty="0">
                <a:solidFill>
                  <a:srgbClr val="000000"/>
                </a:solidFill>
                <a:latin typeface="Photina MT"/>
              </a:rPr>
              <a:t> </a:t>
            </a:r>
            <a:r>
              <a:rPr lang="en-US" sz="2400" b="0" i="0" u="none" strike="noStrike" baseline="0" dirty="0">
                <a:solidFill>
                  <a:srgbClr val="000000"/>
                </a:solidFill>
                <a:latin typeface="Photina MT"/>
              </a:rPr>
              <a:t>of 7.5. </a:t>
            </a:r>
            <a:endParaRPr lang="en-US" sz="2400" dirty="0"/>
          </a:p>
          <a:p>
            <a:pPr marL="274320" indent="-274320">
              <a:lnSpc>
                <a:spcPct val="160000"/>
              </a:lnSpc>
              <a:buNone/>
              <a:defRPr/>
            </a:pPr>
            <a:endParaRPr lang="en-US" sz="2400" dirty="0">
              <a:solidFill>
                <a:schemeClr val="tx2"/>
              </a:solidFill>
              <a:cs typeface="Times New Roman" pitchFamily="18" charset="0"/>
            </a:endParaRPr>
          </a:p>
          <a:p>
            <a:pPr>
              <a:lnSpc>
                <a:spcPct val="90000"/>
              </a:lnSpc>
            </a:pPr>
            <a:endParaRPr lang="en-US" sz="2400" dirty="0">
              <a:cs typeface="Times New Roman" pitchFamily="18" charset="0"/>
            </a:endParaRPr>
          </a:p>
          <a:p>
            <a:pPr>
              <a:lnSpc>
                <a:spcPct val="90000"/>
              </a:lnSpc>
              <a:buNone/>
            </a:pPr>
            <a:r>
              <a:rPr lang="en-US" sz="2400" dirty="0">
                <a:cs typeface="Times New Roman" pitchFamily="18" charset="0"/>
              </a:rPr>
              <a:t>    </a:t>
            </a:r>
          </a:p>
          <a:p>
            <a:endParaRPr lang="en-US" sz="2400" dirty="0">
              <a:cs typeface="Times New Roman" pitchFamily="18" charset="0"/>
            </a:endParaRPr>
          </a:p>
        </p:txBody>
      </p:sp>
    </p:spTree>
    <p:extLst>
      <p:ext uri="{BB962C8B-B14F-4D97-AF65-F5344CB8AC3E}">
        <p14:creationId xmlns:p14="http://schemas.microsoft.com/office/powerpoint/2010/main" val="23306974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3AEDA-FE8B-9472-A737-4A44A9881E97}"/>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5AAC904A-87D1-8EEB-3666-BC49FDDEDF50}"/>
              </a:ext>
            </a:extLst>
          </p:cNvPr>
          <p:cNvSpPr>
            <a:spLocks noGrp="1"/>
          </p:cNvSpPr>
          <p:nvPr>
            <p:ph idx="1"/>
          </p:nvPr>
        </p:nvSpPr>
        <p:spPr/>
        <p:txBody>
          <a:bodyPr/>
          <a:lstStyle/>
          <a:p>
            <a:pPr>
              <a:lnSpc>
                <a:spcPct val="90000"/>
              </a:lnSpc>
            </a:pPr>
            <a:r>
              <a:rPr lang="en-US" sz="2400" dirty="0">
                <a:cs typeface="Times New Roman" pitchFamily="18" charset="0"/>
              </a:rPr>
              <a:t>It is primarily  non-competitive glutamate </a:t>
            </a:r>
            <a:r>
              <a:rPr lang="bg-BG" sz="2400" i="1" dirty="0">
                <a:cs typeface="Times New Roman" pitchFamily="18" charset="0"/>
              </a:rPr>
              <a:t>N</a:t>
            </a:r>
            <a:r>
              <a:rPr lang="bg-BG" sz="2400" dirty="0">
                <a:cs typeface="Times New Roman" pitchFamily="18" charset="0"/>
              </a:rPr>
              <a:t>-methyl-D-aspartate (</a:t>
            </a:r>
            <a:r>
              <a:rPr lang="en-US" sz="2400" dirty="0">
                <a:solidFill>
                  <a:srgbClr val="FF0000"/>
                </a:solidFill>
                <a:cs typeface="Times New Roman" pitchFamily="18" charset="0"/>
              </a:rPr>
              <a:t>NMDA</a:t>
            </a:r>
            <a:r>
              <a:rPr lang="en-US" sz="2400" dirty="0">
                <a:cs typeface="Times New Roman" pitchFamily="18" charset="0"/>
              </a:rPr>
              <a:t>) receptor antagonist. </a:t>
            </a:r>
          </a:p>
          <a:p>
            <a:pPr>
              <a:lnSpc>
                <a:spcPct val="90000"/>
              </a:lnSpc>
            </a:pPr>
            <a:r>
              <a:rPr lang="en-US" sz="2400" dirty="0">
                <a:cs typeface="Times New Roman" pitchFamily="18" charset="0"/>
              </a:rPr>
              <a:t>Has analgesia effects at low doses, </a:t>
            </a:r>
          </a:p>
          <a:p>
            <a:pPr lvl="1">
              <a:lnSpc>
                <a:spcPct val="90000"/>
              </a:lnSpc>
            </a:pPr>
            <a:r>
              <a:rPr lang="en-US" sz="2400" dirty="0">
                <a:cs typeface="Times New Roman" pitchFamily="18" charset="0"/>
              </a:rPr>
              <a:t>mediated by antagonism on the NMDA receptors.</a:t>
            </a:r>
            <a:r>
              <a:rPr lang="en-US" sz="2400" dirty="0">
                <a:solidFill>
                  <a:schemeClr val="tx2"/>
                </a:solidFill>
                <a:cs typeface="Times New Roman" pitchFamily="18" charset="0"/>
              </a:rPr>
              <a:t> </a:t>
            </a:r>
          </a:p>
          <a:p>
            <a:pPr>
              <a:lnSpc>
                <a:spcPct val="90000"/>
              </a:lnSpc>
            </a:pPr>
            <a:r>
              <a:rPr lang="en-US" sz="2800" dirty="0">
                <a:solidFill>
                  <a:schemeClr val="tx2"/>
                </a:solidFill>
                <a:cs typeface="Times New Roman" pitchFamily="18" charset="0"/>
              </a:rPr>
              <a:t>It’s a dissociative anesthetic agent. </a:t>
            </a:r>
          </a:p>
          <a:p>
            <a:pPr lvl="1">
              <a:lnSpc>
                <a:spcPct val="90000"/>
              </a:lnSpc>
            </a:pPr>
            <a:r>
              <a:rPr lang="en-US" sz="2400" dirty="0">
                <a:solidFill>
                  <a:srgbClr val="FF0000"/>
                </a:solidFill>
                <a:cs typeface="Times New Roman" pitchFamily="18" charset="0"/>
              </a:rPr>
              <a:t>by dissociative it mean that the patient is unconscious but appears awake and doesn’t feel pain.</a:t>
            </a:r>
          </a:p>
          <a:p>
            <a:pPr>
              <a:lnSpc>
                <a:spcPct val="90000"/>
              </a:lnSpc>
            </a:pPr>
            <a:r>
              <a:rPr lang="en-US" sz="2800" dirty="0">
                <a:solidFill>
                  <a:schemeClr val="tx2"/>
                </a:solidFill>
                <a:cs typeface="Times New Roman" pitchFamily="18" charset="0"/>
              </a:rPr>
              <a:t>It has anesthetic and analgesic effect</a:t>
            </a:r>
          </a:p>
          <a:p>
            <a:endParaRPr lang="en-US" dirty="0"/>
          </a:p>
        </p:txBody>
      </p:sp>
    </p:spTree>
    <p:extLst>
      <p:ext uri="{BB962C8B-B14F-4D97-AF65-F5344CB8AC3E}">
        <p14:creationId xmlns:p14="http://schemas.microsoft.com/office/powerpoint/2010/main" val="1307676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n-lt"/>
              </a:rPr>
              <a:t>Cont…</a:t>
            </a:r>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q"/>
            </a:pPr>
            <a:r>
              <a:rPr lang="en-US" sz="3900" dirty="0">
                <a:cs typeface="Times New Roman" pitchFamily="18" charset="0"/>
              </a:rPr>
              <a:t>Properties </a:t>
            </a:r>
          </a:p>
          <a:p>
            <a:r>
              <a:rPr lang="en-US" sz="2800" dirty="0">
                <a:cs typeface="Times New Roman" pitchFamily="18" charset="0"/>
              </a:rPr>
              <a:t>Hypnotic</a:t>
            </a:r>
          </a:p>
          <a:p>
            <a:r>
              <a:rPr lang="en-US" sz="2800" dirty="0">
                <a:cs typeface="Times New Roman" pitchFamily="18" charset="0"/>
              </a:rPr>
              <a:t>Strong analgesic</a:t>
            </a:r>
          </a:p>
          <a:p>
            <a:r>
              <a:rPr lang="en-US" sz="2800" dirty="0">
                <a:cs typeface="Times New Roman" pitchFamily="18" charset="0"/>
              </a:rPr>
              <a:t>Amnesic</a:t>
            </a:r>
          </a:p>
          <a:p>
            <a:r>
              <a:rPr lang="en-US" sz="2800" dirty="0">
                <a:cs typeface="Times New Roman" pitchFamily="18" charset="0"/>
              </a:rPr>
              <a:t>Smooth induction but with </a:t>
            </a:r>
            <a:r>
              <a:rPr lang="en-US" sz="3200" dirty="0">
                <a:solidFill>
                  <a:srgbClr val="FF0000"/>
                </a:solidFill>
                <a:effectLst>
                  <a:outerShdw blurRad="38100" dist="38100" dir="2700000" algn="tl">
                    <a:srgbClr val="000000">
                      <a:alpha val="43137"/>
                    </a:srgbClr>
                  </a:outerShdw>
                </a:effectLst>
                <a:cs typeface="Times New Roman" pitchFamily="18" charset="0"/>
              </a:rPr>
              <a:t>emergence</a:t>
            </a:r>
            <a:r>
              <a:rPr lang="en-US" sz="3200" dirty="0">
                <a:effectLst>
                  <a:outerShdw blurRad="38100" dist="38100" dir="2700000" algn="tl">
                    <a:srgbClr val="000000">
                      <a:alpha val="43137"/>
                    </a:srgbClr>
                  </a:outerShdw>
                </a:effectLst>
                <a:cs typeface="Times New Roman" pitchFamily="18" charset="0"/>
              </a:rPr>
              <a:t> </a:t>
            </a:r>
            <a:r>
              <a:rPr lang="en-US" sz="3200" dirty="0">
                <a:solidFill>
                  <a:srgbClr val="FF0000"/>
                </a:solidFill>
                <a:effectLst>
                  <a:outerShdw blurRad="38100" dist="38100" dir="2700000" algn="tl">
                    <a:srgbClr val="000000">
                      <a:alpha val="43137"/>
                    </a:srgbClr>
                  </a:outerShdw>
                </a:effectLst>
                <a:cs typeface="Times New Roman" pitchFamily="18" charset="0"/>
              </a:rPr>
              <a:t>delirium.</a:t>
            </a:r>
            <a:endParaRPr lang="en-US" sz="2800" dirty="0">
              <a:solidFill>
                <a:srgbClr val="FF0000"/>
              </a:solidFill>
              <a:effectLst>
                <a:outerShdw blurRad="38100" dist="38100" dir="2700000" algn="tl">
                  <a:srgbClr val="000000">
                    <a:alpha val="43137"/>
                  </a:srgbClr>
                </a:outerShdw>
              </a:effectLst>
              <a:cs typeface="Times New Roman" pitchFamily="18" charset="0"/>
            </a:endParaRPr>
          </a:p>
          <a:p>
            <a:pPr lvl="1"/>
            <a:r>
              <a:rPr lang="en-US" sz="2400" dirty="0">
                <a:cs typeface="Times New Roman" pitchFamily="18" charset="0"/>
              </a:rPr>
              <a:t>Unpleasant dreams (Hallucination) – up to 24 hrs.     </a:t>
            </a:r>
          </a:p>
          <a:p>
            <a:r>
              <a:rPr lang="en-US" sz="2800" dirty="0">
                <a:cs typeface="Times New Roman" pitchFamily="18" charset="0"/>
              </a:rPr>
              <a:t>It has rapid onset and relatively rapid offset</a:t>
            </a:r>
          </a:p>
          <a:p>
            <a:pPr lvl="1"/>
            <a:r>
              <a:rPr lang="en-US" dirty="0"/>
              <a:t>Rapid onset: 30 to 60 seconds        </a:t>
            </a:r>
            <a:r>
              <a:rPr lang="en-US" sz="2000" dirty="0"/>
              <a:t>IV administration</a:t>
            </a:r>
            <a:endParaRPr lang="en-US" dirty="0"/>
          </a:p>
          <a:p>
            <a:pPr lvl="1"/>
            <a:r>
              <a:rPr lang="en-US" dirty="0"/>
              <a:t>Duration: 10 to 15 minutes</a:t>
            </a:r>
          </a:p>
          <a:p>
            <a:pPr lvl="1"/>
            <a:endParaRPr lang="en-US" dirty="0"/>
          </a:p>
          <a:p>
            <a:endParaRPr lang="en-US" sz="2800" dirty="0">
              <a:cs typeface="Times New Roman" pitchFamily="18" charset="0"/>
            </a:endParaRPr>
          </a:p>
          <a:p>
            <a:endParaRPr lang="en-US" sz="2800" dirty="0">
              <a:cs typeface="Times New Roman" pitchFamily="18" charset="0"/>
            </a:endParaRPr>
          </a:p>
        </p:txBody>
      </p:sp>
      <p:sp>
        <p:nvSpPr>
          <p:cNvPr id="4" name="Right Brace 3">
            <a:extLst>
              <a:ext uri="{FF2B5EF4-FFF2-40B4-BE49-F238E27FC236}">
                <a16:creationId xmlns:a16="http://schemas.microsoft.com/office/drawing/2014/main" id="{1C98944B-255E-1790-0B52-FCD6B5B8BADE}"/>
              </a:ext>
            </a:extLst>
          </p:cNvPr>
          <p:cNvSpPr/>
          <p:nvPr/>
        </p:nvSpPr>
        <p:spPr>
          <a:xfrm>
            <a:off x="5410200" y="5029200"/>
            <a:ext cx="914400" cy="9144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5336957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5265D-3242-D793-CC0E-53C0BC2D0F74}"/>
              </a:ext>
            </a:extLst>
          </p:cNvPr>
          <p:cNvSpPr>
            <a:spLocks noGrp="1"/>
          </p:cNvSpPr>
          <p:nvPr>
            <p:ph type="title"/>
          </p:nvPr>
        </p:nvSpPr>
        <p:spPr/>
        <p:txBody>
          <a:bodyPr/>
          <a:lstStyle/>
          <a:p>
            <a:r>
              <a:rPr lang="en-US" dirty="0"/>
              <a:t>Cont.… </a:t>
            </a:r>
          </a:p>
        </p:txBody>
      </p:sp>
      <p:sp>
        <p:nvSpPr>
          <p:cNvPr id="3" name="Content Placeholder 2">
            <a:extLst>
              <a:ext uri="{FF2B5EF4-FFF2-40B4-BE49-F238E27FC236}">
                <a16:creationId xmlns:a16="http://schemas.microsoft.com/office/drawing/2014/main" id="{0F199DE6-42CB-2D4D-7A48-2E7B4FF4F735}"/>
              </a:ext>
            </a:extLst>
          </p:cNvPr>
          <p:cNvSpPr>
            <a:spLocks noGrp="1"/>
          </p:cNvSpPr>
          <p:nvPr>
            <p:ph idx="1"/>
          </p:nvPr>
        </p:nvSpPr>
        <p:spPr/>
        <p:txBody>
          <a:bodyPr>
            <a:normAutofit/>
          </a:bodyPr>
          <a:lstStyle/>
          <a:p>
            <a:pPr lvl="1"/>
            <a:endParaRPr lang="en-US" dirty="0"/>
          </a:p>
          <a:p>
            <a:r>
              <a:rPr lang="en-US" sz="2800" dirty="0">
                <a:cs typeface="Times New Roman" pitchFamily="18" charset="0"/>
              </a:rPr>
              <a:t>Key features</a:t>
            </a:r>
          </a:p>
          <a:p>
            <a:pPr lvl="1"/>
            <a:r>
              <a:rPr lang="en-US" sz="2400" dirty="0">
                <a:cs typeface="Times New Roman" pitchFamily="18" charset="0"/>
              </a:rPr>
              <a:t>Marked nystagmus, </a:t>
            </a:r>
          </a:p>
          <a:p>
            <a:pPr lvl="1"/>
            <a:r>
              <a:rPr lang="en-US" sz="2400" dirty="0">
                <a:cs typeface="Times New Roman" pitchFamily="18" charset="0"/>
              </a:rPr>
              <a:t>Significant analgesia, and</a:t>
            </a:r>
          </a:p>
          <a:p>
            <a:pPr lvl="1"/>
            <a:r>
              <a:rPr lang="en-US" sz="2400" dirty="0">
                <a:cs typeface="Times New Roman" pitchFamily="18" charset="0"/>
              </a:rPr>
              <a:t>Unconsciousness</a:t>
            </a:r>
          </a:p>
          <a:p>
            <a:pPr marL="914400" lvl="2" indent="0">
              <a:buNone/>
            </a:pPr>
            <a:r>
              <a:rPr lang="en-US" sz="2000" dirty="0">
                <a:cs typeface="Times New Roman" pitchFamily="18" charset="0"/>
              </a:rPr>
              <a:t>      </a:t>
            </a:r>
          </a:p>
          <a:p>
            <a:endParaRPr lang="en-US" dirty="0"/>
          </a:p>
        </p:txBody>
      </p:sp>
    </p:spTree>
    <p:extLst>
      <p:ext uri="{BB962C8B-B14F-4D97-AF65-F5344CB8AC3E}">
        <p14:creationId xmlns:p14="http://schemas.microsoft.com/office/powerpoint/2010/main" val="10569247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bg-BG" sz="4800" b="1" dirty="0">
                <a:effectLst>
                  <a:outerShdw blurRad="38100" dist="38100" dir="2700000" algn="tl">
                    <a:srgbClr val="000000">
                      <a:alpha val="43137"/>
                    </a:srgbClr>
                  </a:outerShdw>
                </a:effectLst>
              </a:rPr>
              <a:t>Mechanisms of Actio</a:t>
            </a:r>
            <a:r>
              <a:rPr lang="en-US" sz="4800" b="1" dirty="0">
                <a:effectLst>
                  <a:outerShdw blurRad="38100" dist="38100" dir="2700000" algn="tl">
                    <a:srgbClr val="000000">
                      <a:alpha val="43137"/>
                    </a:srgbClr>
                  </a:outerShdw>
                </a:effectLst>
              </a:rPr>
              <a:t>n</a:t>
            </a:r>
            <a:endParaRPr lang="en-US" sz="4800"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304800" y="1600200"/>
            <a:ext cx="8686800" cy="4525963"/>
          </a:xfrm>
        </p:spPr>
        <p:txBody>
          <a:bodyPr>
            <a:normAutofit/>
          </a:bodyPr>
          <a:lstStyle/>
          <a:p>
            <a:r>
              <a:rPr lang="en-US" sz="2400" dirty="0">
                <a:cs typeface="Times New Roman" pitchFamily="18" charset="0"/>
              </a:rPr>
              <a:t>It </a:t>
            </a:r>
            <a:r>
              <a:rPr lang="bg-BG" sz="2400" dirty="0">
                <a:cs typeface="Times New Roman" pitchFamily="18" charset="0"/>
              </a:rPr>
              <a:t>block</a:t>
            </a:r>
            <a:r>
              <a:rPr lang="en-US" sz="2400" dirty="0">
                <a:cs typeface="Times New Roman" pitchFamily="18" charset="0"/>
              </a:rPr>
              <a:t>s</a:t>
            </a:r>
            <a:r>
              <a:rPr lang="bg-BG" sz="2400" dirty="0">
                <a:cs typeface="Times New Roman" pitchFamily="18" charset="0"/>
              </a:rPr>
              <a:t> polysynaptic reflexes in the spinal cord and inhibiting excitatory neurotransmitter effects in selected areas of the brain. </a:t>
            </a:r>
            <a:endParaRPr lang="en-US" sz="2400" dirty="0">
              <a:cs typeface="Times New Roman" pitchFamily="18" charset="0"/>
            </a:endParaRPr>
          </a:p>
          <a:p>
            <a:r>
              <a:rPr lang="bg-BG" sz="2400" dirty="0">
                <a:cs typeface="Times New Roman" pitchFamily="18" charset="0"/>
              </a:rPr>
              <a:t>In contrast to the depression of the reticular activating system</a:t>
            </a:r>
            <a:r>
              <a:rPr lang="en-US" sz="2400" dirty="0">
                <a:cs typeface="Times New Roman" pitchFamily="18" charset="0"/>
              </a:rPr>
              <a:t> (RAS)</a:t>
            </a:r>
            <a:r>
              <a:rPr lang="bg-BG" sz="2400" dirty="0">
                <a:cs typeface="Times New Roman" pitchFamily="18" charset="0"/>
              </a:rPr>
              <a:t> induced by the barbiturates, </a:t>
            </a:r>
            <a:endParaRPr lang="en-US" sz="2400" dirty="0">
              <a:cs typeface="Times New Roman" pitchFamily="18" charset="0"/>
            </a:endParaRPr>
          </a:p>
          <a:p>
            <a:pPr lvl="1"/>
            <a:r>
              <a:rPr lang="bg-BG" sz="2400" dirty="0">
                <a:cs typeface="Times New Roman" pitchFamily="18" charset="0"/>
              </a:rPr>
              <a:t>ketamine functionally "dissociates" </a:t>
            </a:r>
            <a:r>
              <a:rPr lang="bg-BG" sz="2400" dirty="0">
                <a:solidFill>
                  <a:srgbClr val="FF0000"/>
                </a:solidFill>
                <a:cs typeface="Times New Roman" pitchFamily="18" charset="0"/>
              </a:rPr>
              <a:t>the thalamus</a:t>
            </a:r>
            <a:endParaRPr lang="en-US" sz="2400" dirty="0">
              <a:solidFill>
                <a:srgbClr val="FF0000"/>
              </a:solidFill>
              <a:cs typeface="Times New Roman" pitchFamily="18" charset="0"/>
            </a:endParaRPr>
          </a:p>
          <a:p>
            <a:pPr lvl="2" algn="just"/>
            <a:r>
              <a:rPr lang="bg-BG" sz="2000" dirty="0">
                <a:cs typeface="Times New Roman" pitchFamily="18" charset="0"/>
              </a:rPr>
              <a:t> </a:t>
            </a:r>
            <a:r>
              <a:rPr lang="bg-BG" dirty="0">
                <a:cs typeface="Times New Roman" pitchFamily="18" charset="0"/>
              </a:rPr>
              <a:t>which relays sensory impulses from the </a:t>
            </a:r>
            <a:r>
              <a:rPr lang="en-US" dirty="0">
                <a:cs typeface="Times New Roman" pitchFamily="18" charset="0"/>
              </a:rPr>
              <a:t>RAS</a:t>
            </a:r>
            <a:r>
              <a:rPr lang="bg-BG" dirty="0">
                <a:cs typeface="Times New Roman" pitchFamily="18" charset="0"/>
              </a:rPr>
              <a:t> to the cerebral cortex from the limbic cortex</a:t>
            </a:r>
            <a:r>
              <a:rPr lang="en-US" dirty="0">
                <a:cs typeface="Times New Roman" pitchFamily="18" charset="0"/>
              </a:rPr>
              <a:t>  </a:t>
            </a:r>
            <a:endParaRPr lang="en-US" sz="2000" dirty="0">
              <a:cs typeface="Times New Roman" pitchFamily="18" charset="0"/>
            </a:endParaRPr>
          </a:p>
        </p:txBody>
      </p:sp>
    </p:spTree>
    <p:extLst>
      <p:ext uri="{BB962C8B-B14F-4D97-AF65-F5344CB8AC3E}">
        <p14:creationId xmlns:p14="http://schemas.microsoft.com/office/powerpoint/2010/main" val="11830057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gency FB" pitchFamily="34" charset="0"/>
              </a:rPr>
              <a:t>Cont…</a:t>
            </a:r>
            <a:endParaRPr lang="en-US" dirty="0"/>
          </a:p>
        </p:txBody>
      </p:sp>
      <p:sp>
        <p:nvSpPr>
          <p:cNvPr id="3" name="Content Placeholder 2"/>
          <p:cNvSpPr>
            <a:spLocks noGrp="1"/>
          </p:cNvSpPr>
          <p:nvPr>
            <p:ph idx="1"/>
          </p:nvPr>
        </p:nvSpPr>
        <p:spPr>
          <a:xfrm>
            <a:off x="457200" y="1600200"/>
            <a:ext cx="8458200" cy="4525963"/>
          </a:xfrm>
        </p:spPr>
        <p:txBody>
          <a:bodyPr>
            <a:noAutofit/>
          </a:bodyPr>
          <a:lstStyle/>
          <a:p>
            <a:pPr>
              <a:lnSpc>
                <a:spcPct val="150000"/>
              </a:lnSpc>
            </a:pPr>
            <a:r>
              <a:rPr lang="bg-BG" sz="2400" dirty="0">
                <a:cs typeface="Times New Roman" pitchFamily="18" charset="0"/>
              </a:rPr>
              <a:t>Although some brain neurons are inhibited, others are tonically excited. </a:t>
            </a:r>
            <a:endParaRPr lang="en-US" sz="2400" dirty="0">
              <a:cs typeface="Times New Roman" pitchFamily="18" charset="0"/>
            </a:endParaRPr>
          </a:p>
          <a:p>
            <a:pPr lvl="1">
              <a:lnSpc>
                <a:spcPct val="150000"/>
              </a:lnSpc>
            </a:pPr>
            <a:r>
              <a:rPr lang="bg-BG" sz="2000" dirty="0">
                <a:cs typeface="Times New Roman" pitchFamily="18" charset="0"/>
              </a:rPr>
              <a:t>Clinically, this state of dissociative anesthesia causes the patient to appear conscious</a:t>
            </a:r>
            <a:r>
              <a:rPr lang="en-US" sz="2000" dirty="0">
                <a:cs typeface="Times New Roman" pitchFamily="18" charset="0"/>
              </a:rPr>
              <a:t> </a:t>
            </a:r>
            <a:r>
              <a:rPr lang="bg-BG" sz="2000" dirty="0">
                <a:cs typeface="Times New Roman" pitchFamily="18" charset="0"/>
              </a:rPr>
              <a:t>(e</a:t>
            </a:r>
            <a:r>
              <a:rPr lang="en-US" sz="2000" dirty="0">
                <a:cs typeface="Times New Roman" pitchFamily="18" charset="0"/>
              </a:rPr>
              <a:t>.</a:t>
            </a:r>
            <a:r>
              <a:rPr lang="bg-BG" sz="2000" dirty="0">
                <a:cs typeface="Times New Roman" pitchFamily="18" charset="0"/>
              </a:rPr>
              <a:t>g</a:t>
            </a:r>
            <a:r>
              <a:rPr lang="en-US" sz="2000" dirty="0">
                <a:cs typeface="Times New Roman" pitchFamily="18" charset="0"/>
              </a:rPr>
              <a:t>.</a:t>
            </a:r>
            <a:r>
              <a:rPr lang="bg-BG" sz="2000" dirty="0">
                <a:cs typeface="Times New Roman" pitchFamily="18" charset="0"/>
              </a:rPr>
              <a:t>, eye opening, swallowing, muscle contracture) </a:t>
            </a:r>
            <a:endParaRPr lang="en-US" sz="2000" dirty="0">
              <a:cs typeface="Times New Roman" pitchFamily="18" charset="0"/>
            </a:endParaRPr>
          </a:p>
          <a:p>
            <a:pPr lvl="2">
              <a:lnSpc>
                <a:spcPct val="150000"/>
              </a:lnSpc>
            </a:pPr>
            <a:r>
              <a:rPr lang="bg-BG" dirty="0">
                <a:cs typeface="Times New Roman" pitchFamily="18" charset="0"/>
              </a:rPr>
              <a:t>but unable to process or respond to sensory input. </a:t>
            </a:r>
            <a:endParaRPr lang="en-US" dirty="0">
              <a:cs typeface="Times New Roman" pitchFamily="18" charset="0"/>
            </a:endParaRPr>
          </a:p>
          <a:p>
            <a:pPr>
              <a:lnSpc>
                <a:spcPct val="150000"/>
              </a:lnSpc>
            </a:pPr>
            <a:r>
              <a:rPr lang="en-US" sz="2400" dirty="0">
                <a:cs typeface="Times New Roman" pitchFamily="18" charset="0"/>
              </a:rPr>
              <a:t> </a:t>
            </a:r>
            <a:r>
              <a:rPr lang="bg-BG" sz="2400" dirty="0">
                <a:cs typeface="Times New Roman" pitchFamily="18" charset="0"/>
              </a:rPr>
              <a:t> The existence of specific ketamine receptors and interactions with opioid receptors has been postulated.</a:t>
            </a:r>
          </a:p>
          <a:p>
            <a:endParaRPr lang="en-US" sz="2400" dirty="0">
              <a:cs typeface="Times New Roman" pitchFamily="18" charset="0"/>
            </a:endParaRPr>
          </a:p>
          <a:p>
            <a:endParaRPr lang="en-US" sz="2400" dirty="0">
              <a:cs typeface="Times New Roman" pitchFamily="18" charset="0"/>
            </a:endParaRPr>
          </a:p>
        </p:txBody>
      </p:sp>
    </p:spTree>
    <p:extLst>
      <p:ext uri="{BB962C8B-B14F-4D97-AF65-F5344CB8AC3E}">
        <p14:creationId xmlns:p14="http://schemas.microsoft.com/office/powerpoint/2010/main" val="3736024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2FF35-850A-ABA3-74AA-1F21A1015BEF}"/>
              </a:ext>
            </a:extLst>
          </p:cNvPr>
          <p:cNvSpPr>
            <a:spLocks noGrp="1"/>
          </p:cNvSpPr>
          <p:nvPr>
            <p:ph type="title"/>
          </p:nvPr>
        </p:nvSpPr>
        <p:spPr/>
        <p:txBody>
          <a:bodyPr/>
          <a:lstStyle/>
          <a:p>
            <a:r>
              <a:rPr lang="en-US" dirty="0">
                <a:latin typeface="Agency FB" pitchFamily="34" charset="0"/>
              </a:rPr>
              <a:t>Cont.…</a:t>
            </a:r>
            <a:endParaRPr lang="en-US" dirty="0"/>
          </a:p>
        </p:txBody>
      </p:sp>
      <p:sp>
        <p:nvSpPr>
          <p:cNvPr id="3" name="Content Placeholder 2">
            <a:extLst>
              <a:ext uri="{FF2B5EF4-FFF2-40B4-BE49-F238E27FC236}">
                <a16:creationId xmlns:a16="http://schemas.microsoft.com/office/drawing/2014/main" id="{EDEFD2CC-2F74-35BA-F338-283F0EA43DF1}"/>
              </a:ext>
            </a:extLst>
          </p:cNvPr>
          <p:cNvSpPr>
            <a:spLocks noGrp="1"/>
          </p:cNvSpPr>
          <p:nvPr>
            <p:ph idx="1"/>
          </p:nvPr>
        </p:nvSpPr>
        <p:spPr>
          <a:xfrm>
            <a:off x="457200" y="1417638"/>
            <a:ext cx="8610600" cy="4525963"/>
          </a:xfrm>
        </p:spPr>
        <p:txBody>
          <a:bodyPr>
            <a:normAutofit fontScale="92500" lnSpcReduction="20000"/>
          </a:bodyPr>
          <a:lstStyle/>
          <a:p>
            <a:pPr>
              <a:buFont typeface="Wingdings" panose="05000000000000000000" pitchFamily="2" charset="2"/>
              <a:buChar char="q"/>
            </a:pPr>
            <a:r>
              <a:rPr lang="en-US" sz="3500" dirty="0"/>
              <a:t>Pharmacokinetics of ketamine </a:t>
            </a:r>
          </a:p>
          <a:p>
            <a:r>
              <a:rPr lang="en-US" sz="2800" dirty="0"/>
              <a:t>It is bioavailable by multiple routes of administration</a:t>
            </a:r>
            <a:r>
              <a:rPr lang="en-US" dirty="0"/>
              <a:t>. </a:t>
            </a:r>
          </a:p>
          <a:p>
            <a:pPr lvl="1"/>
            <a:r>
              <a:rPr lang="en-US" sz="2400" dirty="0"/>
              <a:t>IM  administration has a 93% bioavailability, </a:t>
            </a:r>
          </a:p>
          <a:p>
            <a:pPr lvl="1"/>
            <a:r>
              <a:rPr lang="en-US" sz="2400" dirty="0"/>
              <a:t>Transnasal has 25% to 50% bioavailability, </a:t>
            </a:r>
          </a:p>
          <a:p>
            <a:pPr lvl="1"/>
            <a:r>
              <a:rPr lang="en-US" sz="2400" dirty="0"/>
              <a:t>and rectal or oral administration has 16% bioavailability</a:t>
            </a:r>
          </a:p>
          <a:p>
            <a:pPr lvl="1"/>
            <a:r>
              <a:rPr lang="en-US" sz="2400" dirty="0"/>
              <a:t>IV </a:t>
            </a:r>
          </a:p>
          <a:p>
            <a:r>
              <a:rPr lang="en-US" sz="2800" b="1" dirty="0"/>
              <a:t>Absorption</a:t>
            </a:r>
          </a:p>
          <a:p>
            <a:pPr lvl="1"/>
            <a:r>
              <a:rPr lang="en-US" sz="2400" dirty="0"/>
              <a:t>It  has been administered orally, nasally, rectally, subcutaneously, and epidurally, </a:t>
            </a:r>
          </a:p>
          <a:p>
            <a:pPr lvl="2"/>
            <a:r>
              <a:rPr lang="en-US" sz="2000" dirty="0"/>
              <a:t>but in usual clinical practice it is given intravenously or intramuscularly.  </a:t>
            </a:r>
          </a:p>
          <a:p>
            <a:pPr lvl="1"/>
            <a:r>
              <a:rPr lang="en-US" sz="2400" dirty="0"/>
              <a:t>Peak plasma levels are usually achieved within 10–15 min after intramuscular injection.</a:t>
            </a:r>
          </a:p>
        </p:txBody>
      </p:sp>
    </p:spTree>
    <p:extLst>
      <p:ext uri="{BB962C8B-B14F-4D97-AF65-F5344CB8AC3E}">
        <p14:creationId xmlns:p14="http://schemas.microsoft.com/office/powerpoint/2010/main" val="14361151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BF0D6-0D82-A8AC-E43F-619670EE5200}"/>
              </a:ext>
            </a:extLst>
          </p:cNvPr>
          <p:cNvSpPr>
            <a:spLocks noGrp="1"/>
          </p:cNvSpPr>
          <p:nvPr>
            <p:ph type="title"/>
          </p:nvPr>
        </p:nvSpPr>
        <p:spPr/>
        <p:txBody>
          <a:bodyPr/>
          <a:lstStyle/>
          <a:p>
            <a:r>
              <a:rPr lang="en-US" dirty="0">
                <a:latin typeface="Agency FB" pitchFamily="34" charset="0"/>
              </a:rPr>
              <a:t>Cont.…</a:t>
            </a:r>
            <a:endParaRPr lang="en-US" dirty="0"/>
          </a:p>
        </p:txBody>
      </p:sp>
      <p:sp>
        <p:nvSpPr>
          <p:cNvPr id="3" name="Content Placeholder 2">
            <a:extLst>
              <a:ext uri="{FF2B5EF4-FFF2-40B4-BE49-F238E27FC236}">
                <a16:creationId xmlns:a16="http://schemas.microsoft.com/office/drawing/2014/main" id="{32ED6A09-1D40-C748-952A-9DC632D15930}"/>
              </a:ext>
            </a:extLst>
          </p:cNvPr>
          <p:cNvSpPr>
            <a:spLocks noGrp="1"/>
          </p:cNvSpPr>
          <p:nvPr>
            <p:ph idx="1"/>
          </p:nvPr>
        </p:nvSpPr>
        <p:spPr>
          <a:xfrm>
            <a:off x="457200" y="1600200"/>
            <a:ext cx="8382000" cy="4525963"/>
          </a:xfrm>
        </p:spPr>
        <p:txBody>
          <a:bodyPr>
            <a:normAutofit/>
          </a:bodyPr>
          <a:lstStyle/>
          <a:p>
            <a:r>
              <a:rPr lang="en-US" b="1" dirty="0"/>
              <a:t>Distribution</a:t>
            </a:r>
          </a:p>
          <a:p>
            <a:r>
              <a:rPr lang="en-US" sz="2400" dirty="0"/>
              <a:t>It is more lipid soluble and less protein bound than thiopental</a:t>
            </a:r>
          </a:p>
          <a:p>
            <a:pPr lvl="1">
              <a:lnSpc>
                <a:spcPct val="150000"/>
              </a:lnSpc>
            </a:pPr>
            <a:r>
              <a:rPr lang="en-US" sz="2200" dirty="0"/>
              <a:t>These characteristics, along with ketamine-induced increase in CBF and cardiac output, lead to rapid brain uptake and subsequent redistribution (the distribution half-life is 10–15 min).</a:t>
            </a:r>
          </a:p>
          <a:p>
            <a:pPr lvl="1">
              <a:lnSpc>
                <a:spcPct val="150000"/>
              </a:lnSpc>
            </a:pPr>
            <a:r>
              <a:rPr lang="en-US" sz="2400" dirty="0"/>
              <a:t> Awakening is due to redistribution from brain to peripheral compartments.</a:t>
            </a:r>
          </a:p>
          <a:p>
            <a:pPr lvl="1"/>
            <a:endParaRPr lang="en-US" dirty="0"/>
          </a:p>
        </p:txBody>
      </p:sp>
    </p:spTree>
    <p:extLst>
      <p:ext uri="{BB962C8B-B14F-4D97-AF65-F5344CB8AC3E}">
        <p14:creationId xmlns:p14="http://schemas.microsoft.com/office/powerpoint/2010/main" val="40838334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07995-7716-8082-E7C8-9FB8D06C4B31}"/>
              </a:ext>
            </a:extLst>
          </p:cNvPr>
          <p:cNvSpPr>
            <a:spLocks noGrp="1"/>
          </p:cNvSpPr>
          <p:nvPr>
            <p:ph type="title"/>
          </p:nvPr>
        </p:nvSpPr>
        <p:spPr/>
        <p:txBody>
          <a:bodyPr/>
          <a:lstStyle/>
          <a:p>
            <a:r>
              <a:rPr lang="en-US" dirty="0">
                <a:latin typeface="Agency FB" pitchFamily="34" charset="0"/>
              </a:rPr>
              <a:t>Cont.…</a:t>
            </a:r>
            <a:endParaRPr lang="en-US" dirty="0"/>
          </a:p>
        </p:txBody>
      </p:sp>
      <p:sp>
        <p:nvSpPr>
          <p:cNvPr id="3" name="Content Placeholder 2">
            <a:extLst>
              <a:ext uri="{FF2B5EF4-FFF2-40B4-BE49-F238E27FC236}">
                <a16:creationId xmlns:a16="http://schemas.microsoft.com/office/drawing/2014/main" id="{136B8AE1-19B1-392B-98FC-2B5ED21D9556}"/>
              </a:ext>
            </a:extLst>
          </p:cNvPr>
          <p:cNvSpPr>
            <a:spLocks noGrp="1"/>
          </p:cNvSpPr>
          <p:nvPr>
            <p:ph idx="1"/>
          </p:nvPr>
        </p:nvSpPr>
        <p:spPr/>
        <p:txBody>
          <a:bodyPr/>
          <a:lstStyle/>
          <a:p>
            <a:r>
              <a:rPr lang="en-US" sz="2400" dirty="0">
                <a:cs typeface="Times New Roman" pitchFamily="18" charset="0"/>
              </a:rPr>
              <a:t>Very lipophilic and low protein binding (20%) → rapid onset</a:t>
            </a:r>
          </a:p>
          <a:p>
            <a:pPr lvl="1"/>
            <a:r>
              <a:rPr lang="en-US" dirty="0">
                <a:cs typeface="Times New Roman" pitchFamily="18" charset="0"/>
              </a:rPr>
              <a:t>30 sec when given IV</a:t>
            </a:r>
          </a:p>
          <a:p>
            <a:pPr lvl="1"/>
            <a:r>
              <a:rPr lang="en-US" dirty="0">
                <a:cs typeface="Times New Roman" pitchFamily="18" charset="0"/>
              </a:rPr>
              <a:t>3 – 4 min when given IM</a:t>
            </a:r>
          </a:p>
          <a:p>
            <a:pPr>
              <a:lnSpc>
                <a:spcPct val="150000"/>
              </a:lnSpc>
            </a:pPr>
            <a:r>
              <a:rPr lang="en-US" sz="2400" dirty="0">
                <a:cs typeface="Times New Roman" pitchFamily="18" charset="0"/>
              </a:rPr>
              <a:t>Duration: 10 – 15 min. IV, 12 – 25 min. IM</a:t>
            </a:r>
          </a:p>
          <a:p>
            <a:pPr>
              <a:lnSpc>
                <a:spcPct val="150000"/>
              </a:lnSpc>
            </a:pPr>
            <a:r>
              <a:rPr lang="en-US" sz="2400" dirty="0">
                <a:cs typeface="Times New Roman" pitchFamily="18" charset="0"/>
              </a:rPr>
              <a:t>If using as sole anesthetic, it will need to redoes or start drip.</a:t>
            </a:r>
          </a:p>
          <a:p>
            <a:endParaRPr lang="en-US" dirty="0"/>
          </a:p>
        </p:txBody>
      </p:sp>
    </p:spTree>
    <p:extLst>
      <p:ext uri="{BB962C8B-B14F-4D97-AF65-F5344CB8AC3E}">
        <p14:creationId xmlns:p14="http://schemas.microsoft.com/office/powerpoint/2010/main" val="36781735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FB2F2-5906-4885-76A9-9CBC61F942C0}"/>
              </a:ext>
            </a:extLst>
          </p:cNvPr>
          <p:cNvSpPr>
            <a:spLocks noGrp="1"/>
          </p:cNvSpPr>
          <p:nvPr>
            <p:ph type="title"/>
          </p:nvPr>
        </p:nvSpPr>
        <p:spPr/>
        <p:txBody>
          <a:bodyPr/>
          <a:lstStyle/>
          <a:p>
            <a:r>
              <a:rPr lang="en-US" dirty="0">
                <a:latin typeface="Agency FB" pitchFamily="34" charset="0"/>
              </a:rPr>
              <a:t>Cont.…</a:t>
            </a:r>
            <a:endParaRPr lang="en-US" dirty="0"/>
          </a:p>
        </p:txBody>
      </p:sp>
      <p:sp>
        <p:nvSpPr>
          <p:cNvPr id="3" name="Content Placeholder 2">
            <a:extLst>
              <a:ext uri="{FF2B5EF4-FFF2-40B4-BE49-F238E27FC236}">
                <a16:creationId xmlns:a16="http://schemas.microsoft.com/office/drawing/2014/main" id="{0C9513BB-87C2-0339-5C5B-A0A50E6BE192}"/>
              </a:ext>
            </a:extLst>
          </p:cNvPr>
          <p:cNvSpPr>
            <a:spLocks noGrp="1"/>
          </p:cNvSpPr>
          <p:nvPr>
            <p:ph idx="1"/>
          </p:nvPr>
        </p:nvSpPr>
        <p:spPr>
          <a:xfrm>
            <a:off x="457200" y="1600200"/>
            <a:ext cx="8382000" cy="4525963"/>
          </a:xfrm>
        </p:spPr>
        <p:txBody>
          <a:bodyPr>
            <a:normAutofit fontScale="92500" lnSpcReduction="10000"/>
          </a:bodyPr>
          <a:lstStyle/>
          <a:p>
            <a:r>
              <a:rPr lang="en-US" b="1" dirty="0"/>
              <a:t>Biotransformation</a:t>
            </a:r>
          </a:p>
          <a:p>
            <a:r>
              <a:rPr lang="en-US" sz="2400" dirty="0"/>
              <a:t>It is metabolized primarily in the liver by cytochrome P-450 enzymes (CYP 3A4 &gt; CYP 2C9 &gt; CYP 2B6).</a:t>
            </a:r>
          </a:p>
          <a:p>
            <a:r>
              <a:rPr lang="en-US" sz="2400" dirty="0"/>
              <a:t>It is biotransformed in the liver to several metabolites, one of which (</a:t>
            </a:r>
            <a:r>
              <a:rPr lang="en-US" sz="2400" dirty="0" err="1"/>
              <a:t>norketamine</a:t>
            </a:r>
            <a:r>
              <a:rPr lang="en-US" sz="2400" dirty="0"/>
              <a:t>).</a:t>
            </a:r>
          </a:p>
          <a:p>
            <a:pPr lvl="1"/>
            <a:r>
              <a:rPr lang="en-US" sz="2000" dirty="0"/>
              <a:t>The liver extensively metabolizes ketamine by demethylation to its principle metabolite </a:t>
            </a:r>
            <a:r>
              <a:rPr lang="en-US" sz="2000" b="1" dirty="0" err="1"/>
              <a:t>norketamine</a:t>
            </a:r>
            <a:r>
              <a:rPr lang="en-US" sz="2000" dirty="0"/>
              <a:t>. </a:t>
            </a:r>
          </a:p>
          <a:p>
            <a:pPr lvl="1"/>
            <a:r>
              <a:rPr lang="en-US" sz="2000" dirty="0" err="1"/>
              <a:t>Norketamine</a:t>
            </a:r>
            <a:r>
              <a:rPr lang="en-US" sz="2000" dirty="0"/>
              <a:t> is biologically active but only has 20% to 30% the activity of racemic ketamine. </a:t>
            </a:r>
          </a:p>
          <a:p>
            <a:pPr lvl="1"/>
            <a:r>
              <a:rPr lang="en-US" sz="2000" dirty="0" err="1"/>
              <a:t>Norketamine</a:t>
            </a:r>
            <a:r>
              <a:rPr lang="en-US" sz="2000" dirty="0"/>
              <a:t> is eliminated by renal excretion.</a:t>
            </a:r>
          </a:p>
          <a:p>
            <a:r>
              <a:rPr lang="en-US" b="1" dirty="0"/>
              <a:t>Excretion</a:t>
            </a:r>
          </a:p>
          <a:p>
            <a:r>
              <a:rPr lang="en-US" sz="2400" dirty="0"/>
              <a:t>End products of ketamine biotransformation are excreted renally.</a:t>
            </a:r>
          </a:p>
          <a:p>
            <a:pPr lvl="1"/>
            <a:endParaRPr lang="en-US" sz="2000" dirty="0"/>
          </a:p>
        </p:txBody>
      </p:sp>
    </p:spTree>
    <p:extLst>
      <p:ext uri="{BB962C8B-B14F-4D97-AF65-F5344CB8AC3E}">
        <p14:creationId xmlns:p14="http://schemas.microsoft.com/office/powerpoint/2010/main" val="12428453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3" name="Content Placeholder 2"/>
          <p:cNvSpPr>
            <a:spLocks noGrp="1"/>
          </p:cNvSpPr>
          <p:nvPr>
            <p:ph idx="1"/>
          </p:nvPr>
        </p:nvSpPr>
        <p:spPr>
          <a:xfrm>
            <a:off x="457200" y="1600200"/>
            <a:ext cx="8382000" cy="4724400"/>
          </a:xfrm>
        </p:spPr>
        <p:txBody>
          <a:bodyPr>
            <a:normAutofit fontScale="92500" lnSpcReduction="10000"/>
          </a:bodyPr>
          <a:lstStyle/>
          <a:p>
            <a:pPr>
              <a:lnSpc>
                <a:spcPct val="90000"/>
              </a:lnSpc>
              <a:buFont typeface="Wingdings" panose="05000000000000000000" pitchFamily="2" charset="2"/>
              <a:buChar char="q"/>
            </a:pPr>
            <a:r>
              <a:rPr lang="en-US" b="1" dirty="0"/>
              <a:t>Pharmacodynamics </a:t>
            </a:r>
            <a:r>
              <a:rPr lang="en-US" b="1" dirty="0">
                <a:cs typeface="Times New Roman" pitchFamily="18" charset="0"/>
              </a:rPr>
              <a:t>of ketamine </a:t>
            </a:r>
          </a:p>
          <a:p>
            <a:pPr>
              <a:lnSpc>
                <a:spcPct val="90000"/>
              </a:lnSpc>
            </a:pPr>
            <a:r>
              <a:rPr lang="en-US" sz="3600" dirty="0">
                <a:effectLst>
                  <a:outerShdw blurRad="38100" dist="38100" dir="2700000" algn="tl">
                    <a:srgbClr val="000000">
                      <a:alpha val="43137"/>
                    </a:srgbClr>
                  </a:outerShdw>
                </a:effectLst>
                <a:cs typeface="Times New Roman" pitchFamily="18" charset="0"/>
              </a:rPr>
              <a:t>CVS</a:t>
            </a:r>
            <a:endParaRPr lang="en-US" sz="4400" dirty="0">
              <a:effectLst>
                <a:outerShdw blurRad="38100" dist="38100" dir="2700000" algn="tl">
                  <a:srgbClr val="000000">
                    <a:alpha val="43137"/>
                  </a:srgbClr>
                </a:outerShdw>
              </a:effectLst>
              <a:cs typeface="Times New Roman" pitchFamily="18" charset="0"/>
            </a:endParaRPr>
          </a:p>
          <a:p>
            <a:pPr>
              <a:lnSpc>
                <a:spcPct val="90000"/>
              </a:lnSpc>
            </a:pPr>
            <a:r>
              <a:rPr lang="en-US" sz="2400" dirty="0">
                <a:solidFill>
                  <a:schemeClr val="tx2"/>
                </a:solidFill>
                <a:cs typeface="Times New Roman" pitchFamily="18" charset="0"/>
              </a:rPr>
              <a:t>It produces indirect central sympathetic stimulation, </a:t>
            </a:r>
          </a:p>
          <a:p>
            <a:pPr lvl="1">
              <a:lnSpc>
                <a:spcPct val="90000"/>
              </a:lnSpc>
            </a:pPr>
            <a:r>
              <a:rPr lang="en-US" sz="2000" dirty="0">
                <a:cs typeface="Times New Roman" pitchFamily="18" charset="0"/>
              </a:rPr>
              <a:t>Which Indirectly increases BP, HR, and CO due to </a:t>
            </a:r>
          </a:p>
          <a:p>
            <a:pPr lvl="2">
              <a:lnSpc>
                <a:spcPct val="90000"/>
              </a:lnSpc>
            </a:pPr>
            <a:r>
              <a:rPr lang="en-US" sz="2000" dirty="0">
                <a:cs typeface="Times New Roman" pitchFamily="18" charset="0"/>
              </a:rPr>
              <a:t>central stimulation of SNS and inhibition of norepinephrine reuptake</a:t>
            </a:r>
          </a:p>
          <a:p>
            <a:pPr>
              <a:lnSpc>
                <a:spcPct val="90000"/>
              </a:lnSpc>
            </a:pPr>
            <a:r>
              <a:rPr lang="en-US" sz="2400" dirty="0">
                <a:cs typeface="Times New Roman" pitchFamily="18" charset="0"/>
                <a:sym typeface="Symbol"/>
              </a:rPr>
              <a:t>Accompanying these changes are increases</a:t>
            </a:r>
            <a:r>
              <a:rPr lang="en-US" sz="2400" dirty="0">
                <a:cs typeface="Times New Roman" pitchFamily="18" charset="0"/>
              </a:rPr>
              <a:t> in myocardial work and pulmonary artery pressure</a:t>
            </a:r>
          </a:p>
          <a:p>
            <a:pPr lvl="1">
              <a:lnSpc>
                <a:spcPct val="90000"/>
              </a:lnSpc>
            </a:pPr>
            <a:r>
              <a:rPr lang="en-US" sz="2000" dirty="0">
                <a:solidFill>
                  <a:srgbClr val="FF0000"/>
                </a:solidFill>
                <a:cs typeface="Times New Roman" pitchFamily="18" charset="0"/>
              </a:rPr>
              <a:t>Thus, be cautious in patients  with CAD, uncontrolled HTN, CHF, and  arterial aneurysms</a:t>
            </a:r>
          </a:p>
          <a:p>
            <a:pPr>
              <a:lnSpc>
                <a:spcPct val="90000"/>
              </a:lnSpc>
            </a:pPr>
            <a:r>
              <a:rPr lang="en-US" sz="2400" dirty="0">
                <a:cs typeface="Times New Roman" pitchFamily="18" charset="0"/>
              </a:rPr>
              <a:t>Less sympathetic stimulation when given with benzodiazepine</a:t>
            </a:r>
          </a:p>
          <a:p>
            <a:pPr>
              <a:lnSpc>
                <a:spcPct val="90000"/>
              </a:lnSpc>
            </a:pPr>
            <a:r>
              <a:rPr lang="en-US" sz="2400" dirty="0">
                <a:cs typeface="Times New Roman" pitchFamily="18" charset="0"/>
              </a:rPr>
              <a:t>*Good for pts. in acute hypovolemic shock</a:t>
            </a:r>
          </a:p>
          <a:p>
            <a:pPr>
              <a:lnSpc>
                <a:spcPct val="90000"/>
              </a:lnSpc>
            </a:pPr>
            <a:r>
              <a:rPr lang="en-US" sz="2400" dirty="0">
                <a:cs typeface="Times New Roman" pitchFamily="18" charset="0"/>
              </a:rPr>
              <a:t>Direct myocardial depression (large doses)</a:t>
            </a:r>
          </a:p>
          <a:p>
            <a:pPr lvl="1">
              <a:lnSpc>
                <a:spcPct val="90000"/>
              </a:lnSpc>
            </a:pPr>
            <a:r>
              <a:rPr lang="en-US" sz="2000" dirty="0">
                <a:cs typeface="Times New Roman" pitchFamily="18" charset="0"/>
              </a:rPr>
              <a:t>probably due to inhibition of calcium transients</a:t>
            </a:r>
          </a:p>
          <a:p>
            <a:pPr lvl="1">
              <a:lnSpc>
                <a:spcPct val="90000"/>
              </a:lnSpc>
            </a:pPr>
            <a:endParaRPr lang="en-US" sz="2000" dirty="0">
              <a:cs typeface="Times New Roman" pitchFamily="18" charset="0"/>
            </a:endParaRPr>
          </a:p>
          <a:p>
            <a:endParaRPr lang="en-US" sz="2400" dirty="0">
              <a:cs typeface="Times New Roman" pitchFamily="18" charset="0"/>
            </a:endParaRPr>
          </a:p>
        </p:txBody>
      </p:sp>
    </p:spTree>
    <p:extLst>
      <p:ext uri="{BB962C8B-B14F-4D97-AF65-F5344CB8AC3E}">
        <p14:creationId xmlns:p14="http://schemas.microsoft.com/office/powerpoint/2010/main" val="32093491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Cont.….</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sz="2800" b="1" dirty="0">
                <a:cs typeface="Times New Roman" pitchFamily="18" charset="0"/>
              </a:rPr>
              <a:t>Ketamine: Respiratory</a:t>
            </a:r>
          </a:p>
          <a:p>
            <a:r>
              <a:rPr lang="en-US" sz="2400" dirty="0">
                <a:cs typeface="Times New Roman" pitchFamily="18" charset="0"/>
              </a:rPr>
              <a:t>Ventilatory drive is minimally affected by induction doses</a:t>
            </a:r>
          </a:p>
          <a:p>
            <a:r>
              <a:rPr lang="en-US" sz="2800" dirty="0">
                <a:cs typeface="Times New Roman" pitchFamily="18" charset="0"/>
              </a:rPr>
              <a:t>upper airway reflexes remain largely intact</a:t>
            </a:r>
          </a:p>
          <a:p>
            <a:pPr lvl="1"/>
            <a:r>
              <a:rPr lang="en-US" sz="2400" dirty="0">
                <a:cs typeface="Times New Roman" pitchFamily="18" charset="0"/>
              </a:rPr>
              <a:t>but partial airway obstruction may occur</a:t>
            </a:r>
            <a:r>
              <a:rPr lang="en-US" sz="1800" b="0" i="0" u="none" strike="noStrike" baseline="0" dirty="0"/>
              <a:t> </a:t>
            </a:r>
            <a:endParaRPr lang="en-US" sz="2600" dirty="0">
              <a:cs typeface="Times New Roman" pitchFamily="18" charset="0"/>
            </a:endParaRPr>
          </a:p>
          <a:p>
            <a:r>
              <a:rPr lang="en-US" sz="2800" dirty="0">
                <a:cs typeface="Times New Roman" pitchFamily="18" charset="0"/>
              </a:rPr>
              <a:t>Potent bronchodilator</a:t>
            </a:r>
          </a:p>
          <a:p>
            <a:pPr lvl="1"/>
            <a:r>
              <a:rPr lang="en-US" dirty="0">
                <a:cs typeface="Times New Roman" pitchFamily="18" charset="0"/>
              </a:rPr>
              <a:t>Thus, good for asthmatics </a:t>
            </a:r>
          </a:p>
          <a:p>
            <a:r>
              <a:rPr lang="en-US" dirty="0">
                <a:cs typeface="Times New Roman" pitchFamily="18" charset="0"/>
              </a:rPr>
              <a:t>Increased salivation </a:t>
            </a:r>
          </a:p>
          <a:p>
            <a:pPr lvl="1"/>
            <a:r>
              <a:rPr lang="en-US" dirty="0">
                <a:cs typeface="Times New Roman" pitchFamily="18" charset="0"/>
              </a:rPr>
              <a:t>attenuated by premeds with </a:t>
            </a:r>
            <a:r>
              <a:rPr lang="en-US" b="1" dirty="0">
                <a:cs typeface="Times New Roman" pitchFamily="18" charset="0"/>
              </a:rPr>
              <a:t>anticholinergic</a:t>
            </a:r>
            <a:r>
              <a:rPr lang="en-US" dirty="0">
                <a:cs typeface="Times New Roman" pitchFamily="18" charset="0"/>
              </a:rPr>
              <a:t> agent like atropine or glycopyrrolate</a:t>
            </a:r>
          </a:p>
          <a:p>
            <a:endParaRPr lang="en-US" sz="2800" dirty="0">
              <a:cs typeface="Times New Roman" pitchFamily="18" charset="0"/>
            </a:endParaRPr>
          </a:p>
        </p:txBody>
      </p:sp>
    </p:spTree>
    <p:extLst>
      <p:ext uri="{BB962C8B-B14F-4D97-AF65-F5344CB8AC3E}">
        <p14:creationId xmlns:p14="http://schemas.microsoft.com/office/powerpoint/2010/main" val="42837762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endParaRPr lang="en-US" dirty="0">
              <a:effectLst>
                <a:outerShdw blurRad="38100" dist="38100" dir="2700000" algn="tl">
                  <a:srgbClr val="000000">
                    <a:alpha val="43137"/>
                  </a:srgbClr>
                </a:outerShdw>
              </a:effectLst>
              <a:latin typeface="Agency FB" pitchFamily="34" charset="0"/>
            </a:endParaRPr>
          </a:p>
        </p:txBody>
      </p:sp>
      <p:sp>
        <p:nvSpPr>
          <p:cNvPr id="3" name="Content Placeholder 2"/>
          <p:cNvSpPr>
            <a:spLocks noGrp="1"/>
          </p:cNvSpPr>
          <p:nvPr>
            <p:ph idx="1"/>
          </p:nvPr>
        </p:nvSpPr>
        <p:spPr>
          <a:xfrm>
            <a:off x="457200" y="1600200"/>
            <a:ext cx="8458200" cy="4525963"/>
          </a:xfrm>
        </p:spPr>
        <p:txBody>
          <a:bodyPr>
            <a:normAutofit/>
          </a:bodyPr>
          <a:lstStyle/>
          <a:p>
            <a:pPr>
              <a:lnSpc>
                <a:spcPct val="90000"/>
              </a:lnSpc>
            </a:pPr>
            <a:r>
              <a:rPr lang="en-US" sz="2800" b="1" dirty="0"/>
              <a:t>Cerebral</a:t>
            </a:r>
            <a:r>
              <a:rPr lang="en-US" sz="2800" b="1" dirty="0">
                <a:solidFill>
                  <a:schemeClr val="tx2">
                    <a:satMod val="130000"/>
                  </a:schemeClr>
                </a:solidFill>
                <a:effectLst>
                  <a:outerShdw blurRad="38100" dist="38100" dir="2700000" algn="tl">
                    <a:srgbClr val="000000">
                      <a:alpha val="43137"/>
                    </a:srgbClr>
                  </a:outerShdw>
                </a:effectLst>
              </a:rPr>
              <a:t> </a:t>
            </a:r>
          </a:p>
          <a:p>
            <a:pPr>
              <a:lnSpc>
                <a:spcPct val="90000"/>
              </a:lnSpc>
            </a:pPr>
            <a:r>
              <a:rPr lang="en-US" sz="2400" dirty="0">
                <a:cs typeface="Times New Roman" pitchFamily="18" charset="0"/>
              </a:rPr>
              <a:t>Increases CMRO2, CBF and ICP.</a:t>
            </a:r>
            <a:endParaRPr lang="en-US" sz="2400" dirty="0">
              <a:solidFill>
                <a:srgbClr val="FF0000"/>
              </a:solidFill>
              <a:cs typeface="Times New Roman" pitchFamily="18" charset="0"/>
            </a:endParaRPr>
          </a:p>
          <a:p>
            <a:pPr lvl="1">
              <a:lnSpc>
                <a:spcPct val="90000"/>
              </a:lnSpc>
            </a:pPr>
            <a:r>
              <a:rPr lang="en-US" sz="2400" dirty="0">
                <a:solidFill>
                  <a:srgbClr val="FF0000"/>
                </a:solidFill>
                <a:cs typeface="Times New Roman" pitchFamily="18" charset="0"/>
              </a:rPr>
              <a:t>However, can be used in pts. with space-occupying intracranial lesions in combination with BZDs.</a:t>
            </a:r>
          </a:p>
          <a:p>
            <a:pPr>
              <a:lnSpc>
                <a:spcPct val="90000"/>
              </a:lnSpc>
            </a:pPr>
            <a:r>
              <a:rPr lang="en-US" sz="2400" dirty="0">
                <a:cs typeface="Times New Roman" pitchFamily="18" charset="0"/>
              </a:rPr>
              <a:t>Eyelash and corneal reflexes remain intact.</a:t>
            </a:r>
          </a:p>
          <a:p>
            <a:pPr>
              <a:lnSpc>
                <a:spcPct val="90000"/>
              </a:lnSpc>
            </a:pPr>
            <a:r>
              <a:rPr lang="en-US" sz="2400" dirty="0">
                <a:cs typeface="Times New Roman" pitchFamily="18" charset="0"/>
              </a:rPr>
              <a:t>Myoclonic activity associated with subcortical electrical activity</a:t>
            </a:r>
          </a:p>
          <a:p>
            <a:pPr>
              <a:lnSpc>
                <a:spcPct val="90000"/>
              </a:lnSpc>
            </a:pPr>
            <a:r>
              <a:rPr lang="en-US" sz="2400" dirty="0">
                <a:cs typeface="Times New Roman" pitchFamily="18" charset="0"/>
              </a:rPr>
              <a:t>Psychomimetic side effects during emergence and recovery less common </a:t>
            </a:r>
          </a:p>
          <a:p>
            <a:pPr lvl="1">
              <a:lnSpc>
                <a:spcPct val="90000"/>
              </a:lnSpc>
            </a:pPr>
            <a:r>
              <a:rPr lang="en-US" sz="2400" dirty="0">
                <a:cs typeface="Times New Roman" pitchFamily="18" charset="0"/>
              </a:rPr>
              <a:t>in children and in pts. premedicated with benzodiazepine</a:t>
            </a:r>
          </a:p>
          <a:p>
            <a:pPr>
              <a:lnSpc>
                <a:spcPct val="90000"/>
              </a:lnSpc>
            </a:pPr>
            <a:endParaRPr lang="en-US" sz="2400" dirty="0">
              <a:cs typeface="Times New Roman" pitchFamily="18" charset="0"/>
            </a:endParaRPr>
          </a:p>
          <a:p>
            <a:endParaRPr lang="en-US" sz="2400" dirty="0">
              <a:cs typeface="Times New Roman" pitchFamily="18" charset="0"/>
            </a:endParaRPr>
          </a:p>
        </p:txBody>
      </p:sp>
    </p:spTree>
    <p:extLst>
      <p:ext uri="{BB962C8B-B14F-4D97-AF65-F5344CB8AC3E}">
        <p14:creationId xmlns:p14="http://schemas.microsoft.com/office/powerpoint/2010/main" val="36846980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n-lt"/>
              </a:rPr>
              <a:t>Cont…</a:t>
            </a:r>
          </a:p>
        </p:txBody>
      </p:sp>
      <p:sp>
        <p:nvSpPr>
          <p:cNvPr id="3" name="Content Placeholder 2"/>
          <p:cNvSpPr>
            <a:spLocks noGrp="1"/>
          </p:cNvSpPr>
          <p:nvPr>
            <p:ph idx="1"/>
          </p:nvPr>
        </p:nvSpPr>
        <p:spPr/>
        <p:txBody>
          <a:bodyPr>
            <a:normAutofit/>
          </a:bodyPr>
          <a:lstStyle/>
          <a:p>
            <a:pPr>
              <a:lnSpc>
                <a:spcPct val="90000"/>
              </a:lnSpc>
              <a:buFont typeface="Wingdings" pitchFamily="2" charset="2"/>
              <a:buChar char="Ø"/>
            </a:pPr>
            <a:r>
              <a:rPr lang="en-US" sz="2400" dirty="0">
                <a:effectLst>
                  <a:outerShdw blurRad="38100" dist="38100" dir="2700000" algn="tl">
                    <a:srgbClr val="000000">
                      <a:alpha val="43137"/>
                    </a:srgbClr>
                  </a:outerShdw>
                </a:effectLst>
                <a:cs typeface="Times New Roman" pitchFamily="18" charset="0"/>
              </a:rPr>
              <a:t>GI</a:t>
            </a:r>
            <a:r>
              <a:rPr lang="en-US" sz="2400" dirty="0">
                <a:cs typeface="Times New Roman" pitchFamily="18" charset="0"/>
              </a:rPr>
              <a:t> </a:t>
            </a:r>
          </a:p>
          <a:p>
            <a:pPr>
              <a:lnSpc>
                <a:spcPct val="90000"/>
              </a:lnSpc>
            </a:pPr>
            <a:r>
              <a:rPr lang="en-US" sz="2400" dirty="0">
                <a:cs typeface="Times New Roman" pitchFamily="18" charset="0"/>
              </a:rPr>
              <a:t>Increased salivation</a:t>
            </a:r>
            <a:r>
              <a:rPr lang="en-US" sz="2400" dirty="0">
                <a:solidFill>
                  <a:schemeClr val="tx2"/>
                </a:solidFill>
                <a:cs typeface="Times New Roman" pitchFamily="18" charset="0"/>
              </a:rPr>
              <a:t> </a:t>
            </a:r>
          </a:p>
          <a:p>
            <a:pPr>
              <a:lnSpc>
                <a:spcPct val="90000"/>
              </a:lnSpc>
            </a:pPr>
            <a:r>
              <a:rPr lang="en-US" sz="2400" dirty="0">
                <a:solidFill>
                  <a:schemeClr val="tx2"/>
                </a:solidFill>
                <a:cs typeface="Times New Roman" pitchFamily="18" charset="0"/>
              </a:rPr>
              <a:t>Minimal anorexia, nausea &amp; vomiting</a:t>
            </a:r>
            <a:endParaRPr lang="en-US" sz="2400" dirty="0">
              <a:cs typeface="Times New Roman" pitchFamily="18" charset="0"/>
            </a:endParaRPr>
          </a:p>
          <a:p>
            <a:pPr>
              <a:lnSpc>
                <a:spcPct val="90000"/>
              </a:lnSpc>
              <a:buFont typeface="Wingdings" pitchFamily="2" charset="2"/>
              <a:buChar char="Ø"/>
            </a:pPr>
            <a:r>
              <a:rPr lang="en-US" sz="2400" dirty="0">
                <a:effectLst>
                  <a:outerShdw blurRad="38100" dist="38100" dir="2700000" algn="tl">
                    <a:srgbClr val="000000">
                      <a:alpha val="43137"/>
                    </a:srgbClr>
                  </a:outerShdw>
                </a:effectLst>
                <a:cs typeface="Times New Roman" pitchFamily="18" charset="0"/>
              </a:rPr>
              <a:t>Skeletal muscle</a:t>
            </a:r>
            <a:r>
              <a:rPr lang="en-US" sz="2400" dirty="0">
                <a:cs typeface="Times New Roman" pitchFamily="18" charset="0"/>
              </a:rPr>
              <a:t>:</a:t>
            </a:r>
          </a:p>
          <a:p>
            <a:pPr>
              <a:lnSpc>
                <a:spcPct val="90000"/>
              </a:lnSpc>
            </a:pPr>
            <a:r>
              <a:rPr lang="en-US" sz="2400" dirty="0">
                <a:cs typeface="Times New Roman" pitchFamily="18" charset="0"/>
              </a:rPr>
              <a:t> increased tone, spontaneous movements </a:t>
            </a:r>
          </a:p>
          <a:p>
            <a:pPr lvl="1">
              <a:lnSpc>
                <a:spcPct val="90000"/>
              </a:lnSpc>
            </a:pPr>
            <a:r>
              <a:rPr lang="en-US" sz="2400" dirty="0">
                <a:solidFill>
                  <a:schemeClr val="tx2"/>
                </a:solidFill>
                <a:cs typeface="Times New Roman" pitchFamily="18" charset="0"/>
              </a:rPr>
              <a:t>Generalized increase in skeletal muscle tone.</a:t>
            </a:r>
          </a:p>
          <a:p>
            <a:pPr>
              <a:lnSpc>
                <a:spcPct val="90000"/>
              </a:lnSpc>
            </a:pPr>
            <a:r>
              <a:rPr lang="en-US" sz="2400" dirty="0">
                <a:solidFill>
                  <a:schemeClr val="tx2"/>
                </a:solidFill>
                <a:cs typeface="Times New Roman" pitchFamily="18" charset="0"/>
              </a:rPr>
              <a:t> Increases the effects of muscle relaxants</a:t>
            </a:r>
            <a:endParaRPr lang="en-US" sz="2400" dirty="0">
              <a:cs typeface="Times New Roman" pitchFamily="18" charset="0"/>
            </a:endParaRPr>
          </a:p>
        </p:txBody>
      </p:sp>
    </p:spTree>
    <p:extLst>
      <p:ext uri="{BB962C8B-B14F-4D97-AF65-F5344CB8AC3E}">
        <p14:creationId xmlns:p14="http://schemas.microsoft.com/office/powerpoint/2010/main" val="4973984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Cont.…</a:t>
            </a:r>
          </a:p>
        </p:txBody>
      </p:sp>
      <p:sp>
        <p:nvSpPr>
          <p:cNvPr id="3" name="Content Placeholder 2"/>
          <p:cNvSpPr>
            <a:spLocks noGrp="1"/>
          </p:cNvSpPr>
          <p:nvPr>
            <p:ph idx="1"/>
          </p:nvPr>
        </p:nvSpPr>
        <p:spPr/>
        <p:txBody>
          <a:bodyPr>
            <a:normAutofit/>
          </a:bodyPr>
          <a:lstStyle/>
          <a:p>
            <a:pPr>
              <a:buFont typeface="Wingdings" pitchFamily="2" charset="2"/>
              <a:buChar char="Ø"/>
            </a:pPr>
            <a:r>
              <a:rPr lang="en-US" sz="3600" dirty="0"/>
              <a:t>Placenta</a:t>
            </a:r>
          </a:p>
          <a:p>
            <a:pPr>
              <a:lnSpc>
                <a:spcPct val="90000"/>
              </a:lnSpc>
            </a:pPr>
            <a:r>
              <a:rPr lang="en-US" sz="2400" dirty="0">
                <a:cs typeface="Times New Roman" pitchFamily="18" charset="0"/>
              </a:rPr>
              <a:t>Crosses uterus/placenta easily and may increase uterine tone, </a:t>
            </a:r>
          </a:p>
          <a:p>
            <a:pPr>
              <a:lnSpc>
                <a:spcPct val="90000"/>
              </a:lnSpc>
            </a:pPr>
            <a:r>
              <a:rPr lang="en-US" sz="2400" dirty="0">
                <a:cs typeface="Times New Roman" pitchFamily="18" charset="0"/>
              </a:rPr>
              <a:t>Does not depress fetus but uterine tone may cause distress</a:t>
            </a:r>
          </a:p>
          <a:p>
            <a:pPr>
              <a:lnSpc>
                <a:spcPct val="90000"/>
              </a:lnSpc>
              <a:buFont typeface="Wingdings" pitchFamily="2" charset="2"/>
              <a:buChar char="Ø"/>
            </a:pPr>
            <a:r>
              <a:rPr lang="en-US" dirty="0">
                <a:cs typeface="Times New Roman" pitchFamily="18" charset="0"/>
              </a:rPr>
              <a:t>Eyes</a:t>
            </a:r>
            <a:endParaRPr lang="en-US" sz="2400" dirty="0">
              <a:cs typeface="Times New Roman" pitchFamily="18" charset="0"/>
            </a:endParaRPr>
          </a:p>
          <a:p>
            <a:pPr>
              <a:lnSpc>
                <a:spcPct val="90000"/>
              </a:lnSpc>
            </a:pPr>
            <a:r>
              <a:rPr lang="en-US" sz="2400" dirty="0">
                <a:cs typeface="Times New Roman" pitchFamily="18" charset="0"/>
              </a:rPr>
              <a:t> Nystagmus/movements make it unsuitable for eye surgery, </a:t>
            </a:r>
          </a:p>
          <a:p>
            <a:pPr>
              <a:lnSpc>
                <a:spcPct val="90000"/>
              </a:lnSpc>
            </a:pPr>
            <a:r>
              <a:rPr lang="en-US" sz="2400" dirty="0">
                <a:cs typeface="Times New Roman" pitchFamily="18" charset="0"/>
              </a:rPr>
              <a:t>increased IOP so don’t use with pts. with open globe</a:t>
            </a:r>
          </a:p>
          <a:p>
            <a:endParaRPr lang="en-US" sz="2400" dirty="0">
              <a:cs typeface="Times New Roman" pitchFamily="18" charset="0"/>
            </a:endParaRPr>
          </a:p>
          <a:p>
            <a:endParaRPr lang="en-US" sz="2400" dirty="0"/>
          </a:p>
        </p:txBody>
      </p:sp>
    </p:spTree>
    <p:extLst>
      <p:ext uri="{BB962C8B-B14F-4D97-AF65-F5344CB8AC3E}">
        <p14:creationId xmlns:p14="http://schemas.microsoft.com/office/powerpoint/2010/main" val="2667571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Clinical uses</a:t>
            </a:r>
          </a:p>
        </p:txBody>
      </p:sp>
      <p:sp>
        <p:nvSpPr>
          <p:cNvPr id="3" name="Content Placeholder 2"/>
          <p:cNvSpPr>
            <a:spLocks noGrp="1"/>
          </p:cNvSpPr>
          <p:nvPr>
            <p:ph idx="1"/>
          </p:nvPr>
        </p:nvSpPr>
        <p:spPr>
          <a:xfrm>
            <a:off x="457200" y="1600200"/>
            <a:ext cx="8382000" cy="4525963"/>
          </a:xfrm>
        </p:spPr>
        <p:txBody>
          <a:bodyPr>
            <a:normAutofit fontScale="92500" lnSpcReduction="10000"/>
          </a:bodyPr>
          <a:lstStyle/>
          <a:p>
            <a:pPr>
              <a:defRPr/>
            </a:pPr>
            <a:r>
              <a:rPr lang="en-US" sz="2800" b="1" dirty="0">
                <a:cs typeface="Times New Roman" pitchFamily="18" charset="0"/>
              </a:rPr>
              <a:t>Induction of anesthesia</a:t>
            </a:r>
          </a:p>
          <a:p>
            <a:pPr lvl="1"/>
            <a:r>
              <a:rPr lang="en-US" sz="2400" dirty="0"/>
              <a:t>It </a:t>
            </a:r>
            <a:r>
              <a:rPr lang="en-US" sz="2400" b="0" i="0" u="none" strike="noStrike" baseline="0" dirty="0"/>
              <a:t>increases HR and blood pressure.</a:t>
            </a:r>
          </a:p>
          <a:p>
            <a:pPr lvl="2"/>
            <a:r>
              <a:rPr lang="en-US" sz="2000" b="0" i="0" u="none" strike="noStrike" baseline="0" dirty="0"/>
              <a:t> </a:t>
            </a:r>
            <a:r>
              <a:rPr lang="en-US" dirty="0"/>
              <a:t>T</a:t>
            </a:r>
            <a:r>
              <a:rPr lang="en-US" b="0" i="0" u="none" strike="noStrike" baseline="0" dirty="0"/>
              <a:t>herefore,  it is a good choice for anesthetic induction in the hemodynamically unstable patient.</a:t>
            </a:r>
            <a:endParaRPr lang="en-US" sz="2000" dirty="0">
              <a:cs typeface="Times New Roman" pitchFamily="18" charset="0"/>
            </a:endParaRPr>
          </a:p>
          <a:p>
            <a:pPr>
              <a:defRPr/>
            </a:pPr>
            <a:r>
              <a:rPr lang="en-US" sz="2800" b="1" dirty="0">
                <a:cs typeface="Times New Roman" pitchFamily="18" charset="0"/>
              </a:rPr>
              <a:t>Analgesia</a:t>
            </a:r>
          </a:p>
          <a:p>
            <a:pPr lvl="1">
              <a:defRPr/>
            </a:pPr>
            <a:r>
              <a:rPr lang="en-US" sz="2400" dirty="0">
                <a:cs typeface="Times New Roman" pitchFamily="18" charset="0"/>
              </a:rPr>
              <a:t>In the management of acute postoperative pain</a:t>
            </a:r>
          </a:p>
          <a:p>
            <a:pPr lvl="1">
              <a:defRPr/>
            </a:pPr>
            <a:r>
              <a:rPr lang="en-US" sz="2400" b="0" i="0" u="none" strike="noStrike" baseline="0" dirty="0"/>
              <a:t>It is associated with profound analgesia that occurs at subanesthetic levels.</a:t>
            </a:r>
          </a:p>
          <a:p>
            <a:pPr lvl="1">
              <a:defRPr/>
            </a:pPr>
            <a:r>
              <a:rPr lang="en-US" sz="2400" dirty="0">
                <a:cs typeface="Times New Roman" pitchFamily="18" charset="0"/>
              </a:rPr>
              <a:t>Lowers pain scores and decrease opiate requirements in postoperative patients</a:t>
            </a:r>
          </a:p>
          <a:p>
            <a:pPr marL="342900" lvl="2" indent="-342900">
              <a:defRPr/>
            </a:pPr>
            <a:r>
              <a:rPr lang="en-US" sz="2800" b="1" dirty="0">
                <a:cs typeface="Times New Roman" pitchFamily="18" charset="0"/>
              </a:rPr>
              <a:t>Sedation</a:t>
            </a:r>
          </a:p>
          <a:p>
            <a:pPr marL="800100" lvl="3" indent="-342900">
              <a:defRPr/>
            </a:pPr>
            <a:r>
              <a:rPr lang="en-US" sz="2400" dirty="0">
                <a:cs typeface="Times New Roman" pitchFamily="18" charset="0"/>
              </a:rPr>
              <a:t>Provides sedation to burn patients during wound care.</a:t>
            </a:r>
          </a:p>
          <a:p>
            <a:endParaRPr lang="en-US" sz="2400" dirty="0">
              <a:cs typeface="Times New Roman" pitchFamily="18" charset="0"/>
            </a:endParaRPr>
          </a:p>
        </p:txBody>
      </p:sp>
    </p:spTree>
    <p:extLst>
      <p:ext uri="{BB962C8B-B14F-4D97-AF65-F5344CB8AC3E}">
        <p14:creationId xmlns:p14="http://schemas.microsoft.com/office/powerpoint/2010/main" val="7206638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B735A-C811-5F5D-0933-13E17C1DE91D}"/>
              </a:ext>
            </a:extLst>
          </p:cNvPr>
          <p:cNvSpPr>
            <a:spLocks noGrp="1"/>
          </p:cNvSpPr>
          <p:nvPr>
            <p:ph type="title"/>
          </p:nvPr>
        </p:nvSpPr>
        <p:spPr/>
        <p:txBody>
          <a:bodyPr/>
          <a:lstStyle/>
          <a:p>
            <a:r>
              <a:rPr lang="en-US" sz="4400" dirty="0"/>
              <a:t>Cont.…</a:t>
            </a:r>
            <a:endParaRPr lang="en-US" dirty="0"/>
          </a:p>
        </p:txBody>
      </p:sp>
      <p:pic>
        <p:nvPicPr>
          <p:cNvPr id="5" name="Content Placeholder 4">
            <a:extLst>
              <a:ext uri="{FF2B5EF4-FFF2-40B4-BE49-F238E27FC236}">
                <a16:creationId xmlns:a16="http://schemas.microsoft.com/office/drawing/2014/main" id="{21492F04-C21F-0EEB-E469-61329017FC63}"/>
              </a:ext>
            </a:extLst>
          </p:cNvPr>
          <p:cNvPicPr>
            <a:picLocks noGrp="1" noChangeAspect="1"/>
          </p:cNvPicPr>
          <p:nvPr>
            <p:ph idx="1"/>
          </p:nvPr>
        </p:nvPicPr>
        <p:blipFill>
          <a:blip r:embed="rId3"/>
          <a:stretch>
            <a:fillRect/>
          </a:stretch>
        </p:blipFill>
        <p:spPr>
          <a:xfrm>
            <a:off x="609600" y="1417638"/>
            <a:ext cx="7305578" cy="4983162"/>
          </a:xfrm>
        </p:spPr>
      </p:pic>
    </p:spTree>
    <p:extLst>
      <p:ext uri="{BB962C8B-B14F-4D97-AF65-F5344CB8AC3E}">
        <p14:creationId xmlns:p14="http://schemas.microsoft.com/office/powerpoint/2010/main" val="3607641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49903-AD30-85F5-767F-F780173187FE}"/>
              </a:ext>
            </a:extLst>
          </p:cNvPr>
          <p:cNvSpPr>
            <a:spLocks noGrp="1"/>
          </p:cNvSpPr>
          <p:nvPr>
            <p:ph type="title"/>
          </p:nvPr>
        </p:nvSpPr>
        <p:spPr/>
        <p:txBody>
          <a:bodyPr/>
          <a:lstStyle/>
          <a:p>
            <a:r>
              <a:rPr lang="en-US" sz="4400" dirty="0"/>
              <a:t>Cont.…</a:t>
            </a:r>
            <a:endParaRPr lang="en-US" dirty="0"/>
          </a:p>
        </p:txBody>
      </p:sp>
      <p:sp>
        <p:nvSpPr>
          <p:cNvPr id="3" name="Content Placeholder 2">
            <a:extLst>
              <a:ext uri="{FF2B5EF4-FFF2-40B4-BE49-F238E27FC236}">
                <a16:creationId xmlns:a16="http://schemas.microsoft.com/office/drawing/2014/main" id="{8640E2AD-E3F3-30DD-9462-9B9DEB29284B}"/>
              </a:ext>
            </a:extLst>
          </p:cNvPr>
          <p:cNvSpPr>
            <a:spLocks noGrp="1"/>
          </p:cNvSpPr>
          <p:nvPr>
            <p:ph idx="1"/>
          </p:nvPr>
        </p:nvSpPr>
        <p:spPr/>
        <p:txBody>
          <a:bodyPr>
            <a:normAutofit/>
          </a:bodyPr>
          <a:lstStyle/>
          <a:p>
            <a:r>
              <a:rPr lang="en-US" sz="2400" b="1" dirty="0"/>
              <a:t>Chronic Pain management</a:t>
            </a:r>
          </a:p>
          <a:p>
            <a:pPr lvl="1"/>
            <a:r>
              <a:rPr lang="en-US" sz="2000" dirty="0"/>
              <a:t>prevents hyperalgesia due to its NMDA antagonism. </a:t>
            </a:r>
          </a:p>
          <a:p>
            <a:pPr marL="342900" lvl="1" indent="-342900">
              <a:buFont typeface="Arial" pitchFamily="34" charset="0"/>
              <a:buChar char="•"/>
            </a:pPr>
            <a:r>
              <a:rPr lang="en-US" sz="2400" b="1" dirty="0"/>
              <a:t>Depression (as anti-depressant)</a:t>
            </a:r>
          </a:p>
          <a:p>
            <a:pPr lvl="1"/>
            <a:r>
              <a:rPr lang="en-US" sz="2000" dirty="0"/>
              <a:t>  it has a rapid effect on depression with decreased depression symptoms and suicidal ideation within 1 hour of administration. </a:t>
            </a:r>
          </a:p>
        </p:txBody>
      </p:sp>
    </p:spTree>
    <p:extLst>
      <p:ext uri="{BB962C8B-B14F-4D97-AF65-F5344CB8AC3E}">
        <p14:creationId xmlns:p14="http://schemas.microsoft.com/office/powerpoint/2010/main" val="17544774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72BD4-0AE9-5C6E-AA52-5D28B39C5589}"/>
              </a:ext>
            </a:extLst>
          </p:cNvPr>
          <p:cNvSpPr>
            <a:spLocks noGrp="1"/>
          </p:cNvSpPr>
          <p:nvPr>
            <p:ph type="title"/>
          </p:nvPr>
        </p:nvSpPr>
        <p:spPr>
          <a:xfrm>
            <a:off x="457200" y="274638"/>
            <a:ext cx="8229600" cy="792162"/>
          </a:xfrm>
        </p:spPr>
        <p:txBody>
          <a:bodyPr/>
          <a:lstStyle/>
          <a:p>
            <a:r>
              <a:rPr lang="en-US" dirty="0">
                <a:latin typeface="+mn-lt"/>
              </a:rPr>
              <a:t>Cont.…</a:t>
            </a:r>
          </a:p>
        </p:txBody>
      </p:sp>
      <p:graphicFrame>
        <p:nvGraphicFramePr>
          <p:cNvPr id="4" name="Table 4">
            <a:extLst>
              <a:ext uri="{FF2B5EF4-FFF2-40B4-BE49-F238E27FC236}">
                <a16:creationId xmlns:a16="http://schemas.microsoft.com/office/drawing/2014/main" id="{9AC1A1DC-1EF7-10A7-17B0-31A633E6DF7F}"/>
              </a:ext>
            </a:extLst>
          </p:cNvPr>
          <p:cNvGraphicFramePr>
            <a:graphicFrameLocks noGrp="1"/>
          </p:cNvGraphicFramePr>
          <p:nvPr>
            <p:ph idx="1"/>
            <p:extLst>
              <p:ext uri="{D42A27DB-BD31-4B8C-83A1-F6EECF244321}">
                <p14:modId xmlns:p14="http://schemas.microsoft.com/office/powerpoint/2010/main" val="3768335749"/>
              </p:ext>
            </p:extLst>
          </p:nvPr>
        </p:nvGraphicFramePr>
        <p:xfrm>
          <a:off x="491318" y="2057232"/>
          <a:ext cx="8424081" cy="3503680"/>
        </p:xfrm>
        <a:graphic>
          <a:graphicData uri="http://schemas.openxmlformats.org/drawingml/2006/table">
            <a:tbl>
              <a:tblPr firstRow="1" bandRow="1">
                <a:tableStyleId>{2A488322-F2BA-4B5B-9748-0D474271808F}</a:tableStyleId>
              </a:tblPr>
              <a:tblGrid>
                <a:gridCol w="4448890">
                  <a:extLst>
                    <a:ext uri="{9D8B030D-6E8A-4147-A177-3AD203B41FA5}">
                      <a16:colId xmlns:a16="http://schemas.microsoft.com/office/drawing/2014/main" val="124842365"/>
                    </a:ext>
                  </a:extLst>
                </a:gridCol>
                <a:gridCol w="3975191">
                  <a:extLst>
                    <a:ext uri="{9D8B030D-6E8A-4147-A177-3AD203B41FA5}">
                      <a16:colId xmlns:a16="http://schemas.microsoft.com/office/drawing/2014/main" val="2772644395"/>
                    </a:ext>
                  </a:extLst>
                </a:gridCol>
              </a:tblGrid>
              <a:tr h="661008">
                <a:tc>
                  <a:txBody>
                    <a:bodyPr/>
                    <a:lstStyle/>
                    <a:p>
                      <a:pPr marL="0" indent="0">
                        <a:lnSpc>
                          <a:spcPct val="100000"/>
                        </a:lnSpc>
                        <a:buNone/>
                      </a:pPr>
                      <a:r>
                        <a:rPr lang="en-US" sz="2400" dirty="0">
                          <a:latin typeface="+mn-lt"/>
                        </a:rPr>
                        <a:t>Clinical uses</a:t>
                      </a:r>
                    </a:p>
                  </a:txBody>
                  <a:tcPr/>
                </a:tc>
                <a:tc>
                  <a:txBody>
                    <a:bodyPr/>
                    <a:lstStyle/>
                    <a:p>
                      <a:pPr>
                        <a:lnSpc>
                          <a:spcPct val="100000"/>
                        </a:lnSpc>
                      </a:pPr>
                      <a:r>
                        <a:rPr lang="en-US" sz="2400" dirty="0">
                          <a:latin typeface="+mn-lt"/>
                        </a:rPr>
                        <a:t>Dose </a:t>
                      </a:r>
                    </a:p>
                  </a:txBody>
                  <a:tcPr/>
                </a:tc>
                <a:extLst>
                  <a:ext uri="{0D108BD9-81ED-4DB2-BD59-A6C34878D82A}">
                    <a16:rowId xmlns:a16="http://schemas.microsoft.com/office/drawing/2014/main" val="2545776224"/>
                  </a:ext>
                </a:extLst>
              </a:tr>
              <a:tr h="663784">
                <a:tc>
                  <a:txBody>
                    <a:bodyPr/>
                    <a:lstStyle/>
                    <a:p>
                      <a:pPr>
                        <a:lnSpc>
                          <a:spcPct val="100000"/>
                        </a:lnSpc>
                      </a:pPr>
                      <a:r>
                        <a:rPr lang="en-US" sz="2400" dirty="0">
                          <a:latin typeface="+mn-lt"/>
                        </a:rPr>
                        <a:t>Induction of </a:t>
                      </a:r>
                      <a:r>
                        <a:rPr lang="en-US" sz="2400" b="0" u="none" strike="noStrike" kern="1200" baseline="0" dirty="0">
                          <a:solidFill>
                            <a:schemeClr val="tx1"/>
                          </a:solidFill>
                          <a:latin typeface="+mn-lt"/>
                        </a:rPr>
                        <a:t>general anesthesia</a:t>
                      </a:r>
                      <a:r>
                        <a:rPr lang="en-US" sz="2400" dirty="0">
                          <a:latin typeface="+mn-lt"/>
                        </a:rPr>
                        <a:t> </a:t>
                      </a:r>
                    </a:p>
                  </a:txBody>
                  <a:tcPr/>
                </a:tc>
                <a:tc>
                  <a:txBody>
                    <a:bodyPr/>
                    <a:lstStyle/>
                    <a:p>
                      <a:pPr>
                        <a:lnSpc>
                          <a:spcPct val="100000"/>
                        </a:lnSpc>
                      </a:pPr>
                      <a:r>
                        <a:rPr lang="en-US" sz="2400" dirty="0">
                          <a:latin typeface="+mn-lt"/>
                        </a:rPr>
                        <a:t>1-2 mg/kg IV</a:t>
                      </a:r>
                    </a:p>
                    <a:p>
                      <a:pPr>
                        <a:lnSpc>
                          <a:spcPct val="100000"/>
                        </a:lnSpc>
                      </a:pPr>
                      <a:r>
                        <a:rPr lang="en-US" sz="2400" dirty="0">
                          <a:latin typeface="+mn-lt"/>
                        </a:rPr>
                        <a:t>3-6  mg/kg IM</a:t>
                      </a:r>
                    </a:p>
                    <a:p>
                      <a:pPr>
                        <a:lnSpc>
                          <a:spcPct val="100000"/>
                        </a:lnSpc>
                      </a:pPr>
                      <a:endParaRPr lang="en-US" sz="2400" dirty="0">
                        <a:latin typeface="+mn-lt"/>
                      </a:endParaRPr>
                    </a:p>
                  </a:txBody>
                  <a:tcPr/>
                </a:tc>
                <a:extLst>
                  <a:ext uri="{0D108BD9-81ED-4DB2-BD59-A6C34878D82A}">
                    <a16:rowId xmlns:a16="http://schemas.microsoft.com/office/drawing/2014/main" val="708106003"/>
                  </a:ext>
                </a:extLst>
              </a:tr>
              <a:tr h="663784">
                <a:tc>
                  <a:txBody>
                    <a:bodyPr/>
                    <a:lstStyle/>
                    <a:p>
                      <a:pPr>
                        <a:buFont typeface="Wingdings" pitchFamily="2" charset="2"/>
                        <a:buNone/>
                      </a:pPr>
                      <a:r>
                        <a:rPr lang="en-US" sz="2400" dirty="0">
                          <a:latin typeface="+mn-lt"/>
                          <a:cs typeface="Times New Roman" pitchFamily="18" charset="0"/>
                        </a:rPr>
                        <a:t>Sedation		 </a:t>
                      </a:r>
                    </a:p>
                  </a:txBody>
                  <a:tcPr/>
                </a:tc>
                <a:tc>
                  <a:txBody>
                    <a:bodyPr/>
                    <a:lstStyle/>
                    <a:p>
                      <a:pPr>
                        <a:buFont typeface="Wingdings" pitchFamily="2" charset="2"/>
                        <a:buNone/>
                      </a:pPr>
                      <a:r>
                        <a:rPr lang="en-US" sz="2400" dirty="0">
                          <a:latin typeface="+mn-lt"/>
                          <a:cs typeface="Times New Roman" pitchFamily="18" charset="0"/>
                        </a:rPr>
                        <a:t>0.5-1mg/kg IV</a:t>
                      </a:r>
                    </a:p>
                    <a:p>
                      <a:pPr>
                        <a:buFont typeface="Wingdings" pitchFamily="2" charset="2"/>
                        <a:buNone/>
                      </a:pPr>
                      <a:r>
                        <a:rPr lang="en-US" sz="2400" dirty="0">
                          <a:latin typeface="+mn-lt"/>
                          <a:cs typeface="Times New Roman" pitchFamily="18" charset="0"/>
                        </a:rPr>
                        <a:t>2-4 mg/kg IM</a:t>
                      </a:r>
                    </a:p>
                  </a:txBody>
                  <a:tcPr/>
                </a:tc>
                <a:extLst>
                  <a:ext uri="{0D108BD9-81ED-4DB2-BD59-A6C34878D82A}">
                    <a16:rowId xmlns:a16="http://schemas.microsoft.com/office/drawing/2014/main" val="337549404"/>
                  </a:ext>
                </a:extLst>
              </a:tr>
              <a:tr h="830992">
                <a:tc>
                  <a:txBody>
                    <a:bodyPr/>
                    <a:lstStyle/>
                    <a:p>
                      <a:pPr>
                        <a:lnSpc>
                          <a:spcPct val="100000"/>
                        </a:lnSpc>
                      </a:pPr>
                      <a:r>
                        <a:rPr lang="en-US" sz="2400" dirty="0">
                          <a:latin typeface="+mn-lt"/>
                        </a:rPr>
                        <a:t>Sedation infusion</a:t>
                      </a:r>
                    </a:p>
                  </a:txBody>
                  <a:tcPr/>
                </a:tc>
                <a:tc>
                  <a:txBody>
                    <a:bodyPr/>
                    <a:lstStyle/>
                    <a:p>
                      <a:pPr>
                        <a:lnSpc>
                          <a:spcPct val="100000"/>
                        </a:lnSpc>
                      </a:pPr>
                      <a:r>
                        <a:rPr lang="en-US" sz="2400" b="0" i="0" u="none" strike="noStrike" kern="1200" baseline="0" dirty="0">
                          <a:solidFill>
                            <a:schemeClr val="dk1"/>
                          </a:solidFill>
                          <a:latin typeface="+mn-lt"/>
                          <a:ea typeface="+mn-ea"/>
                          <a:cs typeface="+mn-cs"/>
                        </a:rPr>
                        <a:t>2.5–15 mcg/kg/min IV</a:t>
                      </a:r>
                      <a:endParaRPr lang="en-US" sz="2400" dirty="0">
                        <a:latin typeface="+mn-lt"/>
                      </a:endParaRPr>
                    </a:p>
                  </a:txBody>
                  <a:tcPr/>
                </a:tc>
                <a:extLst>
                  <a:ext uri="{0D108BD9-81ED-4DB2-BD59-A6C34878D82A}">
                    <a16:rowId xmlns:a16="http://schemas.microsoft.com/office/drawing/2014/main" val="1884734913"/>
                  </a:ext>
                </a:extLst>
              </a:tr>
            </a:tbl>
          </a:graphicData>
        </a:graphic>
      </p:graphicFrame>
      <p:sp>
        <p:nvSpPr>
          <p:cNvPr id="6" name="TextBox 5">
            <a:extLst>
              <a:ext uri="{FF2B5EF4-FFF2-40B4-BE49-F238E27FC236}">
                <a16:creationId xmlns:a16="http://schemas.microsoft.com/office/drawing/2014/main" id="{C554B606-6C03-EB80-BD83-EE18BDB0F2D3}"/>
              </a:ext>
            </a:extLst>
          </p:cNvPr>
          <p:cNvSpPr txBox="1"/>
          <p:nvPr/>
        </p:nvSpPr>
        <p:spPr>
          <a:xfrm>
            <a:off x="746077" y="1377350"/>
            <a:ext cx="7651845" cy="584775"/>
          </a:xfrm>
          <a:prstGeom prst="rect">
            <a:avLst/>
          </a:prstGeom>
          <a:noFill/>
        </p:spPr>
        <p:txBody>
          <a:bodyPr wrap="square">
            <a:spAutoFit/>
          </a:bodyPr>
          <a:lstStyle/>
          <a:p>
            <a:pPr marL="285750" indent="-285750">
              <a:buFont typeface="Wingdings" panose="05000000000000000000" pitchFamily="2" charset="2"/>
              <a:buChar char="q"/>
            </a:pPr>
            <a:r>
              <a:rPr lang="en-US" sz="3200" b="1" i="0" u="none" strike="noStrike" baseline="0" dirty="0">
                <a:solidFill>
                  <a:srgbClr val="000000"/>
                </a:solidFill>
              </a:rPr>
              <a:t>Uses and Doses of ketamine</a:t>
            </a:r>
            <a:endParaRPr lang="en-US" sz="3200" dirty="0"/>
          </a:p>
        </p:txBody>
      </p:sp>
    </p:spTree>
    <p:extLst>
      <p:ext uri="{BB962C8B-B14F-4D97-AF65-F5344CB8AC3E}">
        <p14:creationId xmlns:p14="http://schemas.microsoft.com/office/powerpoint/2010/main" val="6250495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4BAE5-9FC8-05E7-948C-16D9000A228F}"/>
              </a:ext>
            </a:extLst>
          </p:cNvPr>
          <p:cNvSpPr>
            <a:spLocks noGrp="1"/>
          </p:cNvSpPr>
          <p:nvPr>
            <p:ph type="title"/>
          </p:nvPr>
        </p:nvSpPr>
        <p:spPr/>
        <p:txBody>
          <a:bodyPr/>
          <a:lstStyle/>
          <a:p>
            <a:r>
              <a:rPr lang="en-US" sz="4400" dirty="0"/>
              <a:t>Cont.…</a:t>
            </a:r>
            <a:endParaRPr lang="en-US" dirty="0"/>
          </a:p>
        </p:txBody>
      </p:sp>
      <p:sp>
        <p:nvSpPr>
          <p:cNvPr id="3" name="Content Placeholder 2">
            <a:extLst>
              <a:ext uri="{FF2B5EF4-FFF2-40B4-BE49-F238E27FC236}">
                <a16:creationId xmlns:a16="http://schemas.microsoft.com/office/drawing/2014/main" id="{CAED426F-ACD0-6074-60A5-A150C82FDD58}"/>
              </a:ext>
            </a:extLst>
          </p:cNvPr>
          <p:cNvSpPr>
            <a:spLocks noGrp="1"/>
          </p:cNvSpPr>
          <p:nvPr>
            <p:ph idx="1"/>
          </p:nvPr>
        </p:nvSpPr>
        <p:spPr/>
        <p:txBody>
          <a:bodyPr>
            <a:normAutofit/>
          </a:bodyPr>
          <a:lstStyle/>
          <a:p>
            <a:r>
              <a:rPr lang="en-US" sz="3600" b="1" dirty="0"/>
              <a:t>Adverse (Side) effects</a:t>
            </a:r>
          </a:p>
          <a:p>
            <a:pPr>
              <a:buFont typeface="Wingdings" panose="05000000000000000000" pitchFamily="2" charset="2"/>
              <a:buChar char="ü"/>
            </a:pPr>
            <a:r>
              <a:rPr lang="en-US" b="1" dirty="0"/>
              <a:t>CNS: </a:t>
            </a:r>
          </a:p>
          <a:p>
            <a:r>
              <a:rPr lang="en-US" sz="3600" dirty="0"/>
              <a:t> Psychogenic reactions:</a:t>
            </a:r>
          </a:p>
          <a:p>
            <a:pPr lvl="1"/>
            <a:r>
              <a:rPr lang="en-US" sz="2400" dirty="0"/>
              <a:t>Hallucinations, delirium, night mares and out-of body experiences (frightening) during emergence and recovery.</a:t>
            </a:r>
          </a:p>
          <a:p>
            <a:pPr lvl="2"/>
            <a:r>
              <a:rPr lang="en-US" dirty="0"/>
              <a:t>Remedy: co-administration of benzodiazepines.</a:t>
            </a:r>
          </a:p>
          <a:p>
            <a:pPr lvl="1"/>
            <a:r>
              <a:rPr lang="en-US" sz="3200" dirty="0"/>
              <a:t>lateral gaze nystagmus</a:t>
            </a:r>
          </a:p>
          <a:p>
            <a:pPr lvl="1"/>
            <a:r>
              <a:rPr lang="en-US" sz="3200" dirty="0">
                <a:cs typeface="Times New Roman" pitchFamily="18" charset="0"/>
              </a:rPr>
              <a:t>Increase ICP???</a:t>
            </a:r>
          </a:p>
          <a:p>
            <a:pPr lvl="1"/>
            <a:endParaRPr lang="en-US" sz="3200" dirty="0"/>
          </a:p>
          <a:p>
            <a:endParaRPr lang="en-US" sz="3600" b="1" dirty="0"/>
          </a:p>
        </p:txBody>
      </p:sp>
    </p:spTree>
    <p:extLst>
      <p:ext uri="{BB962C8B-B14F-4D97-AF65-F5344CB8AC3E}">
        <p14:creationId xmlns:p14="http://schemas.microsoft.com/office/powerpoint/2010/main" val="12667230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FF5EC-5B04-B606-DE77-7562F0D65BF9}"/>
              </a:ext>
            </a:extLst>
          </p:cNvPr>
          <p:cNvSpPr>
            <a:spLocks noGrp="1"/>
          </p:cNvSpPr>
          <p:nvPr>
            <p:ph type="title"/>
          </p:nvPr>
        </p:nvSpPr>
        <p:spPr/>
        <p:txBody>
          <a:bodyPr/>
          <a:lstStyle/>
          <a:p>
            <a:r>
              <a:rPr lang="en-US" sz="4400" dirty="0"/>
              <a:t>Cont.…</a:t>
            </a:r>
            <a:endParaRPr lang="en-US" dirty="0"/>
          </a:p>
        </p:txBody>
      </p:sp>
      <p:sp>
        <p:nvSpPr>
          <p:cNvPr id="3" name="Content Placeholder 2">
            <a:extLst>
              <a:ext uri="{FF2B5EF4-FFF2-40B4-BE49-F238E27FC236}">
                <a16:creationId xmlns:a16="http://schemas.microsoft.com/office/drawing/2014/main" id="{720D490E-45D7-8281-2CE5-C95DEECDAC02}"/>
              </a:ext>
            </a:extLst>
          </p:cNvPr>
          <p:cNvSpPr>
            <a:spLocks noGrp="1"/>
          </p:cNvSpPr>
          <p:nvPr>
            <p:ph idx="1"/>
          </p:nvPr>
        </p:nvSpPr>
        <p:spPr/>
        <p:txBody>
          <a:bodyPr>
            <a:normAutofit/>
          </a:bodyPr>
          <a:lstStyle/>
          <a:p>
            <a:pPr>
              <a:buFont typeface="Wingdings" panose="05000000000000000000" pitchFamily="2" charset="2"/>
              <a:buChar char="ü"/>
            </a:pPr>
            <a:r>
              <a:rPr lang="en-US" sz="2400" b="1" dirty="0">
                <a:cs typeface="Times New Roman" pitchFamily="18" charset="0"/>
              </a:rPr>
              <a:t>CVS:</a:t>
            </a:r>
            <a:r>
              <a:rPr lang="en-US" sz="2400" dirty="0">
                <a:cs typeface="Times New Roman" pitchFamily="18" charset="0"/>
              </a:rPr>
              <a:t> Hypertension &amp; tachycardia → </a:t>
            </a:r>
            <a:r>
              <a:rPr lang="en-US" sz="2400" dirty="0">
                <a:solidFill>
                  <a:srgbClr val="000000"/>
                </a:solidFill>
                <a:cs typeface="Times New Roman" pitchFamily="18" charset="0"/>
              </a:rPr>
              <a:t>increase</a:t>
            </a:r>
            <a:r>
              <a:rPr lang="en-US" sz="2400" b="0" i="0" u="none" strike="noStrike" baseline="0" dirty="0">
                <a:solidFill>
                  <a:srgbClr val="000000"/>
                </a:solidFill>
              </a:rPr>
              <a:t> in myocardial oxygen consumption </a:t>
            </a:r>
          </a:p>
          <a:p>
            <a:pPr lvl="1"/>
            <a:r>
              <a:rPr lang="en-US" sz="2000" b="0" i="0" u="none" strike="noStrike" baseline="0" dirty="0">
                <a:solidFill>
                  <a:srgbClr val="000000"/>
                </a:solidFill>
                <a:latin typeface="Photina MT"/>
              </a:rPr>
              <a:t>So, it may be contraindicated as the sole anesthetic in patients with ischemic heart disease. </a:t>
            </a:r>
            <a:endParaRPr lang="en-US" sz="2000" dirty="0">
              <a:cs typeface="Times New Roman" pitchFamily="18" charset="0"/>
            </a:endParaRPr>
          </a:p>
          <a:p>
            <a:r>
              <a:rPr lang="en-US" sz="2400" dirty="0">
                <a:cs typeface="Times New Roman" pitchFamily="18" charset="0"/>
              </a:rPr>
              <a:t>Prolonged recovery</a:t>
            </a:r>
          </a:p>
          <a:p>
            <a:pPr>
              <a:buFont typeface="Wingdings" panose="05000000000000000000" pitchFamily="2" charset="2"/>
              <a:buChar char="ü"/>
            </a:pPr>
            <a:r>
              <a:rPr lang="en-US" sz="2400" dirty="0">
                <a:cs typeface="Times New Roman" pitchFamily="18" charset="0"/>
              </a:rPr>
              <a:t>Respiratory:</a:t>
            </a:r>
          </a:p>
          <a:p>
            <a:pPr lvl="1">
              <a:buFont typeface="Arial" panose="020B0604020202020204" pitchFamily="34" charset="0"/>
              <a:buChar char="•"/>
            </a:pPr>
            <a:r>
              <a:rPr lang="en-US" sz="2400" dirty="0">
                <a:cs typeface="Times New Roman" pitchFamily="18" charset="0"/>
              </a:rPr>
              <a:t>Excessive salivation that may result in laryngospasm</a:t>
            </a:r>
          </a:p>
          <a:p>
            <a:pPr lvl="1"/>
            <a:r>
              <a:rPr lang="en-US" sz="2400" dirty="0">
                <a:cs typeface="Times New Roman" pitchFamily="18" charset="0"/>
              </a:rPr>
              <a:t>Remedy: premedication with an anticholinergic agent such as glycopyrrolate</a:t>
            </a:r>
          </a:p>
          <a:p>
            <a:endParaRPr lang="en-US" sz="2400" dirty="0"/>
          </a:p>
        </p:txBody>
      </p:sp>
    </p:spTree>
    <p:extLst>
      <p:ext uri="{BB962C8B-B14F-4D97-AF65-F5344CB8AC3E}">
        <p14:creationId xmlns:p14="http://schemas.microsoft.com/office/powerpoint/2010/main" val="31161494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Cont.…</a:t>
            </a:r>
            <a:endParaRPr lang="en-US" sz="5400" dirty="0">
              <a:effectLst>
                <a:outerShdw blurRad="38100" dist="38100" dir="2700000" algn="tl">
                  <a:srgbClr val="000000">
                    <a:alpha val="43137"/>
                  </a:srgbClr>
                </a:outerShdw>
              </a:effectLst>
              <a:latin typeface="Agency FB" pitchFamily="34" charset="0"/>
            </a:endParaRPr>
          </a:p>
        </p:txBody>
      </p:sp>
      <p:sp>
        <p:nvSpPr>
          <p:cNvPr id="3" name="Content Placeholder 2"/>
          <p:cNvSpPr>
            <a:spLocks noGrp="1"/>
          </p:cNvSpPr>
          <p:nvPr>
            <p:ph idx="1"/>
          </p:nvPr>
        </p:nvSpPr>
        <p:spPr>
          <a:xfrm>
            <a:off x="457200" y="1219200"/>
            <a:ext cx="8229600" cy="4906963"/>
          </a:xfrm>
        </p:spPr>
        <p:txBody>
          <a:bodyPr>
            <a:normAutofit/>
          </a:bodyPr>
          <a:lstStyle/>
          <a:p>
            <a:pPr>
              <a:lnSpc>
                <a:spcPct val="150000"/>
              </a:lnSpc>
              <a:buFont typeface="Wingdings" pitchFamily="2" charset="2"/>
              <a:buChar char="§"/>
            </a:pPr>
            <a:r>
              <a:rPr lang="en-US" sz="2800" dirty="0">
                <a:solidFill>
                  <a:schemeClr val="tx2"/>
                </a:solidFill>
                <a:latin typeface="Times New Roman" pitchFamily="18" charset="0"/>
                <a:cs typeface="Times New Roman" pitchFamily="18" charset="0"/>
              </a:rPr>
              <a:t> </a:t>
            </a:r>
            <a:r>
              <a:rPr lang="en-US" sz="4300" dirty="0">
                <a:solidFill>
                  <a:srgbClr val="00B050"/>
                </a:solidFill>
                <a:effectLst>
                  <a:outerShdw blurRad="38100" dist="38100" dir="2700000" algn="tl">
                    <a:srgbClr val="000000">
                      <a:alpha val="43137"/>
                    </a:srgbClr>
                  </a:outerShdw>
                </a:effectLst>
                <a:latin typeface="Agency FB" pitchFamily="34" charset="0"/>
                <a:cs typeface="Arial" pitchFamily="34" charset="0"/>
              </a:rPr>
              <a:t>Contraindications </a:t>
            </a:r>
            <a:endParaRPr lang="en-US" sz="4300" dirty="0">
              <a:effectLst>
                <a:outerShdw blurRad="38100" dist="38100" dir="2700000" algn="tl">
                  <a:srgbClr val="000000">
                    <a:alpha val="43137"/>
                  </a:srgbClr>
                </a:outerShdw>
              </a:effectLst>
              <a:latin typeface="Agency FB" pitchFamily="34" charset="0"/>
            </a:endParaRPr>
          </a:p>
          <a:p>
            <a:pPr lvl="1">
              <a:lnSpc>
                <a:spcPct val="150000"/>
              </a:lnSpc>
            </a:pPr>
            <a:r>
              <a:rPr lang="en-US" sz="2400" dirty="0">
                <a:solidFill>
                  <a:schemeClr val="tx2"/>
                </a:solidFill>
                <a:latin typeface="Times New Roman" pitchFamily="18" charset="0"/>
                <a:cs typeface="Times New Roman" pitchFamily="18" charset="0"/>
              </a:rPr>
              <a:t>Lack of knowledge of the drug</a:t>
            </a:r>
          </a:p>
          <a:p>
            <a:pPr lvl="1">
              <a:lnSpc>
                <a:spcPct val="150000"/>
              </a:lnSpc>
            </a:pPr>
            <a:r>
              <a:rPr lang="en-US" sz="2400" dirty="0">
                <a:solidFill>
                  <a:schemeClr val="tx2"/>
                </a:solidFill>
                <a:latin typeface="Times New Roman" pitchFamily="18" charset="0"/>
                <a:cs typeface="Times New Roman" pitchFamily="18" charset="0"/>
              </a:rPr>
              <a:t> Lack of resuscitative equipment</a:t>
            </a:r>
          </a:p>
          <a:p>
            <a:pPr lvl="1">
              <a:lnSpc>
                <a:spcPct val="150000"/>
              </a:lnSpc>
            </a:pPr>
            <a:r>
              <a:rPr lang="en-US" sz="2400" dirty="0">
                <a:solidFill>
                  <a:schemeClr val="tx2"/>
                </a:solidFill>
                <a:latin typeface="Times New Roman" pitchFamily="18" charset="0"/>
                <a:cs typeface="Times New Roman" pitchFamily="18" charset="0"/>
              </a:rPr>
              <a:t>Inability to maintain a patent airways</a:t>
            </a:r>
          </a:p>
          <a:p>
            <a:pPr lvl="1">
              <a:lnSpc>
                <a:spcPct val="150000"/>
              </a:lnSpc>
            </a:pPr>
            <a:r>
              <a:rPr lang="en-US" sz="2400" dirty="0">
                <a:solidFill>
                  <a:schemeClr val="tx2"/>
                </a:solidFill>
                <a:latin typeface="Times New Roman" pitchFamily="18" charset="0"/>
                <a:cs typeface="Times New Roman" pitchFamily="18" charset="0"/>
              </a:rPr>
              <a:t> History of adverse reaction or allergy to ketamine</a:t>
            </a:r>
          </a:p>
          <a:p>
            <a:pPr lvl="1">
              <a:lnSpc>
                <a:spcPct val="150000"/>
              </a:lnSpc>
            </a:pPr>
            <a:r>
              <a:rPr lang="en-US" sz="2400" dirty="0">
                <a:solidFill>
                  <a:schemeClr val="tx2"/>
                </a:solidFill>
                <a:latin typeface="Times New Roman" pitchFamily="18" charset="0"/>
                <a:cs typeface="Times New Roman" pitchFamily="18" charset="0"/>
              </a:rPr>
              <a:t> History of psychosis</a:t>
            </a:r>
          </a:p>
          <a:p>
            <a:pPr lvl="1">
              <a:lnSpc>
                <a:spcPct val="150000"/>
              </a:lnSpc>
            </a:pPr>
            <a:r>
              <a:rPr lang="en-US" sz="2400" dirty="0">
                <a:solidFill>
                  <a:schemeClr val="tx2"/>
                </a:solidFill>
                <a:latin typeface="Times New Roman" pitchFamily="18" charset="0"/>
                <a:cs typeface="Times New Roman" pitchFamily="18" charset="0"/>
              </a:rPr>
              <a:t>Patients for whom hypertension is hazardous</a:t>
            </a:r>
          </a:p>
          <a:p>
            <a:pPr>
              <a:buFont typeface="Wingdings" pitchFamily="2" charset="2"/>
              <a:buChar char="§"/>
            </a:pPr>
            <a:endParaRPr lang="en-US" sz="2800" dirty="0">
              <a:latin typeface="Times New Roman" pitchFamily="18" charset="0"/>
              <a:cs typeface="Times New Roman" pitchFamily="18" charset="0"/>
            </a:endParaRPr>
          </a:p>
          <a:p>
            <a:pPr>
              <a:buFont typeface="Wingdings" pitchFamily="2" charset="2"/>
              <a:buChar char="§"/>
            </a:pP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202371161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D221F-E3C5-B203-2E17-D61E2D573ED2}"/>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8ED84F39-2B07-3365-A0DC-1A636034690E}"/>
              </a:ext>
            </a:extLst>
          </p:cNvPr>
          <p:cNvSpPr>
            <a:spLocks noGrp="1"/>
          </p:cNvSpPr>
          <p:nvPr>
            <p:ph idx="1"/>
          </p:nvPr>
        </p:nvSpPr>
        <p:spPr/>
        <p:txBody>
          <a:bodyPr>
            <a:normAutofit/>
          </a:bodyPr>
          <a:lstStyle/>
          <a:p>
            <a:r>
              <a:rPr lang="en-US" sz="2400" dirty="0">
                <a:solidFill>
                  <a:srgbClr val="000000"/>
                </a:solidFill>
              </a:rPr>
              <a:t>I</a:t>
            </a:r>
            <a:r>
              <a:rPr lang="en-US" sz="2400" b="0" i="0" u="none" strike="noStrike" baseline="0" dirty="0">
                <a:solidFill>
                  <a:srgbClr val="000000"/>
                </a:solidFill>
              </a:rPr>
              <a:t>n patients with ischemic heart disease</a:t>
            </a:r>
          </a:p>
          <a:p>
            <a:pPr lvl="1"/>
            <a:r>
              <a:rPr lang="en-US" sz="2400" b="0" i="0" u="none" strike="noStrike" baseline="0" dirty="0">
                <a:solidFill>
                  <a:srgbClr val="000000"/>
                </a:solidFill>
              </a:rPr>
              <a:t>It may be contraindicated as the sole anesthetic</a:t>
            </a:r>
          </a:p>
          <a:p>
            <a:pPr marL="342900" lvl="1" indent="-342900">
              <a:buFont typeface="Arial" pitchFamily="34" charset="0"/>
              <a:buChar char="•"/>
            </a:pPr>
            <a:r>
              <a:rPr lang="en-US" sz="2400" dirty="0">
                <a:solidFill>
                  <a:srgbClr val="000000"/>
                </a:solidFill>
              </a:rPr>
              <a:t>Psychiatric disease, such as schizophrenia</a:t>
            </a:r>
          </a:p>
          <a:p>
            <a:pPr marL="342900" lvl="1" indent="-342900">
              <a:buFont typeface="Arial" pitchFamily="34" charset="0"/>
              <a:buChar char="•"/>
            </a:pPr>
            <a:r>
              <a:rPr lang="en-US" sz="2400" dirty="0">
                <a:solidFill>
                  <a:srgbClr val="000000"/>
                </a:solidFill>
              </a:rPr>
              <a:t>Vascular aneurysms </a:t>
            </a:r>
          </a:p>
          <a:p>
            <a:pPr marL="342900" lvl="1" indent="-342900"/>
            <a:r>
              <a:rPr lang="en-US" sz="2400" dirty="0">
                <a:solidFill>
                  <a:srgbClr val="000000"/>
                </a:solidFill>
              </a:rPr>
              <a:t>because of the possible sudden change in arterial blood pressure resulting in rupture</a:t>
            </a:r>
          </a:p>
          <a:p>
            <a:pPr marL="342900" lvl="1" indent="-342900">
              <a:buFont typeface="Arial" pitchFamily="34" charset="0"/>
              <a:buChar char="•"/>
            </a:pPr>
            <a:r>
              <a:rPr lang="en-US" sz="2400" dirty="0">
                <a:solidFill>
                  <a:srgbClr val="000000"/>
                </a:solidFill>
              </a:rPr>
              <a:t>open globe injury </a:t>
            </a:r>
          </a:p>
          <a:p>
            <a:pPr marL="400050" lvl="1" indent="-400050"/>
            <a:r>
              <a:rPr lang="en-US" sz="2400" dirty="0">
                <a:solidFill>
                  <a:srgbClr val="000000"/>
                </a:solidFill>
              </a:rPr>
              <a:t>a ketamine induced increase in IOP would be detrimental.</a:t>
            </a:r>
          </a:p>
        </p:txBody>
      </p:sp>
    </p:spTree>
    <p:extLst>
      <p:ext uri="{BB962C8B-B14F-4D97-AF65-F5344CB8AC3E}">
        <p14:creationId xmlns:p14="http://schemas.microsoft.com/office/powerpoint/2010/main" val="16433450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gency FB" pitchFamily="34" charset="0"/>
              </a:rPr>
              <a:t>Cont…</a:t>
            </a:r>
            <a:endParaRPr lang="en-US" dirty="0"/>
          </a:p>
        </p:txBody>
      </p:sp>
      <p:sp>
        <p:nvSpPr>
          <p:cNvPr id="3" name="Content Placeholder 2"/>
          <p:cNvSpPr>
            <a:spLocks noGrp="1"/>
          </p:cNvSpPr>
          <p:nvPr>
            <p:ph idx="1"/>
          </p:nvPr>
        </p:nvSpPr>
        <p:spPr>
          <a:xfrm>
            <a:off x="457200" y="1600200"/>
            <a:ext cx="8534400" cy="4525963"/>
          </a:xfrm>
        </p:spPr>
        <p:txBody>
          <a:bodyPr>
            <a:normAutofit/>
          </a:bodyPr>
          <a:lstStyle/>
          <a:p>
            <a:pPr marL="0" indent="0">
              <a:buNone/>
            </a:pPr>
            <a:r>
              <a:rPr lang="en-US" sz="2400" dirty="0">
                <a:effectLst>
                  <a:outerShdw blurRad="38100" dist="38100" dir="2700000" algn="tl">
                    <a:srgbClr val="000000">
                      <a:alpha val="43137"/>
                    </a:srgbClr>
                  </a:outerShdw>
                </a:effectLst>
                <a:cs typeface="Times New Roman" pitchFamily="18" charset="0"/>
              </a:rPr>
              <a:t>Precautions</a:t>
            </a:r>
          </a:p>
          <a:p>
            <a:r>
              <a:rPr lang="en-US" sz="2400" dirty="0">
                <a:cs typeface="Times New Roman" pitchFamily="18" charset="0"/>
              </a:rPr>
              <a:t>CVS   -  hypertension, IHD or severe cardiac decompensation </a:t>
            </a:r>
          </a:p>
          <a:p>
            <a:r>
              <a:rPr lang="en-US" sz="2400" dirty="0">
                <a:solidFill>
                  <a:srgbClr val="FF0000"/>
                </a:solidFill>
                <a:cs typeface="Times New Roman" pitchFamily="18" charset="0"/>
              </a:rPr>
              <a:t> -  use of ergometrine with Ketamine is potentially hazardous.</a:t>
            </a:r>
          </a:p>
          <a:p>
            <a:r>
              <a:rPr lang="en-US" sz="2400" dirty="0">
                <a:cs typeface="Times New Roman" pitchFamily="18" charset="0"/>
              </a:rPr>
              <a:t> Visceral stimulation -  </a:t>
            </a:r>
          </a:p>
          <a:p>
            <a:pPr lvl="1"/>
            <a:r>
              <a:rPr lang="en-US" sz="2400" dirty="0">
                <a:cs typeface="Times New Roman" pitchFamily="18" charset="0"/>
              </a:rPr>
              <a:t>Ketamine suppresses poorly the response to visceral stimulation</a:t>
            </a:r>
          </a:p>
          <a:p>
            <a:r>
              <a:rPr lang="en-US" sz="2400" dirty="0">
                <a:cs typeface="Times New Roman" pitchFamily="18" charset="0"/>
              </a:rPr>
              <a:t>Supplementation with opioids </a:t>
            </a:r>
          </a:p>
          <a:p>
            <a:endParaRPr lang="en-US" sz="2400" dirty="0">
              <a:cs typeface="Times New Roman" pitchFamily="18" charset="0"/>
            </a:endParaRPr>
          </a:p>
        </p:txBody>
      </p:sp>
    </p:spTree>
    <p:extLst>
      <p:ext uri="{BB962C8B-B14F-4D97-AF65-F5344CB8AC3E}">
        <p14:creationId xmlns:p14="http://schemas.microsoft.com/office/powerpoint/2010/main" val="41053075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chemeClr val="tx2">
                    <a:satMod val="130000"/>
                  </a:schemeClr>
                </a:solidFill>
                <a:effectLst>
                  <a:outerShdw blurRad="38100" dist="38100" dir="2700000" algn="tl">
                    <a:srgbClr val="000000">
                      <a:alpha val="43137"/>
                    </a:srgbClr>
                  </a:outerShdw>
                </a:effectLst>
              </a:rPr>
              <a:t>Recovery after ketamine</a:t>
            </a:r>
            <a:endParaRPr lang="en-US" sz="3600"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sz="2800" dirty="0">
                <a:cs typeface="Times New Roman" pitchFamily="18" charset="0"/>
              </a:rPr>
              <a:t>May be delayed, especially when given with other drugs (e.g. diazepam)</a:t>
            </a:r>
          </a:p>
          <a:p>
            <a:r>
              <a:rPr lang="en-US" sz="2800" dirty="0">
                <a:cs typeface="Times New Roman" pitchFamily="18" charset="0"/>
              </a:rPr>
              <a:t>Early analgesics seldom necessary</a:t>
            </a:r>
          </a:p>
          <a:p>
            <a:r>
              <a:rPr lang="en-US" sz="2800" dirty="0">
                <a:cs typeface="Times New Roman" pitchFamily="18" charset="0"/>
              </a:rPr>
              <a:t>Emergence delirium is common</a:t>
            </a:r>
          </a:p>
          <a:p>
            <a:pPr lvl="1"/>
            <a:r>
              <a:rPr lang="en-US" dirty="0">
                <a:cs typeface="Times New Roman" pitchFamily="18" charset="0"/>
              </a:rPr>
              <a:t>Avoid unnecessary stimulation</a:t>
            </a:r>
          </a:p>
          <a:p>
            <a:pPr lvl="1"/>
            <a:r>
              <a:rPr lang="en-US" dirty="0">
                <a:cs typeface="Times New Roman" pitchFamily="18" charset="0"/>
              </a:rPr>
              <a:t>May need additional diazepam</a:t>
            </a:r>
          </a:p>
          <a:p>
            <a:pPr lvl="1"/>
            <a:r>
              <a:rPr lang="en-US" dirty="0">
                <a:solidFill>
                  <a:srgbClr val="FF0000"/>
                </a:solidFill>
                <a:cs typeface="Times New Roman" pitchFamily="18" charset="0"/>
              </a:rPr>
              <a:t>Tell family that patient may have dreams!</a:t>
            </a:r>
          </a:p>
          <a:p>
            <a:endParaRPr lang="en-US" sz="2800" dirty="0">
              <a:cs typeface="Times New Roman" pitchFamily="18" charset="0"/>
            </a:endParaRPr>
          </a:p>
          <a:p>
            <a:endParaRPr lang="en-US" sz="2800" dirty="0">
              <a:cs typeface="Times New Roman" pitchFamily="18" charset="0"/>
            </a:endParaRPr>
          </a:p>
        </p:txBody>
      </p:sp>
    </p:spTree>
    <p:extLst>
      <p:ext uri="{BB962C8B-B14F-4D97-AF65-F5344CB8AC3E}">
        <p14:creationId xmlns:p14="http://schemas.microsoft.com/office/powerpoint/2010/main" val="415700459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B25E9-46FD-B57D-B072-332467832929}"/>
              </a:ext>
            </a:extLst>
          </p:cNvPr>
          <p:cNvSpPr>
            <a:spLocks noGrp="1"/>
          </p:cNvSpPr>
          <p:nvPr>
            <p:ph type="title"/>
          </p:nvPr>
        </p:nvSpPr>
        <p:spPr/>
        <p:txBody>
          <a:bodyPr/>
          <a:lstStyle/>
          <a:p>
            <a:r>
              <a:rPr lang="en-US" dirty="0"/>
              <a:t>Summary of Ketamine</a:t>
            </a:r>
          </a:p>
        </p:txBody>
      </p:sp>
      <p:graphicFrame>
        <p:nvGraphicFramePr>
          <p:cNvPr id="6" name="Table 6">
            <a:extLst>
              <a:ext uri="{FF2B5EF4-FFF2-40B4-BE49-F238E27FC236}">
                <a16:creationId xmlns:a16="http://schemas.microsoft.com/office/drawing/2014/main" id="{BCFEC192-9BF2-242E-CA5C-4B37DDCE8416}"/>
              </a:ext>
            </a:extLst>
          </p:cNvPr>
          <p:cNvGraphicFramePr>
            <a:graphicFrameLocks noGrp="1"/>
          </p:cNvGraphicFramePr>
          <p:nvPr>
            <p:ph idx="1"/>
            <p:extLst>
              <p:ext uri="{D42A27DB-BD31-4B8C-83A1-F6EECF244321}">
                <p14:modId xmlns:p14="http://schemas.microsoft.com/office/powerpoint/2010/main" val="1615512239"/>
              </p:ext>
            </p:extLst>
          </p:nvPr>
        </p:nvGraphicFramePr>
        <p:xfrm>
          <a:off x="457200" y="1449483"/>
          <a:ext cx="8229600" cy="4940818"/>
        </p:xfrm>
        <a:graphic>
          <a:graphicData uri="http://schemas.openxmlformats.org/drawingml/2006/table">
            <a:tbl>
              <a:tblPr firstRow="1" bandRow="1">
                <a:tableStyleId>{69CF1AB2-1976-4502-BF36-3FF5EA218861}</a:tableStyleId>
              </a:tblPr>
              <a:tblGrid>
                <a:gridCol w="4495800">
                  <a:extLst>
                    <a:ext uri="{9D8B030D-6E8A-4147-A177-3AD203B41FA5}">
                      <a16:colId xmlns:a16="http://schemas.microsoft.com/office/drawing/2014/main" val="997421025"/>
                    </a:ext>
                  </a:extLst>
                </a:gridCol>
                <a:gridCol w="3733800">
                  <a:extLst>
                    <a:ext uri="{9D8B030D-6E8A-4147-A177-3AD203B41FA5}">
                      <a16:colId xmlns:a16="http://schemas.microsoft.com/office/drawing/2014/main" val="132625445"/>
                    </a:ext>
                  </a:extLst>
                </a:gridCol>
              </a:tblGrid>
              <a:tr h="438318">
                <a:tc>
                  <a:txBody>
                    <a:bodyPr/>
                    <a:lstStyle/>
                    <a:p>
                      <a:r>
                        <a:rPr lang="en-US" sz="2400" dirty="0"/>
                        <a:t>Key Pharmacology</a:t>
                      </a:r>
                    </a:p>
                  </a:txBody>
                  <a:tcPr/>
                </a:tc>
                <a:tc>
                  <a:txBody>
                    <a:bodyPr/>
                    <a:lstStyle/>
                    <a:p>
                      <a:r>
                        <a:rPr lang="en-US" sz="2400" dirty="0"/>
                        <a:t>Key Clinical Uses</a:t>
                      </a:r>
                    </a:p>
                  </a:txBody>
                  <a:tcPr/>
                </a:tc>
                <a:extLst>
                  <a:ext uri="{0D108BD9-81ED-4DB2-BD59-A6C34878D82A}">
                    <a16:rowId xmlns:a16="http://schemas.microsoft.com/office/drawing/2014/main" val="3960349652"/>
                  </a:ext>
                </a:extLst>
              </a:tr>
              <a:tr h="672087">
                <a:tc>
                  <a:txBody>
                    <a:bodyPr/>
                    <a:lstStyle/>
                    <a:p>
                      <a:pPr marL="0" indent="0">
                        <a:buFont typeface="Arial" panose="020B0604020202020204" pitchFamily="34" charset="0"/>
                        <a:buNone/>
                      </a:pPr>
                      <a:r>
                        <a:rPr lang="en-US" sz="2000" b="0" u="none" strike="noStrike" kern="1200" baseline="0" dirty="0">
                          <a:solidFill>
                            <a:schemeClr val="dk1"/>
                          </a:solidFill>
                        </a:rPr>
                        <a:t>NMDA receptor antagonist</a:t>
                      </a:r>
                      <a:endParaRPr lang="en-US" sz="2000" dirty="0"/>
                    </a:p>
                  </a:txBody>
                  <a:tcPr/>
                </a:tc>
                <a:tc>
                  <a:txBody>
                    <a:bodyPr/>
                    <a:lstStyle/>
                    <a:p>
                      <a:pPr marL="342900" indent="-342900">
                        <a:buFont typeface="Arial" panose="020B0604020202020204" pitchFamily="34" charset="0"/>
                        <a:buChar char="•"/>
                      </a:pPr>
                      <a:r>
                        <a:rPr lang="en-US" sz="2000" b="0" u="none" strike="noStrike" kern="1200" baseline="0" dirty="0">
                          <a:solidFill>
                            <a:schemeClr val="dk1"/>
                          </a:solidFill>
                        </a:rPr>
                        <a:t>Anesthesia—IV and IM induction</a:t>
                      </a:r>
                      <a:endParaRPr lang="en-US" sz="2000" dirty="0"/>
                    </a:p>
                  </a:txBody>
                  <a:tcPr/>
                </a:tc>
                <a:extLst>
                  <a:ext uri="{0D108BD9-81ED-4DB2-BD59-A6C34878D82A}">
                    <a16:rowId xmlns:a16="http://schemas.microsoft.com/office/drawing/2014/main" val="1298058928"/>
                  </a:ext>
                </a:extLst>
              </a:tr>
              <a:tr h="674988">
                <a:tc>
                  <a:txBody>
                    <a:bodyPr/>
                    <a:lstStyle/>
                    <a:p>
                      <a:pPr marL="0" indent="0">
                        <a:buFont typeface="Arial" panose="020B0604020202020204" pitchFamily="34" charset="0"/>
                        <a:buNone/>
                      </a:pPr>
                      <a:r>
                        <a:rPr lang="en-US" sz="2000" b="0" u="none" strike="noStrike" kern="1200" baseline="0" dirty="0">
                          <a:solidFill>
                            <a:schemeClr val="dk1"/>
                          </a:solidFill>
                        </a:rPr>
                        <a:t>Cardiovascular stability; increases heart rate and blood pressure</a:t>
                      </a:r>
                      <a:endParaRPr lang="en-US" sz="2000" b="0" i="0" u="none" strike="noStrike" kern="1200" baseline="0" dirty="0">
                        <a:solidFill>
                          <a:schemeClr val="dk1"/>
                        </a:solidFill>
                        <a:latin typeface="+mn-lt"/>
                        <a:ea typeface="+mn-ea"/>
                        <a:cs typeface="+mn-cs"/>
                      </a:endParaRPr>
                    </a:p>
                  </a:txBody>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0" u="none" strike="noStrike" kern="1200" baseline="0" dirty="0">
                          <a:solidFill>
                            <a:schemeClr val="dk1"/>
                          </a:solidFill>
                        </a:rPr>
                        <a:t>Analgesia</a:t>
                      </a:r>
                      <a:endParaRPr lang="en-US" sz="2000" dirty="0"/>
                    </a:p>
                    <a:p>
                      <a:pPr marL="342900" indent="-342900">
                        <a:buFont typeface="Arial" panose="020B0604020202020204" pitchFamily="34" charset="0"/>
                        <a:buChar char="•"/>
                      </a:pPr>
                      <a:endParaRPr lang="en-US" sz="2000" dirty="0"/>
                    </a:p>
                  </a:txBody>
                  <a:tcPr/>
                </a:tc>
                <a:extLst>
                  <a:ext uri="{0D108BD9-81ED-4DB2-BD59-A6C34878D82A}">
                    <a16:rowId xmlns:a16="http://schemas.microsoft.com/office/drawing/2014/main" val="377287104"/>
                  </a:ext>
                </a:extLst>
              </a:tr>
              <a:tr h="406197">
                <a:tc>
                  <a:txBody>
                    <a:bodyPr/>
                    <a:lstStyle/>
                    <a:p>
                      <a:pPr marL="0" indent="0">
                        <a:buFont typeface="Arial" panose="020B0604020202020204" pitchFamily="34" charset="0"/>
                        <a:buNone/>
                      </a:pPr>
                      <a:r>
                        <a:rPr lang="en-US" sz="2000" b="0" u="none" strike="noStrike" kern="1200" baseline="0" dirty="0">
                          <a:solidFill>
                            <a:schemeClr val="dk1"/>
                          </a:solidFill>
                        </a:rPr>
                        <a:t>Mild respiratory depression</a:t>
                      </a:r>
                    </a:p>
                  </a:txBody>
                  <a:tcPr/>
                </a:tc>
                <a:tc>
                  <a:txBody>
                    <a:bodyPr/>
                    <a:lstStyle/>
                    <a:p>
                      <a:pPr marL="342900" indent="-342900">
                        <a:buFont typeface="Arial" panose="020B0604020202020204" pitchFamily="34" charset="0"/>
                        <a:buChar char="•"/>
                      </a:pPr>
                      <a:r>
                        <a:rPr lang="en-US" sz="2000" b="0" u="none" strike="noStrike" kern="1200" baseline="0" dirty="0">
                          <a:solidFill>
                            <a:schemeClr val="dk1"/>
                          </a:solidFill>
                        </a:rPr>
                        <a:t>Chronic pain</a:t>
                      </a:r>
                      <a:endParaRPr lang="en-US" sz="2000" dirty="0"/>
                    </a:p>
                  </a:txBody>
                  <a:tcPr/>
                </a:tc>
                <a:extLst>
                  <a:ext uri="{0D108BD9-81ED-4DB2-BD59-A6C34878D82A}">
                    <a16:rowId xmlns:a16="http://schemas.microsoft.com/office/drawing/2014/main" val="1004297451"/>
                  </a:ext>
                </a:extLst>
              </a:tr>
              <a:tr h="968461">
                <a:tc>
                  <a:txBody>
                    <a:bodyPr/>
                    <a:lstStyle/>
                    <a:p>
                      <a:pPr marL="0" indent="0">
                        <a:buFont typeface="Arial" panose="020B0604020202020204" pitchFamily="34" charset="0"/>
                        <a:buNone/>
                      </a:pPr>
                      <a:r>
                        <a:rPr lang="en-US" sz="2000" b="0" u="none" strike="noStrike" kern="1200" baseline="0" dirty="0">
                          <a:solidFill>
                            <a:schemeClr val="dk1"/>
                          </a:solidFill>
                        </a:rPr>
                        <a:t>Side effects: Emergence delirium,</a:t>
                      </a:r>
                    </a:p>
                    <a:p>
                      <a:pPr marL="0" indent="0">
                        <a:buFont typeface="Arial" panose="020B0604020202020204" pitchFamily="34" charset="0"/>
                        <a:buNone/>
                      </a:pPr>
                      <a:r>
                        <a:rPr lang="en-US" sz="2000" b="0" u="none" strike="noStrike" kern="1200" baseline="0" dirty="0">
                          <a:solidFill>
                            <a:schemeClr val="dk1"/>
                          </a:solidFill>
                        </a:rPr>
                        <a:t>hallucinations, nystagmus, increased salivation</a:t>
                      </a:r>
                      <a:endParaRPr lang="en-US" sz="2000" b="0" i="0" u="none" strike="noStrike" kern="1200" baseline="0" dirty="0">
                        <a:solidFill>
                          <a:schemeClr val="dk1"/>
                        </a:solidFill>
                        <a:latin typeface="+mn-lt"/>
                        <a:ea typeface="+mn-ea"/>
                        <a:cs typeface="+mn-cs"/>
                      </a:endParaRPr>
                    </a:p>
                  </a:txBody>
                  <a:tcPr/>
                </a:tc>
                <a:tc>
                  <a:txBody>
                    <a:bodyPr/>
                    <a:lstStyle/>
                    <a:p>
                      <a:pPr marL="342900" indent="-342900">
                        <a:buFont typeface="Arial" panose="020B0604020202020204" pitchFamily="34" charset="0"/>
                        <a:buChar char="•"/>
                      </a:pPr>
                      <a:r>
                        <a:rPr lang="en-US" sz="2000" b="0" u="none" strike="noStrike" kern="1200" baseline="0" dirty="0">
                          <a:solidFill>
                            <a:schemeClr val="dk1"/>
                          </a:solidFill>
                        </a:rPr>
                        <a:t> Depression </a:t>
                      </a:r>
                      <a:endParaRPr lang="en-US" sz="2000" dirty="0"/>
                    </a:p>
                  </a:txBody>
                  <a:tcPr/>
                </a:tc>
                <a:extLst>
                  <a:ext uri="{0D108BD9-81ED-4DB2-BD59-A6C34878D82A}">
                    <a16:rowId xmlns:a16="http://schemas.microsoft.com/office/drawing/2014/main" val="874516123"/>
                  </a:ext>
                </a:extLst>
              </a:tr>
              <a:tr h="672087">
                <a:tc>
                  <a:txBody>
                    <a:bodyPr/>
                    <a:lstStyle/>
                    <a:p>
                      <a:pPr marL="0" indent="0">
                        <a:buFont typeface="Arial" panose="020B0604020202020204" pitchFamily="34" charset="0"/>
                        <a:buNone/>
                      </a:pPr>
                      <a:r>
                        <a:rPr lang="en-US" sz="2000" b="0" u="none" strike="noStrike" kern="1200" baseline="0" dirty="0">
                          <a:solidFill>
                            <a:schemeClr val="dk1"/>
                          </a:solidFill>
                        </a:rPr>
                        <a:t>Trance-like cataleptic unconscious state (“dissociative anesthesia”)</a:t>
                      </a:r>
                      <a:endParaRPr lang="en-US" sz="2000" b="0" i="0" u="none" strike="noStrike" kern="1200" baseline="0" dirty="0">
                        <a:solidFill>
                          <a:schemeClr val="dk1"/>
                        </a:solidFill>
                        <a:latin typeface="+mn-lt"/>
                        <a:ea typeface="+mn-ea"/>
                        <a:cs typeface="+mn-cs"/>
                      </a:endParaRPr>
                    </a:p>
                  </a:txBody>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0" u="none" strike="noStrike" kern="1200" baseline="0" dirty="0">
                          <a:solidFill>
                            <a:schemeClr val="dk1"/>
                          </a:solidFill>
                        </a:rPr>
                        <a:t>Bronchodilator</a:t>
                      </a:r>
                      <a:endParaRPr lang="en-US" sz="2000" dirty="0"/>
                    </a:p>
                    <a:p>
                      <a:pPr marL="342900" indent="-342900">
                        <a:buFont typeface="Arial" panose="020B0604020202020204" pitchFamily="34" charset="0"/>
                        <a:buChar char="•"/>
                      </a:pPr>
                      <a:endParaRPr lang="en-US" sz="2000" dirty="0"/>
                    </a:p>
                  </a:txBody>
                  <a:tcPr/>
                </a:tc>
                <a:extLst>
                  <a:ext uri="{0D108BD9-81ED-4DB2-BD59-A6C34878D82A}">
                    <a16:rowId xmlns:a16="http://schemas.microsoft.com/office/drawing/2014/main" val="3230588863"/>
                  </a:ext>
                </a:extLst>
              </a:tr>
              <a:tr h="968461">
                <a:tc>
                  <a:txBody>
                    <a:bodyPr/>
                    <a:lstStyle/>
                    <a:p>
                      <a:endParaRPr lang="en-US" sz="2000" dirty="0"/>
                    </a:p>
                  </a:txBody>
                  <a:tcPr/>
                </a:tc>
                <a:tc>
                  <a:txBody>
                    <a:bodyPr/>
                    <a:lstStyle/>
                    <a:p>
                      <a:pPr marL="342900" indent="-342900">
                        <a:buFont typeface="Arial" panose="020B0604020202020204" pitchFamily="34" charset="0"/>
                        <a:buChar char="•"/>
                      </a:pPr>
                      <a:r>
                        <a:rPr lang="en-US" sz="2000" b="0" u="none" strike="noStrike" kern="1200" baseline="0" dirty="0">
                          <a:solidFill>
                            <a:schemeClr val="dk1"/>
                          </a:solidFill>
                        </a:rPr>
                        <a:t>Procedural sedation, especially in pediatric and burn patients</a:t>
                      </a:r>
                      <a:endParaRPr lang="en-US" sz="2000" dirty="0"/>
                    </a:p>
                  </a:txBody>
                  <a:tcPr/>
                </a:tc>
                <a:extLst>
                  <a:ext uri="{0D108BD9-81ED-4DB2-BD59-A6C34878D82A}">
                    <a16:rowId xmlns:a16="http://schemas.microsoft.com/office/drawing/2014/main" val="2863702744"/>
                  </a:ext>
                </a:extLst>
              </a:tr>
            </a:tbl>
          </a:graphicData>
        </a:graphic>
      </p:graphicFrame>
    </p:spTree>
    <p:extLst>
      <p:ext uri="{BB962C8B-B14F-4D97-AF65-F5344CB8AC3E}">
        <p14:creationId xmlns:p14="http://schemas.microsoft.com/office/powerpoint/2010/main" val="22392536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3347"/>
            <a:ext cx="8229600" cy="1456853"/>
          </a:xfrm>
        </p:spPr>
        <p:txBody>
          <a:bodyPr>
            <a:normAutofit/>
          </a:bodyPr>
          <a:lstStyle/>
          <a:p>
            <a:r>
              <a:rPr lang="en-US" sz="6600" dirty="0">
                <a:solidFill>
                  <a:srgbClr val="0070C0"/>
                </a:solidFill>
                <a:effectLst>
                  <a:outerShdw blurRad="38100" dist="38100" dir="2700000" algn="tl">
                    <a:srgbClr val="000000">
                      <a:alpha val="43137"/>
                    </a:srgbClr>
                  </a:outerShdw>
                </a:effectLst>
                <a:latin typeface="+mn-lt"/>
              </a:rPr>
              <a:t>Barbiturates</a:t>
            </a:r>
          </a:p>
        </p:txBody>
      </p:sp>
      <p:pic>
        <p:nvPicPr>
          <p:cNvPr id="4" name="Picture 3">
            <a:extLst>
              <a:ext uri="{FF2B5EF4-FFF2-40B4-BE49-F238E27FC236}">
                <a16:creationId xmlns:a16="http://schemas.microsoft.com/office/drawing/2014/main" id="{7327F32D-6BAF-1B59-659E-9E430FA247C0}"/>
              </a:ext>
            </a:extLst>
          </p:cNvPr>
          <p:cNvPicPr>
            <a:picLocks noChangeAspect="1"/>
          </p:cNvPicPr>
          <p:nvPr/>
        </p:nvPicPr>
        <p:blipFill>
          <a:blip r:embed="rId2"/>
          <a:stretch>
            <a:fillRect/>
          </a:stretch>
        </p:blipFill>
        <p:spPr>
          <a:xfrm>
            <a:off x="609600" y="2133600"/>
            <a:ext cx="7315200" cy="1752600"/>
          </a:xfrm>
          <a:prstGeom prst="rect">
            <a:avLst/>
          </a:prstGeom>
        </p:spPr>
      </p:pic>
      <p:sp>
        <p:nvSpPr>
          <p:cNvPr id="6" name="TextBox 5">
            <a:extLst>
              <a:ext uri="{FF2B5EF4-FFF2-40B4-BE49-F238E27FC236}">
                <a16:creationId xmlns:a16="http://schemas.microsoft.com/office/drawing/2014/main" id="{1985AC91-D60C-F4C9-B529-A25A507CADB6}"/>
              </a:ext>
            </a:extLst>
          </p:cNvPr>
          <p:cNvSpPr txBox="1"/>
          <p:nvPr/>
        </p:nvSpPr>
        <p:spPr>
          <a:xfrm>
            <a:off x="1066800" y="4114800"/>
            <a:ext cx="7010400" cy="1569660"/>
          </a:xfrm>
          <a:prstGeom prst="rect">
            <a:avLst/>
          </a:prstGeom>
          <a:noFill/>
        </p:spPr>
        <p:txBody>
          <a:bodyPr wrap="square">
            <a:spAutoFit/>
          </a:bodyPr>
          <a:lstStyle/>
          <a:p>
            <a:pPr marL="285750" indent="-285750" algn="l">
              <a:buFont typeface="Arial" panose="020B0604020202020204" pitchFamily="34" charset="0"/>
              <a:buChar char="•"/>
            </a:pPr>
            <a:r>
              <a:rPr lang="en-US" sz="2400" dirty="0"/>
              <a:t>Commonly </a:t>
            </a:r>
            <a:r>
              <a:rPr lang="en-US" sz="2400" b="0" i="0" u="none" strike="noStrike" baseline="0" dirty="0"/>
              <a:t>used in clinical practice are:</a:t>
            </a:r>
            <a:endParaRPr lang="en-US" sz="2400" dirty="0"/>
          </a:p>
          <a:p>
            <a:pPr marL="742950" lvl="1" indent="-285750">
              <a:buFont typeface="Wingdings" panose="05000000000000000000" pitchFamily="2" charset="2"/>
              <a:buChar char="ü"/>
            </a:pPr>
            <a:r>
              <a:rPr lang="en-US" sz="2400" b="0" i="0" u="none" strike="noStrike" baseline="0" dirty="0"/>
              <a:t>thiopental (2.5%) </a:t>
            </a:r>
            <a:endParaRPr lang="en-US" sz="2400" dirty="0"/>
          </a:p>
          <a:p>
            <a:pPr marL="742950" lvl="1" indent="-285750">
              <a:buFont typeface="Wingdings" panose="05000000000000000000" pitchFamily="2" charset="2"/>
              <a:buChar char="ü"/>
            </a:pPr>
            <a:r>
              <a:rPr lang="en-US" sz="2400" b="0" i="0" u="none" strike="noStrike" baseline="0" dirty="0"/>
              <a:t>thiamylal (2%), and </a:t>
            </a:r>
          </a:p>
          <a:p>
            <a:pPr marL="742950" lvl="1" indent="-285750">
              <a:buFont typeface="Wingdings" panose="05000000000000000000" pitchFamily="2" charset="2"/>
              <a:buChar char="ü"/>
            </a:pPr>
            <a:r>
              <a:rPr lang="en-US" sz="2400" b="0" i="0" u="none" strike="noStrike" baseline="0" dirty="0"/>
              <a:t>the oxybarbiturate methohexital (1%).</a:t>
            </a:r>
            <a:endParaRPr lang="en-US" sz="2400" dirty="0"/>
          </a:p>
        </p:txBody>
      </p:sp>
    </p:spTree>
    <p:extLst>
      <p:ext uri="{BB962C8B-B14F-4D97-AF65-F5344CB8AC3E}">
        <p14:creationId xmlns:p14="http://schemas.microsoft.com/office/powerpoint/2010/main" val="942474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effectLst>
                  <a:outerShdw blurRad="38100" dist="38100" dir="2700000" algn="tl">
                    <a:srgbClr val="000000">
                      <a:alpha val="43137"/>
                    </a:srgbClr>
                  </a:outerShdw>
                </a:effectLst>
              </a:rPr>
              <a:t>Introduction</a:t>
            </a:r>
            <a:endParaRPr lang="en-US" dirty="0"/>
          </a:p>
        </p:txBody>
      </p:sp>
      <p:sp>
        <p:nvSpPr>
          <p:cNvPr id="3" name="Content Placeholder 2"/>
          <p:cNvSpPr>
            <a:spLocks noGrp="1"/>
          </p:cNvSpPr>
          <p:nvPr>
            <p:ph idx="1"/>
          </p:nvPr>
        </p:nvSpPr>
        <p:spPr>
          <a:xfrm>
            <a:off x="457200" y="1600200"/>
            <a:ext cx="8458200" cy="4525963"/>
          </a:xfrm>
        </p:spPr>
        <p:txBody>
          <a:bodyPr>
            <a:normAutofit/>
          </a:bodyPr>
          <a:lstStyle/>
          <a:p>
            <a:r>
              <a:rPr lang="en-US" sz="2400" dirty="0">
                <a:cs typeface="Times New Roman" pitchFamily="18" charset="0"/>
              </a:rPr>
              <a:t>Discovered in the early 20</a:t>
            </a:r>
            <a:r>
              <a:rPr lang="en-US" sz="2400" baseline="30000" dirty="0">
                <a:cs typeface="Times New Roman" pitchFamily="18" charset="0"/>
              </a:rPr>
              <a:t>th</a:t>
            </a:r>
            <a:r>
              <a:rPr lang="en-US" sz="2400" dirty="0">
                <a:cs typeface="Times New Roman" pitchFamily="18" charset="0"/>
              </a:rPr>
              <a:t> century as hypnotics.</a:t>
            </a:r>
          </a:p>
          <a:p>
            <a:r>
              <a:rPr lang="en-US" sz="2400" dirty="0">
                <a:cs typeface="Times New Roman" pitchFamily="18" charset="0"/>
              </a:rPr>
              <a:t>They were the most commonly used IV drugs administered to induce anesthesia prior to the introduction of propofol.</a:t>
            </a:r>
          </a:p>
          <a:p>
            <a:r>
              <a:rPr lang="en-US" sz="2400" dirty="0">
                <a:cs typeface="Times New Roman" pitchFamily="18" charset="0"/>
              </a:rPr>
              <a:t> Barbiturates are organic compounds derived from barbituric acid (2,4,6-trioxohexahydropyrimidine); a combination of urea &amp; malonic acid)</a:t>
            </a:r>
          </a:p>
          <a:p>
            <a:endParaRPr lang="en-US" sz="2400" dirty="0">
              <a:cs typeface="Times New Roman" pitchFamily="18" charset="0"/>
            </a:endParaRPr>
          </a:p>
          <a:p>
            <a:endParaRPr lang="en-US" sz="2400" dirty="0">
              <a:cs typeface="Times New Roman" pitchFamily="18"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4343400"/>
            <a:ext cx="4920691"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6325183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762E0-D15E-31D5-FDD8-F21C4600F863}"/>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63FE8903-5F5C-B754-7BAC-EB79D60A5A52}"/>
              </a:ext>
            </a:extLst>
          </p:cNvPr>
          <p:cNvSpPr>
            <a:spLocks noGrp="1"/>
          </p:cNvSpPr>
          <p:nvPr>
            <p:ph idx="1"/>
          </p:nvPr>
        </p:nvSpPr>
        <p:spPr/>
        <p:txBody>
          <a:bodyPr>
            <a:normAutofit lnSpcReduction="10000"/>
          </a:bodyPr>
          <a:lstStyle/>
          <a:p>
            <a:r>
              <a:rPr lang="en-US" dirty="0"/>
              <a:t>Characteristics</a:t>
            </a:r>
            <a:r>
              <a:rPr lang="en-US" sz="2800" dirty="0"/>
              <a:t> </a:t>
            </a:r>
          </a:p>
          <a:p>
            <a:pPr lvl="1"/>
            <a:r>
              <a:rPr lang="en-US" sz="2400" dirty="0"/>
              <a:t>Sedative-hypnotics</a:t>
            </a:r>
          </a:p>
          <a:p>
            <a:pPr lvl="1"/>
            <a:r>
              <a:rPr lang="en-US" sz="2400" dirty="0"/>
              <a:t>Amnestic</a:t>
            </a:r>
          </a:p>
          <a:p>
            <a:pPr lvl="1"/>
            <a:r>
              <a:rPr lang="en-US" sz="2400" dirty="0"/>
              <a:t>Anticonvulsant</a:t>
            </a:r>
          </a:p>
          <a:p>
            <a:pPr lvl="1"/>
            <a:r>
              <a:rPr lang="en-US" sz="2400" dirty="0"/>
              <a:t>Water soluble but markedly alkaline</a:t>
            </a:r>
          </a:p>
          <a:p>
            <a:pPr lvl="2"/>
            <a:r>
              <a:rPr lang="en-US" dirty="0"/>
              <a:t>Thus, they can be </a:t>
            </a:r>
            <a:r>
              <a:rPr lang="en-US" b="0" i="0" u="none" strike="noStrike" baseline="0" dirty="0">
                <a:solidFill>
                  <a:srgbClr val="000000"/>
                </a:solidFill>
              </a:rPr>
              <a:t>reconstitution with either water, glucose 5%, or normal saline  but not with RL.</a:t>
            </a:r>
          </a:p>
          <a:p>
            <a:pPr lvl="1"/>
            <a:r>
              <a:rPr lang="en-US" sz="2400" dirty="0"/>
              <a:t>Cannot be stored for an extended period of time at room temperature after reconstitution in solvent.</a:t>
            </a:r>
          </a:p>
          <a:p>
            <a:pPr lvl="1"/>
            <a:r>
              <a:rPr lang="en-US" sz="2400" dirty="0"/>
              <a:t>In alkaline solution, thiobarbiturates can be stored up to 2 weeks, and methohexital up to 6 weeks</a:t>
            </a:r>
          </a:p>
        </p:txBody>
      </p:sp>
    </p:spTree>
    <p:extLst>
      <p:ext uri="{BB962C8B-B14F-4D97-AF65-F5344CB8AC3E}">
        <p14:creationId xmlns:p14="http://schemas.microsoft.com/office/powerpoint/2010/main" val="63353474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effectLst>
                  <a:outerShdw blurRad="38100" dist="38100" dir="2700000" algn="tl">
                    <a:srgbClr val="000000">
                      <a:alpha val="43137"/>
                    </a:srgbClr>
                  </a:outerShdw>
                </a:effectLst>
              </a:rPr>
              <a:t>Mechanism of action</a:t>
            </a:r>
          </a:p>
        </p:txBody>
      </p:sp>
      <p:sp>
        <p:nvSpPr>
          <p:cNvPr id="3" name="Content Placeholder 2"/>
          <p:cNvSpPr>
            <a:spLocks noGrp="1"/>
          </p:cNvSpPr>
          <p:nvPr>
            <p:ph idx="1"/>
          </p:nvPr>
        </p:nvSpPr>
        <p:spPr>
          <a:xfrm>
            <a:off x="457200" y="1600200"/>
            <a:ext cx="8382000" cy="4525963"/>
          </a:xfrm>
        </p:spPr>
        <p:txBody>
          <a:bodyPr>
            <a:normAutofit/>
          </a:bodyPr>
          <a:lstStyle/>
          <a:p>
            <a:pPr algn="just"/>
            <a:r>
              <a:rPr lang="en-US" sz="2400" dirty="0">
                <a:cs typeface="Times New Roman" pitchFamily="18" charset="0"/>
              </a:rPr>
              <a:t>D</a:t>
            </a:r>
            <a:r>
              <a:rPr lang="bg-BG" sz="2400" dirty="0">
                <a:cs typeface="Times New Roman" pitchFamily="18" charset="0"/>
              </a:rPr>
              <a:t>epress the reticular activating</a:t>
            </a:r>
            <a:r>
              <a:rPr lang="en-US" sz="2400" dirty="0">
                <a:cs typeface="Times New Roman" pitchFamily="18" charset="0"/>
              </a:rPr>
              <a:t> system </a:t>
            </a:r>
            <a:r>
              <a:rPr lang="bg-BG" sz="2400" dirty="0">
                <a:cs typeface="Times New Roman" pitchFamily="18" charset="0"/>
              </a:rPr>
              <a:t>located in the brain stem</a:t>
            </a:r>
            <a:r>
              <a:rPr lang="en-US" sz="2400" dirty="0">
                <a:cs typeface="Times New Roman" pitchFamily="18" charset="0"/>
              </a:rPr>
              <a:t>,</a:t>
            </a:r>
            <a:r>
              <a:rPr lang="bg-BG" sz="2400" dirty="0">
                <a:cs typeface="Times New Roman" pitchFamily="18" charset="0"/>
              </a:rPr>
              <a:t> </a:t>
            </a:r>
            <a:r>
              <a:rPr lang="en-US" sz="2400" dirty="0">
                <a:cs typeface="Times New Roman" pitchFamily="18" charset="0"/>
              </a:rPr>
              <a:t>which</a:t>
            </a:r>
            <a:r>
              <a:rPr lang="bg-BG" sz="2400" dirty="0">
                <a:cs typeface="Times New Roman" pitchFamily="18" charset="0"/>
              </a:rPr>
              <a:t> controls </a:t>
            </a:r>
            <a:r>
              <a:rPr lang="en-US" sz="2400" dirty="0">
                <a:cs typeface="Times New Roman" pitchFamily="18" charset="0"/>
              </a:rPr>
              <a:t>multiple</a:t>
            </a:r>
            <a:r>
              <a:rPr lang="bg-BG" sz="2400" dirty="0">
                <a:cs typeface="Times New Roman" pitchFamily="18" charset="0"/>
              </a:rPr>
              <a:t> vital functions, including consciousness. </a:t>
            </a:r>
            <a:r>
              <a:rPr lang="en-US" sz="2400" dirty="0">
                <a:cs typeface="Times New Roman" pitchFamily="18" charset="0"/>
              </a:rPr>
              <a:t> </a:t>
            </a:r>
          </a:p>
          <a:p>
            <a:pPr lvl="1"/>
            <a:r>
              <a:rPr lang="en-US" sz="2000" dirty="0">
                <a:solidFill>
                  <a:srgbClr val="FF0000"/>
                </a:solidFill>
                <a:cs typeface="Times New Roman" pitchFamily="18" charset="0"/>
              </a:rPr>
              <a:t>t</a:t>
            </a:r>
            <a:r>
              <a:rPr lang="bg-BG" sz="2200" dirty="0">
                <a:solidFill>
                  <a:srgbClr val="FF0000"/>
                </a:solidFill>
                <a:cs typeface="Times New Roman" pitchFamily="18" charset="0"/>
              </a:rPr>
              <a:t>hey </a:t>
            </a:r>
            <a:r>
              <a:rPr lang="en-US" sz="2200" dirty="0">
                <a:solidFill>
                  <a:srgbClr val="FF0000"/>
                </a:solidFill>
                <a:cs typeface="Times New Roman" pitchFamily="18" charset="0"/>
              </a:rPr>
              <a:t>suppress transmission of </a:t>
            </a:r>
            <a:r>
              <a:rPr lang="bg-BG" sz="2200" dirty="0">
                <a:solidFill>
                  <a:srgbClr val="FF0000"/>
                </a:solidFill>
                <a:cs typeface="Times New Roman" pitchFamily="18" charset="0"/>
              </a:rPr>
              <a:t>excitatory neurotransmitters (e</a:t>
            </a:r>
            <a:r>
              <a:rPr lang="en-US" sz="2200" dirty="0">
                <a:solidFill>
                  <a:srgbClr val="FF0000"/>
                </a:solidFill>
                <a:cs typeface="Times New Roman" pitchFamily="18" charset="0"/>
              </a:rPr>
              <a:t>.</a:t>
            </a:r>
            <a:r>
              <a:rPr lang="bg-BG" sz="2200" dirty="0">
                <a:solidFill>
                  <a:srgbClr val="FF0000"/>
                </a:solidFill>
                <a:cs typeface="Times New Roman" pitchFamily="18" charset="0"/>
              </a:rPr>
              <a:t>g, </a:t>
            </a:r>
            <a:r>
              <a:rPr lang="en-US" sz="2200" dirty="0">
                <a:solidFill>
                  <a:srgbClr val="FF0000"/>
                </a:solidFill>
                <a:cs typeface="Times New Roman" pitchFamily="18" charset="0"/>
              </a:rPr>
              <a:t>glutamate and </a:t>
            </a:r>
            <a:r>
              <a:rPr lang="bg-BG" sz="2200" dirty="0">
                <a:solidFill>
                  <a:srgbClr val="FF0000"/>
                </a:solidFill>
                <a:cs typeface="Times New Roman" pitchFamily="18" charset="0"/>
              </a:rPr>
              <a:t>acetylcholine) and</a:t>
            </a:r>
            <a:endParaRPr lang="en-US" sz="2200" dirty="0">
              <a:solidFill>
                <a:srgbClr val="FF0000"/>
              </a:solidFill>
              <a:cs typeface="Times New Roman" pitchFamily="18" charset="0"/>
            </a:endParaRPr>
          </a:p>
          <a:p>
            <a:pPr lvl="1"/>
            <a:r>
              <a:rPr lang="bg-BG" sz="2200" dirty="0">
                <a:solidFill>
                  <a:srgbClr val="FF0000"/>
                </a:solidFill>
                <a:cs typeface="Times New Roman" pitchFamily="18" charset="0"/>
              </a:rPr>
              <a:t>enhance transmission of inhibitory neurotransmitters</a:t>
            </a:r>
            <a:r>
              <a:rPr lang="en-US" sz="2200" dirty="0">
                <a:solidFill>
                  <a:srgbClr val="FF0000"/>
                </a:solidFill>
                <a:cs typeface="Times New Roman" pitchFamily="18" charset="0"/>
              </a:rPr>
              <a:t> </a:t>
            </a:r>
            <a:r>
              <a:rPr lang="bg-BG" sz="2200" dirty="0">
                <a:solidFill>
                  <a:srgbClr val="FF0000"/>
                </a:solidFill>
                <a:cs typeface="Times New Roman" pitchFamily="18" charset="0"/>
              </a:rPr>
              <a:t>(e</a:t>
            </a:r>
            <a:r>
              <a:rPr lang="en-US" sz="2200" dirty="0">
                <a:solidFill>
                  <a:srgbClr val="FF0000"/>
                </a:solidFill>
                <a:cs typeface="Times New Roman" pitchFamily="18" charset="0"/>
              </a:rPr>
              <a:t>.g..</a:t>
            </a:r>
            <a:r>
              <a:rPr lang="en-US" sz="2200" dirty="0">
                <a:solidFill>
                  <a:srgbClr val="FF0000"/>
                </a:solidFill>
                <a:cs typeface="Times New Roman" pitchFamily="18" charset="0"/>
                <a:sym typeface="Symbol"/>
              </a:rPr>
              <a:t>-</a:t>
            </a:r>
            <a:r>
              <a:rPr lang="bg-BG" sz="2200" dirty="0">
                <a:solidFill>
                  <a:srgbClr val="FF0000"/>
                </a:solidFill>
                <a:cs typeface="Times New Roman" pitchFamily="18" charset="0"/>
              </a:rPr>
              <a:t>aminobutyric acid [GABA]). </a:t>
            </a:r>
            <a:endParaRPr lang="en-US" sz="2200" dirty="0">
              <a:solidFill>
                <a:srgbClr val="FF0000"/>
              </a:solidFill>
              <a:cs typeface="Times New Roman" pitchFamily="18" charset="0"/>
            </a:endParaRPr>
          </a:p>
          <a:p>
            <a:pPr algn="just"/>
            <a:r>
              <a:rPr lang="bg-BG" sz="2400" dirty="0">
                <a:cs typeface="Times New Roman" pitchFamily="18" charset="0"/>
              </a:rPr>
              <a:t>Specific mechanisms include </a:t>
            </a:r>
            <a:endParaRPr lang="en-US" sz="2400" dirty="0">
              <a:cs typeface="Times New Roman" pitchFamily="18" charset="0"/>
            </a:endParaRPr>
          </a:p>
          <a:p>
            <a:pPr lvl="1" algn="just"/>
            <a:r>
              <a:rPr lang="bg-BG" sz="2000" dirty="0">
                <a:cs typeface="Times New Roman" pitchFamily="18" charset="0"/>
              </a:rPr>
              <a:t>interfering with transmitter release (presynaptic) and </a:t>
            </a:r>
            <a:endParaRPr lang="en-US" sz="2000" dirty="0">
              <a:cs typeface="Times New Roman" pitchFamily="18" charset="0"/>
            </a:endParaRPr>
          </a:p>
          <a:p>
            <a:pPr lvl="1" algn="just"/>
            <a:r>
              <a:rPr lang="bg-BG" sz="2000" dirty="0">
                <a:cs typeface="Times New Roman" pitchFamily="18" charset="0"/>
              </a:rPr>
              <a:t>stereoselectively interacting with receptors (postsynaptic)</a:t>
            </a:r>
            <a:r>
              <a:rPr lang="en-US" sz="2000" dirty="0">
                <a:cs typeface="Times New Roman" pitchFamily="18" charset="0"/>
              </a:rPr>
              <a:t> </a:t>
            </a:r>
            <a:r>
              <a:rPr lang="en-US" sz="2000" dirty="0">
                <a:solidFill>
                  <a:srgbClr val="FF0000"/>
                </a:solidFill>
                <a:cs typeface="Times New Roman" pitchFamily="18" charset="0"/>
              </a:rPr>
              <a:t>produces hypnosis (sedation) with amnesia</a:t>
            </a:r>
          </a:p>
          <a:p>
            <a:pPr algn="just"/>
            <a:endParaRPr lang="en-US" sz="2400" dirty="0">
              <a:cs typeface="Times New Roman" pitchFamily="18" charset="0"/>
            </a:endParaRPr>
          </a:p>
        </p:txBody>
      </p:sp>
    </p:spTree>
    <p:extLst>
      <p:ext uri="{BB962C8B-B14F-4D97-AF65-F5344CB8AC3E}">
        <p14:creationId xmlns:p14="http://schemas.microsoft.com/office/powerpoint/2010/main" val="183818353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Classification</a:t>
            </a:r>
          </a:p>
        </p:txBody>
      </p:sp>
      <p:sp>
        <p:nvSpPr>
          <p:cNvPr id="3" name="Content Placeholder 2"/>
          <p:cNvSpPr>
            <a:spLocks noGrp="1"/>
          </p:cNvSpPr>
          <p:nvPr>
            <p:ph idx="1"/>
          </p:nvPr>
        </p:nvSpPr>
        <p:spPr>
          <a:xfrm>
            <a:off x="457200" y="1600200"/>
            <a:ext cx="8458200" cy="4525963"/>
          </a:xfrm>
        </p:spPr>
        <p:txBody>
          <a:bodyPr>
            <a:normAutofit/>
          </a:bodyPr>
          <a:lstStyle/>
          <a:p>
            <a:pPr>
              <a:buFont typeface="Wingdings" pitchFamily="2" charset="2"/>
              <a:buChar char="Ø"/>
            </a:pPr>
            <a:r>
              <a:rPr lang="en-US" sz="4000" b="1" dirty="0">
                <a:solidFill>
                  <a:srgbClr val="FF0000"/>
                </a:solidFill>
                <a:effectLst>
                  <a:outerShdw blurRad="38100" dist="38100" dir="2700000" algn="tl">
                    <a:srgbClr val="000000">
                      <a:alpha val="43137"/>
                    </a:srgbClr>
                  </a:outerShdw>
                </a:effectLst>
              </a:rPr>
              <a:t>Oxybarbiturates</a:t>
            </a:r>
          </a:p>
          <a:p>
            <a:r>
              <a:rPr lang="en-US" sz="2400" dirty="0">
                <a:cs typeface="Times New Roman" pitchFamily="18" charset="0"/>
              </a:rPr>
              <a:t>Barbiturates retaining an oxygen atom on </a:t>
            </a:r>
            <a:r>
              <a:rPr lang="en-US" sz="2400" dirty="0">
                <a:solidFill>
                  <a:srgbClr val="FF0000"/>
                </a:solidFill>
                <a:cs typeface="Times New Roman" pitchFamily="18" charset="0"/>
              </a:rPr>
              <a:t>the number 2 carbon </a:t>
            </a:r>
            <a:r>
              <a:rPr lang="en-US" sz="2400" dirty="0">
                <a:cs typeface="Times New Roman" pitchFamily="18" charset="0"/>
              </a:rPr>
              <a:t>of the barbituric acid ring</a:t>
            </a:r>
            <a:r>
              <a:rPr lang="en-US" dirty="0"/>
              <a:t>.</a:t>
            </a:r>
          </a:p>
          <a:p>
            <a:pPr>
              <a:buFont typeface="Wingdings" pitchFamily="2" charset="2"/>
              <a:buChar char="Ø"/>
            </a:pPr>
            <a:r>
              <a:rPr lang="en-US" sz="3600" b="1" dirty="0">
                <a:solidFill>
                  <a:srgbClr val="FF0000"/>
                </a:solidFill>
                <a:effectLst>
                  <a:outerShdw blurRad="38100" dist="38100" dir="2700000" algn="tl">
                    <a:srgbClr val="000000">
                      <a:alpha val="43137"/>
                    </a:srgbClr>
                  </a:outerShdw>
                </a:effectLst>
              </a:rPr>
              <a:t>Thiobarbiturates   </a:t>
            </a:r>
          </a:p>
          <a:p>
            <a:r>
              <a:rPr lang="en-US" sz="2400" dirty="0">
                <a:cs typeface="Times New Roman" pitchFamily="18" charset="0"/>
              </a:rPr>
              <a:t>Barbiturates </a:t>
            </a:r>
            <a:r>
              <a:rPr lang="en-US" sz="2400" dirty="0">
                <a:solidFill>
                  <a:srgbClr val="FF0000"/>
                </a:solidFill>
                <a:cs typeface="Times New Roman" pitchFamily="18" charset="0"/>
              </a:rPr>
              <a:t>replacing oxygen at C2 with a sulfur atom </a:t>
            </a:r>
          </a:p>
          <a:p>
            <a:pPr lvl="1"/>
            <a:r>
              <a:rPr lang="en-US" sz="2400" dirty="0">
                <a:cs typeface="Times New Roman" pitchFamily="18" charset="0"/>
              </a:rPr>
              <a:t>Which </a:t>
            </a:r>
            <a:r>
              <a:rPr lang="bg-BG" sz="2400" dirty="0">
                <a:cs typeface="Times New Roman" pitchFamily="18" charset="0"/>
              </a:rPr>
              <a:t>increases lipid solubility</a:t>
            </a:r>
            <a:r>
              <a:rPr lang="en-US" sz="2400" dirty="0">
                <a:cs typeface="Times New Roman" pitchFamily="18" charset="0"/>
              </a:rPr>
              <a:t>    </a:t>
            </a:r>
          </a:p>
          <a:p>
            <a:r>
              <a:rPr lang="en-US" sz="2400" dirty="0">
                <a:cs typeface="Times New Roman" pitchFamily="18" charset="0"/>
              </a:rPr>
              <a:t>are more lipid soluble than Oxybarbiturates.  </a:t>
            </a:r>
          </a:p>
        </p:txBody>
      </p:sp>
    </p:spTree>
    <p:extLst>
      <p:ext uri="{BB962C8B-B14F-4D97-AF65-F5344CB8AC3E}">
        <p14:creationId xmlns:p14="http://schemas.microsoft.com/office/powerpoint/2010/main" val="97545892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dirty="0">
                <a:solidFill>
                  <a:srgbClr val="0070C0"/>
                </a:solidFill>
                <a:effectLst>
                  <a:outerShdw blurRad="38100" dist="38100" dir="2700000" algn="tl">
                    <a:srgbClr val="000000">
                      <a:alpha val="43137"/>
                    </a:srgbClr>
                  </a:outerShdw>
                </a:effectLst>
                <a:latin typeface="+mn-lt"/>
              </a:rPr>
              <a:t>Barbiturates</a:t>
            </a:r>
          </a:p>
        </p:txBody>
      </p:sp>
      <p:sp>
        <p:nvSpPr>
          <p:cNvPr id="3" name="Content Placeholder 2"/>
          <p:cNvSpPr>
            <a:spLocks noGrp="1"/>
          </p:cNvSpPr>
          <p:nvPr>
            <p:ph idx="1"/>
          </p:nvPr>
        </p:nvSpPr>
        <p:spPr>
          <a:xfrm>
            <a:off x="457200" y="1584224"/>
            <a:ext cx="8229600" cy="4541940"/>
          </a:xfrm>
        </p:spPr>
        <p:txBody>
          <a:bodyPr>
            <a:normAutofit lnSpcReduction="10000"/>
          </a:bodyPr>
          <a:lstStyle/>
          <a:p>
            <a:r>
              <a:rPr lang="en-US" sz="3600" dirty="0">
                <a:cs typeface="Times New Roman" pitchFamily="18" charset="0"/>
              </a:rPr>
              <a:t>Thiopentone</a:t>
            </a:r>
          </a:p>
          <a:p>
            <a:r>
              <a:rPr lang="en-US" dirty="0" err="1">
                <a:cs typeface="Times New Roman" pitchFamily="18" charset="0"/>
              </a:rPr>
              <a:t>Thyiamylal</a:t>
            </a:r>
            <a:r>
              <a:rPr lang="en-US" dirty="0">
                <a:cs typeface="Times New Roman" pitchFamily="18" charset="0"/>
              </a:rPr>
              <a:t>              Thiobarbiturates</a:t>
            </a:r>
          </a:p>
          <a:p>
            <a:endParaRPr lang="en-US" dirty="0">
              <a:cs typeface="Times New Roman" pitchFamily="18" charset="0"/>
            </a:endParaRPr>
          </a:p>
          <a:p>
            <a:endParaRPr lang="en-US" dirty="0">
              <a:cs typeface="Times New Roman" pitchFamily="18" charset="0"/>
            </a:endParaRPr>
          </a:p>
          <a:p>
            <a:r>
              <a:rPr lang="en-US" dirty="0">
                <a:solidFill>
                  <a:srgbClr val="FF0000"/>
                </a:solidFill>
                <a:cs typeface="Times New Roman" pitchFamily="18" charset="0"/>
              </a:rPr>
              <a:t>Methohexital</a:t>
            </a:r>
          </a:p>
          <a:p>
            <a:r>
              <a:rPr lang="en-US" dirty="0">
                <a:cs typeface="Times New Roman" pitchFamily="18" charset="0"/>
              </a:rPr>
              <a:t>Secobarbital             Oxybarbiturates</a:t>
            </a:r>
          </a:p>
          <a:p>
            <a:r>
              <a:rPr lang="en-US" dirty="0">
                <a:cs typeface="Times New Roman" pitchFamily="18" charset="0"/>
              </a:rPr>
              <a:t>Phenobarbital</a:t>
            </a:r>
          </a:p>
          <a:p>
            <a:r>
              <a:rPr lang="en-US" dirty="0">
                <a:cs typeface="Times New Roman" pitchFamily="18" charset="0"/>
              </a:rPr>
              <a:t>pentobarbital</a:t>
            </a:r>
          </a:p>
        </p:txBody>
      </p:sp>
      <p:sp>
        <p:nvSpPr>
          <p:cNvPr id="5" name="Right Brace 4"/>
          <p:cNvSpPr/>
          <p:nvPr/>
        </p:nvSpPr>
        <p:spPr>
          <a:xfrm>
            <a:off x="3224981" y="3482182"/>
            <a:ext cx="762000" cy="2209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Right Brace 6"/>
          <p:cNvSpPr/>
          <p:nvPr/>
        </p:nvSpPr>
        <p:spPr>
          <a:xfrm>
            <a:off x="3224981" y="1905000"/>
            <a:ext cx="609600" cy="11430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58775020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latin typeface="Agency FB" pitchFamily="34" charset="0"/>
              </a:rPr>
              <a:t>Structure of barbiturates….</a:t>
            </a:r>
          </a:p>
        </p:txBody>
      </p:sp>
      <p:graphicFrame>
        <p:nvGraphicFramePr>
          <p:cNvPr id="5" name="Object 4"/>
          <p:cNvGraphicFramePr>
            <a:graphicFrameLocks noGrp="1" noChangeAspect="1"/>
          </p:cNvGraphicFramePr>
          <p:nvPr>
            <p:extLst>
              <p:ext uri="{D42A27DB-BD31-4B8C-83A1-F6EECF244321}">
                <p14:modId xmlns:p14="http://schemas.microsoft.com/office/powerpoint/2010/main" val="920044241"/>
              </p:ext>
            </p:extLst>
          </p:nvPr>
        </p:nvGraphicFramePr>
        <p:xfrm>
          <a:off x="4495800" y="1981200"/>
          <a:ext cx="3867150" cy="3581400"/>
        </p:xfrm>
        <a:graphic>
          <a:graphicData uri="http://schemas.openxmlformats.org/presentationml/2006/ole">
            <mc:AlternateContent xmlns:mc="http://schemas.openxmlformats.org/markup-compatibility/2006">
              <mc:Choice xmlns:v="urn:schemas-microsoft-com:vml" Requires="v">
                <p:oleObj name="Bitmap Image" r:id="rId2" imgW="2962689" imgH="2742857" progId="Paint.Picture">
                  <p:embed/>
                </p:oleObj>
              </mc:Choice>
              <mc:Fallback>
                <p:oleObj name="Bitmap Image" r:id="rId2" imgW="2962689" imgH="2742857" progId="Paint.Picture">
                  <p:embed/>
                  <p:pic>
                    <p:nvPicPr>
                      <p:cNvPr id="0" name="Object 3"/>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1981200"/>
                        <a:ext cx="386715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040"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432" y="1981200"/>
            <a:ext cx="4114800"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32185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br>
              <a:rPr lang="en-US" sz="3600" dirty="0">
                <a:effectLst>
                  <a:outerShdw blurRad="38100" dist="38100" dir="2700000" algn="tl">
                    <a:srgbClr val="000000">
                      <a:alpha val="43137"/>
                    </a:srgbClr>
                  </a:outerShdw>
                </a:effectLst>
              </a:rPr>
            </a:br>
            <a:r>
              <a:rPr lang="en-US" sz="3600" dirty="0">
                <a:effectLst>
                  <a:outerShdw blurRad="38100" dist="38100" dir="2700000" algn="tl">
                    <a:srgbClr val="000000">
                      <a:alpha val="43137"/>
                    </a:srgbClr>
                  </a:outerShdw>
                </a:effectLst>
              </a:rPr>
              <a:t>Pharmacokinetics of Barbiturates</a:t>
            </a:r>
            <a:br>
              <a:rPr lang="en-US" sz="3600" dirty="0">
                <a:effectLst>
                  <a:outerShdw blurRad="38100" dist="38100" dir="2700000" algn="tl">
                    <a:srgbClr val="000000">
                      <a:alpha val="43137"/>
                    </a:srgbClr>
                  </a:outerShdw>
                </a:effectLst>
              </a:rPr>
            </a:br>
            <a:endParaRPr lang="en-US" sz="3600"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457200" y="1600200"/>
            <a:ext cx="8534400" cy="4525963"/>
          </a:xfrm>
        </p:spPr>
        <p:txBody>
          <a:bodyPr>
            <a:noAutofit/>
          </a:bodyPr>
          <a:lstStyle/>
          <a:p>
            <a:pPr algn="just">
              <a:buFont typeface="Wingdings" panose="05000000000000000000" pitchFamily="2" charset="2"/>
              <a:buChar char="ü"/>
            </a:pPr>
            <a:r>
              <a:rPr lang="en-US" sz="2800" b="1" dirty="0">
                <a:cs typeface="Times New Roman" pitchFamily="18" charset="0"/>
              </a:rPr>
              <a:t>Absorption</a:t>
            </a:r>
            <a:endParaRPr lang="en-US" sz="2400" b="1" dirty="0">
              <a:cs typeface="Times New Roman" pitchFamily="18" charset="0"/>
            </a:endParaRPr>
          </a:p>
          <a:p>
            <a:pPr algn="just"/>
            <a:r>
              <a:rPr lang="en-US" sz="2400" dirty="0">
                <a:cs typeface="Times New Roman" pitchFamily="18" charset="0"/>
              </a:rPr>
              <a:t>Most frequently administered intravenously for</a:t>
            </a:r>
          </a:p>
          <a:p>
            <a:pPr lvl="1" algn="just"/>
            <a:r>
              <a:rPr lang="en-US" sz="2400" dirty="0">
                <a:cs typeface="Times New Roman" pitchFamily="18" charset="0"/>
              </a:rPr>
              <a:t> induction of general anesthesia in adults and children with an intravenous line. </a:t>
            </a:r>
          </a:p>
          <a:p>
            <a:pPr algn="just"/>
            <a:r>
              <a:rPr lang="en-US" sz="2400" dirty="0">
                <a:cs typeface="Times New Roman" pitchFamily="18" charset="0"/>
              </a:rPr>
              <a:t>Exceptions include:</a:t>
            </a:r>
          </a:p>
          <a:p>
            <a:pPr lvl="1" algn="just"/>
            <a:r>
              <a:rPr lang="en-US" sz="2400" dirty="0">
                <a:cs typeface="Times New Roman" pitchFamily="18" charset="0"/>
              </a:rPr>
              <a:t> rectal thiopental or methohexital  has been used for induction in children and </a:t>
            </a:r>
          </a:p>
          <a:p>
            <a:pPr lvl="1" algn="just"/>
            <a:r>
              <a:rPr lang="en-US" sz="2400" dirty="0">
                <a:cs typeface="Times New Roman" pitchFamily="18" charset="0"/>
              </a:rPr>
              <a:t>Intramuscular (or oral) pentobarbital or secobarbital was often used for premedication of all age groups.</a:t>
            </a:r>
          </a:p>
          <a:p>
            <a:pPr lvl="1" algn="just"/>
            <a:endParaRPr lang="en-US" sz="2400" dirty="0">
              <a:cs typeface="Times New Roman" pitchFamily="18" charset="0"/>
            </a:endParaRPr>
          </a:p>
          <a:p>
            <a:pPr algn="just"/>
            <a:r>
              <a:rPr lang="en-US" sz="2400" dirty="0">
                <a:cs typeface="Times New Roman" pitchFamily="18" charset="0"/>
              </a:rPr>
              <a:t> </a:t>
            </a:r>
          </a:p>
          <a:p>
            <a:pPr algn="just"/>
            <a:endParaRPr lang="en-US" sz="2400" dirty="0">
              <a:cs typeface="Times New Roman" pitchFamily="18" charset="0"/>
            </a:endParaRPr>
          </a:p>
          <a:p>
            <a:pPr algn="just"/>
            <a:endParaRPr lang="en-US" sz="2400" dirty="0">
              <a:cs typeface="Times New Roman" pitchFamily="18" charset="0"/>
            </a:endParaRPr>
          </a:p>
        </p:txBody>
      </p:sp>
    </p:spTree>
    <p:extLst>
      <p:ext uri="{BB962C8B-B14F-4D97-AF65-F5344CB8AC3E}">
        <p14:creationId xmlns:p14="http://schemas.microsoft.com/office/powerpoint/2010/main" val="393713256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latin typeface="Agency FB" pitchFamily="34" charset="0"/>
              </a:rPr>
              <a:t>Pharmacokinetics….</a:t>
            </a:r>
            <a:endParaRPr lang="en-US" dirty="0"/>
          </a:p>
        </p:txBody>
      </p:sp>
      <p:sp>
        <p:nvSpPr>
          <p:cNvPr id="3" name="Content Placeholder 2"/>
          <p:cNvSpPr>
            <a:spLocks noGrp="1"/>
          </p:cNvSpPr>
          <p:nvPr>
            <p:ph idx="1"/>
          </p:nvPr>
        </p:nvSpPr>
        <p:spPr>
          <a:xfrm>
            <a:off x="457200" y="1600200"/>
            <a:ext cx="8458200" cy="4525963"/>
          </a:xfrm>
        </p:spPr>
        <p:txBody>
          <a:bodyPr>
            <a:noAutofit/>
          </a:bodyPr>
          <a:lstStyle/>
          <a:p>
            <a:pPr>
              <a:buFont typeface="Wingdings" panose="05000000000000000000" pitchFamily="2" charset="2"/>
              <a:buChar char="ü"/>
            </a:pPr>
            <a:r>
              <a:rPr lang="en-US" sz="2800" b="1" dirty="0">
                <a:cs typeface="Times New Roman" pitchFamily="18" charset="0"/>
              </a:rPr>
              <a:t>Distribution</a:t>
            </a:r>
            <a:endParaRPr lang="en-US" sz="2400" b="1" dirty="0">
              <a:cs typeface="Times New Roman" pitchFamily="18" charset="0"/>
            </a:endParaRPr>
          </a:p>
          <a:p>
            <a:r>
              <a:rPr lang="en-US" sz="2400" dirty="0">
                <a:cs typeface="Times New Roman" pitchFamily="18" charset="0"/>
              </a:rPr>
              <a:t>The duration of action of highly lipid-soluble barbiturates (thiopental, thiamylal, and methohexital) is determined by</a:t>
            </a:r>
          </a:p>
          <a:p>
            <a:pPr lvl="1"/>
            <a:r>
              <a:rPr lang="en-US" sz="2000" dirty="0">
                <a:cs typeface="Times New Roman" pitchFamily="18" charset="0"/>
              </a:rPr>
              <a:t> </a:t>
            </a:r>
            <a:r>
              <a:rPr lang="en-US" sz="2400" dirty="0">
                <a:solidFill>
                  <a:srgbClr val="FF0000"/>
                </a:solidFill>
                <a:cs typeface="Times New Roman" pitchFamily="18" charset="0"/>
              </a:rPr>
              <a:t>redistribution</a:t>
            </a:r>
            <a:r>
              <a:rPr lang="en-US" sz="2400" dirty="0">
                <a:cs typeface="Times New Roman" pitchFamily="18" charset="0"/>
              </a:rPr>
              <a:t>, not by metabolism or elimination.</a:t>
            </a:r>
          </a:p>
          <a:p>
            <a:pPr lvl="2"/>
            <a:r>
              <a:rPr lang="en-US" sz="2000" dirty="0">
                <a:cs typeface="Times New Roman" pitchFamily="18" charset="0"/>
              </a:rPr>
              <a:t>For example, although thiopental is highly protein bound (80%), its great lipid solubility and high nonionized fraction (60%) account for rapid brain uptake (within 30 s).</a:t>
            </a:r>
          </a:p>
          <a:p>
            <a:r>
              <a:rPr lang="en-US" sz="2400" dirty="0">
                <a:cs typeface="Times New Roman" pitchFamily="18" charset="0"/>
              </a:rPr>
              <a:t>Highly lipid-soluble</a:t>
            </a:r>
          </a:p>
          <a:p>
            <a:endParaRPr lang="en-US" sz="2400" dirty="0">
              <a:cs typeface="Times New Roman" pitchFamily="18" charset="0"/>
            </a:endParaRPr>
          </a:p>
          <a:p>
            <a:endParaRPr lang="en-US" sz="2400" dirty="0">
              <a:cs typeface="Times New Roman" pitchFamily="18" charset="0"/>
            </a:endParaRPr>
          </a:p>
        </p:txBody>
      </p:sp>
    </p:spTree>
    <p:extLst>
      <p:ext uri="{BB962C8B-B14F-4D97-AF65-F5344CB8AC3E}">
        <p14:creationId xmlns:p14="http://schemas.microsoft.com/office/powerpoint/2010/main" val="128812023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45A49-8C4C-08D7-0D22-FF6B9672BBD2}"/>
              </a:ext>
            </a:extLst>
          </p:cNvPr>
          <p:cNvSpPr>
            <a:spLocks noGrp="1"/>
          </p:cNvSpPr>
          <p:nvPr>
            <p:ph type="title"/>
          </p:nvPr>
        </p:nvSpPr>
        <p:spPr/>
        <p:txBody>
          <a:bodyPr/>
          <a:lstStyle/>
          <a:p>
            <a:r>
              <a:rPr lang="en-US" dirty="0"/>
              <a:t>Cont.…</a:t>
            </a:r>
          </a:p>
        </p:txBody>
      </p:sp>
      <p:pic>
        <p:nvPicPr>
          <p:cNvPr id="5" name="Content Placeholder 4">
            <a:extLst>
              <a:ext uri="{FF2B5EF4-FFF2-40B4-BE49-F238E27FC236}">
                <a16:creationId xmlns:a16="http://schemas.microsoft.com/office/drawing/2014/main" id="{1DC6FD63-9CDA-68E2-8C9A-2847944AB88C}"/>
              </a:ext>
            </a:extLst>
          </p:cNvPr>
          <p:cNvPicPr>
            <a:picLocks noGrp="1" noChangeAspect="1"/>
          </p:cNvPicPr>
          <p:nvPr>
            <p:ph idx="1"/>
          </p:nvPr>
        </p:nvPicPr>
        <p:blipFill>
          <a:blip r:embed="rId3"/>
          <a:stretch>
            <a:fillRect/>
          </a:stretch>
        </p:blipFill>
        <p:spPr>
          <a:xfrm>
            <a:off x="762000" y="1295400"/>
            <a:ext cx="7620000" cy="3579018"/>
          </a:xfrm>
        </p:spPr>
      </p:pic>
      <p:sp>
        <p:nvSpPr>
          <p:cNvPr id="7" name="TextBox 6">
            <a:extLst>
              <a:ext uri="{FF2B5EF4-FFF2-40B4-BE49-F238E27FC236}">
                <a16:creationId xmlns:a16="http://schemas.microsoft.com/office/drawing/2014/main" id="{B9E64FBF-708E-1050-7CF5-3CDABA2AF197}"/>
              </a:ext>
            </a:extLst>
          </p:cNvPr>
          <p:cNvSpPr txBox="1"/>
          <p:nvPr/>
        </p:nvSpPr>
        <p:spPr>
          <a:xfrm>
            <a:off x="228600" y="5082548"/>
            <a:ext cx="8763000" cy="101566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l"/>
            <a:r>
              <a:rPr lang="en-US" sz="2400" b="1" i="0" u="none" strike="noStrike" baseline="0" dirty="0">
                <a:solidFill>
                  <a:srgbClr val="7B0046"/>
                </a:solidFill>
                <a:latin typeface="MyriadPro-Black"/>
              </a:rPr>
              <a:t>FIGURE 9-2 </a:t>
            </a:r>
            <a:r>
              <a:rPr lang="en-US" sz="1800" b="0" i="0" u="none" strike="noStrike" baseline="0" dirty="0">
                <a:solidFill>
                  <a:srgbClr val="000000"/>
                </a:solidFill>
                <a:latin typeface="MyriadPro-Regular"/>
              </a:rPr>
              <a:t>Distribution of thiopental from plasma to the vessel-rich group (VRG; brain, heart, liver, kidney, endocrine glands), to the muscle group (MG), and finally to the fat group (FG). </a:t>
            </a:r>
            <a:endParaRPr lang="en-US" dirty="0"/>
          </a:p>
        </p:txBody>
      </p:sp>
    </p:spTree>
    <p:extLst>
      <p:ext uri="{BB962C8B-B14F-4D97-AF65-F5344CB8AC3E}">
        <p14:creationId xmlns:p14="http://schemas.microsoft.com/office/powerpoint/2010/main" val="179606159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E03B4-41DB-A1C7-0892-5C7AF90FB977}"/>
              </a:ext>
            </a:extLst>
          </p:cNvPr>
          <p:cNvSpPr>
            <a:spLocks noGrp="1"/>
          </p:cNvSpPr>
          <p:nvPr>
            <p:ph type="title"/>
          </p:nvPr>
        </p:nvSpPr>
        <p:spPr/>
        <p:txBody>
          <a:bodyPr/>
          <a:lstStyle/>
          <a:p>
            <a:r>
              <a:rPr lang="en-US" dirty="0">
                <a:effectLst>
                  <a:outerShdw blurRad="38100" dist="38100" dir="2700000" algn="tl">
                    <a:srgbClr val="000000">
                      <a:alpha val="43137"/>
                    </a:srgbClr>
                  </a:outerShdw>
                </a:effectLst>
                <a:latin typeface="Agency FB" pitchFamily="34" charset="0"/>
              </a:rPr>
              <a:t>Pharmacokinetics….</a:t>
            </a:r>
            <a:endParaRPr lang="en-US" dirty="0"/>
          </a:p>
        </p:txBody>
      </p:sp>
      <p:sp>
        <p:nvSpPr>
          <p:cNvPr id="3" name="Content Placeholder 2">
            <a:extLst>
              <a:ext uri="{FF2B5EF4-FFF2-40B4-BE49-F238E27FC236}">
                <a16:creationId xmlns:a16="http://schemas.microsoft.com/office/drawing/2014/main" id="{AB19B09A-3758-16C2-14B1-4795EBCFA7F2}"/>
              </a:ext>
            </a:extLst>
          </p:cNvPr>
          <p:cNvSpPr>
            <a:spLocks noGrp="1"/>
          </p:cNvSpPr>
          <p:nvPr>
            <p:ph idx="1"/>
          </p:nvPr>
        </p:nvSpPr>
        <p:spPr/>
        <p:txBody>
          <a:bodyPr/>
          <a:lstStyle/>
          <a:p>
            <a:r>
              <a:rPr lang="en-US" sz="2400" dirty="0">
                <a:cs typeface="Times New Roman" pitchFamily="18" charset="0"/>
              </a:rPr>
              <a:t>If central compartment is contracted (hypovolemic shock), or </a:t>
            </a:r>
            <a:r>
              <a:rPr lang="en-US" sz="2400" dirty="0">
                <a:solidFill>
                  <a:srgbClr val="00B050"/>
                </a:solidFill>
                <a:cs typeface="Times New Roman" pitchFamily="18" charset="0"/>
              </a:rPr>
              <a:t>serum albumin is low (severe liver disease or malnutrition), or nonionized fraction is increased (acidosis), </a:t>
            </a:r>
          </a:p>
          <a:p>
            <a:pPr lvl="1"/>
            <a:r>
              <a:rPr lang="en-US" sz="2400" dirty="0">
                <a:solidFill>
                  <a:srgbClr val="FF0000"/>
                </a:solidFill>
                <a:cs typeface="Times New Roman" pitchFamily="18" charset="0"/>
              </a:rPr>
              <a:t>larger brain and heart concentrations will be achieved for a given dose</a:t>
            </a:r>
          </a:p>
          <a:p>
            <a:r>
              <a:rPr lang="en-US" sz="2400" dirty="0">
                <a:cs typeface="Times New Roman" pitchFamily="18" charset="0"/>
              </a:rPr>
              <a:t>Induction doses depend on </a:t>
            </a:r>
            <a:r>
              <a:rPr lang="en-US" sz="2400" dirty="0">
                <a:solidFill>
                  <a:srgbClr val="FF0000"/>
                </a:solidFill>
                <a:cs typeface="Times New Roman" pitchFamily="18" charset="0"/>
              </a:rPr>
              <a:t>body weight &amp; age</a:t>
            </a:r>
          </a:p>
          <a:p>
            <a:r>
              <a:rPr lang="en-US" sz="2400" dirty="0">
                <a:cs typeface="Times New Roman" pitchFamily="18" charset="0"/>
              </a:rPr>
              <a:t>Reduced induction doses are required for elderly patients</a:t>
            </a:r>
          </a:p>
          <a:p>
            <a:pPr lvl="1"/>
            <a:r>
              <a:rPr lang="en-US" sz="2400" dirty="0">
                <a:cs typeface="Times New Roman" pitchFamily="18" charset="0"/>
              </a:rPr>
              <a:t>primarily due to slower redistribution.</a:t>
            </a:r>
          </a:p>
          <a:p>
            <a:pPr lvl="1"/>
            <a:endParaRPr lang="en-US" sz="2400" dirty="0">
              <a:cs typeface="Times New Roman" pitchFamily="18" charset="0"/>
            </a:endParaRPr>
          </a:p>
          <a:p>
            <a:endParaRPr lang="en-US" dirty="0"/>
          </a:p>
        </p:txBody>
      </p:sp>
    </p:spTree>
    <p:extLst>
      <p:ext uri="{BB962C8B-B14F-4D97-AF65-F5344CB8AC3E}">
        <p14:creationId xmlns:p14="http://schemas.microsoft.com/office/powerpoint/2010/main" val="357098794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Pharmacokinetics….</a:t>
            </a:r>
            <a:endParaRPr lang="en-US" dirty="0"/>
          </a:p>
        </p:txBody>
      </p:sp>
      <p:sp>
        <p:nvSpPr>
          <p:cNvPr id="3" name="Content Placeholder 2"/>
          <p:cNvSpPr>
            <a:spLocks noGrp="1"/>
          </p:cNvSpPr>
          <p:nvPr>
            <p:ph idx="1"/>
          </p:nvPr>
        </p:nvSpPr>
        <p:spPr>
          <a:xfrm>
            <a:off x="266700" y="1417638"/>
            <a:ext cx="8610600" cy="4983163"/>
          </a:xfrm>
        </p:spPr>
        <p:txBody>
          <a:bodyPr>
            <a:normAutofit/>
          </a:bodyPr>
          <a:lstStyle/>
          <a:p>
            <a:pPr>
              <a:buFont typeface="Wingdings" panose="05000000000000000000" pitchFamily="2" charset="2"/>
              <a:buChar char="ü"/>
            </a:pPr>
            <a:r>
              <a:rPr lang="bg-BG" sz="2800" b="1" dirty="0">
                <a:effectLst>
                  <a:outerShdw blurRad="38100" dist="38100" dir="2700000" algn="tl">
                    <a:srgbClr val="000000">
                      <a:alpha val="43137"/>
                    </a:srgbClr>
                  </a:outerShdw>
                </a:effectLst>
                <a:cs typeface="Times New Roman" pitchFamily="18" charset="0"/>
              </a:rPr>
              <a:t>Biotransformation</a:t>
            </a:r>
          </a:p>
          <a:p>
            <a:pPr algn="just">
              <a:buFont typeface="Wingdings" pitchFamily="2" charset="2"/>
              <a:buChar char="§"/>
            </a:pPr>
            <a:r>
              <a:rPr lang="en-US" sz="2200" dirty="0">
                <a:cs typeface="Times New Roman" pitchFamily="18" charset="0"/>
              </a:rPr>
              <a:t>Undergo hepatic oxidation to inactive water-soluble metabolites</a:t>
            </a:r>
            <a:r>
              <a:rPr lang="en-US" sz="2400" dirty="0">
                <a:cs typeface="Times New Roman" pitchFamily="18" charset="0"/>
              </a:rPr>
              <a:t>.</a:t>
            </a:r>
            <a:r>
              <a:rPr lang="bg-BG" sz="2400" dirty="0">
                <a:cs typeface="Times New Roman" pitchFamily="18" charset="0"/>
              </a:rPr>
              <a:t>.</a:t>
            </a:r>
            <a:endParaRPr lang="en-US" sz="2400" dirty="0">
              <a:cs typeface="Times New Roman" pitchFamily="18" charset="0"/>
            </a:endParaRPr>
          </a:p>
          <a:p>
            <a:pPr algn="just">
              <a:buFont typeface="Wingdings" pitchFamily="2" charset="2"/>
              <a:buChar char="§"/>
            </a:pPr>
            <a:r>
              <a:rPr lang="en-US" sz="2200" dirty="0">
                <a:cs typeface="Times New Roman" pitchFamily="18" charset="0"/>
              </a:rPr>
              <a:t>Oxybarbiturates are metabolized only in hepatocytes</a:t>
            </a:r>
            <a:r>
              <a:rPr lang="bg-BG" sz="2400" dirty="0">
                <a:cs typeface="Times New Roman" pitchFamily="18" charset="0"/>
              </a:rPr>
              <a:t>. </a:t>
            </a:r>
            <a:endParaRPr lang="en-US" sz="2400" dirty="0">
              <a:cs typeface="Times New Roman" pitchFamily="18" charset="0"/>
            </a:endParaRPr>
          </a:p>
          <a:p>
            <a:pPr algn="just">
              <a:buFont typeface="Wingdings" pitchFamily="2" charset="2"/>
              <a:buChar char="§"/>
            </a:pPr>
            <a:r>
              <a:rPr lang="bg-BG" sz="2200" dirty="0">
                <a:cs typeface="Times New Roman" pitchFamily="18" charset="0"/>
              </a:rPr>
              <a:t>Although redistribution is responsible for the awakening from a single dose of any of these lipid-soluble barbiturates</a:t>
            </a:r>
            <a:r>
              <a:rPr lang="bg-BG" sz="2400" dirty="0">
                <a:cs typeface="Times New Roman" pitchFamily="18" charset="0"/>
              </a:rPr>
              <a:t>, </a:t>
            </a:r>
            <a:endParaRPr lang="en-US" sz="2400" dirty="0">
              <a:cs typeface="Times New Roman" pitchFamily="18" charset="0"/>
            </a:endParaRPr>
          </a:p>
          <a:p>
            <a:pPr lvl="1" algn="just"/>
            <a:r>
              <a:rPr lang="bg-BG" sz="2400" dirty="0">
                <a:cs typeface="Times New Roman" pitchFamily="18" charset="0"/>
              </a:rPr>
              <a:t>full recovery of psychomotor function is more rapid following use of methohexital due to its enhanced metabolism.</a:t>
            </a:r>
            <a:endParaRPr lang="en-US" sz="2400" dirty="0">
              <a:cs typeface="Times New Roman" pitchFamily="18" charset="0"/>
            </a:endParaRPr>
          </a:p>
          <a:p>
            <a:pPr marL="0" indent="0" algn="just">
              <a:buNone/>
            </a:pPr>
            <a:r>
              <a:rPr lang="en-US" sz="2400" b="1" cap="all" dirty="0">
                <a:cs typeface="Times New Roman" pitchFamily="18" charset="0"/>
              </a:rPr>
              <a:t>	</a:t>
            </a:r>
            <a:endParaRPr lang="en-US" sz="2400" dirty="0">
              <a:cs typeface="Times New Roman" pitchFamily="18" charset="0"/>
            </a:endParaRPr>
          </a:p>
        </p:txBody>
      </p:sp>
    </p:spTree>
    <p:extLst>
      <p:ext uri="{BB962C8B-B14F-4D97-AF65-F5344CB8AC3E}">
        <p14:creationId xmlns:p14="http://schemas.microsoft.com/office/powerpoint/2010/main" val="358302790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latin typeface="Agency FB" pitchFamily="34" charset="0"/>
              </a:rPr>
              <a:t>Pharmacokinetics….</a:t>
            </a:r>
            <a:endParaRPr lang="en-US" dirty="0"/>
          </a:p>
        </p:txBody>
      </p:sp>
      <p:sp>
        <p:nvSpPr>
          <p:cNvPr id="3" name="Content Placeholder 2"/>
          <p:cNvSpPr>
            <a:spLocks noGrp="1"/>
          </p:cNvSpPr>
          <p:nvPr>
            <p:ph idx="1"/>
          </p:nvPr>
        </p:nvSpPr>
        <p:spPr>
          <a:xfrm>
            <a:off x="457200" y="1600200"/>
            <a:ext cx="8534400" cy="4525963"/>
          </a:xfrm>
        </p:spPr>
        <p:txBody>
          <a:bodyPr>
            <a:normAutofit/>
          </a:bodyPr>
          <a:lstStyle/>
          <a:p>
            <a:pPr>
              <a:buFont typeface="Wingdings" panose="05000000000000000000" pitchFamily="2" charset="2"/>
              <a:buChar char="ü"/>
            </a:pPr>
            <a:r>
              <a:rPr lang="bg-BG" b="1" dirty="0">
                <a:cs typeface="Times New Roman" pitchFamily="18" charset="0"/>
              </a:rPr>
              <a:t>Excretion</a:t>
            </a:r>
            <a:endParaRPr lang="bg-BG" sz="3900" b="1" dirty="0">
              <a:cs typeface="Times New Roman" pitchFamily="18" charset="0"/>
            </a:endParaRPr>
          </a:p>
          <a:p>
            <a:r>
              <a:rPr lang="en-US" sz="2400" dirty="0">
                <a:cs typeface="Times New Roman" pitchFamily="18" charset="0"/>
              </a:rPr>
              <a:t>Increased </a:t>
            </a:r>
            <a:r>
              <a:rPr lang="bg-BG" sz="2400" dirty="0">
                <a:cs typeface="Times New Roman" pitchFamily="18" charset="0"/>
              </a:rPr>
              <a:t>protein binding decreases barbiturate glomerular filtration, </a:t>
            </a:r>
            <a:endParaRPr lang="en-US" sz="2400" dirty="0">
              <a:cs typeface="Times New Roman" pitchFamily="18" charset="0"/>
            </a:endParaRPr>
          </a:p>
          <a:p>
            <a:pPr lvl="1"/>
            <a:r>
              <a:rPr lang="en-US" sz="2400" dirty="0">
                <a:solidFill>
                  <a:srgbClr val="FF0000"/>
                </a:solidFill>
                <a:cs typeface="Times New Roman" pitchFamily="18" charset="0"/>
              </a:rPr>
              <a:t>w</a:t>
            </a:r>
            <a:r>
              <a:rPr lang="bg-BG" sz="2400" dirty="0">
                <a:solidFill>
                  <a:srgbClr val="FF0000"/>
                </a:solidFill>
                <a:cs typeface="Times New Roman" pitchFamily="18" charset="0"/>
              </a:rPr>
              <a:t>here</a:t>
            </a:r>
            <a:r>
              <a:rPr lang="en-US" sz="2400" dirty="0">
                <a:solidFill>
                  <a:srgbClr val="FF0000"/>
                </a:solidFill>
                <a:cs typeface="Times New Roman" pitchFamily="18" charset="0"/>
              </a:rPr>
              <a:t> </a:t>
            </a:r>
            <a:r>
              <a:rPr lang="bg-BG" sz="2400" dirty="0">
                <a:solidFill>
                  <a:srgbClr val="FF0000"/>
                </a:solidFill>
                <a:cs typeface="Times New Roman" pitchFamily="18" charset="0"/>
              </a:rPr>
              <a:t>as </a:t>
            </a:r>
            <a:r>
              <a:rPr lang="en-US" sz="2400" dirty="0">
                <a:solidFill>
                  <a:srgbClr val="FF0000"/>
                </a:solidFill>
                <a:cs typeface="Times New Roman" pitchFamily="18" charset="0"/>
              </a:rPr>
              <a:t>increased</a:t>
            </a:r>
            <a:r>
              <a:rPr lang="bg-BG" sz="2400" dirty="0">
                <a:solidFill>
                  <a:srgbClr val="FF0000"/>
                </a:solidFill>
                <a:cs typeface="Times New Roman" pitchFamily="18" charset="0"/>
              </a:rPr>
              <a:t> lipid solubility tends to increase renal tubular reabsorption. </a:t>
            </a:r>
            <a:endParaRPr lang="en-US" sz="2400" dirty="0">
              <a:solidFill>
                <a:srgbClr val="FF0000"/>
              </a:solidFill>
              <a:cs typeface="Times New Roman" pitchFamily="18" charset="0"/>
            </a:endParaRPr>
          </a:p>
          <a:p>
            <a:r>
              <a:rPr lang="bg-BG" sz="2400" dirty="0">
                <a:cs typeface="Times New Roman" pitchFamily="18" charset="0"/>
              </a:rPr>
              <a:t>Except for the </a:t>
            </a:r>
            <a:r>
              <a:rPr lang="bg-BG" sz="2400" dirty="0">
                <a:solidFill>
                  <a:srgbClr val="FF0000"/>
                </a:solidFill>
                <a:cs typeface="Times New Roman" pitchFamily="18" charset="0"/>
              </a:rPr>
              <a:t>less protein-bound and less lipid-soluble </a:t>
            </a:r>
            <a:r>
              <a:rPr lang="bg-BG" sz="2400" dirty="0">
                <a:cs typeface="Times New Roman" pitchFamily="18" charset="0"/>
              </a:rPr>
              <a:t>agents such as phenobarbital, </a:t>
            </a:r>
            <a:endParaRPr lang="en-US" sz="2400" dirty="0">
              <a:cs typeface="Times New Roman" pitchFamily="18" charset="0"/>
            </a:endParaRPr>
          </a:p>
          <a:p>
            <a:pPr lvl="1" algn="just"/>
            <a:r>
              <a:rPr lang="bg-BG" sz="2300" dirty="0">
                <a:cs typeface="Times New Roman" pitchFamily="18" charset="0"/>
              </a:rPr>
              <a:t>renal excretion is limited to water-soluble end products of hepatic biotransformation. </a:t>
            </a:r>
            <a:endParaRPr lang="en-US" sz="2300" dirty="0">
              <a:cs typeface="Times New Roman" pitchFamily="18" charset="0"/>
            </a:endParaRPr>
          </a:p>
          <a:p>
            <a:pPr lvl="1" algn="just"/>
            <a:r>
              <a:rPr lang="bg-BG" sz="2300" dirty="0">
                <a:cs typeface="Times New Roman" pitchFamily="18" charset="0"/>
              </a:rPr>
              <a:t>Methohexital is excreted in the feces.</a:t>
            </a:r>
          </a:p>
          <a:p>
            <a:endParaRPr lang="en-US" sz="2400" dirty="0">
              <a:cs typeface="Times New Roman" pitchFamily="18" charset="0"/>
            </a:endParaRPr>
          </a:p>
          <a:p>
            <a:endParaRPr lang="en-US" sz="2400" dirty="0"/>
          </a:p>
        </p:txBody>
      </p:sp>
    </p:spTree>
    <p:extLst>
      <p:ext uri="{BB962C8B-B14F-4D97-AF65-F5344CB8AC3E}">
        <p14:creationId xmlns:p14="http://schemas.microsoft.com/office/powerpoint/2010/main" val="342940344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latin typeface="Agency FB" pitchFamily="34" charset="0"/>
                <a:cs typeface="Times New Roman" pitchFamily="18" charset="0"/>
              </a:rPr>
            </a:br>
            <a:r>
              <a:rPr lang="en-US" dirty="0">
                <a:latin typeface="Agency FB" pitchFamily="34" charset="0"/>
                <a:cs typeface="Times New Roman" pitchFamily="18" charset="0"/>
              </a:rPr>
              <a:t>Pharmacodynamics of barbiturates</a:t>
            </a:r>
            <a:br>
              <a:rPr lang="bg-BG" dirty="0">
                <a:latin typeface="Times New Roman" pitchFamily="18" charset="0"/>
                <a:cs typeface="Times New Roman" pitchFamily="18" charset="0"/>
              </a:rPr>
            </a:br>
            <a:endParaRPr lang="en-US" dirty="0">
              <a:latin typeface="Agency FB" pitchFamily="34" charset="0"/>
              <a:cs typeface="Times New Roman" pitchFamily="18" charset="0"/>
            </a:endParaRPr>
          </a:p>
        </p:txBody>
      </p:sp>
      <p:sp>
        <p:nvSpPr>
          <p:cNvPr id="3" name="Content Placeholder 2"/>
          <p:cNvSpPr>
            <a:spLocks noGrp="1"/>
          </p:cNvSpPr>
          <p:nvPr>
            <p:ph idx="1"/>
          </p:nvPr>
        </p:nvSpPr>
        <p:spPr>
          <a:xfrm>
            <a:off x="457200" y="1600200"/>
            <a:ext cx="8458200" cy="4525963"/>
          </a:xfrm>
        </p:spPr>
        <p:txBody>
          <a:bodyPr>
            <a:normAutofit/>
          </a:bodyPr>
          <a:lstStyle/>
          <a:p>
            <a:pPr>
              <a:buFont typeface="Wingdings" panose="05000000000000000000" pitchFamily="2" charset="2"/>
              <a:buChar char="ü"/>
            </a:pPr>
            <a:r>
              <a:rPr lang="bg-BG" sz="3500" b="1" dirty="0">
                <a:effectLst>
                  <a:outerShdw blurRad="38100" dist="38100" dir="2700000" algn="tl">
                    <a:srgbClr val="000000">
                      <a:alpha val="43137"/>
                    </a:srgbClr>
                  </a:outerShdw>
                </a:effectLst>
                <a:cs typeface="Times New Roman" pitchFamily="18" charset="0"/>
              </a:rPr>
              <a:t>Cardiovascular</a:t>
            </a:r>
          </a:p>
          <a:p>
            <a:r>
              <a:rPr lang="en-US" sz="2600" dirty="0">
                <a:cs typeface="Times New Roman" pitchFamily="18" charset="0"/>
                <a:sym typeface="Symbol"/>
              </a:rPr>
              <a:t> MAP and Cardiac output</a:t>
            </a:r>
          </a:p>
          <a:p>
            <a:pPr lvl="1"/>
            <a:r>
              <a:rPr lang="en-US" sz="2400" dirty="0">
                <a:cs typeface="Times New Roman" pitchFamily="18" charset="0"/>
                <a:sym typeface="Symbol"/>
              </a:rPr>
              <a:t>The primary mechanism is reduction of venous vascular tone, followed by</a:t>
            </a:r>
          </a:p>
          <a:p>
            <a:pPr lvl="1"/>
            <a:r>
              <a:rPr lang="en-US" sz="2400" dirty="0">
                <a:cs typeface="Times New Roman" pitchFamily="18" charset="0"/>
                <a:sym typeface="Symbol"/>
              </a:rPr>
              <a:t> peripheral pooling of venous blood and a decrease in venous return. </a:t>
            </a:r>
          </a:p>
          <a:p>
            <a:r>
              <a:rPr lang="en-US" sz="2600" dirty="0">
                <a:cs typeface="Times New Roman" pitchFamily="18" charset="0"/>
                <a:sym typeface="Symbol"/>
              </a:rPr>
              <a:t> HR (tachycardia)</a:t>
            </a:r>
          </a:p>
          <a:p>
            <a:pPr marL="400050" lvl="1" indent="0">
              <a:buNone/>
            </a:pPr>
            <a:r>
              <a:rPr lang="en-US" sz="2200" dirty="0">
                <a:cs typeface="Times New Roman" pitchFamily="18" charset="0"/>
                <a:sym typeface="Symbol"/>
              </a:rPr>
              <a:t>   -</a:t>
            </a:r>
            <a:r>
              <a:rPr lang="bg-BG" sz="2200" dirty="0">
                <a:cs typeface="Times New Roman" pitchFamily="18" charset="0"/>
              </a:rPr>
              <a:t> </a:t>
            </a:r>
            <a:r>
              <a:rPr lang="bg-BG" sz="2400" dirty="0">
                <a:cs typeface="Times New Roman" pitchFamily="18" charset="0"/>
              </a:rPr>
              <a:t>probably due to a central vagolytic effect</a:t>
            </a:r>
            <a:r>
              <a:rPr lang="en-US" sz="2400" dirty="0">
                <a:cs typeface="Times New Roman" pitchFamily="18" charset="0"/>
              </a:rPr>
              <a:t> and reflex responses to decreases in BP.</a:t>
            </a:r>
          </a:p>
          <a:p>
            <a:pPr>
              <a:buFont typeface="Wingdings" pitchFamily="2" charset="2"/>
              <a:buChar char="§"/>
            </a:pPr>
            <a:endParaRPr lang="en-US" dirty="0">
              <a:cs typeface="Times New Roman" pitchFamily="18" charset="0"/>
            </a:endParaRPr>
          </a:p>
        </p:txBody>
      </p:sp>
    </p:spTree>
    <p:extLst>
      <p:ext uri="{BB962C8B-B14F-4D97-AF65-F5344CB8AC3E}">
        <p14:creationId xmlns:p14="http://schemas.microsoft.com/office/powerpoint/2010/main" val="277739320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B4F0B-EF9F-5900-115C-2C4B483B43EE}"/>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CDB8BFDF-CA4A-CEA0-53D6-FEF4F8074142}"/>
              </a:ext>
            </a:extLst>
          </p:cNvPr>
          <p:cNvSpPr>
            <a:spLocks noGrp="1"/>
          </p:cNvSpPr>
          <p:nvPr>
            <p:ph idx="1"/>
          </p:nvPr>
        </p:nvSpPr>
        <p:spPr>
          <a:xfrm>
            <a:off x="457200" y="1600200"/>
            <a:ext cx="8458200" cy="4525963"/>
          </a:xfrm>
        </p:spPr>
        <p:txBody>
          <a:bodyPr/>
          <a:lstStyle/>
          <a:p>
            <a:r>
              <a:rPr lang="bg-BG" sz="2400" dirty="0">
                <a:cs typeface="Times New Roman" pitchFamily="18" charset="0"/>
              </a:rPr>
              <a:t>Depression of the medullary vasomotor center vasodilates peripheral capacitance vessels, </a:t>
            </a:r>
            <a:endParaRPr lang="en-US" sz="2400" dirty="0">
              <a:cs typeface="Times New Roman" pitchFamily="18" charset="0"/>
            </a:endParaRPr>
          </a:p>
          <a:p>
            <a:pPr lvl="1"/>
            <a:r>
              <a:rPr lang="bg-BG" sz="2400" dirty="0">
                <a:cs typeface="Times New Roman" pitchFamily="18" charset="0"/>
              </a:rPr>
              <a:t>which increases peripheral pooling of blood and decreases venous return to the right atrium</a:t>
            </a:r>
            <a:endParaRPr lang="en-US" sz="2400" dirty="0">
              <a:cs typeface="Times New Roman" pitchFamily="18" charset="0"/>
            </a:endParaRPr>
          </a:p>
          <a:p>
            <a:pPr>
              <a:buFont typeface="Wingdings" pitchFamily="2" charset="2"/>
              <a:buChar char="§"/>
            </a:pPr>
            <a:r>
              <a:rPr lang="en-US" sz="2400" dirty="0">
                <a:solidFill>
                  <a:srgbClr val="FF0000"/>
                </a:solidFill>
                <a:cs typeface="Times New Roman" pitchFamily="18" charset="0"/>
              </a:rPr>
              <a:t>Cardiac output </a:t>
            </a:r>
            <a:r>
              <a:rPr lang="en-US" sz="2400" dirty="0">
                <a:cs typeface="Times New Roman" pitchFamily="18" charset="0"/>
              </a:rPr>
              <a:t>is </a:t>
            </a:r>
            <a:r>
              <a:rPr lang="en-US" sz="2400" dirty="0">
                <a:solidFill>
                  <a:srgbClr val="FF0000"/>
                </a:solidFill>
                <a:cs typeface="Times New Roman" pitchFamily="18" charset="0"/>
              </a:rPr>
              <a:t>maintained </a:t>
            </a:r>
            <a:r>
              <a:rPr lang="en-US" sz="2400" dirty="0">
                <a:cs typeface="Times New Roman" pitchFamily="18" charset="0"/>
              </a:rPr>
              <a:t>by</a:t>
            </a:r>
            <a:r>
              <a:rPr lang="en-US" sz="2400" dirty="0">
                <a:cs typeface="Times New Roman" pitchFamily="18" charset="0"/>
                <a:sym typeface="Symbol"/>
              </a:rPr>
              <a:t>  in </a:t>
            </a:r>
            <a:r>
              <a:rPr lang="en-US" sz="2400" dirty="0">
                <a:solidFill>
                  <a:srgbClr val="FF0000"/>
                </a:solidFill>
                <a:cs typeface="Times New Roman" pitchFamily="18" charset="0"/>
              </a:rPr>
              <a:t>HR </a:t>
            </a:r>
            <a:r>
              <a:rPr lang="en-US" sz="2400" dirty="0">
                <a:cs typeface="Times New Roman" pitchFamily="18" charset="0"/>
              </a:rPr>
              <a:t>and myocardial contractility from compensatory baroreceptor reflexes</a:t>
            </a:r>
          </a:p>
          <a:p>
            <a:endParaRPr lang="en-US" dirty="0"/>
          </a:p>
        </p:txBody>
      </p:sp>
    </p:spTree>
    <p:extLst>
      <p:ext uri="{BB962C8B-B14F-4D97-AF65-F5344CB8AC3E}">
        <p14:creationId xmlns:p14="http://schemas.microsoft.com/office/powerpoint/2010/main" val="247566681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gency FB" pitchFamily="34" charset="0"/>
              </a:rPr>
              <a:t>Cont…</a:t>
            </a:r>
          </a:p>
        </p:txBody>
      </p:sp>
      <p:sp>
        <p:nvSpPr>
          <p:cNvPr id="3" name="Content Placeholder 2"/>
          <p:cNvSpPr>
            <a:spLocks noGrp="1"/>
          </p:cNvSpPr>
          <p:nvPr>
            <p:ph idx="1"/>
          </p:nvPr>
        </p:nvSpPr>
        <p:spPr>
          <a:xfrm>
            <a:off x="457200" y="1295400"/>
            <a:ext cx="8534400" cy="4830763"/>
          </a:xfrm>
        </p:spPr>
        <p:txBody>
          <a:bodyPr>
            <a:noAutofit/>
          </a:bodyPr>
          <a:lstStyle/>
          <a:p>
            <a:pPr algn="just">
              <a:buFont typeface="Wingdings" panose="05000000000000000000" pitchFamily="2" charset="2"/>
              <a:buChar char="ü"/>
            </a:pPr>
            <a:r>
              <a:rPr lang="bg-BG" sz="2800" b="1" dirty="0">
                <a:cs typeface="Times New Roman" pitchFamily="18" charset="0"/>
              </a:rPr>
              <a:t>Respiratory</a:t>
            </a:r>
            <a:endParaRPr lang="bg-BG" sz="2400" b="1" dirty="0">
              <a:cs typeface="Times New Roman" pitchFamily="18" charset="0"/>
            </a:endParaRPr>
          </a:p>
          <a:p>
            <a:pPr algn="just"/>
            <a:r>
              <a:rPr lang="en-US" sz="2400" dirty="0">
                <a:cs typeface="Times New Roman" pitchFamily="18" charset="0"/>
              </a:rPr>
              <a:t>Respiratory depression in a dose-dependent manner</a:t>
            </a:r>
          </a:p>
          <a:p>
            <a:pPr algn="just"/>
            <a:r>
              <a:rPr lang="en-US" sz="2400" dirty="0">
                <a:cs typeface="Times New Roman" pitchFamily="18" charset="0"/>
              </a:rPr>
              <a:t>Decreases ventilatory response to hypercapnia and hypoxia</a:t>
            </a:r>
          </a:p>
          <a:p>
            <a:pPr lvl="1" algn="just"/>
            <a:r>
              <a:rPr lang="en-US" sz="2400" dirty="0">
                <a:solidFill>
                  <a:srgbClr val="FF0000"/>
                </a:solidFill>
                <a:cs typeface="Times New Roman" pitchFamily="18" charset="0"/>
              </a:rPr>
              <a:t>By depressing of medullary ventilatory center </a:t>
            </a:r>
          </a:p>
          <a:p>
            <a:pPr algn="just"/>
            <a:r>
              <a:rPr lang="en-US" sz="2400" dirty="0">
                <a:cs typeface="Times New Roman" pitchFamily="18" charset="0"/>
              </a:rPr>
              <a:t>Deep barbiturate sedation often leads to upper airway obstruction; apnea usually follows an induction dose.</a:t>
            </a:r>
          </a:p>
          <a:p>
            <a:pPr algn="just"/>
            <a:r>
              <a:rPr lang="en-US" sz="2400" dirty="0">
                <a:cs typeface="Times New Roman" pitchFamily="18" charset="0"/>
              </a:rPr>
              <a:t>Decreases </a:t>
            </a:r>
            <a:r>
              <a:rPr lang="en-US" sz="2400" dirty="0">
                <a:solidFill>
                  <a:srgbClr val="FF0000"/>
                </a:solidFill>
                <a:cs typeface="Times New Roman" pitchFamily="18" charset="0"/>
              </a:rPr>
              <a:t>tidal volume </a:t>
            </a:r>
            <a:r>
              <a:rPr lang="en-US" sz="2400" dirty="0">
                <a:cs typeface="Times New Roman" pitchFamily="18" charset="0"/>
              </a:rPr>
              <a:t>and </a:t>
            </a:r>
            <a:r>
              <a:rPr lang="en-US" sz="2400" dirty="0">
                <a:solidFill>
                  <a:srgbClr val="FF0000"/>
                </a:solidFill>
                <a:cs typeface="Times New Roman" pitchFamily="18" charset="0"/>
              </a:rPr>
              <a:t>RR</a:t>
            </a:r>
            <a:r>
              <a:rPr lang="en-US" sz="2400" dirty="0">
                <a:cs typeface="Times New Roman" pitchFamily="18" charset="0"/>
              </a:rPr>
              <a:t> during awakening.</a:t>
            </a:r>
          </a:p>
          <a:p>
            <a:pPr algn="just"/>
            <a:r>
              <a:rPr lang="en-US" sz="2400" dirty="0">
                <a:cs typeface="Times New Roman" pitchFamily="18" charset="0"/>
              </a:rPr>
              <a:t>Do not completely depress noxious airway reflexes </a:t>
            </a:r>
          </a:p>
          <a:p>
            <a:pPr algn="just"/>
            <a:r>
              <a:rPr lang="en-US" sz="2400" dirty="0">
                <a:cs typeface="Times New Roman" pitchFamily="18" charset="0"/>
              </a:rPr>
              <a:t> </a:t>
            </a:r>
            <a:r>
              <a:rPr lang="en-US" sz="2400" dirty="0">
                <a:solidFill>
                  <a:srgbClr val="FF0000"/>
                </a:solidFill>
                <a:cs typeface="Times New Roman" pitchFamily="18" charset="0"/>
              </a:rPr>
              <a:t>Bronchospasm</a:t>
            </a:r>
            <a:r>
              <a:rPr lang="en-US" sz="2400" dirty="0">
                <a:cs typeface="Times New Roman" pitchFamily="18" charset="0"/>
              </a:rPr>
              <a:t> or </a:t>
            </a:r>
            <a:r>
              <a:rPr lang="en-US" sz="2400" dirty="0">
                <a:solidFill>
                  <a:srgbClr val="FF0000"/>
                </a:solidFill>
                <a:cs typeface="Times New Roman" pitchFamily="18" charset="0"/>
              </a:rPr>
              <a:t>laryngospasm</a:t>
            </a:r>
            <a:r>
              <a:rPr lang="en-US" sz="2400" dirty="0">
                <a:cs typeface="Times New Roman" pitchFamily="18" charset="0"/>
              </a:rPr>
              <a:t> in lightly anesthetized patients with airway manipulation</a:t>
            </a:r>
          </a:p>
          <a:p>
            <a:pPr algn="just"/>
            <a:endParaRPr lang="en-US" sz="2400" dirty="0">
              <a:cs typeface="Times New Roman" pitchFamily="18" charset="0"/>
            </a:endParaRPr>
          </a:p>
        </p:txBody>
      </p:sp>
    </p:spTree>
    <p:extLst>
      <p:ext uri="{BB962C8B-B14F-4D97-AF65-F5344CB8AC3E}">
        <p14:creationId xmlns:p14="http://schemas.microsoft.com/office/powerpoint/2010/main" val="405296288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n-lt"/>
              </a:rPr>
              <a:t>Cont…</a:t>
            </a:r>
          </a:p>
        </p:txBody>
      </p:sp>
      <p:sp>
        <p:nvSpPr>
          <p:cNvPr id="3" name="Content Placeholder 2"/>
          <p:cNvSpPr>
            <a:spLocks noGrp="1"/>
          </p:cNvSpPr>
          <p:nvPr>
            <p:ph idx="1"/>
          </p:nvPr>
        </p:nvSpPr>
        <p:spPr>
          <a:xfrm>
            <a:off x="457200" y="1371600"/>
            <a:ext cx="8534400" cy="4754563"/>
          </a:xfrm>
        </p:spPr>
        <p:txBody>
          <a:bodyPr>
            <a:noAutofit/>
          </a:bodyPr>
          <a:lstStyle/>
          <a:p>
            <a:pPr>
              <a:lnSpc>
                <a:spcPct val="80000"/>
              </a:lnSpc>
              <a:buFont typeface="Wingdings" panose="05000000000000000000" pitchFamily="2" charset="2"/>
              <a:buChar char="ü"/>
            </a:pPr>
            <a:r>
              <a:rPr lang="bg-BG" dirty="0">
                <a:effectLst>
                  <a:outerShdw blurRad="38100" dist="38100" dir="2700000" algn="tl">
                    <a:srgbClr val="000000">
                      <a:alpha val="43137"/>
                    </a:srgbClr>
                  </a:outerShdw>
                </a:effectLst>
                <a:cs typeface="Times New Roman" pitchFamily="18" charset="0"/>
              </a:rPr>
              <a:t>Cerebral</a:t>
            </a:r>
            <a:endParaRPr lang="en-US" sz="4000" dirty="0">
              <a:effectLst>
                <a:outerShdw blurRad="38100" dist="38100" dir="2700000" algn="tl">
                  <a:srgbClr val="000000">
                    <a:alpha val="43137"/>
                  </a:srgbClr>
                </a:outerShdw>
              </a:effectLst>
              <a:cs typeface="Times New Roman" pitchFamily="18" charset="0"/>
            </a:endParaRPr>
          </a:p>
          <a:p>
            <a:pPr>
              <a:lnSpc>
                <a:spcPct val="80000"/>
              </a:lnSpc>
            </a:pPr>
            <a:r>
              <a:rPr lang="en-US" sz="2400" dirty="0">
                <a:cs typeface="Times New Roman" pitchFamily="18" charset="0"/>
              </a:rPr>
              <a:t>Constrict cerebral vasculature </a:t>
            </a:r>
            <a:r>
              <a:rPr lang="en-US" sz="2400" dirty="0">
                <a:cs typeface="Times New Roman" pitchFamily="18" charset="0"/>
                <a:sym typeface="Symbol"/>
              </a:rPr>
              <a:t> e</a:t>
            </a:r>
            <a:r>
              <a:rPr lang="en-US" sz="2400" dirty="0">
                <a:cs typeface="Times New Roman" pitchFamily="18" charset="0"/>
              </a:rPr>
              <a:t>s CBF, CBV and ICP</a:t>
            </a:r>
          </a:p>
          <a:p>
            <a:pPr>
              <a:lnSpc>
                <a:spcPct val="80000"/>
              </a:lnSpc>
            </a:pPr>
            <a:r>
              <a:rPr lang="en-US" sz="2400" dirty="0">
                <a:cs typeface="Times New Roman" pitchFamily="18" charset="0"/>
              </a:rPr>
              <a:t>Cerebral perfusion pressure (CPP) usually increased, improved or unchanged</a:t>
            </a:r>
          </a:p>
          <a:p>
            <a:pPr lvl="1">
              <a:lnSpc>
                <a:spcPct val="80000"/>
              </a:lnSpc>
              <a:buFont typeface="Wingdings" pitchFamily="2" charset="2"/>
              <a:buChar char="§"/>
            </a:pPr>
            <a:r>
              <a:rPr lang="en-US" sz="2400" dirty="0">
                <a:solidFill>
                  <a:srgbClr val="FF0000"/>
                </a:solidFill>
                <a:cs typeface="Times New Roman" pitchFamily="18" charset="0"/>
              </a:rPr>
              <a:t>since drop in ICP exceeds decline in arterial blood pressure</a:t>
            </a:r>
          </a:p>
          <a:p>
            <a:pPr lvl="1">
              <a:lnSpc>
                <a:spcPct val="80000"/>
              </a:lnSpc>
            </a:pPr>
            <a:r>
              <a:rPr lang="en-US" sz="2400" dirty="0">
                <a:cs typeface="Times New Roman" pitchFamily="18" charset="0"/>
              </a:rPr>
              <a:t>CPP = MAP – CVP or ICP</a:t>
            </a:r>
          </a:p>
          <a:p>
            <a:pPr>
              <a:lnSpc>
                <a:spcPct val="80000"/>
              </a:lnSpc>
            </a:pPr>
            <a:r>
              <a:rPr lang="en-US" sz="2400" dirty="0">
                <a:cs typeface="Times New Roman" pitchFamily="18" charset="0"/>
                <a:sym typeface="Symbol"/>
              </a:rPr>
              <a:t> </a:t>
            </a:r>
            <a:r>
              <a:rPr lang="en-US" sz="2400" dirty="0">
                <a:cs typeface="Times New Roman" pitchFamily="18" charset="0"/>
              </a:rPr>
              <a:t>cerebral oxygen consumption (up to 50% of normal)—dose dependent</a:t>
            </a:r>
          </a:p>
          <a:p>
            <a:pPr>
              <a:lnSpc>
                <a:spcPct val="80000"/>
              </a:lnSpc>
            </a:pPr>
            <a:r>
              <a:rPr lang="en-US" sz="2400" dirty="0">
                <a:cs typeface="Times New Roman" pitchFamily="18" charset="0"/>
              </a:rPr>
              <a:t>Some patients complains a taste sensation of onion, garlic, or pizza taste during  induction with thiopental.</a:t>
            </a:r>
          </a:p>
          <a:p>
            <a:pPr>
              <a:lnSpc>
                <a:spcPct val="80000"/>
              </a:lnSpc>
            </a:pPr>
            <a:r>
              <a:rPr lang="en-US" sz="2400" dirty="0">
                <a:cs typeface="Times New Roman" pitchFamily="18" charset="0"/>
              </a:rPr>
              <a:t>Does not selectively impair pain perception, </a:t>
            </a:r>
          </a:p>
          <a:p>
            <a:pPr lvl="1">
              <a:lnSpc>
                <a:spcPct val="80000"/>
              </a:lnSpc>
            </a:pPr>
            <a:r>
              <a:rPr lang="en-US" sz="2400" dirty="0">
                <a:cs typeface="Times New Roman" pitchFamily="18" charset="0"/>
              </a:rPr>
              <a:t>sometimes lowers pain threshold; so, </a:t>
            </a:r>
            <a:r>
              <a:rPr lang="en-US" sz="2400" dirty="0">
                <a:solidFill>
                  <a:srgbClr val="FF0000"/>
                </a:solidFill>
                <a:cs typeface="Times New Roman" pitchFamily="18" charset="0"/>
              </a:rPr>
              <a:t>antianalgesic effect</a:t>
            </a:r>
          </a:p>
          <a:p>
            <a:endParaRPr lang="en-US" sz="2400" dirty="0">
              <a:cs typeface="Times New Roman" pitchFamily="18" charset="0"/>
            </a:endParaRPr>
          </a:p>
        </p:txBody>
      </p:sp>
    </p:spTree>
    <p:extLst>
      <p:ext uri="{BB962C8B-B14F-4D97-AF65-F5344CB8AC3E}">
        <p14:creationId xmlns:p14="http://schemas.microsoft.com/office/powerpoint/2010/main" val="164770555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gency FB" pitchFamily="34" charset="0"/>
              </a:rPr>
              <a:t>Cont…</a:t>
            </a:r>
            <a:endParaRPr lang="en-US" dirty="0"/>
          </a:p>
        </p:txBody>
      </p:sp>
      <p:sp>
        <p:nvSpPr>
          <p:cNvPr id="3" name="Content Placeholder 2"/>
          <p:cNvSpPr>
            <a:spLocks noGrp="1"/>
          </p:cNvSpPr>
          <p:nvPr>
            <p:ph idx="1"/>
          </p:nvPr>
        </p:nvSpPr>
        <p:spPr>
          <a:xfrm>
            <a:off x="457200" y="1600200"/>
            <a:ext cx="8534400" cy="4525963"/>
          </a:xfrm>
        </p:spPr>
        <p:txBody>
          <a:bodyPr>
            <a:normAutofit/>
          </a:bodyPr>
          <a:lstStyle/>
          <a:p>
            <a:pPr>
              <a:lnSpc>
                <a:spcPct val="80000"/>
              </a:lnSpc>
            </a:pPr>
            <a:r>
              <a:rPr lang="en-US" sz="2400" dirty="0">
                <a:cs typeface="Times New Roman" pitchFamily="18" charset="0"/>
              </a:rPr>
              <a:t>Do not produce muscle relaxation</a:t>
            </a:r>
          </a:p>
          <a:p>
            <a:pPr lvl="1">
              <a:lnSpc>
                <a:spcPct val="80000"/>
              </a:lnSpc>
            </a:pPr>
            <a:r>
              <a:rPr lang="en-US" sz="2400" dirty="0">
                <a:cs typeface="Times New Roman" pitchFamily="18" charset="0"/>
              </a:rPr>
              <a:t>Some induce involuntary skeletal muscle contractions (e.g., methohexital).</a:t>
            </a:r>
          </a:p>
          <a:p>
            <a:pPr>
              <a:lnSpc>
                <a:spcPct val="80000"/>
              </a:lnSpc>
            </a:pPr>
            <a:r>
              <a:rPr lang="en-US" sz="2400" dirty="0">
                <a:cs typeface="Times New Roman" pitchFamily="18" charset="0"/>
              </a:rPr>
              <a:t>Small doses of thiopental control most grand mall seizures (50-100mg IV).</a:t>
            </a:r>
          </a:p>
          <a:p>
            <a:pPr>
              <a:lnSpc>
                <a:spcPct val="80000"/>
              </a:lnSpc>
            </a:pPr>
            <a:r>
              <a:rPr lang="en-US" sz="2400" dirty="0">
                <a:cs typeface="Times New Roman" pitchFamily="18" charset="0"/>
              </a:rPr>
              <a:t>Acute </a:t>
            </a:r>
            <a:r>
              <a:rPr lang="en-US" sz="2400" dirty="0">
                <a:solidFill>
                  <a:srgbClr val="FF0000"/>
                </a:solidFill>
                <a:cs typeface="Times New Roman" pitchFamily="18" charset="0"/>
              </a:rPr>
              <a:t>tolerance</a:t>
            </a:r>
            <a:r>
              <a:rPr lang="en-US" sz="2400" dirty="0">
                <a:cs typeface="Times New Roman" pitchFamily="18" charset="0"/>
              </a:rPr>
              <a:t> and </a:t>
            </a:r>
            <a:r>
              <a:rPr lang="en-US" sz="2400" dirty="0">
                <a:solidFill>
                  <a:srgbClr val="FF0000"/>
                </a:solidFill>
                <a:cs typeface="Times New Roman" pitchFamily="18" charset="0"/>
              </a:rPr>
              <a:t>physiological dependence </a:t>
            </a:r>
            <a:r>
              <a:rPr lang="en-US" sz="2400" dirty="0">
                <a:cs typeface="Times New Roman" pitchFamily="18" charset="0"/>
              </a:rPr>
              <a:t>on sedative effect develop quickly.</a:t>
            </a:r>
          </a:p>
          <a:p>
            <a:pPr>
              <a:buFont typeface="Wingdings" panose="05000000000000000000" pitchFamily="2" charset="2"/>
              <a:buChar char="ü"/>
            </a:pPr>
            <a:r>
              <a:rPr lang="en-US" sz="3600" dirty="0"/>
              <a:t>Renal</a:t>
            </a:r>
            <a:endParaRPr lang="en-US" sz="4800" dirty="0"/>
          </a:p>
          <a:p>
            <a:r>
              <a:rPr lang="en-US" sz="2400" dirty="0">
                <a:cs typeface="Times New Roman" pitchFamily="18" charset="0"/>
                <a:sym typeface="Symbol"/>
              </a:rPr>
              <a:t></a:t>
            </a:r>
            <a:r>
              <a:rPr lang="en-US" sz="2400" dirty="0">
                <a:cs typeface="Times New Roman" pitchFamily="18" charset="0"/>
              </a:rPr>
              <a:t> renal blood flow and GFR in proportion to decrease in BP.</a:t>
            </a:r>
          </a:p>
          <a:p>
            <a:endParaRPr lang="en-US" sz="2800" dirty="0">
              <a:cs typeface="Times New Roman" pitchFamily="18" charset="0"/>
            </a:endParaRPr>
          </a:p>
        </p:txBody>
      </p:sp>
    </p:spTree>
    <p:extLst>
      <p:ext uri="{BB962C8B-B14F-4D97-AF65-F5344CB8AC3E}">
        <p14:creationId xmlns:p14="http://schemas.microsoft.com/office/powerpoint/2010/main" val="235032649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gency FB" pitchFamily="34" charset="0"/>
              </a:rPr>
              <a:t>Cont…</a:t>
            </a:r>
            <a:endParaRPr lang="en-US" dirty="0"/>
          </a:p>
        </p:txBody>
      </p:sp>
      <p:sp>
        <p:nvSpPr>
          <p:cNvPr id="3" name="Content Placeholder 2"/>
          <p:cNvSpPr>
            <a:spLocks noGrp="1"/>
          </p:cNvSpPr>
          <p:nvPr>
            <p:ph idx="1"/>
          </p:nvPr>
        </p:nvSpPr>
        <p:spPr/>
        <p:txBody>
          <a:bodyPr>
            <a:normAutofit/>
          </a:bodyPr>
          <a:lstStyle/>
          <a:p>
            <a:pPr>
              <a:lnSpc>
                <a:spcPct val="90000"/>
              </a:lnSpc>
              <a:buFont typeface="Wingdings" panose="05000000000000000000" pitchFamily="2" charset="2"/>
              <a:buChar char="ü"/>
            </a:pPr>
            <a:r>
              <a:rPr lang="en-US" sz="3600" b="1" dirty="0"/>
              <a:t>Hepatic</a:t>
            </a:r>
            <a:endParaRPr lang="en-US" b="1" dirty="0"/>
          </a:p>
          <a:p>
            <a:pPr>
              <a:lnSpc>
                <a:spcPct val="90000"/>
              </a:lnSpc>
            </a:pPr>
            <a:r>
              <a:rPr lang="en-US" sz="2400" dirty="0">
                <a:cs typeface="Times New Roman" pitchFamily="18" charset="0"/>
              </a:rPr>
              <a:t>Decreases hepatic blood flow</a:t>
            </a:r>
          </a:p>
          <a:p>
            <a:pPr>
              <a:lnSpc>
                <a:spcPct val="90000"/>
              </a:lnSpc>
            </a:pPr>
            <a:r>
              <a:rPr lang="en-US" sz="2400" dirty="0">
                <a:solidFill>
                  <a:srgbClr val="FF0000"/>
                </a:solidFill>
                <a:cs typeface="Times New Roman" pitchFamily="18" charset="0"/>
              </a:rPr>
              <a:t>Induces hepatic enzymes </a:t>
            </a:r>
          </a:p>
          <a:p>
            <a:pPr lvl="1" algn="just">
              <a:lnSpc>
                <a:spcPct val="90000"/>
              </a:lnSpc>
            </a:pPr>
            <a:r>
              <a:rPr lang="en-US" sz="2300" dirty="0">
                <a:cs typeface="Times New Roman" pitchFamily="18" charset="0"/>
              </a:rPr>
              <a:t>which increases rate of metabolism of some drugs (digoxin) </a:t>
            </a:r>
          </a:p>
          <a:p>
            <a:pPr lvl="1" algn="just">
              <a:lnSpc>
                <a:spcPct val="90000"/>
              </a:lnSpc>
            </a:pPr>
            <a:r>
              <a:rPr lang="en-US" sz="2300" dirty="0">
                <a:cs typeface="Times New Roman" pitchFamily="18" charset="0"/>
              </a:rPr>
              <a:t>but may also interfere with biotransformation of other drugs (TCA</a:t>
            </a:r>
            <a:r>
              <a:rPr lang="en-US" sz="2400" dirty="0">
                <a:cs typeface="Times New Roman" pitchFamily="18" charset="0"/>
              </a:rPr>
              <a:t>)</a:t>
            </a:r>
          </a:p>
          <a:p>
            <a:pPr>
              <a:lnSpc>
                <a:spcPct val="90000"/>
              </a:lnSpc>
            </a:pPr>
            <a:r>
              <a:rPr lang="en-US" sz="2400" dirty="0">
                <a:cs typeface="Times New Roman" pitchFamily="18" charset="0"/>
              </a:rPr>
              <a:t>Induction of </a:t>
            </a:r>
            <a:r>
              <a:rPr lang="en-US" sz="2400" dirty="0" err="1">
                <a:cs typeface="Times New Roman" pitchFamily="18" charset="0"/>
              </a:rPr>
              <a:t>aminolevulinic</a:t>
            </a:r>
            <a:r>
              <a:rPr lang="en-US" sz="2400" dirty="0">
                <a:cs typeface="Times New Roman" pitchFamily="18" charset="0"/>
              </a:rPr>
              <a:t> acid synthetase </a:t>
            </a:r>
          </a:p>
          <a:p>
            <a:pPr lvl="1">
              <a:lnSpc>
                <a:spcPct val="90000"/>
              </a:lnSpc>
            </a:pPr>
            <a:r>
              <a:rPr lang="en-US" sz="2200" dirty="0">
                <a:cs typeface="Times New Roman" pitchFamily="18" charset="0"/>
              </a:rPr>
              <a:t>stimulates formation of </a:t>
            </a:r>
            <a:r>
              <a:rPr lang="en-US" sz="2200" b="1" dirty="0">
                <a:cs typeface="Times New Roman" pitchFamily="18" charset="0"/>
              </a:rPr>
              <a:t>porphyrin</a:t>
            </a:r>
            <a:r>
              <a:rPr lang="en-US" sz="2200" dirty="0">
                <a:cs typeface="Times New Roman" pitchFamily="18" charset="0"/>
              </a:rPr>
              <a:t> (an intermediary in heme synthesis), which may precipitate acute intermittent porphyria in susceptible individuals</a:t>
            </a:r>
          </a:p>
          <a:p>
            <a:endParaRPr lang="en-US" dirty="0"/>
          </a:p>
        </p:txBody>
      </p:sp>
    </p:spTree>
    <p:extLst>
      <p:ext uri="{BB962C8B-B14F-4D97-AF65-F5344CB8AC3E}">
        <p14:creationId xmlns:p14="http://schemas.microsoft.com/office/powerpoint/2010/main" val="335011544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n-lt"/>
              </a:rPr>
              <a:t>Cont…</a:t>
            </a:r>
          </a:p>
        </p:txBody>
      </p:sp>
      <p:sp>
        <p:nvSpPr>
          <p:cNvPr id="3" name="Content Placeholder 2"/>
          <p:cNvSpPr>
            <a:spLocks noGrp="1"/>
          </p:cNvSpPr>
          <p:nvPr>
            <p:ph idx="1"/>
          </p:nvPr>
        </p:nvSpPr>
        <p:spPr>
          <a:xfrm>
            <a:off x="457200" y="1600200"/>
            <a:ext cx="8382000" cy="4525963"/>
          </a:xfrm>
        </p:spPr>
        <p:txBody>
          <a:bodyPr>
            <a:normAutofit/>
          </a:bodyPr>
          <a:lstStyle/>
          <a:p>
            <a:pPr>
              <a:buFont typeface="Wingdings" panose="05000000000000000000" pitchFamily="2" charset="2"/>
              <a:buChar char="ü"/>
            </a:pPr>
            <a:r>
              <a:rPr lang="en-US" b="1" dirty="0">
                <a:cs typeface="Times New Roman" pitchFamily="18" charset="0"/>
              </a:rPr>
              <a:t>Immunological</a:t>
            </a:r>
            <a:endParaRPr lang="en-US" sz="2800" b="1" dirty="0">
              <a:cs typeface="Times New Roman" pitchFamily="18" charset="0"/>
            </a:endParaRPr>
          </a:p>
          <a:p>
            <a:r>
              <a:rPr lang="en-US" sz="2400" dirty="0">
                <a:cs typeface="Times New Roman" pitchFamily="18" charset="0"/>
              </a:rPr>
              <a:t>Rare anaphylactic and anaphylactoid allergic reactions</a:t>
            </a:r>
          </a:p>
          <a:p>
            <a:endParaRPr lang="en-US" sz="2400" dirty="0">
              <a:cs typeface="Times New Roman" pitchFamily="18" charset="0"/>
            </a:endParaRPr>
          </a:p>
          <a:p>
            <a:r>
              <a:rPr lang="en-US" sz="2400" dirty="0">
                <a:cs typeface="Times New Roman" pitchFamily="18" charset="0"/>
              </a:rPr>
              <a:t>Sulfur-contained thiobarbiturares (like thiopental) theoretically evoke mast cell histamine release, unlike oxybarbiturates </a:t>
            </a:r>
          </a:p>
          <a:p>
            <a:pPr lvl="1"/>
            <a:r>
              <a:rPr lang="en-US" sz="2400" dirty="0">
                <a:cs typeface="Times New Roman" pitchFamily="18" charset="0"/>
              </a:rPr>
              <a:t>So, some people may prefer methohexital in asthmatic   patients.</a:t>
            </a:r>
          </a:p>
          <a:p>
            <a:endParaRPr lang="en-US" sz="2800" dirty="0">
              <a:cs typeface="Times New Roman" pitchFamily="18" charset="0"/>
            </a:endParaRPr>
          </a:p>
        </p:txBody>
      </p:sp>
    </p:spTree>
    <p:extLst>
      <p:ext uri="{BB962C8B-B14F-4D97-AF65-F5344CB8AC3E}">
        <p14:creationId xmlns:p14="http://schemas.microsoft.com/office/powerpoint/2010/main" val="412167982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solidFill>
                  <a:schemeClr val="tx2">
                    <a:satMod val="130000"/>
                  </a:schemeClr>
                </a:solidFill>
                <a:latin typeface="Agency FB" pitchFamily="34" charset="0"/>
              </a:rPr>
              <a:t>Barbiturates: Drug Interactions</a:t>
            </a:r>
            <a:endParaRPr lang="en-US" sz="5400" dirty="0">
              <a:latin typeface="Agency FB" pitchFamily="34" charset="0"/>
            </a:endParaRPr>
          </a:p>
        </p:txBody>
      </p:sp>
      <p:sp>
        <p:nvSpPr>
          <p:cNvPr id="3" name="Content Placeholder 2"/>
          <p:cNvSpPr>
            <a:spLocks noGrp="1"/>
          </p:cNvSpPr>
          <p:nvPr>
            <p:ph idx="1"/>
          </p:nvPr>
        </p:nvSpPr>
        <p:spPr>
          <a:xfrm>
            <a:off x="457200" y="1600200"/>
            <a:ext cx="8458200" cy="4525963"/>
          </a:xfrm>
        </p:spPr>
        <p:txBody>
          <a:bodyPr/>
          <a:lstStyle/>
          <a:p>
            <a:r>
              <a:rPr lang="en-US" sz="2400" dirty="0"/>
              <a:t>Ethanol, opioids, antihistamines, other CNS depressants </a:t>
            </a:r>
            <a:r>
              <a:rPr lang="en-US" sz="2400" dirty="0">
                <a:solidFill>
                  <a:srgbClr val="FF0000"/>
                </a:solidFill>
              </a:rPr>
              <a:t>potentiate sedative effect of barbiturates.</a:t>
            </a:r>
          </a:p>
          <a:p>
            <a:endParaRPr lang="en-US" sz="2400" dirty="0">
              <a:solidFill>
                <a:srgbClr val="FF0000"/>
              </a:solidFill>
            </a:endParaRPr>
          </a:p>
          <a:p>
            <a:r>
              <a:rPr lang="en-US" sz="2400" dirty="0"/>
              <a:t>Does chronic alcohol abuse associated with increased thiopental requirements during induction?</a:t>
            </a:r>
          </a:p>
          <a:p>
            <a:pPr lvl="1"/>
            <a:r>
              <a:rPr lang="en-US" sz="2400" b="1" dirty="0"/>
              <a:t>NO, It lacks scientific proof.</a:t>
            </a:r>
          </a:p>
          <a:p>
            <a:pPr marL="0" indent="0">
              <a:buNone/>
            </a:pPr>
            <a:endParaRPr lang="en-US" dirty="0">
              <a:solidFill>
                <a:srgbClr val="FF0000"/>
              </a:solidFill>
            </a:endParaRPr>
          </a:p>
        </p:txBody>
      </p:sp>
    </p:spTree>
    <p:extLst>
      <p:ext uri="{BB962C8B-B14F-4D97-AF65-F5344CB8AC3E}">
        <p14:creationId xmlns:p14="http://schemas.microsoft.com/office/powerpoint/2010/main" val="2229303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9800" b="1" dirty="0">
                <a:solidFill>
                  <a:srgbClr val="FFFF00"/>
                </a:solidFill>
                <a:effectLst>
                  <a:outerShdw blurRad="38100" dist="38100" dir="2700000" algn="tl">
                    <a:srgbClr val="000000">
                      <a:alpha val="43137"/>
                    </a:srgbClr>
                  </a:outerShdw>
                </a:effectLst>
                <a:latin typeface="Agency FB" pitchFamily="34" charset="0"/>
              </a:rPr>
              <a:t>Thiopental</a:t>
            </a:r>
            <a:r>
              <a:rPr lang="en-US" sz="9800" dirty="0">
                <a:solidFill>
                  <a:srgbClr val="FFFF00"/>
                </a:solidFill>
                <a:effectLst>
                  <a:outerShdw blurRad="38100" dist="38100" dir="2700000" algn="tl">
                    <a:srgbClr val="000000">
                      <a:alpha val="43137"/>
                    </a:srgbClr>
                  </a:outerShdw>
                </a:effectLst>
                <a:latin typeface="Agency FB" pitchFamily="34" charset="0"/>
              </a:rPr>
              <a:t> </a:t>
            </a:r>
            <a:endParaRPr lang="en-US" dirty="0">
              <a:solidFill>
                <a:srgbClr val="FFFF00"/>
              </a:solidFill>
              <a:effectLst>
                <a:outerShdw blurRad="38100" dist="38100" dir="2700000" algn="tl">
                  <a:srgbClr val="000000">
                    <a:alpha val="43137"/>
                  </a:srgbClr>
                </a:outerShdw>
              </a:effectLst>
              <a:latin typeface="Agency FB" pitchFamily="34" charset="0"/>
            </a:endParaRPr>
          </a:p>
        </p:txBody>
      </p:sp>
      <p:pic>
        <p:nvPicPr>
          <p:cNvPr id="4" name="Content Placeholder 5" descr="20161121_171741.jpg"/>
          <p:cNvPicPr>
            <a:picLocks noGrp="1" noChangeAspect="1"/>
          </p:cNvPicPr>
          <p:nvPr>
            <p:ph idx="1"/>
          </p:nvPr>
        </p:nvPicPr>
        <p:blipFill>
          <a:blip r:embed="rId2" cstate="print"/>
          <a:stretch>
            <a:fillRect/>
          </a:stretch>
        </p:blipFill>
        <p:spPr>
          <a:xfrm rot="5400000">
            <a:off x="2289560" y="1600200"/>
            <a:ext cx="4564879" cy="452596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82729452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CD4B1-DA67-6674-F327-647DD8CC4EF8}"/>
              </a:ext>
            </a:extLst>
          </p:cNvPr>
          <p:cNvSpPr>
            <a:spLocks noGrp="1"/>
          </p:cNvSpPr>
          <p:nvPr>
            <p:ph type="title"/>
          </p:nvPr>
        </p:nvSpPr>
        <p:spPr/>
        <p:txBody>
          <a:bodyPr/>
          <a:lstStyle/>
          <a:p>
            <a:r>
              <a:rPr lang="en-US" dirty="0">
                <a:latin typeface="+mn-lt"/>
              </a:rPr>
              <a:t>Introduction </a:t>
            </a:r>
          </a:p>
        </p:txBody>
      </p:sp>
      <p:sp>
        <p:nvSpPr>
          <p:cNvPr id="3" name="Content Placeholder 2">
            <a:extLst>
              <a:ext uri="{FF2B5EF4-FFF2-40B4-BE49-F238E27FC236}">
                <a16:creationId xmlns:a16="http://schemas.microsoft.com/office/drawing/2014/main" id="{3085889A-D23E-CD05-3AEE-D9EA13439DFE}"/>
              </a:ext>
            </a:extLst>
          </p:cNvPr>
          <p:cNvSpPr>
            <a:spLocks noGrp="1"/>
          </p:cNvSpPr>
          <p:nvPr>
            <p:ph idx="1"/>
          </p:nvPr>
        </p:nvSpPr>
        <p:spPr/>
        <p:txBody>
          <a:bodyPr>
            <a:normAutofit/>
          </a:bodyPr>
          <a:lstStyle/>
          <a:p>
            <a:pPr algn="l"/>
            <a:r>
              <a:rPr lang="en-US" sz="2800" b="0" i="0" u="none" strike="noStrike" baseline="0" dirty="0"/>
              <a:t>Thiopental is one of the earliest IV anesthetics used.</a:t>
            </a:r>
          </a:p>
          <a:p>
            <a:pPr algn="l"/>
            <a:r>
              <a:rPr lang="en-US" sz="2800" b="0" i="0" u="none" strike="noStrike" baseline="0" dirty="0"/>
              <a:t> </a:t>
            </a:r>
            <a:r>
              <a:rPr lang="en-US" sz="2800" dirty="0"/>
              <a:t>D</a:t>
            </a:r>
            <a:r>
              <a:rPr lang="en-US" sz="2800" b="0" i="0" u="none" strike="noStrike" baseline="0" dirty="0"/>
              <a:t>iscovered in the 1930s.</a:t>
            </a:r>
          </a:p>
          <a:p>
            <a:pPr algn="l"/>
            <a:r>
              <a:rPr lang="en-US" sz="2800" b="0" i="0" u="none" strike="noStrike" baseline="0" dirty="0"/>
              <a:t> First used on human patients in 1934</a:t>
            </a:r>
          </a:p>
          <a:p>
            <a:pPr algn="l"/>
            <a:r>
              <a:rPr lang="en-US" sz="2800" dirty="0"/>
              <a:t>It was the “gold standard” for IV anesthetics for 50 years due to</a:t>
            </a:r>
          </a:p>
          <a:p>
            <a:pPr lvl="1"/>
            <a:r>
              <a:rPr lang="en-US" sz="2400" dirty="0"/>
              <a:t>rapid, smooth onset of sedative and hypnotic effects, </a:t>
            </a:r>
          </a:p>
          <a:p>
            <a:pPr lvl="1"/>
            <a:r>
              <a:rPr lang="en-US" sz="2400" dirty="0"/>
              <a:t>Predictable pharmacokinetics, and a rapid and smooth emergence.</a:t>
            </a:r>
          </a:p>
          <a:p>
            <a:pPr lvl="2"/>
            <a:r>
              <a:rPr lang="en-US" sz="2000" dirty="0"/>
              <a:t>However, thiopental has a long context-sensitive half-time that made it less ideal for use as an infusion.</a:t>
            </a:r>
          </a:p>
        </p:txBody>
      </p:sp>
    </p:spTree>
    <p:extLst>
      <p:ext uri="{BB962C8B-B14F-4D97-AF65-F5344CB8AC3E}">
        <p14:creationId xmlns:p14="http://schemas.microsoft.com/office/powerpoint/2010/main" val="174176544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a:solidFill>
                  <a:srgbClr val="FFFF00"/>
                </a:solidFill>
                <a:effectLst>
                  <a:outerShdw blurRad="38100" dist="38100" dir="2700000" algn="tl">
                    <a:srgbClr val="000000">
                      <a:alpha val="43137"/>
                    </a:srgbClr>
                  </a:outerShdw>
                </a:effectLst>
                <a:latin typeface="+mn-lt"/>
              </a:rPr>
              <a:t>Thiopental</a:t>
            </a:r>
            <a:r>
              <a:rPr lang="en-US" sz="5400" dirty="0">
                <a:solidFill>
                  <a:srgbClr val="FFFF00"/>
                </a:solidFill>
                <a:effectLst>
                  <a:outerShdw blurRad="38100" dist="38100" dir="2700000" algn="tl">
                    <a:srgbClr val="000000">
                      <a:alpha val="43137"/>
                    </a:srgbClr>
                  </a:outerShdw>
                </a:effectLst>
                <a:latin typeface="+mn-lt"/>
              </a:rPr>
              <a:t> </a:t>
            </a:r>
          </a:p>
        </p:txBody>
      </p:sp>
      <p:sp>
        <p:nvSpPr>
          <p:cNvPr id="3" name="Content Placeholder 2"/>
          <p:cNvSpPr>
            <a:spLocks noGrp="1"/>
          </p:cNvSpPr>
          <p:nvPr>
            <p:ph idx="1"/>
          </p:nvPr>
        </p:nvSpPr>
        <p:spPr>
          <a:xfrm>
            <a:off x="304800" y="1600200"/>
            <a:ext cx="8610600" cy="4525963"/>
          </a:xfrm>
        </p:spPr>
        <p:txBody>
          <a:bodyPr>
            <a:normAutofit/>
          </a:bodyPr>
          <a:lstStyle/>
          <a:p>
            <a:pPr>
              <a:lnSpc>
                <a:spcPct val="150000"/>
              </a:lnSpc>
            </a:pPr>
            <a:r>
              <a:rPr lang="en-US" sz="2400" dirty="0">
                <a:cs typeface="Times New Roman" pitchFamily="18" charset="0"/>
              </a:rPr>
              <a:t>It is a yellow hygroscopic powder with a bitter taste</a:t>
            </a:r>
          </a:p>
          <a:p>
            <a:pPr>
              <a:lnSpc>
                <a:spcPct val="150000"/>
              </a:lnSpc>
            </a:pPr>
            <a:r>
              <a:rPr lang="en-US" sz="2400" dirty="0">
                <a:cs typeface="Times New Roman" pitchFamily="18" charset="0"/>
              </a:rPr>
              <a:t>It is dissolved to produce a 2.5% sol. with a PH of 10.5 – 11.</a:t>
            </a:r>
          </a:p>
          <a:p>
            <a:pPr>
              <a:lnSpc>
                <a:spcPct val="150000"/>
              </a:lnSpc>
            </a:pPr>
            <a:r>
              <a:rPr lang="en-US" sz="2400" dirty="0">
                <a:cs typeface="Times New Roman" pitchFamily="18" charset="0"/>
              </a:rPr>
              <a:t>It is an ultra-short acting barbiturate.</a:t>
            </a:r>
          </a:p>
          <a:p>
            <a:pPr>
              <a:lnSpc>
                <a:spcPct val="150000"/>
              </a:lnSpc>
            </a:pPr>
            <a:r>
              <a:rPr lang="en-US" sz="2400" dirty="0">
                <a:solidFill>
                  <a:srgbClr val="050607"/>
                </a:solidFill>
                <a:cs typeface="Times New Roman" pitchFamily="18" charset="0"/>
              </a:rPr>
              <a:t>Rapid onset (15-30 seconds) and short duration of action.</a:t>
            </a:r>
          </a:p>
          <a:p>
            <a:pPr>
              <a:lnSpc>
                <a:spcPct val="150000"/>
              </a:lnSpc>
            </a:pPr>
            <a:r>
              <a:rPr lang="en-US" sz="2400" dirty="0">
                <a:cs typeface="Times New Roman" pitchFamily="18" charset="0"/>
              </a:rPr>
              <a:t>Consciousness regained within 5-10 minutes by redistribution to skeletal muscle</a:t>
            </a:r>
          </a:p>
          <a:p>
            <a:pPr>
              <a:lnSpc>
                <a:spcPct val="150000"/>
              </a:lnSpc>
            </a:pPr>
            <a:r>
              <a:rPr lang="en-US" sz="2400" dirty="0">
                <a:cs typeface="Times New Roman" pitchFamily="18" charset="0"/>
              </a:rPr>
              <a:t>Longer  elimination half time- 12hrs. vs </a:t>
            </a:r>
            <a:r>
              <a:rPr lang="en-US" sz="2400" dirty="0" err="1">
                <a:cs typeface="Times New Roman" pitchFamily="18" charset="0"/>
              </a:rPr>
              <a:t>metohexital</a:t>
            </a:r>
            <a:endParaRPr lang="en-US" sz="2400" dirty="0">
              <a:cs typeface="Times New Roman" pitchFamily="18" charset="0"/>
            </a:endParaRPr>
          </a:p>
        </p:txBody>
      </p:sp>
    </p:spTree>
    <p:extLst>
      <p:ext uri="{BB962C8B-B14F-4D97-AF65-F5344CB8AC3E}">
        <p14:creationId xmlns:p14="http://schemas.microsoft.com/office/powerpoint/2010/main" val="249475053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a:solidFill>
                  <a:srgbClr val="FFFF00"/>
                </a:solidFill>
                <a:effectLst>
                  <a:outerShdw blurRad="38100" dist="38100" dir="2700000" algn="tl">
                    <a:srgbClr val="000000">
                      <a:alpha val="43137"/>
                    </a:srgbClr>
                  </a:outerShdw>
                </a:effectLst>
                <a:latin typeface="Agency FB" pitchFamily="34" charset="0"/>
              </a:rPr>
              <a:t>Thiopental</a:t>
            </a:r>
            <a:r>
              <a:rPr lang="en-US" sz="5400" dirty="0">
                <a:solidFill>
                  <a:srgbClr val="FFFF00"/>
                </a:solidFill>
                <a:effectLst>
                  <a:outerShdw blurRad="38100" dist="38100" dir="2700000" algn="tl">
                    <a:srgbClr val="000000">
                      <a:alpha val="43137"/>
                    </a:srgbClr>
                  </a:outerShdw>
                </a:effectLst>
                <a:latin typeface="Agency FB" pitchFamily="34" charset="0"/>
              </a:rPr>
              <a:t>…</a:t>
            </a:r>
            <a:endParaRPr lang="en-US" sz="5400"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457200" y="1600200"/>
            <a:ext cx="8382000" cy="4525963"/>
          </a:xfrm>
        </p:spPr>
        <p:txBody>
          <a:bodyPr/>
          <a:lstStyle/>
          <a:p>
            <a:pPr>
              <a:lnSpc>
                <a:spcPct val="150000"/>
              </a:lnSpc>
              <a:buFont typeface="Wingdings" pitchFamily="2" charset="2"/>
              <a:buChar char="§"/>
            </a:pPr>
            <a:r>
              <a:rPr lang="en-US" sz="2400" dirty="0">
                <a:cs typeface="Times New Roman" pitchFamily="18" charset="0"/>
              </a:rPr>
              <a:t>Its high alkalinity makes it irritant to tissues – necrosis.</a:t>
            </a:r>
          </a:p>
          <a:p>
            <a:pPr>
              <a:lnSpc>
                <a:spcPct val="150000"/>
              </a:lnSpc>
              <a:buFont typeface="Wingdings" pitchFamily="2" charset="2"/>
              <a:buChar char="§"/>
            </a:pPr>
            <a:r>
              <a:rPr lang="en-US" sz="2400" dirty="0">
                <a:cs typeface="Times New Roman" pitchFamily="18" charset="0"/>
              </a:rPr>
              <a:t>The necrotizing action increases as the concentration increases</a:t>
            </a:r>
          </a:p>
          <a:p>
            <a:pPr>
              <a:lnSpc>
                <a:spcPct val="150000"/>
              </a:lnSpc>
              <a:buFont typeface="Wingdings" pitchFamily="2" charset="2"/>
              <a:buChar char="§"/>
            </a:pPr>
            <a:r>
              <a:rPr lang="en-US" sz="2400" dirty="0">
                <a:cs typeface="Times New Roman" pitchFamily="18" charset="0"/>
              </a:rPr>
              <a:t>About 70-80% of administered dose – bound to plasma protein</a:t>
            </a:r>
          </a:p>
          <a:p>
            <a:pPr>
              <a:lnSpc>
                <a:spcPct val="150000"/>
              </a:lnSpc>
              <a:buFont typeface="Wingdings" pitchFamily="2" charset="2"/>
              <a:buChar char="§"/>
            </a:pPr>
            <a:r>
              <a:rPr lang="en-US" sz="2400" dirty="0">
                <a:cs typeface="Times New Roman" pitchFamily="18" charset="0"/>
              </a:rPr>
              <a:t>A</a:t>
            </a:r>
            <a:r>
              <a:rPr lang="bg-BG" sz="2400" dirty="0">
                <a:cs typeface="Times New Roman" pitchFamily="18" charset="0"/>
              </a:rPr>
              <a:t>lthough thiopental is highly protein bound (80%),</a:t>
            </a:r>
            <a:endParaRPr lang="en-US" sz="2400" dirty="0">
              <a:cs typeface="Times New Roman" pitchFamily="18" charset="0"/>
            </a:endParaRPr>
          </a:p>
          <a:p>
            <a:pPr lvl="1">
              <a:lnSpc>
                <a:spcPct val="150000"/>
              </a:lnSpc>
            </a:pPr>
            <a:r>
              <a:rPr lang="bg-BG" sz="2500" dirty="0">
                <a:solidFill>
                  <a:srgbClr val="FF0000"/>
                </a:solidFill>
                <a:cs typeface="Times New Roman" pitchFamily="18" charset="0"/>
              </a:rPr>
              <a:t> its great lipid solubility and high nonionized fraction (60%) account for maximal brain uptake within 30 s</a:t>
            </a:r>
            <a:r>
              <a:rPr lang="en-US" sz="2500" dirty="0">
                <a:solidFill>
                  <a:srgbClr val="FF0000"/>
                </a:solidFill>
                <a:cs typeface="Times New Roman" pitchFamily="18" charset="0"/>
              </a:rPr>
              <a:t>ec</a:t>
            </a:r>
            <a:r>
              <a:rPr lang="bg-BG" sz="2500" dirty="0">
                <a:solidFill>
                  <a:srgbClr val="FF0000"/>
                </a:solidFill>
                <a:cs typeface="Times New Roman" pitchFamily="18" charset="0"/>
              </a:rPr>
              <a:t>. </a:t>
            </a:r>
            <a:endParaRPr lang="en-US" sz="2500" dirty="0">
              <a:solidFill>
                <a:srgbClr val="FF0000"/>
              </a:solidFill>
              <a:cs typeface="Times New Roman" pitchFamily="18" charset="0"/>
            </a:endParaRPr>
          </a:p>
          <a:p>
            <a:pPr>
              <a:lnSpc>
                <a:spcPct val="150000"/>
              </a:lnSpc>
            </a:pPr>
            <a:endParaRPr lang="en-US" sz="2400" dirty="0">
              <a:cs typeface="Times New Roman" pitchFamily="18" charset="0"/>
            </a:endParaRPr>
          </a:p>
          <a:p>
            <a:pPr>
              <a:lnSpc>
                <a:spcPct val="150000"/>
              </a:lnSpc>
            </a:pPr>
            <a:endParaRPr lang="en-US" dirty="0"/>
          </a:p>
        </p:txBody>
      </p:sp>
    </p:spTree>
    <p:extLst>
      <p:ext uri="{BB962C8B-B14F-4D97-AF65-F5344CB8AC3E}">
        <p14:creationId xmlns:p14="http://schemas.microsoft.com/office/powerpoint/2010/main" val="334011829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400" dirty="0">
                <a:solidFill>
                  <a:srgbClr val="FFC000"/>
                </a:solidFill>
                <a:effectLst>
                  <a:outerShdw blurRad="38100" dist="38100" dir="2700000" algn="tl">
                    <a:srgbClr val="000000">
                      <a:alpha val="43137"/>
                    </a:srgbClr>
                  </a:outerShdw>
                </a:effectLst>
              </a:rPr>
              <a:t>Mechanism of action of thiopental</a:t>
            </a:r>
          </a:p>
        </p:txBody>
      </p:sp>
      <p:sp>
        <p:nvSpPr>
          <p:cNvPr id="3" name="Content Placeholder 2"/>
          <p:cNvSpPr>
            <a:spLocks noGrp="1"/>
          </p:cNvSpPr>
          <p:nvPr>
            <p:ph idx="1"/>
          </p:nvPr>
        </p:nvSpPr>
        <p:spPr>
          <a:xfrm>
            <a:off x="457200" y="1600200"/>
            <a:ext cx="8458200" cy="4525963"/>
          </a:xfrm>
        </p:spPr>
        <p:txBody>
          <a:bodyPr>
            <a:normAutofit/>
          </a:bodyPr>
          <a:lstStyle/>
          <a:p>
            <a:pPr>
              <a:buNone/>
              <a:defRPr/>
            </a:pPr>
            <a:r>
              <a:rPr lang="en-US" sz="2800" u="sng" dirty="0">
                <a:cs typeface="Times New Roman" pitchFamily="18" charset="0"/>
              </a:rPr>
              <a:t>Involves</a:t>
            </a:r>
            <a:r>
              <a:rPr lang="en-US" sz="2800" dirty="0">
                <a:cs typeface="Times New Roman" pitchFamily="18" charset="0"/>
              </a:rPr>
              <a:t>:</a:t>
            </a:r>
          </a:p>
          <a:p>
            <a:pPr marL="514350" indent="-514350">
              <a:buFont typeface="+mj-lt"/>
              <a:buAutoNum type="arabicPeriod"/>
              <a:defRPr/>
            </a:pPr>
            <a:r>
              <a:rPr lang="en-US" sz="2400" dirty="0">
                <a:cs typeface="Times New Roman" pitchFamily="18" charset="0"/>
              </a:rPr>
              <a:t>Activation (Enhancement) of GABA</a:t>
            </a:r>
            <a:r>
              <a:rPr lang="en-US" sz="2400" baseline="-25000" dirty="0">
                <a:cs typeface="Times New Roman" pitchFamily="18" charset="0"/>
              </a:rPr>
              <a:t> </a:t>
            </a:r>
            <a:r>
              <a:rPr lang="en-US" sz="2400" dirty="0">
                <a:cs typeface="Times New Roman" pitchFamily="18" charset="0"/>
              </a:rPr>
              <a:t> receptor complex:</a:t>
            </a:r>
          </a:p>
          <a:p>
            <a:pPr lvl="1">
              <a:defRPr/>
            </a:pPr>
            <a:r>
              <a:rPr lang="en-US" sz="2400" dirty="0">
                <a:cs typeface="Times New Roman" pitchFamily="18" charset="0"/>
              </a:rPr>
              <a:t>Enhancement of GABA-mediated Cl</a:t>
            </a:r>
            <a:r>
              <a:rPr lang="en-US" sz="3200" dirty="0">
                <a:cs typeface="Times New Roman" pitchFamily="18" charset="0"/>
                <a:sym typeface="Symbol"/>
              </a:rPr>
              <a:t></a:t>
            </a:r>
            <a:r>
              <a:rPr lang="en-US" sz="3200" dirty="0">
                <a:cs typeface="Times New Roman" pitchFamily="18" charset="0"/>
              </a:rPr>
              <a:t> </a:t>
            </a:r>
            <a:r>
              <a:rPr lang="en-US" sz="2400" dirty="0">
                <a:cs typeface="Times New Roman" pitchFamily="18" charset="0"/>
              </a:rPr>
              <a:t>currents </a:t>
            </a:r>
            <a:r>
              <a:rPr lang="en-US" dirty="0">
                <a:solidFill>
                  <a:srgbClr val="FF0000"/>
                </a:solidFill>
                <a:cs typeface="Times New Roman" pitchFamily="18" charset="0"/>
                <a:sym typeface="Symbol"/>
              </a:rPr>
              <a:t></a:t>
            </a:r>
            <a:r>
              <a:rPr lang="en-US" dirty="0">
                <a:cs typeface="Times New Roman" pitchFamily="18" charset="0"/>
                <a:sym typeface="Symbol"/>
              </a:rPr>
              <a:t> </a:t>
            </a:r>
            <a:r>
              <a:rPr lang="en-US" sz="2400" dirty="0">
                <a:cs typeface="Times New Roman" pitchFamily="18" charset="0"/>
              </a:rPr>
              <a:t>leading to </a:t>
            </a:r>
            <a:r>
              <a:rPr lang="en-US" sz="2400" dirty="0">
                <a:solidFill>
                  <a:srgbClr val="FF0000"/>
                </a:solidFill>
                <a:cs typeface="Times New Roman" pitchFamily="18" charset="0"/>
              </a:rPr>
              <a:t>hyperpolarization</a:t>
            </a:r>
            <a:r>
              <a:rPr lang="en-US" sz="2400" dirty="0">
                <a:cs typeface="Times New Roman" pitchFamily="18" charset="0"/>
              </a:rPr>
              <a:t> of neurons and </a:t>
            </a:r>
            <a:r>
              <a:rPr lang="en-US" sz="2400" dirty="0">
                <a:solidFill>
                  <a:srgbClr val="FF0000"/>
                </a:solidFill>
                <a:cs typeface="Times New Roman" pitchFamily="18" charset="0"/>
              </a:rPr>
              <a:t>reduced excitability</a:t>
            </a:r>
          </a:p>
          <a:p>
            <a:pPr marL="514350" indent="-514350">
              <a:buFont typeface="+mj-lt"/>
              <a:buAutoNum type="arabicPeriod"/>
              <a:defRPr/>
            </a:pPr>
            <a:r>
              <a:rPr lang="en-US" sz="2600" dirty="0">
                <a:cs typeface="Times New Roman" pitchFamily="18" charset="0"/>
              </a:rPr>
              <a:t>Inhibition of excitatory transmission</a:t>
            </a:r>
          </a:p>
          <a:p>
            <a:pPr marL="514350" indent="-514350">
              <a:buFont typeface="+mj-lt"/>
              <a:buAutoNum type="arabicPeriod"/>
              <a:defRPr/>
            </a:pPr>
            <a:endParaRPr lang="en-US" sz="2800" dirty="0">
              <a:cs typeface="Times New Roman" pitchFamily="18" charset="0"/>
            </a:endParaRPr>
          </a:p>
          <a:p>
            <a:pPr>
              <a:defRPr/>
            </a:pPr>
            <a:endParaRPr lang="en-US" sz="2800" dirty="0">
              <a:cs typeface="Times New Roman" pitchFamily="18" charset="0"/>
            </a:endParaRPr>
          </a:p>
          <a:p>
            <a:endParaRPr lang="en-US" sz="2800" dirty="0">
              <a:cs typeface="Times New Roman" pitchFamily="18" charset="0"/>
            </a:endParaRPr>
          </a:p>
        </p:txBody>
      </p:sp>
    </p:spTree>
    <p:extLst>
      <p:ext uri="{BB962C8B-B14F-4D97-AF65-F5344CB8AC3E}">
        <p14:creationId xmlns:p14="http://schemas.microsoft.com/office/powerpoint/2010/main" val="409488271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800" b="1" dirty="0">
                <a:latin typeface="+mn-lt"/>
                <a:cs typeface="Arial" pitchFamily="34" charset="0"/>
              </a:rPr>
              <a:t>Pharmacodynamics</a:t>
            </a:r>
            <a:br>
              <a:rPr lang="en-US" sz="4800" b="1" dirty="0">
                <a:latin typeface="+mn-lt"/>
                <a:cs typeface="Arial" pitchFamily="34" charset="0"/>
              </a:rPr>
            </a:br>
            <a:endParaRPr lang="en-US" sz="4800" dirty="0">
              <a:latin typeface="+mn-lt"/>
            </a:endParaRPr>
          </a:p>
        </p:txBody>
      </p:sp>
      <p:sp>
        <p:nvSpPr>
          <p:cNvPr id="3" name="Content Placeholder 2"/>
          <p:cNvSpPr>
            <a:spLocks noGrp="1"/>
          </p:cNvSpPr>
          <p:nvPr>
            <p:ph idx="1"/>
          </p:nvPr>
        </p:nvSpPr>
        <p:spPr>
          <a:xfrm>
            <a:off x="457200" y="1600200"/>
            <a:ext cx="8458200" cy="4525963"/>
          </a:xfrm>
        </p:spPr>
        <p:txBody>
          <a:bodyPr>
            <a:normAutofit/>
          </a:bodyPr>
          <a:lstStyle/>
          <a:p>
            <a:pPr>
              <a:buFont typeface="Wingdings" pitchFamily="2" charset="2"/>
              <a:buChar char="Ø"/>
            </a:pPr>
            <a:r>
              <a:rPr lang="en-US" sz="3600" b="1" dirty="0">
                <a:cs typeface="Times New Roman" pitchFamily="18" charset="0"/>
              </a:rPr>
              <a:t>CNS</a:t>
            </a:r>
            <a:r>
              <a:rPr lang="en-US" sz="2400" dirty="0">
                <a:solidFill>
                  <a:srgbClr val="00B0F0"/>
                </a:solidFill>
                <a:cs typeface="Times New Roman" pitchFamily="18" charset="0"/>
              </a:rPr>
              <a:t>:</a:t>
            </a:r>
            <a:r>
              <a:rPr lang="en-US" sz="2400" dirty="0">
                <a:solidFill>
                  <a:srgbClr val="050607"/>
                </a:solidFill>
                <a:cs typeface="Times New Roman" pitchFamily="18" charset="0"/>
              </a:rPr>
              <a:t> </a:t>
            </a:r>
          </a:p>
          <a:p>
            <a:r>
              <a:rPr lang="en-US" sz="2400" dirty="0">
                <a:solidFill>
                  <a:srgbClr val="050607"/>
                </a:solidFill>
                <a:cs typeface="Times New Roman" pitchFamily="18" charset="0"/>
              </a:rPr>
              <a:t>barbiturates interact with chloride ion channels by altering the duration they spend in an open state </a:t>
            </a:r>
          </a:p>
          <a:p>
            <a:pPr lvl="1"/>
            <a:r>
              <a:rPr lang="en-US" sz="2400" dirty="0">
                <a:solidFill>
                  <a:srgbClr val="050607"/>
                </a:solidFill>
                <a:cs typeface="Times New Roman" pitchFamily="18" charset="0"/>
              </a:rPr>
              <a:t>this </a:t>
            </a:r>
            <a:r>
              <a:rPr lang="en-US" sz="2400" b="1" dirty="0">
                <a:solidFill>
                  <a:srgbClr val="C00000"/>
                </a:solidFill>
                <a:cs typeface="Times New Roman" pitchFamily="18" charset="0"/>
              </a:rPr>
              <a:t>facilitates inhibitory neurotransmitters </a:t>
            </a:r>
            <a:r>
              <a:rPr lang="en-US" sz="2400" dirty="0">
                <a:solidFill>
                  <a:srgbClr val="050607"/>
                </a:solidFill>
                <a:cs typeface="Times New Roman" pitchFamily="18" charset="0"/>
              </a:rPr>
              <a:t>such as gamma amino butyric acid (GABA)</a:t>
            </a:r>
            <a:endParaRPr lang="en-US" sz="2400" dirty="0">
              <a:cs typeface="Times New Roman" pitchFamily="18" charset="0"/>
            </a:endParaRPr>
          </a:p>
          <a:p>
            <a:r>
              <a:rPr lang="en-US" sz="2400" dirty="0">
                <a:solidFill>
                  <a:srgbClr val="050607"/>
                </a:solidFill>
                <a:cs typeface="Times New Roman" pitchFamily="18" charset="0"/>
              </a:rPr>
              <a:t>Thiopental will decrease both cerebral electrical &amp; metabolic activity</a:t>
            </a:r>
          </a:p>
          <a:p>
            <a:pPr lvl="1"/>
            <a:r>
              <a:rPr lang="en-US" sz="2400" dirty="0">
                <a:solidFill>
                  <a:srgbClr val="050607"/>
                </a:solidFill>
                <a:cs typeface="Times New Roman" pitchFamily="18" charset="0"/>
              </a:rPr>
              <a:t>So it can be used</a:t>
            </a:r>
            <a:r>
              <a:rPr lang="en-US" sz="2400" dirty="0">
                <a:cs typeface="Times New Roman" pitchFamily="18" charset="0"/>
              </a:rPr>
              <a:t> </a:t>
            </a:r>
            <a:r>
              <a:rPr lang="en-US" sz="2400" b="1" dirty="0">
                <a:solidFill>
                  <a:srgbClr val="C00000"/>
                </a:solidFill>
                <a:cs typeface="Times New Roman" pitchFamily="18" charset="0"/>
              </a:rPr>
              <a:t>to stop seizures activity in emergency situations</a:t>
            </a:r>
          </a:p>
          <a:p>
            <a:endParaRPr lang="en-US" sz="2400" dirty="0">
              <a:cs typeface="Times New Roman" pitchFamily="18" charset="0"/>
            </a:endParaRPr>
          </a:p>
        </p:txBody>
      </p:sp>
    </p:spTree>
    <p:extLst>
      <p:ext uri="{BB962C8B-B14F-4D97-AF65-F5344CB8AC3E}">
        <p14:creationId xmlns:p14="http://schemas.microsoft.com/office/powerpoint/2010/main" val="329659108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cs typeface="Arial" pitchFamily="34" charset="0"/>
              </a:rPr>
              <a:t>Pharmacodynamics…</a:t>
            </a:r>
            <a:endParaRPr lang="en-US" dirty="0">
              <a:latin typeface="+mn-lt"/>
            </a:endParaRPr>
          </a:p>
        </p:txBody>
      </p:sp>
      <p:sp>
        <p:nvSpPr>
          <p:cNvPr id="3" name="Content Placeholder 2"/>
          <p:cNvSpPr>
            <a:spLocks noGrp="1"/>
          </p:cNvSpPr>
          <p:nvPr>
            <p:ph idx="1"/>
          </p:nvPr>
        </p:nvSpPr>
        <p:spPr>
          <a:xfrm>
            <a:off x="457200" y="1600200"/>
            <a:ext cx="8382000" cy="4525963"/>
          </a:xfrm>
        </p:spPr>
        <p:txBody>
          <a:bodyPr>
            <a:normAutofit/>
          </a:bodyPr>
          <a:lstStyle/>
          <a:p>
            <a:pPr marL="274320" indent="-274320">
              <a:buNone/>
              <a:defRPr/>
            </a:pPr>
            <a:endParaRPr lang="en-US" sz="2600" dirty="0">
              <a:solidFill>
                <a:srgbClr val="00B0F0"/>
              </a:solidFill>
              <a:cs typeface="Times New Roman" pitchFamily="18" charset="0"/>
            </a:endParaRPr>
          </a:p>
          <a:p>
            <a:pPr>
              <a:defRPr/>
            </a:pPr>
            <a:r>
              <a:rPr lang="en-US" sz="2600" b="1" dirty="0">
                <a:solidFill>
                  <a:srgbClr val="050607"/>
                </a:solidFill>
                <a:cs typeface="Times New Roman" pitchFamily="18" charset="0"/>
              </a:rPr>
              <a:t>Elevated ICP </a:t>
            </a:r>
            <a:r>
              <a:rPr lang="en-US" sz="2600" dirty="0">
                <a:solidFill>
                  <a:srgbClr val="C00000"/>
                </a:solidFill>
                <a:cs typeface="Times New Roman" pitchFamily="18" charset="0"/>
              </a:rPr>
              <a:t>can quickly be reduced </a:t>
            </a:r>
            <a:r>
              <a:rPr lang="en-US" sz="2600" dirty="0">
                <a:solidFill>
                  <a:srgbClr val="050607"/>
                </a:solidFill>
                <a:cs typeface="Times New Roman" pitchFamily="18" charset="0"/>
              </a:rPr>
              <a:t>by thiopental </a:t>
            </a:r>
          </a:p>
          <a:p>
            <a:pPr lvl="1">
              <a:defRPr/>
            </a:pPr>
            <a:r>
              <a:rPr lang="en-US" sz="2400" dirty="0">
                <a:solidFill>
                  <a:srgbClr val="050607"/>
                </a:solidFill>
                <a:cs typeface="Times New Roman" pitchFamily="18" charset="0"/>
              </a:rPr>
              <a:t>but the improvement of ICP requires high dose of thiopental to be maintained</a:t>
            </a:r>
          </a:p>
          <a:p>
            <a:pPr>
              <a:defRPr/>
            </a:pPr>
            <a:r>
              <a:rPr lang="en-US" sz="2600" dirty="0">
                <a:solidFill>
                  <a:srgbClr val="050607"/>
                </a:solidFill>
                <a:cs typeface="Times New Roman" pitchFamily="18" charset="0"/>
              </a:rPr>
              <a:t>The reduction of ICP is due to</a:t>
            </a:r>
          </a:p>
          <a:p>
            <a:pPr lvl="1">
              <a:defRPr/>
            </a:pPr>
            <a:r>
              <a:rPr lang="en-US" sz="2200" dirty="0">
                <a:solidFill>
                  <a:srgbClr val="050607"/>
                </a:solidFill>
                <a:cs typeface="Times New Roman" pitchFamily="18" charset="0"/>
              </a:rPr>
              <a:t> cerebral vasoconstriction, </a:t>
            </a:r>
          </a:p>
          <a:p>
            <a:pPr lvl="1">
              <a:defRPr/>
            </a:pPr>
            <a:r>
              <a:rPr lang="en-US" sz="2200" dirty="0">
                <a:solidFill>
                  <a:srgbClr val="050607"/>
                </a:solidFill>
                <a:cs typeface="Times New Roman" pitchFamily="18" charset="0"/>
              </a:rPr>
              <a:t>reduced cerebral metabolism &amp; oxygen requirements associated with decreased cerebral blood volume (CBV)</a:t>
            </a:r>
          </a:p>
          <a:p>
            <a:pPr>
              <a:buFont typeface="Wingdings" pitchFamily="2" charset="2"/>
              <a:buChar char="ü"/>
              <a:defRPr/>
            </a:pPr>
            <a:r>
              <a:rPr lang="en-US" sz="2400" dirty="0">
                <a:cs typeface="Times New Roman" pitchFamily="18" charset="0"/>
              </a:rPr>
              <a:t>Thiopental has an </a:t>
            </a:r>
            <a:r>
              <a:rPr lang="en-US" sz="2400" b="1" dirty="0">
                <a:solidFill>
                  <a:srgbClr val="FF0000"/>
                </a:solidFill>
                <a:cs typeface="Times New Roman" pitchFamily="18" charset="0"/>
              </a:rPr>
              <a:t>anti-analgesic effect</a:t>
            </a:r>
            <a:r>
              <a:rPr lang="en-US" sz="2400" dirty="0">
                <a:solidFill>
                  <a:srgbClr val="FF0000"/>
                </a:solidFill>
                <a:cs typeface="Times New Roman" pitchFamily="18" charset="0"/>
              </a:rPr>
              <a:t>, </a:t>
            </a:r>
            <a:r>
              <a:rPr lang="en-US" sz="2400" dirty="0">
                <a:cs typeface="Times New Roman" pitchFamily="18" charset="0"/>
              </a:rPr>
              <a:t>since </a:t>
            </a:r>
            <a:r>
              <a:rPr lang="en-US" sz="2400" dirty="0">
                <a:solidFill>
                  <a:srgbClr val="FF0000"/>
                </a:solidFill>
                <a:cs typeface="Times New Roman" pitchFamily="18" charset="0"/>
              </a:rPr>
              <a:t>low dose </a:t>
            </a:r>
            <a:r>
              <a:rPr lang="en-US" sz="2400" dirty="0">
                <a:cs typeface="Times New Roman" pitchFamily="18" charset="0"/>
              </a:rPr>
              <a:t>may </a:t>
            </a:r>
            <a:r>
              <a:rPr lang="en-US" sz="2400" dirty="0">
                <a:solidFill>
                  <a:srgbClr val="FF0000"/>
                </a:solidFill>
                <a:cs typeface="Times New Roman" pitchFamily="18" charset="0"/>
              </a:rPr>
              <a:t>decrease pain threshold.</a:t>
            </a:r>
          </a:p>
          <a:p>
            <a:pPr>
              <a:buFont typeface="Wingdings" pitchFamily="2" charset="2"/>
              <a:buChar char="ü"/>
              <a:defRPr/>
            </a:pPr>
            <a:endParaRPr lang="en-US" sz="2400" dirty="0"/>
          </a:p>
          <a:p>
            <a:pPr>
              <a:buFont typeface="Wingdings" pitchFamily="2" charset="2"/>
              <a:buChar char="ü"/>
            </a:pPr>
            <a:endParaRPr lang="en-US" sz="2400" dirty="0"/>
          </a:p>
        </p:txBody>
      </p:sp>
    </p:spTree>
    <p:extLst>
      <p:ext uri="{BB962C8B-B14F-4D97-AF65-F5344CB8AC3E}">
        <p14:creationId xmlns:p14="http://schemas.microsoft.com/office/powerpoint/2010/main" val="188399020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gency FB" pitchFamily="34" charset="0"/>
                <a:cs typeface="Arial" pitchFamily="34" charset="0"/>
              </a:rPr>
              <a:t>Pharmacodynamics</a:t>
            </a:r>
            <a:r>
              <a:rPr lang="en-US" b="1" dirty="0">
                <a:solidFill>
                  <a:srgbClr val="00B050"/>
                </a:solidFill>
                <a:effectLst>
                  <a:outerShdw blurRad="38100" dist="38100" dir="2700000" algn="tl">
                    <a:srgbClr val="000000">
                      <a:alpha val="43137"/>
                    </a:srgbClr>
                  </a:outerShdw>
                </a:effectLst>
                <a:latin typeface="Agency FB" pitchFamily="34" charset="0"/>
                <a:cs typeface="Arial" pitchFamily="34" charset="0"/>
              </a:rPr>
              <a:t>…</a:t>
            </a:r>
            <a:endParaRPr lang="en-US" dirty="0"/>
          </a:p>
        </p:txBody>
      </p:sp>
      <p:sp>
        <p:nvSpPr>
          <p:cNvPr id="3" name="Content Placeholder 2"/>
          <p:cNvSpPr>
            <a:spLocks noGrp="1"/>
          </p:cNvSpPr>
          <p:nvPr>
            <p:ph idx="1"/>
          </p:nvPr>
        </p:nvSpPr>
        <p:spPr>
          <a:xfrm>
            <a:off x="457200" y="1600200"/>
            <a:ext cx="8382000" cy="4525963"/>
          </a:xfrm>
        </p:spPr>
        <p:txBody>
          <a:bodyPr>
            <a:normAutofit/>
          </a:bodyPr>
          <a:lstStyle/>
          <a:p>
            <a:pPr>
              <a:buFont typeface="Wingdings" pitchFamily="2" charset="2"/>
              <a:buChar char="Ø"/>
            </a:pPr>
            <a:r>
              <a:rPr lang="en-US" b="1" dirty="0">
                <a:solidFill>
                  <a:srgbClr val="00B0F0"/>
                </a:solidFill>
                <a:cs typeface="Times New Roman" pitchFamily="18" charset="0"/>
              </a:rPr>
              <a:t>CVS</a:t>
            </a:r>
            <a:endParaRPr lang="en-US" sz="2400" b="1" dirty="0">
              <a:solidFill>
                <a:srgbClr val="00B0F0"/>
              </a:solidFill>
              <a:cs typeface="Times New Roman" pitchFamily="18" charset="0"/>
            </a:endParaRPr>
          </a:p>
          <a:p>
            <a:r>
              <a:rPr lang="en-US" sz="2600" dirty="0">
                <a:cs typeface="Times New Roman" pitchFamily="18" charset="0"/>
              </a:rPr>
              <a:t>Thiopental causes a dose related </a:t>
            </a:r>
          </a:p>
          <a:p>
            <a:pPr lvl="1"/>
            <a:r>
              <a:rPr lang="en-US" sz="2400" b="1" dirty="0">
                <a:solidFill>
                  <a:srgbClr val="FF0000"/>
                </a:solidFill>
                <a:cs typeface="Times New Roman" pitchFamily="18" charset="0"/>
              </a:rPr>
              <a:t>depression of myocardial function </a:t>
            </a:r>
            <a:r>
              <a:rPr lang="en-US" sz="2400" dirty="0">
                <a:cs typeface="Times New Roman" pitchFamily="18" charset="0"/>
              </a:rPr>
              <a:t>as measured by CO, SV, and blood pressure</a:t>
            </a:r>
          </a:p>
          <a:p>
            <a:r>
              <a:rPr lang="en-US" sz="2600" dirty="0">
                <a:cs typeface="Times New Roman" pitchFamily="18" charset="0"/>
              </a:rPr>
              <a:t>Venous tone decreases (decreased preload)</a:t>
            </a:r>
          </a:p>
          <a:p>
            <a:r>
              <a:rPr lang="en-US" sz="2600" dirty="0">
                <a:cs typeface="Times New Roman" pitchFamily="18" charset="0"/>
              </a:rPr>
              <a:t>Contributes to the increase  in </a:t>
            </a:r>
            <a:r>
              <a:rPr lang="en-US" sz="2600" b="1" dirty="0">
                <a:cs typeface="Times New Roman" pitchFamily="18" charset="0"/>
              </a:rPr>
              <a:t>HR (10% to 36%)</a:t>
            </a:r>
            <a:r>
              <a:rPr lang="en-US" sz="2600" dirty="0">
                <a:cs typeface="Times New Roman" pitchFamily="18" charset="0"/>
              </a:rPr>
              <a:t> and decrease in </a:t>
            </a:r>
            <a:r>
              <a:rPr lang="en-US" sz="2600" b="1" dirty="0">
                <a:cs typeface="Times New Roman" pitchFamily="18" charset="0"/>
              </a:rPr>
              <a:t>BP----reflex tachycardia</a:t>
            </a:r>
          </a:p>
          <a:p>
            <a:pPr marL="0" indent="0">
              <a:buNone/>
            </a:pPr>
            <a:endParaRPr lang="en-US" sz="2800" dirty="0">
              <a:cs typeface="Times New Roman" pitchFamily="18" charset="0"/>
            </a:endParaRPr>
          </a:p>
          <a:p>
            <a:endParaRPr lang="en-US" sz="2800" dirty="0">
              <a:cs typeface="Times New Roman" pitchFamily="18" charset="0"/>
            </a:endParaRPr>
          </a:p>
        </p:txBody>
      </p:sp>
    </p:spTree>
    <p:extLst>
      <p:ext uri="{BB962C8B-B14F-4D97-AF65-F5344CB8AC3E}">
        <p14:creationId xmlns:p14="http://schemas.microsoft.com/office/powerpoint/2010/main" val="59484123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50"/>
                </a:solidFill>
                <a:effectLst>
                  <a:outerShdw blurRad="38100" dist="38100" dir="2700000" algn="tl">
                    <a:srgbClr val="000000">
                      <a:alpha val="43137"/>
                    </a:srgbClr>
                  </a:outerShdw>
                </a:effectLst>
                <a:latin typeface="Agency FB" pitchFamily="34" charset="0"/>
                <a:cs typeface="Arial" pitchFamily="34" charset="0"/>
              </a:rPr>
              <a:t>Pharmacodynamics…</a:t>
            </a:r>
            <a:endParaRPr lang="en-US" dirty="0"/>
          </a:p>
        </p:txBody>
      </p:sp>
      <p:sp>
        <p:nvSpPr>
          <p:cNvPr id="3" name="Content Placeholder 2"/>
          <p:cNvSpPr>
            <a:spLocks noGrp="1"/>
          </p:cNvSpPr>
          <p:nvPr>
            <p:ph idx="1"/>
          </p:nvPr>
        </p:nvSpPr>
        <p:spPr>
          <a:xfrm>
            <a:off x="685800" y="1219200"/>
            <a:ext cx="8229600" cy="5105400"/>
          </a:xfrm>
        </p:spPr>
        <p:txBody>
          <a:bodyPr>
            <a:noAutofit/>
          </a:bodyPr>
          <a:lstStyle/>
          <a:p>
            <a:pPr>
              <a:lnSpc>
                <a:spcPct val="90000"/>
              </a:lnSpc>
              <a:buFont typeface="Wingdings" pitchFamily="2" charset="2"/>
              <a:buChar char="Ø"/>
            </a:pPr>
            <a:r>
              <a:rPr lang="en-US" sz="2800" dirty="0">
                <a:solidFill>
                  <a:srgbClr val="00B0F0"/>
                </a:solidFill>
                <a:cs typeface="Times New Roman" pitchFamily="18" charset="0"/>
              </a:rPr>
              <a:t>Respiratory</a:t>
            </a:r>
            <a:endParaRPr lang="en-US" sz="2400" dirty="0">
              <a:solidFill>
                <a:srgbClr val="050607"/>
              </a:solidFill>
              <a:cs typeface="Times New Roman" pitchFamily="18" charset="0"/>
            </a:endParaRPr>
          </a:p>
          <a:p>
            <a:pPr>
              <a:lnSpc>
                <a:spcPct val="90000"/>
              </a:lnSpc>
            </a:pPr>
            <a:endParaRPr lang="en-US" sz="2400" dirty="0">
              <a:cs typeface="Times New Roman" pitchFamily="18" charset="0"/>
            </a:endParaRPr>
          </a:p>
          <a:p>
            <a:pPr>
              <a:lnSpc>
                <a:spcPct val="90000"/>
              </a:lnSpc>
            </a:pPr>
            <a:r>
              <a:rPr lang="en-US" sz="2400" dirty="0">
                <a:cs typeface="Times New Roman" pitchFamily="18" charset="0"/>
              </a:rPr>
              <a:t>Associated with 2 or 3 large breaths followed by apnea for less than 1minute.</a:t>
            </a:r>
          </a:p>
          <a:p>
            <a:pPr>
              <a:lnSpc>
                <a:spcPct val="90000"/>
              </a:lnSpc>
            </a:pPr>
            <a:r>
              <a:rPr lang="en-US" sz="2400" dirty="0">
                <a:cs typeface="Times New Roman" pitchFamily="18" charset="0"/>
              </a:rPr>
              <a:t> Dose related depression of the respiratory response to hypercarbia and hypoxia</a:t>
            </a:r>
          </a:p>
          <a:p>
            <a:pPr>
              <a:lnSpc>
                <a:spcPct val="90000"/>
              </a:lnSpc>
            </a:pPr>
            <a:r>
              <a:rPr lang="en-US" sz="2400" dirty="0">
                <a:cs typeface="Times New Roman" pitchFamily="18" charset="0"/>
              </a:rPr>
              <a:t>However, respiratory depression is shorter vs propofol.</a:t>
            </a:r>
          </a:p>
          <a:p>
            <a:pPr lvl="1">
              <a:lnSpc>
                <a:spcPct val="90000"/>
              </a:lnSpc>
            </a:pPr>
            <a:r>
              <a:rPr lang="en-US" sz="2400" dirty="0">
                <a:cs typeface="Times New Roman" pitchFamily="18" charset="0"/>
              </a:rPr>
              <a:t>Thus, during the induction of anesthesia with thiopental, ventilation must be assisted or controlled to provide adequate respiratory exchange</a:t>
            </a:r>
          </a:p>
          <a:p>
            <a:pPr>
              <a:lnSpc>
                <a:spcPct val="90000"/>
              </a:lnSpc>
            </a:pPr>
            <a:r>
              <a:rPr lang="en-US" sz="2200" dirty="0">
                <a:cs typeface="Times New Roman" pitchFamily="18" charset="0"/>
              </a:rPr>
              <a:t>Laryngospasm and bronchoconstriction may be associated with</a:t>
            </a:r>
          </a:p>
          <a:p>
            <a:pPr lvl="1">
              <a:lnSpc>
                <a:spcPct val="90000"/>
              </a:lnSpc>
            </a:pPr>
            <a:r>
              <a:rPr lang="en-US" sz="2200" dirty="0">
                <a:cs typeface="Times New Roman" pitchFamily="18" charset="0"/>
              </a:rPr>
              <a:t> light levels of thiopental and with airway manipulation or intubation</a:t>
            </a:r>
          </a:p>
          <a:p>
            <a:pPr>
              <a:lnSpc>
                <a:spcPct val="90000"/>
              </a:lnSpc>
            </a:pPr>
            <a:r>
              <a:rPr lang="en-US" sz="2200" dirty="0">
                <a:cs typeface="Times New Roman" pitchFamily="18" charset="0"/>
              </a:rPr>
              <a:t>FRC is reduced by 20% with induction of anaesthesia</a:t>
            </a:r>
          </a:p>
          <a:p>
            <a:pPr lvl="1">
              <a:lnSpc>
                <a:spcPct val="90000"/>
              </a:lnSpc>
            </a:pPr>
            <a:endParaRPr lang="en-US" sz="2400" dirty="0">
              <a:cs typeface="Times New Roman" pitchFamily="18" charset="0"/>
            </a:endParaRPr>
          </a:p>
          <a:p>
            <a:endParaRPr lang="en-US" sz="2400" dirty="0">
              <a:cs typeface="Times New Roman" pitchFamily="18" charset="0"/>
            </a:endParaRPr>
          </a:p>
        </p:txBody>
      </p:sp>
    </p:spTree>
    <p:extLst>
      <p:ext uri="{BB962C8B-B14F-4D97-AF65-F5344CB8AC3E}">
        <p14:creationId xmlns:p14="http://schemas.microsoft.com/office/powerpoint/2010/main" val="236708520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cs typeface="Arial" pitchFamily="34" charset="0"/>
              </a:rPr>
              <a:t>Pharmacodynamics</a:t>
            </a:r>
            <a:r>
              <a:rPr lang="en-US" b="1" dirty="0">
                <a:solidFill>
                  <a:srgbClr val="00B050"/>
                </a:solidFill>
                <a:effectLst>
                  <a:outerShdw blurRad="38100" dist="38100" dir="2700000" algn="tl">
                    <a:srgbClr val="000000">
                      <a:alpha val="43137"/>
                    </a:srgbClr>
                  </a:outerShdw>
                </a:effectLst>
                <a:latin typeface="+mn-lt"/>
                <a:cs typeface="Arial" pitchFamily="34" charset="0"/>
              </a:rPr>
              <a:t>…</a:t>
            </a:r>
            <a:endParaRPr lang="en-US" dirty="0">
              <a:latin typeface="+mn-lt"/>
            </a:endParaRPr>
          </a:p>
        </p:txBody>
      </p:sp>
      <p:sp>
        <p:nvSpPr>
          <p:cNvPr id="3" name="Content Placeholder 2"/>
          <p:cNvSpPr>
            <a:spLocks noGrp="1"/>
          </p:cNvSpPr>
          <p:nvPr>
            <p:ph idx="1"/>
          </p:nvPr>
        </p:nvSpPr>
        <p:spPr>
          <a:xfrm>
            <a:off x="457200" y="1600200"/>
            <a:ext cx="8382000" cy="4525963"/>
          </a:xfrm>
        </p:spPr>
        <p:txBody>
          <a:bodyPr>
            <a:normAutofit/>
          </a:bodyPr>
          <a:lstStyle/>
          <a:p>
            <a:pPr>
              <a:buFont typeface="Wingdings" pitchFamily="2" charset="2"/>
              <a:buChar char="Ø"/>
              <a:defRPr/>
            </a:pPr>
            <a:r>
              <a:rPr lang="en-US" sz="3500" b="1" dirty="0">
                <a:solidFill>
                  <a:srgbClr val="00B0F0"/>
                </a:solidFill>
                <a:cs typeface="Times New Roman" pitchFamily="18" charset="0"/>
              </a:rPr>
              <a:t>GI</a:t>
            </a:r>
            <a:endParaRPr lang="en-US" b="1" dirty="0">
              <a:solidFill>
                <a:srgbClr val="00B0F0"/>
              </a:solidFill>
              <a:cs typeface="Times New Roman" pitchFamily="18" charset="0"/>
            </a:endParaRPr>
          </a:p>
          <a:p>
            <a:pPr>
              <a:defRPr/>
            </a:pPr>
            <a:r>
              <a:rPr lang="en-US" sz="2400" dirty="0">
                <a:cs typeface="Times New Roman" pitchFamily="18" charset="0"/>
              </a:rPr>
              <a:t>Enzyme induction may occur with prolonged high dose therapy.</a:t>
            </a:r>
          </a:p>
          <a:p>
            <a:pPr marL="274320" indent="-274320">
              <a:buFontTx/>
              <a:buChar char="-"/>
              <a:defRPr/>
            </a:pPr>
            <a:r>
              <a:rPr lang="en-US" sz="2400" b="1" dirty="0">
                <a:cs typeface="Times New Roman" pitchFamily="18" charset="0"/>
              </a:rPr>
              <a:t>Hypoalbuminemia</a:t>
            </a:r>
            <a:r>
              <a:rPr lang="en-US" sz="2400" dirty="0">
                <a:cs typeface="Times New Roman" pitchFamily="18" charset="0"/>
              </a:rPr>
              <a:t> will result in an increase in unbound (free) thiopental and an </a:t>
            </a:r>
            <a:r>
              <a:rPr lang="en-US" sz="2400" b="1" dirty="0">
                <a:cs typeface="Times New Roman" pitchFamily="18" charset="0"/>
              </a:rPr>
              <a:t>increase in the potency of thiopental.</a:t>
            </a:r>
          </a:p>
          <a:p>
            <a:pPr marL="274320" indent="-274320">
              <a:buFontTx/>
              <a:buChar char="-"/>
              <a:defRPr/>
            </a:pPr>
            <a:endParaRPr lang="en-US" sz="1000" dirty="0">
              <a:solidFill>
                <a:srgbClr val="050607"/>
              </a:solidFill>
              <a:cs typeface="Times New Roman" pitchFamily="18" charset="0"/>
            </a:endParaRPr>
          </a:p>
          <a:p>
            <a:pPr>
              <a:buFont typeface="Wingdings" pitchFamily="2" charset="2"/>
              <a:buChar char="Ø"/>
              <a:defRPr/>
            </a:pPr>
            <a:r>
              <a:rPr lang="en-US" sz="2800" b="1" dirty="0">
                <a:solidFill>
                  <a:srgbClr val="00B0F0"/>
                </a:solidFill>
                <a:cs typeface="Times New Roman" pitchFamily="18" charset="0"/>
              </a:rPr>
              <a:t>GU/pregnancy/fetus:</a:t>
            </a:r>
          </a:p>
          <a:p>
            <a:pPr>
              <a:defRPr/>
            </a:pPr>
            <a:r>
              <a:rPr lang="en-US" sz="2400" dirty="0">
                <a:solidFill>
                  <a:schemeClr val="tx2"/>
                </a:solidFill>
                <a:cs typeface="Times New Roman" pitchFamily="18" charset="0"/>
              </a:rPr>
              <a:t>It has little or no effect on the kidneys or gravid uterus.</a:t>
            </a:r>
          </a:p>
          <a:p>
            <a:pPr>
              <a:defRPr/>
            </a:pPr>
            <a:endParaRPr lang="en-US" dirty="0">
              <a:cs typeface="Times New Roman" pitchFamily="18" charset="0"/>
            </a:endParaRPr>
          </a:p>
          <a:p>
            <a:endParaRPr lang="en-US" dirty="0">
              <a:cs typeface="Times New Roman" pitchFamily="18" charset="0"/>
            </a:endParaRPr>
          </a:p>
        </p:txBody>
      </p:sp>
    </p:spTree>
    <p:extLst>
      <p:ext uri="{BB962C8B-B14F-4D97-AF65-F5344CB8AC3E}">
        <p14:creationId xmlns:p14="http://schemas.microsoft.com/office/powerpoint/2010/main" val="299782172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effectLst>
                  <a:outerShdw blurRad="38100" dist="38100" dir="2700000" algn="tl">
                    <a:srgbClr val="000000">
                      <a:alpha val="43137"/>
                    </a:srgbClr>
                  </a:outerShdw>
                </a:effectLst>
                <a:latin typeface="Agency FB" pitchFamily="34" charset="0"/>
              </a:rPr>
              <a:t>Pharmacokinetics</a:t>
            </a:r>
          </a:p>
        </p:txBody>
      </p:sp>
      <p:sp>
        <p:nvSpPr>
          <p:cNvPr id="3" name="Content Placeholder 2"/>
          <p:cNvSpPr>
            <a:spLocks noGrp="1"/>
          </p:cNvSpPr>
          <p:nvPr>
            <p:ph idx="1"/>
          </p:nvPr>
        </p:nvSpPr>
        <p:spPr/>
        <p:txBody>
          <a:bodyPr>
            <a:noAutofit/>
          </a:bodyPr>
          <a:lstStyle/>
          <a:p>
            <a:r>
              <a:rPr lang="en-US" sz="2800" dirty="0">
                <a:cs typeface="Times New Roman" pitchFamily="18" charset="0"/>
              </a:rPr>
              <a:t>Skeletal muscle- initial redistribution</a:t>
            </a:r>
          </a:p>
          <a:p>
            <a:r>
              <a:rPr lang="en-US" sz="2800" dirty="0">
                <a:cs typeface="Times New Roman" pitchFamily="18" charset="0"/>
              </a:rPr>
              <a:t> Fat- rises 30 minutes after injection.       </a:t>
            </a:r>
          </a:p>
          <a:p>
            <a:r>
              <a:rPr lang="en-US" sz="2800" dirty="0">
                <a:cs typeface="Times New Roman" pitchFamily="18" charset="0"/>
              </a:rPr>
              <a:t>Should be calculated according to </a:t>
            </a:r>
            <a:r>
              <a:rPr lang="en-US" sz="2800" b="1" dirty="0">
                <a:cs typeface="Times New Roman" pitchFamily="18" charset="0"/>
              </a:rPr>
              <a:t>lean body mass.</a:t>
            </a:r>
          </a:p>
          <a:p>
            <a:pPr marL="514350" indent="-514350">
              <a:buFont typeface="+mj-lt"/>
              <a:buAutoNum type="arabicPeriod"/>
              <a:defRPr/>
            </a:pPr>
            <a:r>
              <a:rPr lang="en-US" sz="2800" dirty="0">
                <a:cs typeface="Times New Roman" pitchFamily="18" charset="0"/>
              </a:rPr>
              <a:t>Mostly Hepatic metabolism by:</a:t>
            </a:r>
          </a:p>
          <a:p>
            <a:pPr marL="914400" lvl="1" indent="-514350">
              <a:buNone/>
              <a:defRPr/>
            </a:pPr>
            <a:r>
              <a:rPr lang="en-US" b="1" dirty="0">
                <a:cs typeface="Times New Roman" pitchFamily="18" charset="0"/>
              </a:rPr>
              <a:t>a) Oxidation</a:t>
            </a:r>
          </a:p>
          <a:p>
            <a:pPr marL="914400" lvl="1" indent="-514350">
              <a:buNone/>
              <a:defRPr/>
            </a:pPr>
            <a:r>
              <a:rPr lang="en-US" dirty="0">
                <a:cs typeface="Times New Roman" pitchFamily="18" charset="0"/>
              </a:rPr>
              <a:t>b) </a:t>
            </a:r>
            <a:r>
              <a:rPr lang="en-US" dirty="0" err="1">
                <a:cs typeface="Times New Roman" pitchFamily="18" charset="0"/>
              </a:rPr>
              <a:t>Desulfuration</a:t>
            </a:r>
            <a:endParaRPr lang="en-US" dirty="0">
              <a:cs typeface="Times New Roman" pitchFamily="18" charset="0"/>
            </a:endParaRPr>
          </a:p>
          <a:p>
            <a:pPr marL="914400" lvl="1" indent="-514350">
              <a:buNone/>
              <a:defRPr/>
            </a:pPr>
            <a:r>
              <a:rPr lang="en-US" dirty="0">
                <a:cs typeface="Times New Roman" pitchFamily="18" charset="0"/>
              </a:rPr>
              <a:t>c) Destruction of barbituric acid ring</a:t>
            </a:r>
          </a:p>
          <a:p>
            <a:pPr marL="514350" indent="-514350">
              <a:buFont typeface="+mj-lt"/>
              <a:buAutoNum type="arabicPeriod"/>
              <a:defRPr/>
            </a:pPr>
            <a:r>
              <a:rPr lang="en-US" sz="2800" dirty="0">
                <a:cs typeface="Times New Roman" pitchFamily="18" charset="0"/>
              </a:rPr>
              <a:t>Inactive metabolites excreted by kidney</a:t>
            </a:r>
          </a:p>
          <a:p>
            <a:pPr marL="514350" indent="-514350">
              <a:buFont typeface="+mj-lt"/>
              <a:buAutoNum type="arabicPeriod"/>
              <a:defRPr/>
            </a:pPr>
            <a:r>
              <a:rPr lang="en-US" sz="2800" dirty="0">
                <a:cs typeface="Times New Roman" pitchFamily="18" charset="0"/>
              </a:rPr>
              <a:t>Conjugated excreted in bile</a:t>
            </a:r>
          </a:p>
          <a:p>
            <a:pPr>
              <a:defRPr/>
            </a:pPr>
            <a:endParaRPr lang="en-US" sz="2800" dirty="0">
              <a:cs typeface="Times New Roman" pitchFamily="18" charset="0"/>
            </a:endParaRPr>
          </a:p>
          <a:p>
            <a:endParaRPr lang="en-US" sz="2800" dirty="0">
              <a:cs typeface="Times New Roman" pitchFamily="18" charset="0"/>
            </a:endParaRPr>
          </a:p>
        </p:txBody>
      </p:sp>
    </p:spTree>
    <p:extLst>
      <p:ext uri="{BB962C8B-B14F-4D97-AF65-F5344CB8AC3E}">
        <p14:creationId xmlns:p14="http://schemas.microsoft.com/office/powerpoint/2010/main" val="274937846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latin typeface="Agency FB" pitchFamily="34" charset="0"/>
              </a:rPr>
              <a:t>Pharmacokinetics…</a:t>
            </a:r>
            <a:endParaRPr lang="en-US" dirty="0"/>
          </a:p>
        </p:txBody>
      </p:sp>
      <p:sp>
        <p:nvSpPr>
          <p:cNvPr id="3" name="Content Placeholder 2"/>
          <p:cNvSpPr>
            <a:spLocks noGrp="1"/>
          </p:cNvSpPr>
          <p:nvPr>
            <p:ph idx="1"/>
          </p:nvPr>
        </p:nvSpPr>
        <p:spPr>
          <a:xfrm>
            <a:off x="457200" y="1295400"/>
            <a:ext cx="8229600" cy="4830763"/>
          </a:xfrm>
        </p:spPr>
        <p:txBody>
          <a:bodyPr>
            <a:noAutofit/>
          </a:bodyPr>
          <a:lstStyle/>
          <a:p>
            <a:r>
              <a:rPr lang="en-US" sz="2400" dirty="0">
                <a:cs typeface="Times New Roman" pitchFamily="18" charset="0"/>
              </a:rPr>
              <a:t>Chronic administration of barbiturates or other drugs that induce oxidative microsomal enzymes (enzyme induction) </a:t>
            </a:r>
            <a:r>
              <a:rPr lang="en-US" sz="2400" dirty="0">
                <a:cs typeface="Times New Roman" pitchFamily="18" charset="0"/>
                <a:sym typeface="Symbol"/>
              </a:rPr>
              <a:t> </a:t>
            </a:r>
            <a:r>
              <a:rPr lang="en-US" sz="2400" dirty="0">
                <a:cs typeface="Times New Roman" pitchFamily="18" charset="0"/>
              </a:rPr>
              <a:t>Enhances barbiturate metabolism</a:t>
            </a:r>
          </a:p>
          <a:p>
            <a:r>
              <a:rPr lang="en-US" sz="2400" b="1" dirty="0">
                <a:cs typeface="Times New Roman" pitchFamily="18" charset="0"/>
              </a:rPr>
              <a:t>Factors affecting the distribution of thiopentone</a:t>
            </a:r>
            <a:endParaRPr lang="en-US" sz="2400" dirty="0">
              <a:cs typeface="Times New Roman" pitchFamily="18" charset="0"/>
            </a:endParaRPr>
          </a:p>
          <a:p>
            <a:pPr lvl="1"/>
            <a:r>
              <a:rPr lang="en-US" sz="2000" dirty="0">
                <a:cs typeface="Times New Roman" pitchFamily="18" charset="0"/>
              </a:rPr>
              <a:t> </a:t>
            </a:r>
            <a:r>
              <a:rPr lang="en-US" sz="2400" dirty="0">
                <a:cs typeface="Times New Roman" pitchFamily="18" charset="0"/>
              </a:rPr>
              <a:t>Hypovolemia, </a:t>
            </a:r>
          </a:p>
          <a:p>
            <a:pPr lvl="1"/>
            <a:r>
              <a:rPr lang="en-US" sz="2400" dirty="0">
                <a:cs typeface="Times New Roman" pitchFamily="18" charset="0"/>
              </a:rPr>
              <a:t>Obesity, </a:t>
            </a:r>
          </a:p>
          <a:p>
            <a:pPr lvl="1"/>
            <a:r>
              <a:rPr lang="en-US" sz="2400" dirty="0">
                <a:cs typeface="Times New Roman" pitchFamily="18" charset="0"/>
              </a:rPr>
              <a:t>Acidosis, </a:t>
            </a:r>
          </a:p>
          <a:p>
            <a:pPr lvl="1"/>
            <a:r>
              <a:rPr lang="en-US" sz="2400" dirty="0">
                <a:cs typeface="Times New Roman" pitchFamily="18" charset="0"/>
              </a:rPr>
              <a:t>Hypoalbuminemia, </a:t>
            </a:r>
          </a:p>
          <a:p>
            <a:pPr lvl="1"/>
            <a:r>
              <a:rPr lang="en-US" sz="2400" dirty="0">
                <a:cs typeface="Times New Roman" pitchFamily="18" charset="0"/>
              </a:rPr>
              <a:t>Anxiety </a:t>
            </a:r>
          </a:p>
          <a:p>
            <a:r>
              <a:rPr lang="en-US" sz="2400" b="1" dirty="0">
                <a:cs typeface="Times New Roman" pitchFamily="18" charset="0"/>
              </a:rPr>
              <a:t>Factors which </a:t>
            </a:r>
            <a:r>
              <a:rPr lang="en-US" sz="2400" b="1" dirty="0">
                <a:cs typeface="Times New Roman" pitchFamily="18" charset="0"/>
                <a:sym typeface="Wingdings 3" pitchFamily="18" charset="2"/>
              </a:rPr>
              <a:t></a:t>
            </a:r>
            <a:r>
              <a:rPr lang="en-US" sz="2400" b="1" dirty="0">
                <a:cs typeface="Times New Roman" pitchFamily="18" charset="0"/>
              </a:rPr>
              <a:t> Protein binding of thiopental</a:t>
            </a:r>
            <a:endParaRPr lang="en-US" sz="2400" dirty="0">
              <a:cs typeface="Times New Roman" pitchFamily="18" charset="0"/>
            </a:endParaRPr>
          </a:p>
          <a:p>
            <a:pPr lvl="1"/>
            <a:r>
              <a:rPr lang="en-US" sz="2400" b="1" dirty="0">
                <a:cs typeface="Times New Roman" pitchFamily="18" charset="0"/>
              </a:rPr>
              <a:t> </a:t>
            </a:r>
            <a:r>
              <a:rPr lang="en-US" sz="2400" dirty="0">
                <a:cs typeface="Times New Roman" pitchFamily="18" charset="0"/>
              </a:rPr>
              <a:t>Uremia, Certain drugs</a:t>
            </a:r>
          </a:p>
          <a:p>
            <a:pPr lvl="1"/>
            <a:r>
              <a:rPr lang="en-US" sz="2400" dirty="0">
                <a:cs typeface="Times New Roman" pitchFamily="18" charset="0"/>
              </a:rPr>
              <a:t>Hypovolemia – low plasma protein, Acidosis.</a:t>
            </a:r>
          </a:p>
          <a:p>
            <a:endParaRPr lang="en-US" sz="2400" dirty="0">
              <a:cs typeface="Times New Roman" pitchFamily="18" charset="0"/>
            </a:endParaRPr>
          </a:p>
          <a:p>
            <a:endParaRPr lang="en-US" sz="2400" dirty="0">
              <a:cs typeface="Times New Roman" pitchFamily="18" charset="0"/>
            </a:endParaRPr>
          </a:p>
          <a:p>
            <a:endParaRPr lang="en-US" sz="2400" dirty="0">
              <a:cs typeface="Times New Roman" pitchFamily="18" charset="0"/>
            </a:endParaRPr>
          </a:p>
          <a:p>
            <a:endParaRPr lang="en-US" sz="2400" dirty="0">
              <a:cs typeface="Times New Roman" pitchFamily="18" charset="0"/>
            </a:endParaRPr>
          </a:p>
        </p:txBody>
      </p:sp>
    </p:spTree>
    <p:extLst>
      <p:ext uri="{BB962C8B-B14F-4D97-AF65-F5344CB8AC3E}">
        <p14:creationId xmlns:p14="http://schemas.microsoft.com/office/powerpoint/2010/main" val="65769975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solidFill>
                  <a:srgbClr val="FFFF00"/>
                </a:solidFill>
                <a:effectLst>
                  <a:outerShdw blurRad="38100" dist="38100" dir="2700000" algn="tl">
                    <a:srgbClr val="000000">
                      <a:alpha val="43137"/>
                    </a:srgbClr>
                  </a:outerShdw>
                </a:effectLst>
                <a:latin typeface="Agency FB" pitchFamily="34" charset="0"/>
              </a:rPr>
              <a:t>Thiopentone-</a:t>
            </a:r>
            <a:endParaRPr lang="en-US" sz="5400" dirty="0">
              <a:effectLst>
                <a:outerShdw blurRad="38100" dist="38100" dir="2700000" algn="tl">
                  <a:srgbClr val="000000">
                    <a:alpha val="43137"/>
                  </a:srgbClr>
                </a:outerShdw>
              </a:effectLst>
              <a:latin typeface="Agency FB" pitchFamily="34" charset="0"/>
            </a:endParaRPr>
          </a:p>
        </p:txBody>
      </p:sp>
      <p:sp>
        <p:nvSpPr>
          <p:cNvPr id="3" name="Content Placeholder 2"/>
          <p:cNvSpPr>
            <a:spLocks noGrp="1"/>
          </p:cNvSpPr>
          <p:nvPr>
            <p:ph idx="1"/>
          </p:nvPr>
        </p:nvSpPr>
        <p:spPr>
          <a:xfrm>
            <a:off x="457200" y="1600200"/>
            <a:ext cx="8305800" cy="4525963"/>
          </a:xfrm>
        </p:spPr>
        <p:txBody>
          <a:bodyPr>
            <a:normAutofit fontScale="77500" lnSpcReduction="20000"/>
          </a:bodyPr>
          <a:lstStyle/>
          <a:p>
            <a:pPr>
              <a:buFont typeface="Wingdings" panose="05000000000000000000" pitchFamily="2" charset="2"/>
              <a:buChar char="q"/>
            </a:pPr>
            <a:r>
              <a:rPr lang="en-US" sz="3600" dirty="0">
                <a:effectLst>
                  <a:outerShdw blurRad="38100" dist="38100" dir="2700000" algn="tl">
                    <a:srgbClr val="000000">
                      <a:alpha val="43137"/>
                    </a:srgbClr>
                  </a:outerShdw>
                </a:effectLst>
              </a:rPr>
              <a:t>Clinical uses </a:t>
            </a:r>
          </a:p>
          <a:p>
            <a:r>
              <a:rPr lang="en-US" sz="3300" b="1" dirty="0">
                <a:solidFill>
                  <a:srgbClr val="050607"/>
                </a:solidFill>
                <a:cs typeface="Arial" pitchFamily="34" charset="0"/>
              </a:rPr>
              <a:t>Induction of anesthesia </a:t>
            </a:r>
          </a:p>
          <a:p>
            <a:pPr lvl="1"/>
            <a:r>
              <a:rPr lang="en-US" sz="3100" dirty="0">
                <a:solidFill>
                  <a:srgbClr val="050607"/>
                </a:solidFill>
                <a:cs typeface="Arial" pitchFamily="34" charset="0"/>
              </a:rPr>
              <a:t>The prompt onset (15-30 seconds), smooth induction and rapid emergence are advantages for this drug. </a:t>
            </a:r>
          </a:p>
          <a:p>
            <a:pPr lvl="1"/>
            <a:endParaRPr lang="en-US" sz="2600" dirty="0">
              <a:solidFill>
                <a:srgbClr val="050607"/>
              </a:solidFill>
              <a:cs typeface="Arial" pitchFamily="34" charset="0"/>
            </a:endParaRPr>
          </a:p>
          <a:p>
            <a:r>
              <a:rPr lang="en-US" sz="2800" b="1" dirty="0">
                <a:solidFill>
                  <a:srgbClr val="050607"/>
                </a:solidFill>
                <a:cs typeface="Arial" pitchFamily="34" charset="0"/>
              </a:rPr>
              <a:t>Maintenance of anesthesia for short procedures</a:t>
            </a:r>
          </a:p>
          <a:p>
            <a:pPr lvl="1"/>
            <a:r>
              <a:rPr lang="en-US" sz="3100" dirty="0">
                <a:solidFill>
                  <a:srgbClr val="050607"/>
                </a:solidFill>
                <a:cs typeface="Arial" pitchFamily="34" charset="0"/>
              </a:rPr>
              <a:t>It</a:t>
            </a:r>
            <a:r>
              <a:rPr lang="en-US" sz="3100" b="1" dirty="0">
                <a:solidFill>
                  <a:srgbClr val="050607"/>
                </a:solidFill>
                <a:cs typeface="Arial" pitchFamily="34" charset="0"/>
              </a:rPr>
              <a:t> </a:t>
            </a:r>
            <a:r>
              <a:rPr lang="en-US" sz="3100" dirty="0">
                <a:solidFill>
                  <a:srgbClr val="050607"/>
                </a:solidFill>
                <a:cs typeface="Arial" pitchFamily="34" charset="0"/>
              </a:rPr>
              <a:t>is rarely used as an IV  infusion for maintenance of GA because higher doses lead slow plasma clearance.</a:t>
            </a:r>
          </a:p>
          <a:p>
            <a:pPr lvl="1"/>
            <a:endParaRPr lang="en-US" sz="2400" dirty="0">
              <a:solidFill>
                <a:srgbClr val="050607"/>
              </a:solidFill>
              <a:cs typeface="Arial" pitchFamily="34" charset="0"/>
            </a:endParaRPr>
          </a:p>
          <a:p>
            <a:r>
              <a:rPr lang="en-US" sz="3100" b="1" dirty="0">
                <a:solidFill>
                  <a:srgbClr val="050607"/>
                </a:solidFill>
                <a:cs typeface="Arial" pitchFamily="34" charset="0"/>
              </a:rPr>
              <a:t>Control of convulsive states</a:t>
            </a:r>
          </a:p>
          <a:p>
            <a:endParaRPr lang="en-US" sz="2800" b="1" dirty="0">
              <a:solidFill>
                <a:srgbClr val="050607"/>
              </a:solidFill>
              <a:cs typeface="Arial" pitchFamily="34" charset="0"/>
            </a:endParaRPr>
          </a:p>
          <a:p>
            <a:pPr algn="just"/>
            <a:r>
              <a:rPr lang="en-US" sz="2800" b="1" dirty="0">
                <a:solidFill>
                  <a:srgbClr val="050607"/>
                </a:solidFill>
                <a:cs typeface="Arial" pitchFamily="34" charset="0"/>
              </a:rPr>
              <a:t>For supplement of regional anesthesia or low potency anesthesia </a:t>
            </a:r>
          </a:p>
          <a:p>
            <a:endParaRPr lang="en-US" sz="3600" dirty="0"/>
          </a:p>
        </p:txBody>
      </p:sp>
    </p:spTree>
    <p:extLst>
      <p:ext uri="{BB962C8B-B14F-4D97-AF65-F5344CB8AC3E}">
        <p14:creationId xmlns:p14="http://schemas.microsoft.com/office/powerpoint/2010/main" val="179115967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dirty="0">
                <a:solidFill>
                  <a:srgbClr val="FFFF00"/>
                </a:solidFill>
                <a:latin typeface="Agency FB" pitchFamily="34" charset="0"/>
              </a:rPr>
              <a:t>Thiopental…</a:t>
            </a:r>
          </a:p>
        </p:txBody>
      </p:sp>
      <p:sp>
        <p:nvSpPr>
          <p:cNvPr id="3" name="Content Placeholder 2"/>
          <p:cNvSpPr>
            <a:spLocks noGrp="1"/>
          </p:cNvSpPr>
          <p:nvPr>
            <p:ph idx="1"/>
          </p:nvPr>
        </p:nvSpPr>
        <p:spPr>
          <a:xfrm>
            <a:off x="457200" y="1600200"/>
            <a:ext cx="8382000" cy="4525963"/>
          </a:xfrm>
        </p:spPr>
        <p:txBody>
          <a:bodyPr>
            <a:normAutofit/>
          </a:bodyPr>
          <a:lstStyle/>
          <a:p>
            <a:pPr>
              <a:buFont typeface="Wingdings" panose="05000000000000000000" pitchFamily="2" charset="2"/>
              <a:buChar char="q"/>
            </a:pPr>
            <a:r>
              <a:rPr lang="en-US" sz="2400" dirty="0">
                <a:solidFill>
                  <a:schemeClr val="tx2">
                    <a:satMod val="130000"/>
                  </a:schemeClr>
                </a:solidFill>
                <a:cs typeface="Times New Roman" pitchFamily="18" charset="0"/>
              </a:rPr>
              <a:t> </a:t>
            </a:r>
            <a:r>
              <a:rPr lang="en-US" sz="2800" dirty="0">
                <a:solidFill>
                  <a:schemeClr val="tx2">
                    <a:satMod val="130000"/>
                  </a:schemeClr>
                </a:solidFill>
                <a:cs typeface="Times New Roman" pitchFamily="18" charset="0"/>
              </a:rPr>
              <a:t>Doses and administration</a:t>
            </a:r>
            <a:endParaRPr lang="en-US" sz="2400" dirty="0">
              <a:solidFill>
                <a:schemeClr val="tx2">
                  <a:satMod val="130000"/>
                </a:schemeClr>
              </a:solidFill>
              <a:cs typeface="Times New Roman" pitchFamily="18" charset="0"/>
            </a:endParaRPr>
          </a:p>
          <a:p>
            <a:r>
              <a:rPr lang="en-US" sz="2800" dirty="0">
                <a:cs typeface="Times New Roman" pitchFamily="18" charset="0"/>
              </a:rPr>
              <a:t>Administered IV as 2.5 % or 5 % solution.  </a:t>
            </a:r>
            <a:endParaRPr lang="en-US" sz="2800" u="sng" dirty="0">
              <a:cs typeface="Times New Roman" pitchFamily="18" charset="0"/>
            </a:endParaRPr>
          </a:p>
          <a:p>
            <a:pPr>
              <a:lnSpc>
                <a:spcPct val="150000"/>
              </a:lnSpc>
              <a:buFont typeface="Wingdings" pitchFamily="2" charset="2"/>
              <a:buChar char="Ø"/>
            </a:pPr>
            <a:r>
              <a:rPr lang="en-US" sz="2400" dirty="0">
                <a:solidFill>
                  <a:srgbClr val="FF0000"/>
                </a:solidFill>
                <a:cs typeface="Times New Roman" pitchFamily="18" charset="0"/>
              </a:rPr>
              <a:t>Induction	                  IV		   3-5 mg/kg</a:t>
            </a:r>
          </a:p>
          <a:p>
            <a:pPr>
              <a:lnSpc>
                <a:spcPct val="150000"/>
              </a:lnSpc>
              <a:buFont typeface="Wingdings" pitchFamily="2" charset="2"/>
              <a:buChar char="Ø"/>
            </a:pPr>
            <a:r>
              <a:rPr lang="en-US" sz="2400" dirty="0">
                <a:solidFill>
                  <a:srgbClr val="FF0000"/>
                </a:solidFill>
                <a:cs typeface="Times New Roman" pitchFamily="18" charset="0"/>
              </a:rPr>
              <a:t>Sedation		      IV		    0.5-1.5 mg/kg</a:t>
            </a:r>
          </a:p>
          <a:p>
            <a:pPr>
              <a:lnSpc>
                <a:spcPct val="150000"/>
              </a:lnSpc>
              <a:buFont typeface="Wingdings" pitchFamily="2" charset="2"/>
              <a:buChar char="Ø"/>
            </a:pPr>
            <a:r>
              <a:rPr lang="en-US" sz="2400" dirty="0">
                <a:solidFill>
                  <a:srgbClr val="FF0000"/>
                </a:solidFill>
                <a:cs typeface="Times New Roman" pitchFamily="18" charset="0"/>
              </a:rPr>
              <a:t>Maintenance Infusion (rarely)    IV    </a:t>
            </a:r>
            <a:r>
              <a:rPr lang="en-US" sz="2400" i="0" u="none" strike="noStrike" baseline="0" dirty="0">
                <a:solidFill>
                  <a:srgbClr val="FF0000"/>
                </a:solidFill>
              </a:rPr>
              <a:t>50-100 mg every 10-12 min</a:t>
            </a:r>
            <a:endParaRPr lang="en-US" sz="2400" dirty="0">
              <a:solidFill>
                <a:srgbClr val="FF0000"/>
              </a:solidFill>
              <a:cs typeface="Times New Roman" pitchFamily="18" charset="0"/>
            </a:endParaRPr>
          </a:p>
          <a:p>
            <a:endParaRPr lang="en-US" sz="2400" dirty="0">
              <a:solidFill>
                <a:srgbClr val="FF0000"/>
              </a:solidFill>
              <a:cs typeface="Times New Roman" pitchFamily="18" charset="0"/>
            </a:endParaRPr>
          </a:p>
        </p:txBody>
      </p:sp>
    </p:spTree>
    <p:extLst>
      <p:ext uri="{BB962C8B-B14F-4D97-AF65-F5344CB8AC3E}">
        <p14:creationId xmlns:p14="http://schemas.microsoft.com/office/powerpoint/2010/main" val="330520396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5B166-BE44-5138-30E8-F3163A9D09BF}"/>
              </a:ext>
            </a:extLst>
          </p:cNvPr>
          <p:cNvSpPr>
            <a:spLocks noGrp="1"/>
          </p:cNvSpPr>
          <p:nvPr>
            <p:ph type="title"/>
          </p:nvPr>
        </p:nvSpPr>
        <p:spPr/>
        <p:txBody>
          <a:bodyPr>
            <a:noAutofit/>
          </a:bodyPr>
          <a:lstStyle/>
          <a:p>
            <a:r>
              <a:rPr lang="en-US" sz="3600" dirty="0"/>
              <a:t>Uses and dosages of common barbiturates.</a:t>
            </a:r>
          </a:p>
        </p:txBody>
      </p:sp>
      <p:pic>
        <p:nvPicPr>
          <p:cNvPr id="13" name="Content Placeholder 12">
            <a:extLst>
              <a:ext uri="{FF2B5EF4-FFF2-40B4-BE49-F238E27FC236}">
                <a16:creationId xmlns:a16="http://schemas.microsoft.com/office/drawing/2014/main" id="{483B7B0C-784F-6234-24F7-F1996C8362DB}"/>
              </a:ext>
            </a:extLst>
          </p:cNvPr>
          <p:cNvPicPr>
            <a:picLocks noGrp="1" noChangeAspect="1"/>
          </p:cNvPicPr>
          <p:nvPr>
            <p:ph idx="1"/>
          </p:nvPr>
        </p:nvPicPr>
        <p:blipFill>
          <a:blip r:embed="rId2"/>
          <a:stretch>
            <a:fillRect/>
          </a:stretch>
        </p:blipFill>
        <p:spPr>
          <a:xfrm>
            <a:off x="571500" y="2362200"/>
            <a:ext cx="8001000" cy="3687762"/>
          </a:xfrm>
        </p:spPr>
      </p:pic>
      <p:sp>
        <p:nvSpPr>
          <p:cNvPr id="15" name="TextBox 14">
            <a:extLst>
              <a:ext uri="{FF2B5EF4-FFF2-40B4-BE49-F238E27FC236}">
                <a16:creationId xmlns:a16="http://schemas.microsoft.com/office/drawing/2014/main" id="{5E21BB7F-D072-F05E-07A7-04AC43BA01CE}"/>
              </a:ext>
            </a:extLst>
          </p:cNvPr>
          <p:cNvSpPr txBox="1"/>
          <p:nvPr/>
        </p:nvSpPr>
        <p:spPr>
          <a:xfrm>
            <a:off x="762000" y="1143000"/>
            <a:ext cx="7810500" cy="646331"/>
          </a:xfrm>
          <a:prstGeom prst="rect">
            <a:avLst/>
          </a:prstGeom>
          <a:noFill/>
        </p:spPr>
        <p:txBody>
          <a:bodyPr wrap="square">
            <a:spAutoFit/>
          </a:bodyPr>
          <a:lstStyle/>
          <a:p>
            <a:r>
              <a:rPr lang="en-US" sz="1800" b="0" i="0" u="none" strike="noStrike" baseline="0" dirty="0">
                <a:solidFill>
                  <a:srgbClr val="000000"/>
                </a:solidFill>
                <a:latin typeface="Photina MT"/>
              </a:rPr>
              <a:t>The three barbiturates that are used most commonly for IV anesthesia induction and maintenance are thiopental, thiamylal, and methohexital. </a:t>
            </a:r>
            <a:endParaRPr lang="en-US" dirty="0"/>
          </a:p>
        </p:txBody>
      </p:sp>
    </p:spTree>
    <p:extLst>
      <p:ext uri="{BB962C8B-B14F-4D97-AF65-F5344CB8AC3E}">
        <p14:creationId xmlns:p14="http://schemas.microsoft.com/office/powerpoint/2010/main" val="297265621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709"/>
            <a:ext cx="8229600" cy="1143000"/>
          </a:xfrm>
        </p:spPr>
        <p:txBody>
          <a:bodyPr>
            <a:normAutofit/>
          </a:bodyPr>
          <a:lstStyle/>
          <a:p>
            <a:r>
              <a:rPr lang="en-US" dirty="0">
                <a:effectLst>
                  <a:outerShdw blurRad="38100" dist="38100" dir="2700000" algn="tl">
                    <a:srgbClr val="000000">
                      <a:alpha val="43137"/>
                    </a:srgbClr>
                  </a:outerShdw>
                </a:effectLst>
              </a:rPr>
              <a:t>Side effects of Thiopental</a:t>
            </a:r>
          </a:p>
        </p:txBody>
      </p:sp>
      <p:sp>
        <p:nvSpPr>
          <p:cNvPr id="3" name="Content Placeholder 2"/>
          <p:cNvSpPr>
            <a:spLocks noGrp="1"/>
          </p:cNvSpPr>
          <p:nvPr>
            <p:ph idx="1"/>
          </p:nvPr>
        </p:nvSpPr>
        <p:spPr>
          <a:xfrm>
            <a:off x="457200" y="1600200"/>
            <a:ext cx="8534400" cy="4525963"/>
          </a:xfrm>
        </p:spPr>
        <p:txBody>
          <a:bodyPr>
            <a:noAutofit/>
          </a:bodyPr>
          <a:lstStyle/>
          <a:p>
            <a:pPr>
              <a:defRPr/>
            </a:pPr>
            <a:r>
              <a:rPr lang="en-US" sz="2400" dirty="0">
                <a:cs typeface="Times New Roman" pitchFamily="18" charset="0"/>
              </a:rPr>
              <a:t> </a:t>
            </a:r>
            <a:r>
              <a:rPr lang="en-US" sz="2400" b="1" dirty="0">
                <a:cs typeface="Times New Roman" pitchFamily="18" charset="0"/>
              </a:rPr>
              <a:t>Hypotension</a:t>
            </a:r>
            <a:r>
              <a:rPr lang="en-US" sz="2400" dirty="0">
                <a:cs typeface="Times New Roman" pitchFamily="18" charset="0"/>
              </a:rPr>
              <a:t> :</a:t>
            </a:r>
          </a:p>
          <a:p>
            <a:pPr lvl="1">
              <a:defRPr/>
            </a:pPr>
            <a:r>
              <a:rPr lang="en-US" sz="2400" dirty="0">
                <a:cs typeface="Times New Roman" pitchFamily="18" charset="0"/>
              </a:rPr>
              <a:t>if thiopental is administered to hypovolemic, shocked or previously hypertensive patient</a:t>
            </a:r>
          </a:p>
          <a:p>
            <a:pPr>
              <a:defRPr/>
            </a:pPr>
            <a:r>
              <a:rPr lang="en-US" sz="2400" b="1" dirty="0">
                <a:cs typeface="Times New Roman" pitchFamily="18" charset="0"/>
              </a:rPr>
              <a:t>Respiratory depression </a:t>
            </a:r>
            <a:r>
              <a:rPr lang="en-US" sz="2400" dirty="0">
                <a:cs typeface="Times New Roman" pitchFamily="18" charset="0"/>
              </a:rPr>
              <a:t>:when excessive doses are used                                            </a:t>
            </a:r>
          </a:p>
          <a:p>
            <a:pPr>
              <a:defRPr/>
            </a:pPr>
            <a:r>
              <a:rPr lang="en-US" sz="2400" b="1" dirty="0">
                <a:cs typeface="Times New Roman" pitchFamily="18" charset="0"/>
              </a:rPr>
              <a:t>Tissue necrosis(rarely) </a:t>
            </a:r>
            <a:r>
              <a:rPr lang="en-US" sz="2400" dirty="0">
                <a:cs typeface="Times New Roman" pitchFamily="18" charset="0"/>
              </a:rPr>
              <a:t>: following venous infusion</a:t>
            </a:r>
          </a:p>
          <a:p>
            <a:pPr>
              <a:defRPr/>
            </a:pPr>
            <a:r>
              <a:rPr lang="en-US" sz="2400" b="1" dirty="0">
                <a:cs typeface="Times New Roman" pitchFamily="18" charset="0"/>
              </a:rPr>
              <a:t>Bronchospasm</a:t>
            </a:r>
            <a:r>
              <a:rPr lang="en-US" sz="2400" dirty="0">
                <a:cs typeface="Times New Roman" pitchFamily="18" charset="0"/>
              </a:rPr>
              <a:t> </a:t>
            </a:r>
          </a:p>
          <a:p>
            <a:pPr lvl="1">
              <a:defRPr/>
            </a:pPr>
            <a:r>
              <a:rPr lang="en-US" sz="2400" dirty="0">
                <a:cs typeface="Times New Roman" pitchFamily="18" charset="0"/>
              </a:rPr>
              <a:t>Unusual but may be precipitated in asthmatics patients </a:t>
            </a:r>
          </a:p>
          <a:p>
            <a:r>
              <a:rPr lang="en-US" sz="2400" b="1" dirty="0">
                <a:cs typeface="Times New Roman" pitchFamily="18" charset="0"/>
              </a:rPr>
              <a:t>Garlic or onion taste </a:t>
            </a:r>
            <a:r>
              <a:rPr lang="en-US" sz="2400" dirty="0">
                <a:cs typeface="Times New Roman" pitchFamily="18" charset="0"/>
              </a:rPr>
              <a:t>(40% of patients),</a:t>
            </a:r>
          </a:p>
        </p:txBody>
      </p:sp>
    </p:spTree>
    <p:extLst>
      <p:ext uri="{BB962C8B-B14F-4D97-AF65-F5344CB8AC3E}">
        <p14:creationId xmlns:p14="http://schemas.microsoft.com/office/powerpoint/2010/main" val="300175919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E33B9-988D-8C02-EDC6-9E4F27346E62}"/>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D820CA53-0E54-0518-75A4-D9B2D15BCF1F}"/>
              </a:ext>
            </a:extLst>
          </p:cNvPr>
          <p:cNvSpPr>
            <a:spLocks noGrp="1"/>
          </p:cNvSpPr>
          <p:nvPr>
            <p:ph idx="1"/>
          </p:nvPr>
        </p:nvSpPr>
        <p:spPr/>
        <p:txBody>
          <a:bodyPr/>
          <a:lstStyle/>
          <a:p>
            <a:r>
              <a:rPr lang="en-US" sz="2400" b="1" dirty="0">
                <a:cs typeface="Times New Roman" pitchFamily="18" charset="0"/>
              </a:rPr>
              <a:t>Allergic reaction </a:t>
            </a:r>
            <a:r>
              <a:rPr lang="en-US" sz="2400" dirty="0">
                <a:solidFill>
                  <a:srgbClr val="00B0F0"/>
                </a:solidFill>
                <a:cs typeface="Times New Roman" pitchFamily="18" charset="0"/>
              </a:rPr>
              <a:t>: </a:t>
            </a:r>
            <a:r>
              <a:rPr lang="en-US" sz="2400" dirty="0">
                <a:cs typeface="Times New Roman" pitchFamily="18" charset="0"/>
              </a:rPr>
              <a:t>from cutaneous rashes to severe anaphylactic shock with CVS collapse</a:t>
            </a:r>
          </a:p>
          <a:p>
            <a:endParaRPr lang="en-US" sz="2400" dirty="0">
              <a:cs typeface="Times New Roman" pitchFamily="18" charset="0"/>
            </a:endParaRPr>
          </a:p>
          <a:p>
            <a:r>
              <a:rPr lang="en-US" sz="2400" b="1" dirty="0">
                <a:cs typeface="Times New Roman" pitchFamily="18" charset="0"/>
              </a:rPr>
              <a:t>Laryngospasm: t</a:t>
            </a:r>
            <a:r>
              <a:rPr lang="en-US" sz="2400" dirty="0">
                <a:cs typeface="Times New Roman" pitchFamily="18" charset="0"/>
              </a:rPr>
              <a:t>his may result from</a:t>
            </a:r>
          </a:p>
          <a:p>
            <a:pPr lvl="1"/>
            <a:r>
              <a:rPr lang="en-US" sz="2400" dirty="0">
                <a:cs typeface="Times New Roman" pitchFamily="18" charset="0"/>
              </a:rPr>
              <a:t>direct stimulation by airway, </a:t>
            </a:r>
          </a:p>
          <a:p>
            <a:pPr lvl="1"/>
            <a:r>
              <a:rPr lang="en-US" sz="2400" dirty="0">
                <a:cs typeface="Times New Roman" pitchFamily="18" charset="0"/>
              </a:rPr>
              <a:t>laryngoscopy</a:t>
            </a:r>
          </a:p>
          <a:p>
            <a:pPr lvl="1"/>
            <a:r>
              <a:rPr lang="en-US" sz="2400" dirty="0">
                <a:cs typeface="Times New Roman" pitchFamily="18" charset="0"/>
              </a:rPr>
              <a:t>stimulation of some remote area</a:t>
            </a:r>
          </a:p>
          <a:p>
            <a:r>
              <a:rPr lang="en-US" sz="2400" b="1" dirty="0">
                <a:cs typeface="Times New Roman" pitchFamily="18" charset="0"/>
              </a:rPr>
              <a:t>Cough, hiccups, tremors, and twitching (rare</a:t>
            </a:r>
            <a:r>
              <a:rPr lang="en-US" sz="2400" dirty="0">
                <a:cs typeface="Times New Roman" pitchFamily="18" charset="0"/>
              </a:rPr>
              <a:t>).</a:t>
            </a:r>
          </a:p>
          <a:p>
            <a:r>
              <a:rPr lang="en-US" sz="2400" b="1" dirty="0"/>
              <a:t>L</a:t>
            </a:r>
            <a:r>
              <a:rPr lang="en-US" sz="2400" b="1" i="0" u="none" strike="noStrike" baseline="0" dirty="0"/>
              <a:t>ocal tissue irritation or pain</a:t>
            </a:r>
          </a:p>
          <a:p>
            <a:pPr lvl="1"/>
            <a:r>
              <a:rPr lang="en-US" sz="2400" b="0" i="0" u="none" strike="noStrike" baseline="0" dirty="0"/>
              <a:t> </a:t>
            </a:r>
            <a:r>
              <a:rPr lang="en-US" sz="2400" dirty="0">
                <a:cs typeface="Times New Roman" pitchFamily="18" charset="0"/>
              </a:rPr>
              <a:t>if injected outside the vein into subcutaneous tissue</a:t>
            </a:r>
          </a:p>
          <a:p>
            <a:pPr>
              <a:defRPr/>
            </a:pPr>
            <a:endParaRPr lang="en-US" sz="2400" dirty="0">
              <a:solidFill>
                <a:srgbClr val="00B0F0"/>
              </a:solidFill>
              <a:cs typeface="Times New Roman" pitchFamily="18" charset="0"/>
            </a:endParaRPr>
          </a:p>
          <a:p>
            <a:endParaRPr lang="en-US" dirty="0"/>
          </a:p>
        </p:txBody>
      </p:sp>
    </p:spTree>
    <p:extLst>
      <p:ext uri="{BB962C8B-B14F-4D97-AF65-F5344CB8AC3E}">
        <p14:creationId xmlns:p14="http://schemas.microsoft.com/office/powerpoint/2010/main" val="366121983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Times New Roman" pitchFamily="18" charset="0"/>
              </a:rPr>
              <a:t>Cont…</a:t>
            </a:r>
          </a:p>
        </p:txBody>
      </p:sp>
      <p:sp>
        <p:nvSpPr>
          <p:cNvPr id="3" name="Content Placeholder 2"/>
          <p:cNvSpPr>
            <a:spLocks noGrp="1"/>
          </p:cNvSpPr>
          <p:nvPr>
            <p:ph idx="1"/>
          </p:nvPr>
        </p:nvSpPr>
        <p:spPr/>
        <p:txBody>
          <a:bodyPr>
            <a:normAutofit lnSpcReduction="10000"/>
          </a:bodyPr>
          <a:lstStyle/>
          <a:p>
            <a:pPr marL="0" indent="0">
              <a:buNone/>
            </a:pPr>
            <a:r>
              <a:rPr lang="en-US" b="1" dirty="0">
                <a:cs typeface="Times New Roman" pitchFamily="18" charset="0"/>
              </a:rPr>
              <a:t>Complications of thiopentone </a:t>
            </a:r>
          </a:p>
          <a:p>
            <a:r>
              <a:rPr lang="en-US" dirty="0">
                <a:cs typeface="Times New Roman" pitchFamily="18" charset="0"/>
              </a:rPr>
              <a:t>Skin sloughing</a:t>
            </a:r>
          </a:p>
          <a:p>
            <a:r>
              <a:rPr lang="en-US" dirty="0">
                <a:cs typeface="Times New Roman" pitchFamily="18" charset="0"/>
              </a:rPr>
              <a:t> Neuritis</a:t>
            </a:r>
          </a:p>
          <a:p>
            <a:r>
              <a:rPr lang="en-US" dirty="0">
                <a:cs typeface="Times New Roman" pitchFamily="18" charset="0"/>
              </a:rPr>
              <a:t> phlebitis</a:t>
            </a:r>
          </a:p>
          <a:p>
            <a:r>
              <a:rPr lang="en-US" dirty="0">
                <a:cs typeface="Times New Roman" pitchFamily="18" charset="0"/>
              </a:rPr>
              <a:t> Arterial spasm</a:t>
            </a:r>
          </a:p>
          <a:p>
            <a:r>
              <a:rPr lang="en-US" dirty="0">
                <a:cs typeface="Times New Roman" pitchFamily="18" charset="0"/>
              </a:rPr>
              <a:t> Precipitation of solid crystals of thiopentone       </a:t>
            </a:r>
          </a:p>
          <a:p>
            <a:pPr lvl="1"/>
            <a:r>
              <a:rPr lang="en-US" dirty="0">
                <a:cs typeface="Times New Roman" pitchFamily="18" charset="0"/>
              </a:rPr>
              <a:t>block small arteries.</a:t>
            </a:r>
            <a:r>
              <a:rPr lang="en-US" b="1" i="1" dirty="0">
                <a:cs typeface="Times New Roman" pitchFamily="18" charset="0"/>
              </a:rPr>
              <a:t> </a:t>
            </a:r>
            <a:endParaRPr lang="en-US" dirty="0">
              <a:cs typeface="Times New Roman" pitchFamily="18" charset="0"/>
            </a:endParaRPr>
          </a:p>
          <a:p>
            <a:pPr>
              <a:buNone/>
            </a:pPr>
            <a:r>
              <a:rPr lang="en-US" b="1" i="1" dirty="0">
                <a:cs typeface="Times New Roman" pitchFamily="18" charset="0"/>
              </a:rPr>
              <a:t> </a:t>
            </a:r>
            <a:endParaRPr lang="en-US" dirty="0">
              <a:cs typeface="Times New Roman" pitchFamily="18" charset="0"/>
            </a:endParaRPr>
          </a:p>
          <a:p>
            <a:pPr>
              <a:buFont typeface="Wingdings" pitchFamily="2" charset="2"/>
              <a:buChar char="v"/>
            </a:pPr>
            <a:endParaRPr lang="en-US" dirty="0">
              <a:cs typeface="Times New Roman" pitchFamily="18" charset="0"/>
            </a:endParaRPr>
          </a:p>
          <a:p>
            <a:endParaRPr lang="en-US" dirty="0">
              <a:cs typeface="Times New Roman" pitchFamily="18" charset="0"/>
            </a:endParaRPr>
          </a:p>
        </p:txBody>
      </p:sp>
    </p:spTree>
    <p:extLst>
      <p:ext uri="{BB962C8B-B14F-4D97-AF65-F5344CB8AC3E}">
        <p14:creationId xmlns:p14="http://schemas.microsoft.com/office/powerpoint/2010/main" val="181757822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n-lt"/>
                <a:cs typeface="Times New Roman" pitchFamily="18" charset="0"/>
              </a:rPr>
              <a:t>Cont…</a:t>
            </a:r>
            <a:endParaRPr lang="en-US" dirty="0">
              <a:latin typeface="+mn-lt"/>
            </a:endParaRPr>
          </a:p>
        </p:txBody>
      </p:sp>
      <p:sp>
        <p:nvSpPr>
          <p:cNvPr id="3" name="Content Placeholder 2"/>
          <p:cNvSpPr>
            <a:spLocks noGrp="1"/>
          </p:cNvSpPr>
          <p:nvPr>
            <p:ph idx="1"/>
          </p:nvPr>
        </p:nvSpPr>
        <p:spPr/>
        <p:txBody>
          <a:bodyPr>
            <a:noAutofit/>
          </a:bodyPr>
          <a:lstStyle/>
          <a:p>
            <a:pPr>
              <a:defRPr/>
            </a:pPr>
            <a:r>
              <a:rPr lang="en-US" sz="2600" dirty="0">
                <a:cs typeface="Times New Roman" pitchFamily="18" charset="0"/>
              </a:rPr>
              <a:t> </a:t>
            </a:r>
            <a:r>
              <a:rPr lang="en-US" sz="2600" b="1" dirty="0">
                <a:cs typeface="Times New Roman" pitchFamily="18" charset="0"/>
              </a:rPr>
              <a:t>Rarely, intra-arterial injection can occur</a:t>
            </a:r>
            <a:r>
              <a:rPr lang="en-US" sz="2600" dirty="0">
                <a:cs typeface="Times New Roman" pitchFamily="18" charset="0"/>
              </a:rPr>
              <a:t>. </a:t>
            </a:r>
          </a:p>
          <a:p>
            <a:pPr lvl="1">
              <a:defRPr/>
            </a:pPr>
            <a:r>
              <a:rPr lang="en-US" sz="2200" dirty="0">
                <a:cs typeface="Times New Roman" pitchFamily="18" charset="0"/>
              </a:rPr>
              <a:t>The consequences of accidental arterial injection may be severe. </a:t>
            </a:r>
          </a:p>
          <a:p>
            <a:pPr lvl="1">
              <a:defRPr/>
            </a:pPr>
            <a:r>
              <a:rPr lang="en-US" sz="2200" dirty="0">
                <a:cs typeface="Times New Roman" pitchFamily="18" charset="0"/>
              </a:rPr>
              <a:t>The degree of injury is related to the concentration of the drug. </a:t>
            </a:r>
          </a:p>
          <a:p>
            <a:pPr>
              <a:defRPr/>
            </a:pPr>
            <a:r>
              <a:rPr lang="en-US" sz="2800" b="1" dirty="0">
                <a:cs typeface="Times New Roman" pitchFamily="18" charset="0"/>
              </a:rPr>
              <a:t>Treatment consists of </a:t>
            </a:r>
          </a:p>
          <a:p>
            <a:pPr marL="971550" lvl="1" indent="-571500">
              <a:buFont typeface="+mj-lt"/>
              <a:buAutoNum type="romanLcPeriod"/>
              <a:defRPr/>
            </a:pPr>
            <a:r>
              <a:rPr lang="en-US" sz="2400" dirty="0">
                <a:cs typeface="Times New Roman" pitchFamily="18" charset="0"/>
              </a:rPr>
              <a:t>dilution of the drug by the administration of saline into the artery, </a:t>
            </a:r>
          </a:p>
          <a:p>
            <a:pPr marL="971550" lvl="1" indent="-571500">
              <a:buFont typeface="+mj-lt"/>
              <a:buAutoNum type="romanLcPeriod"/>
              <a:defRPr/>
            </a:pPr>
            <a:r>
              <a:rPr lang="en-US" sz="2400" dirty="0">
                <a:cs typeface="Times New Roman" pitchFamily="18" charset="0"/>
              </a:rPr>
              <a:t> heparinization to prevent thrombosis, and </a:t>
            </a:r>
          </a:p>
          <a:p>
            <a:pPr marL="971550" lvl="1" indent="-571500">
              <a:buFont typeface="+mj-lt"/>
              <a:buAutoNum type="romanLcPeriod"/>
              <a:defRPr/>
            </a:pPr>
            <a:r>
              <a:rPr lang="en-US" sz="2400" dirty="0">
                <a:cs typeface="Times New Roman" pitchFamily="18" charset="0"/>
              </a:rPr>
              <a:t>brachial plexus block ( for potential </a:t>
            </a:r>
            <a:r>
              <a:rPr lang="en-US" sz="2400" dirty="0" err="1">
                <a:cs typeface="Times New Roman" pitchFamily="18" charset="0"/>
              </a:rPr>
              <a:t>arteriodilation</a:t>
            </a:r>
            <a:r>
              <a:rPr lang="en-US" sz="2400" dirty="0">
                <a:cs typeface="Times New Roman" pitchFamily="18" charset="0"/>
              </a:rPr>
              <a:t>).</a:t>
            </a:r>
          </a:p>
          <a:p>
            <a:pPr marL="971550" lvl="1" indent="-571500">
              <a:buFont typeface="+mj-lt"/>
              <a:buAutoNum type="romanLcPeriod"/>
              <a:defRPr/>
            </a:pPr>
            <a:endParaRPr lang="en-US" sz="2200" dirty="0">
              <a:cs typeface="Times New Roman" pitchFamily="18" charset="0"/>
            </a:endParaRPr>
          </a:p>
          <a:p>
            <a:pPr marL="571500" indent="-571500">
              <a:buFont typeface="+mj-lt"/>
              <a:buAutoNum type="romanLcPeriod"/>
            </a:pPr>
            <a:endParaRPr lang="en-US" sz="2600" dirty="0">
              <a:cs typeface="Times New Roman" pitchFamily="18" charset="0"/>
            </a:endParaRPr>
          </a:p>
        </p:txBody>
      </p:sp>
    </p:spTree>
    <p:extLst>
      <p:ext uri="{BB962C8B-B14F-4D97-AF65-F5344CB8AC3E}">
        <p14:creationId xmlns:p14="http://schemas.microsoft.com/office/powerpoint/2010/main" val="232754549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n-lt"/>
                <a:cs typeface="Times New Roman" pitchFamily="18" charset="0"/>
              </a:rPr>
              <a:t>Cont…</a:t>
            </a:r>
            <a:endParaRPr lang="en-US" dirty="0">
              <a:latin typeface="+mn-lt"/>
            </a:endParaRPr>
          </a:p>
        </p:txBody>
      </p:sp>
      <p:sp>
        <p:nvSpPr>
          <p:cNvPr id="3" name="Content Placeholder 2"/>
          <p:cNvSpPr>
            <a:spLocks noGrp="1"/>
          </p:cNvSpPr>
          <p:nvPr>
            <p:ph idx="1"/>
          </p:nvPr>
        </p:nvSpPr>
        <p:spPr/>
        <p:txBody>
          <a:bodyPr/>
          <a:lstStyle/>
          <a:p>
            <a:pPr>
              <a:buFont typeface="Wingdings" pitchFamily="2" charset="2"/>
              <a:buChar char="v"/>
            </a:pPr>
            <a:r>
              <a:rPr lang="en-US" dirty="0">
                <a:cs typeface="Times New Roman" pitchFamily="18" charset="0"/>
              </a:rPr>
              <a:t>Symptoms and signs of intra-arterial injection</a:t>
            </a:r>
          </a:p>
          <a:p>
            <a:pPr lvl="1"/>
            <a:r>
              <a:rPr lang="en-US" dirty="0">
                <a:cs typeface="Times New Roman" pitchFamily="18" charset="0"/>
              </a:rPr>
              <a:t>The patient will feel intense pain.</a:t>
            </a:r>
          </a:p>
          <a:p>
            <a:pPr lvl="1"/>
            <a:r>
              <a:rPr lang="en-US" dirty="0">
                <a:cs typeface="Times New Roman" pitchFamily="18" charset="0"/>
              </a:rPr>
              <a:t>The hand will be very pale or white.</a:t>
            </a:r>
          </a:p>
          <a:p>
            <a:pPr lvl="1"/>
            <a:r>
              <a:rPr lang="en-US" dirty="0">
                <a:cs typeface="Times New Roman" pitchFamily="18" charset="0"/>
              </a:rPr>
              <a:t>The hand will be cold (arterial spasm).</a:t>
            </a:r>
          </a:p>
          <a:p>
            <a:pPr lvl="1"/>
            <a:r>
              <a:rPr lang="en-US" dirty="0">
                <a:cs typeface="Times New Roman" pitchFamily="18" charset="0"/>
              </a:rPr>
              <a:t>The hand will be edematous.</a:t>
            </a:r>
          </a:p>
          <a:p>
            <a:pPr lvl="1"/>
            <a:r>
              <a:rPr lang="en-US" dirty="0">
                <a:cs typeface="Times New Roman" pitchFamily="18" charset="0"/>
              </a:rPr>
              <a:t>The pulse may be absent.</a:t>
            </a:r>
          </a:p>
          <a:p>
            <a:pPr lvl="1"/>
            <a:endParaRPr lang="en-US" dirty="0">
              <a:cs typeface="Times New Roman" pitchFamily="18" charset="0"/>
            </a:endParaRPr>
          </a:p>
          <a:p>
            <a:pPr lvl="1"/>
            <a:endParaRPr lang="en-US" dirty="0">
              <a:cs typeface="Times New Roman" pitchFamily="18" charset="0"/>
            </a:endParaRPr>
          </a:p>
        </p:txBody>
      </p:sp>
    </p:spTree>
    <p:extLst>
      <p:ext uri="{BB962C8B-B14F-4D97-AF65-F5344CB8AC3E}">
        <p14:creationId xmlns:p14="http://schemas.microsoft.com/office/powerpoint/2010/main" val="288200923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Times New Roman" pitchFamily="18" charset="0"/>
              </a:rPr>
              <a:t>Cont…</a:t>
            </a:r>
            <a:endParaRPr lang="en-US" dirty="0"/>
          </a:p>
        </p:txBody>
      </p:sp>
      <p:sp>
        <p:nvSpPr>
          <p:cNvPr id="3" name="Content Placeholder 2"/>
          <p:cNvSpPr>
            <a:spLocks noGrp="1"/>
          </p:cNvSpPr>
          <p:nvPr>
            <p:ph idx="1"/>
          </p:nvPr>
        </p:nvSpPr>
        <p:spPr/>
        <p:txBody>
          <a:bodyPr>
            <a:noAutofit/>
          </a:bodyPr>
          <a:lstStyle/>
          <a:p>
            <a:r>
              <a:rPr lang="en-US" sz="2400" b="1" dirty="0">
                <a:cs typeface="Times New Roman" pitchFamily="18" charset="0"/>
              </a:rPr>
              <a:t>Treatment Of Thiopentone  Intra-arterial Injection</a:t>
            </a:r>
            <a:endParaRPr lang="en-US" sz="2400" dirty="0">
              <a:cs typeface="Times New Roman" pitchFamily="18" charset="0"/>
            </a:endParaRPr>
          </a:p>
          <a:p>
            <a:r>
              <a:rPr lang="en-US" sz="2400" dirty="0">
                <a:cs typeface="Times New Roman" pitchFamily="18" charset="0"/>
              </a:rPr>
              <a:t>Leave the needle in the artery</a:t>
            </a:r>
          </a:p>
          <a:p>
            <a:r>
              <a:rPr lang="en-US" sz="2400" dirty="0">
                <a:cs typeface="Times New Roman" pitchFamily="18" charset="0"/>
              </a:rPr>
              <a:t>Flush with N/S</a:t>
            </a:r>
          </a:p>
          <a:p>
            <a:r>
              <a:rPr lang="en-US" sz="2400" dirty="0">
                <a:cs typeface="Times New Roman" pitchFamily="18" charset="0"/>
              </a:rPr>
              <a:t>inject  lignocaine (10mls of 1%) into the artery.</a:t>
            </a:r>
          </a:p>
          <a:p>
            <a:r>
              <a:rPr lang="en-US" sz="2400" dirty="0">
                <a:cs typeface="Times New Roman" pitchFamily="18" charset="0"/>
              </a:rPr>
              <a:t>Sympathetic nerve block (stellate ganglion block) – to block SNS nerve supply to  arm)</a:t>
            </a:r>
          </a:p>
          <a:p>
            <a:pPr lvl="1"/>
            <a:r>
              <a:rPr lang="en-US" sz="2000" dirty="0">
                <a:cs typeface="Times New Roman" pitchFamily="18" charset="0"/>
              </a:rPr>
              <a:t>Horner's Syndrome can be manifested.</a:t>
            </a:r>
          </a:p>
          <a:p>
            <a:r>
              <a:rPr lang="en-US" sz="2400" dirty="0">
                <a:cs typeface="Times New Roman" pitchFamily="18" charset="0"/>
              </a:rPr>
              <a:t>Full heparinisation may be required </a:t>
            </a:r>
          </a:p>
          <a:p>
            <a:r>
              <a:rPr lang="en-US" sz="2400" dirty="0">
                <a:cs typeface="Times New Roman" pitchFamily="18" charset="0"/>
              </a:rPr>
              <a:t>Thrombectomy may be required</a:t>
            </a:r>
          </a:p>
          <a:p>
            <a:r>
              <a:rPr lang="en-US" sz="2400" dirty="0">
                <a:cs typeface="Times New Roman" pitchFamily="18" charset="0"/>
              </a:rPr>
              <a:t>Occasionally amputation is needed</a:t>
            </a:r>
          </a:p>
          <a:p>
            <a:pPr>
              <a:buNone/>
            </a:pPr>
            <a:endParaRPr lang="en-US" sz="2400" dirty="0">
              <a:cs typeface="Times New Roman" pitchFamily="18" charset="0"/>
            </a:endParaRPr>
          </a:p>
          <a:p>
            <a:endParaRPr lang="en-US" sz="2400" dirty="0">
              <a:cs typeface="Times New Roman" pitchFamily="18" charset="0"/>
            </a:endParaRPr>
          </a:p>
          <a:p>
            <a:endParaRPr lang="en-US" sz="2400" dirty="0">
              <a:cs typeface="Times New Roman" pitchFamily="18" charset="0"/>
            </a:endParaRPr>
          </a:p>
          <a:p>
            <a:pPr marL="0" indent="0">
              <a:buNone/>
            </a:pPr>
            <a:endParaRPr lang="en-US" sz="2400" dirty="0">
              <a:cs typeface="Times New Roman" pitchFamily="18" charset="0"/>
            </a:endParaRPr>
          </a:p>
        </p:txBody>
      </p:sp>
    </p:spTree>
    <p:extLst>
      <p:ext uri="{BB962C8B-B14F-4D97-AF65-F5344CB8AC3E}">
        <p14:creationId xmlns:p14="http://schemas.microsoft.com/office/powerpoint/2010/main" val="343393237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cs typeface="Times New Roman" pitchFamily="18" charset="0"/>
              </a:rPr>
              <a:t>Cont.…</a:t>
            </a:r>
            <a:endParaRPr lang="en-US" sz="4000" dirty="0">
              <a:effectLst>
                <a:outerShdw blurRad="38100" dist="38100" dir="2700000" algn="tl">
                  <a:srgbClr val="000000">
                    <a:alpha val="43137"/>
                  </a:srgbClr>
                </a:outerShdw>
              </a:effectLst>
              <a:latin typeface="+mn-lt"/>
            </a:endParaRPr>
          </a:p>
        </p:txBody>
      </p:sp>
      <p:sp>
        <p:nvSpPr>
          <p:cNvPr id="3" name="Content Placeholder 2"/>
          <p:cNvSpPr>
            <a:spLocks noGrp="1"/>
          </p:cNvSpPr>
          <p:nvPr>
            <p:ph idx="1"/>
          </p:nvPr>
        </p:nvSpPr>
        <p:spPr>
          <a:xfrm>
            <a:off x="457200" y="1600200"/>
            <a:ext cx="8534400" cy="4525963"/>
          </a:xfrm>
        </p:spPr>
        <p:txBody>
          <a:bodyPr>
            <a:noAutofit/>
          </a:bodyPr>
          <a:lstStyle/>
          <a:p>
            <a:pPr>
              <a:buFont typeface="Wingdings" panose="05000000000000000000" pitchFamily="2" charset="2"/>
              <a:buChar char="q"/>
            </a:pPr>
            <a:r>
              <a:rPr lang="en-US" sz="3600" b="1" dirty="0">
                <a:effectLst>
                  <a:outerShdw blurRad="38100" dist="38100" dir="2700000" algn="tl">
                    <a:srgbClr val="000000">
                      <a:alpha val="43137"/>
                    </a:srgbClr>
                  </a:outerShdw>
                </a:effectLst>
                <a:latin typeface="+mn-lt"/>
              </a:rPr>
              <a:t>Contraindication Of Thiopental</a:t>
            </a:r>
            <a:br>
              <a:rPr lang="en-US" sz="3600" dirty="0">
                <a:effectLst>
                  <a:outerShdw blurRad="38100" dist="38100" dir="2700000" algn="tl">
                    <a:srgbClr val="000000">
                      <a:alpha val="43137"/>
                    </a:srgbClr>
                  </a:outerShdw>
                </a:effectLst>
                <a:latin typeface="+mn-lt"/>
              </a:rPr>
            </a:br>
            <a:r>
              <a:rPr lang="en-US" sz="3600" dirty="0">
                <a:solidFill>
                  <a:srgbClr val="FF0000"/>
                </a:solidFill>
                <a:cs typeface="Times New Roman" pitchFamily="18" charset="0"/>
              </a:rPr>
              <a:t>I. Absolute</a:t>
            </a:r>
          </a:p>
          <a:p>
            <a:pPr lvl="1"/>
            <a:r>
              <a:rPr lang="en-US" sz="2000" b="1" dirty="0">
                <a:cs typeface="Times New Roman" pitchFamily="18" charset="0"/>
              </a:rPr>
              <a:t> </a:t>
            </a:r>
            <a:r>
              <a:rPr lang="en-US" sz="2400" dirty="0">
                <a:cs typeface="Times New Roman" pitchFamily="18" charset="0"/>
              </a:rPr>
              <a:t>Lack of knowledge of the drug.</a:t>
            </a:r>
          </a:p>
          <a:p>
            <a:pPr lvl="1"/>
            <a:r>
              <a:rPr lang="en-US" sz="2400" dirty="0">
                <a:cs typeface="Times New Roman" pitchFamily="18" charset="0"/>
              </a:rPr>
              <a:t> Lack of resuscitative equipment.</a:t>
            </a:r>
          </a:p>
          <a:p>
            <a:pPr lvl="1"/>
            <a:r>
              <a:rPr lang="en-US" sz="2400" dirty="0">
                <a:cs typeface="Times New Roman" pitchFamily="18" charset="0"/>
              </a:rPr>
              <a:t>Inability to maintain a patent airway.</a:t>
            </a:r>
          </a:p>
          <a:p>
            <a:pPr lvl="1"/>
            <a:r>
              <a:rPr lang="en-US" sz="2400" dirty="0">
                <a:cs typeface="Times New Roman" pitchFamily="18" charset="0"/>
              </a:rPr>
              <a:t>Complete absence of suitable veins.</a:t>
            </a:r>
          </a:p>
          <a:p>
            <a:pPr lvl="1"/>
            <a:r>
              <a:rPr lang="en-US" sz="2400" dirty="0">
                <a:cs typeface="Times New Roman" pitchFamily="18" charset="0"/>
              </a:rPr>
              <a:t> Allergy or hypersensitivity to barbiturates.</a:t>
            </a:r>
          </a:p>
          <a:p>
            <a:pPr lvl="1"/>
            <a:r>
              <a:rPr lang="en-US" sz="2400" dirty="0">
                <a:cs typeface="Times New Roman" pitchFamily="18" charset="0"/>
              </a:rPr>
              <a:t> Status asthmaticus.</a:t>
            </a:r>
          </a:p>
          <a:p>
            <a:pPr lvl="1"/>
            <a:r>
              <a:rPr lang="en-US" sz="2400" dirty="0">
                <a:cs typeface="Times New Roman" pitchFamily="18" charset="0"/>
              </a:rPr>
              <a:t> Porphyria (Variegate Porphyria, or Acute Intermittent Porphyria).</a:t>
            </a:r>
          </a:p>
          <a:p>
            <a:endParaRPr lang="en-US" sz="2800" dirty="0">
              <a:cs typeface="Times New Roman" pitchFamily="18" charset="0"/>
            </a:endParaRPr>
          </a:p>
        </p:txBody>
      </p:sp>
    </p:spTree>
    <p:extLst>
      <p:ext uri="{BB962C8B-B14F-4D97-AF65-F5344CB8AC3E}">
        <p14:creationId xmlns:p14="http://schemas.microsoft.com/office/powerpoint/2010/main" val="308865275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latin typeface="+mn-lt"/>
              </a:rPr>
              <a:t>Contraindication…</a:t>
            </a:r>
            <a:endParaRPr lang="en-US" dirty="0">
              <a:latin typeface="+mn-lt"/>
            </a:endParaRPr>
          </a:p>
        </p:txBody>
      </p:sp>
      <p:sp>
        <p:nvSpPr>
          <p:cNvPr id="3" name="Content Placeholder 2"/>
          <p:cNvSpPr>
            <a:spLocks noGrp="1"/>
          </p:cNvSpPr>
          <p:nvPr>
            <p:ph idx="1"/>
          </p:nvPr>
        </p:nvSpPr>
        <p:spPr/>
        <p:txBody>
          <a:bodyPr/>
          <a:lstStyle/>
          <a:p>
            <a:pPr>
              <a:buNone/>
            </a:pPr>
            <a:r>
              <a:rPr lang="en-US" sz="3600" dirty="0">
                <a:effectLst>
                  <a:outerShdw blurRad="38100" dist="38100" dir="2700000" algn="tl">
                    <a:srgbClr val="000000">
                      <a:alpha val="43137"/>
                    </a:srgbClr>
                  </a:outerShdw>
                </a:effectLst>
                <a:cs typeface="Times New Roman" pitchFamily="18" charset="0"/>
              </a:rPr>
              <a:t>II. </a:t>
            </a:r>
            <a:r>
              <a:rPr lang="en-US" sz="3600" b="1" dirty="0">
                <a:effectLst>
                  <a:outerShdw blurRad="38100" dist="38100" dir="2700000" algn="tl">
                    <a:srgbClr val="000000">
                      <a:alpha val="43137"/>
                    </a:srgbClr>
                  </a:outerShdw>
                </a:effectLst>
                <a:cs typeface="Times New Roman" pitchFamily="18" charset="0"/>
              </a:rPr>
              <a:t>Relative:</a:t>
            </a:r>
          </a:p>
          <a:p>
            <a:pPr>
              <a:buFont typeface="Wingdings" pitchFamily="2" charset="2"/>
              <a:buChar char="§"/>
            </a:pPr>
            <a:r>
              <a:rPr lang="en-US" dirty="0">
                <a:cs typeface="Times New Roman" pitchFamily="18" charset="0"/>
              </a:rPr>
              <a:t>Hypotension or shock.</a:t>
            </a:r>
          </a:p>
          <a:p>
            <a:pPr>
              <a:buFont typeface="Wingdings" pitchFamily="2" charset="2"/>
              <a:buChar char="§"/>
            </a:pPr>
            <a:r>
              <a:rPr lang="en-US" dirty="0">
                <a:cs typeface="Times New Roman" pitchFamily="18" charset="0"/>
              </a:rPr>
              <a:t> Severe cardiovascular disease (instability).</a:t>
            </a:r>
          </a:p>
          <a:p>
            <a:pPr>
              <a:buFont typeface="Wingdings" pitchFamily="2" charset="2"/>
              <a:buChar char="§"/>
            </a:pPr>
            <a:r>
              <a:rPr lang="en-US" dirty="0">
                <a:cs typeface="Times New Roman" pitchFamily="18" charset="0"/>
              </a:rPr>
              <a:t> Severe liver disease.</a:t>
            </a:r>
          </a:p>
          <a:p>
            <a:pPr>
              <a:buFont typeface="Wingdings" pitchFamily="2" charset="2"/>
              <a:buChar char="§"/>
            </a:pPr>
            <a:r>
              <a:rPr lang="en-US" dirty="0">
                <a:cs typeface="Times New Roman" pitchFamily="18" charset="0"/>
              </a:rPr>
              <a:t>Myxedema.</a:t>
            </a:r>
          </a:p>
          <a:p>
            <a:pPr>
              <a:buFont typeface="Wingdings" pitchFamily="2" charset="2"/>
              <a:buChar char="§"/>
            </a:pPr>
            <a:endParaRPr lang="en-US" dirty="0">
              <a:cs typeface="Times New Roman" pitchFamily="18" charset="0"/>
            </a:endParaRPr>
          </a:p>
        </p:txBody>
      </p:sp>
    </p:spTree>
    <p:extLst>
      <p:ext uri="{BB962C8B-B14F-4D97-AF65-F5344CB8AC3E}">
        <p14:creationId xmlns:p14="http://schemas.microsoft.com/office/powerpoint/2010/main" val="358469123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Methohexital</a:t>
            </a:r>
            <a:br>
              <a:rPr lang="en-US" dirty="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457200" y="1600200"/>
            <a:ext cx="8458200" cy="4525963"/>
          </a:xfrm>
        </p:spPr>
        <p:txBody>
          <a:bodyPr>
            <a:normAutofit/>
          </a:bodyPr>
          <a:lstStyle/>
          <a:p>
            <a:r>
              <a:rPr lang="en-US" sz="2400" dirty="0">
                <a:cs typeface="Times New Roman" pitchFamily="18" charset="0"/>
              </a:rPr>
              <a:t>It is a methylated oxybarbiturate</a:t>
            </a:r>
          </a:p>
          <a:p>
            <a:r>
              <a:rPr lang="en-US" sz="2400" dirty="0">
                <a:cs typeface="Times New Roman" pitchFamily="18" charset="0"/>
              </a:rPr>
              <a:t>It is used in 1 % solution: 1 to 2 mg/ kg/ IV</a:t>
            </a:r>
          </a:p>
          <a:p>
            <a:r>
              <a:rPr lang="en-US" sz="2400" dirty="0">
                <a:cs typeface="Times New Roman" pitchFamily="18" charset="0"/>
              </a:rPr>
              <a:t>Drug of choice for providing anesthesia during electroconvulsive therapy (ECT).</a:t>
            </a:r>
          </a:p>
          <a:p>
            <a:r>
              <a:rPr lang="en-US" sz="2400" dirty="0">
                <a:cs typeface="Times New Roman" pitchFamily="18" charset="0"/>
              </a:rPr>
              <a:t>The only IV barbiturate which can compete with thiopental for induction </a:t>
            </a:r>
          </a:p>
          <a:p>
            <a:r>
              <a:rPr lang="en-US" sz="2400" dirty="0">
                <a:cs typeface="Times New Roman" pitchFamily="18" charset="0"/>
              </a:rPr>
              <a:t>May be preferred than thiopental for maintenance</a:t>
            </a:r>
          </a:p>
          <a:p>
            <a:pPr lvl="1"/>
            <a:r>
              <a:rPr lang="en-US" sz="2400" dirty="0">
                <a:cs typeface="Times New Roman" pitchFamily="18" charset="0"/>
              </a:rPr>
              <a:t>because it cleared more rapidly than thiopental</a:t>
            </a:r>
          </a:p>
          <a:p>
            <a:endParaRPr lang="en-US" sz="2400" dirty="0">
              <a:cs typeface="Times New Roman" pitchFamily="18" charset="0"/>
            </a:endParaRPr>
          </a:p>
          <a:p>
            <a:endParaRPr lang="en-US" sz="2400" dirty="0">
              <a:cs typeface="Times New Roman" pitchFamily="18" charset="0"/>
            </a:endParaRPr>
          </a:p>
        </p:txBody>
      </p:sp>
    </p:spTree>
    <p:extLst>
      <p:ext uri="{BB962C8B-B14F-4D97-AF65-F5344CB8AC3E}">
        <p14:creationId xmlns:p14="http://schemas.microsoft.com/office/powerpoint/2010/main" val="319632124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AA192-579B-8928-8AD4-1AF64A17236B}"/>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231C9EC7-6CA6-81E7-B0CA-9FBB1919E48C}"/>
              </a:ext>
            </a:extLst>
          </p:cNvPr>
          <p:cNvSpPr>
            <a:spLocks noGrp="1"/>
          </p:cNvSpPr>
          <p:nvPr>
            <p:ph idx="1"/>
          </p:nvPr>
        </p:nvSpPr>
        <p:spPr/>
        <p:txBody>
          <a:bodyPr>
            <a:normAutofit/>
          </a:bodyPr>
          <a:lstStyle/>
          <a:p>
            <a:r>
              <a:rPr lang="en-US" sz="2600" dirty="0">
                <a:cs typeface="Times New Roman" pitchFamily="18" charset="0"/>
              </a:rPr>
              <a:t>Shorter elimination half time- 2- 4 hrs. vs thiopental. </a:t>
            </a:r>
          </a:p>
          <a:p>
            <a:r>
              <a:rPr lang="en-US" sz="2600" dirty="0">
                <a:cs typeface="Times New Roman" pitchFamily="18" charset="0"/>
              </a:rPr>
              <a:t>Less irritating to tissues </a:t>
            </a:r>
          </a:p>
          <a:p>
            <a:r>
              <a:rPr lang="en-US" sz="2600" dirty="0">
                <a:cs typeface="Times New Roman" pitchFamily="18" charset="0"/>
              </a:rPr>
              <a:t> Cause less CVS depression</a:t>
            </a:r>
          </a:p>
          <a:p>
            <a:r>
              <a:rPr lang="en-US" sz="2600" dirty="0">
                <a:cs typeface="Times New Roman" pitchFamily="18" charset="0"/>
              </a:rPr>
              <a:t>Can cause seizure (large dose)</a:t>
            </a:r>
          </a:p>
          <a:p>
            <a:r>
              <a:rPr lang="en-US" sz="2600" dirty="0">
                <a:cs typeface="Times New Roman" pitchFamily="18" charset="0"/>
              </a:rPr>
              <a:t>Abnormal muscular movements with tremor</a:t>
            </a:r>
          </a:p>
          <a:p>
            <a:r>
              <a:rPr lang="en-US" sz="2600" dirty="0">
                <a:cs typeface="Times New Roman" pitchFamily="18" charset="0"/>
              </a:rPr>
              <a:t>Cause abnormal spike discharges in epileptic subjects</a:t>
            </a:r>
          </a:p>
          <a:p>
            <a:endParaRPr lang="en-US" sz="2600" dirty="0"/>
          </a:p>
        </p:txBody>
      </p:sp>
    </p:spTree>
    <p:extLst>
      <p:ext uri="{BB962C8B-B14F-4D97-AF65-F5344CB8AC3E}">
        <p14:creationId xmlns:p14="http://schemas.microsoft.com/office/powerpoint/2010/main" val="159768108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mn-lt"/>
              </a:rPr>
              <a:t>Cont…</a:t>
            </a:r>
          </a:p>
        </p:txBody>
      </p:sp>
      <p:sp>
        <p:nvSpPr>
          <p:cNvPr id="3" name="Content Placeholder 2"/>
          <p:cNvSpPr>
            <a:spLocks noGrp="1"/>
          </p:cNvSpPr>
          <p:nvPr>
            <p:ph idx="1"/>
          </p:nvPr>
        </p:nvSpPr>
        <p:spPr/>
        <p:txBody>
          <a:bodyPr/>
          <a:lstStyle/>
          <a:p>
            <a:pPr>
              <a:buFont typeface="Wingdings" pitchFamily="2" charset="2"/>
              <a:buChar char="Ø"/>
            </a:pPr>
            <a:r>
              <a:rPr lang="en-US" sz="4400" b="1" dirty="0">
                <a:effectLst>
                  <a:outerShdw blurRad="38100" dist="38100" dir="2700000" algn="tl">
                    <a:srgbClr val="000000">
                      <a:alpha val="43137"/>
                    </a:srgbClr>
                  </a:outerShdw>
                </a:effectLst>
                <a:cs typeface="Times New Roman" pitchFamily="18" charset="0"/>
              </a:rPr>
              <a:t>Doses of Methohexital</a:t>
            </a:r>
          </a:p>
          <a:p>
            <a:pPr>
              <a:buNone/>
            </a:pPr>
            <a:r>
              <a:rPr lang="en-US" dirty="0">
                <a:cs typeface="Times New Roman" pitchFamily="18" charset="0"/>
              </a:rPr>
              <a:t>Induction		IV		1-2mg/kg</a:t>
            </a:r>
          </a:p>
          <a:p>
            <a:pPr>
              <a:buNone/>
            </a:pPr>
            <a:r>
              <a:rPr lang="en-US" dirty="0">
                <a:cs typeface="Times New Roman" pitchFamily="18" charset="0"/>
              </a:rPr>
              <a:t>Sedation		IV		0.2-0.4 mg/kg</a:t>
            </a:r>
          </a:p>
          <a:p>
            <a:pPr>
              <a:buNone/>
            </a:pPr>
            <a:r>
              <a:rPr lang="en-US" dirty="0">
                <a:cs typeface="Times New Roman" pitchFamily="18" charset="0"/>
              </a:rPr>
              <a:t>Induction		Rectal	25 mg/kg</a:t>
            </a:r>
          </a:p>
          <a:p>
            <a:endParaRPr lang="en-US" dirty="0">
              <a:cs typeface="Times New Roman" pitchFamily="18" charset="0"/>
            </a:endParaRPr>
          </a:p>
        </p:txBody>
      </p:sp>
    </p:spTree>
    <p:extLst>
      <p:ext uri="{BB962C8B-B14F-4D97-AF65-F5344CB8AC3E}">
        <p14:creationId xmlns:p14="http://schemas.microsoft.com/office/powerpoint/2010/main" val="421684717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73531-9387-D6EC-33F8-7247F890B2A0}"/>
              </a:ext>
            </a:extLst>
          </p:cNvPr>
          <p:cNvSpPr>
            <a:spLocks noGrp="1"/>
          </p:cNvSpPr>
          <p:nvPr>
            <p:ph type="title"/>
          </p:nvPr>
        </p:nvSpPr>
        <p:spPr/>
        <p:txBody>
          <a:bodyPr/>
          <a:lstStyle/>
          <a:p>
            <a:r>
              <a:rPr lang="en-US" dirty="0"/>
              <a:t>Summary of barbiturates</a:t>
            </a:r>
          </a:p>
        </p:txBody>
      </p:sp>
      <p:pic>
        <p:nvPicPr>
          <p:cNvPr id="9" name="Content Placeholder 8">
            <a:extLst>
              <a:ext uri="{FF2B5EF4-FFF2-40B4-BE49-F238E27FC236}">
                <a16:creationId xmlns:a16="http://schemas.microsoft.com/office/drawing/2014/main" id="{50D8C2F0-B8D9-B3FD-B55B-5D277DFCDE89}"/>
              </a:ext>
            </a:extLst>
          </p:cNvPr>
          <p:cNvPicPr>
            <a:picLocks noGrp="1" noChangeAspect="1"/>
          </p:cNvPicPr>
          <p:nvPr>
            <p:ph idx="1"/>
          </p:nvPr>
        </p:nvPicPr>
        <p:blipFill>
          <a:blip r:embed="rId2"/>
          <a:stretch>
            <a:fillRect/>
          </a:stretch>
        </p:blipFill>
        <p:spPr>
          <a:xfrm>
            <a:off x="609601" y="1600200"/>
            <a:ext cx="8077199" cy="4039642"/>
          </a:xfrm>
        </p:spPr>
      </p:pic>
    </p:spTree>
    <p:extLst>
      <p:ext uri="{BB962C8B-B14F-4D97-AF65-F5344CB8AC3E}">
        <p14:creationId xmlns:p14="http://schemas.microsoft.com/office/powerpoint/2010/main" val="106367649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7300" dirty="0">
                <a:effectLst>
                  <a:outerShdw blurRad="38100" dist="38100" dir="2700000" algn="tl">
                    <a:srgbClr val="000000">
                      <a:alpha val="43137"/>
                    </a:srgbClr>
                  </a:outerShdw>
                </a:effectLst>
                <a:latin typeface="Agency FB" pitchFamily="34" charset="0"/>
              </a:rPr>
              <a:t>Etomidate</a:t>
            </a:r>
            <a:br>
              <a:rPr lang="en-US" dirty="0"/>
            </a:br>
            <a:endParaRPr lang="en-US" dirty="0"/>
          </a:p>
        </p:txBody>
      </p:sp>
      <p:pic>
        <p:nvPicPr>
          <p:cNvPr id="4" name="Picture 7" descr="Etomidate(762-1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155444" y="1295400"/>
            <a:ext cx="3581400" cy="347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9EE6B33E-7DCF-942B-C783-15CF4E76BEAB}"/>
              </a:ext>
            </a:extLst>
          </p:cNvPr>
          <p:cNvPicPr>
            <a:picLocks noChangeAspect="1"/>
          </p:cNvPicPr>
          <p:nvPr/>
        </p:nvPicPr>
        <p:blipFill>
          <a:blip r:embed="rId3"/>
          <a:stretch>
            <a:fillRect/>
          </a:stretch>
        </p:blipFill>
        <p:spPr>
          <a:xfrm>
            <a:off x="2057400" y="2121006"/>
            <a:ext cx="3276600" cy="2654194"/>
          </a:xfrm>
          <a:prstGeom prst="rect">
            <a:avLst/>
          </a:prstGeom>
        </p:spPr>
      </p:pic>
      <p:sp>
        <p:nvSpPr>
          <p:cNvPr id="7" name="TextBox 6">
            <a:extLst>
              <a:ext uri="{FF2B5EF4-FFF2-40B4-BE49-F238E27FC236}">
                <a16:creationId xmlns:a16="http://schemas.microsoft.com/office/drawing/2014/main" id="{72B5C688-B715-EB8F-CA2E-DAACFC91ED0E}"/>
              </a:ext>
            </a:extLst>
          </p:cNvPr>
          <p:cNvSpPr txBox="1"/>
          <p:nvPr/>
        </p:nvSpPr>
        <p:spPr>
          <a:xfrm>
            <a:off x="838200" y="4746388"/>
            <a:ext cx="5029200"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800" b="1" i="0" u="none" strike="noStrike" baseline="0" dirty="0">
                <a:solidFill>
                  <a:srgbClr val="000000"/>
                </a:solidFill>
                <a:latin typeface="BrandingSans"/>
              </a:rPr>
              <a:t>Structure of etomidate, an imidazole derivative </a:t>
            </a:r>
            <a:endParaRPr lang="en-US" dirty="0"/>
          </a:p>
        </p:txBody>
      </p:sp>
    </p:spTree>
    <p:extLst>
      <p:ext uri="{BB962C8B-B14F-4D97-AF65-F5344CB8AC3E}">
        <p14:creationId xmlns:p14="http://schemas.microsoft.com/office/powerpoint/2010/main" val="285115995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6534" y="609600"/>
            <a:ext cx="8229600" cy="1143000"/>
          </a:xfrm>
        </p:spPr>
        <p:txBody>
          <a:bodyPr>
            <a:normAutofit/>
          </a:bodyPr>
          <a:lstStyle/>
          <a:p>
            <a:r>
              <a:rPr lang="en-US" sz="6000" dirty="0">
                <a:effectLst>
                  <a:outerShdw blurRad="38100" dist="38100" dir="2700000" algn="tl">
                    <a:srgbClr val="000000">
                      <a:alpha val="43137"/>
                    </a:srgbClr>
                  </a:outerShdw>
                </a:effectLst>
                <a:latin typeface="+mn-lt"/>
              </a:rPr>
              <a:t>Etomidate</a:t>
            </a:r>
          </a:p>
        </p:txBody>
      </p:sp>
      <p:sp>
        <p:nvSpPr>
          <p:cNvPr id="3" name="Content Placeholder 2"/>
          <p:cNvSpPr>
            <a:spLocks noGrp="1"/>
          </p:cNvSpPr>
          <p:nvPr>
            <p:ph idx="1"/>
          </p:nvPr>
        </p:nvSpPr>
        <p:spPr>
          <a:xfrm>
            <a:off x="436729" y="1905000"/>
            <a:ext cx="8229600" cy="4525963"/>
          </a:xfrm>
        </p:spPr>
        <p:txBody>
          <a:bodyPr>
            <a:noAutofit/>
          </a:bodyPr>
          <a:lstStyle/>
          <a:p>
            <a:pPr>
              <a:lnSpc>
                <a:spcPct val="150000"/>
              </a:lnSpc>
            </a:pPr>
            <a:r>
              <a:rPr lang="en-US" sz="2400" dirty="0">
                <a:cs typeface="Times New Roman" pitchFamily="18" charset="0"/>
              </a:rPr>
              <a:t>Introduced in 1972 as an induction agent</a:t>
            </a:r>
          </a:p>
          <a:p>
            <a:pPr>
              <a:lnSpc>
                <a:spcPct val="150000"/>
              </a:lnSpc>
            </a:pPr>
            <a:r>
              <a:rPr lang="en-US" sz="2400" dirty="0">
                <a:cs typeface="Times New Roman" pitchFamily="18" charset="0"/>
              </a:rPr>
              <a:t>Hypnotic, but not analgesic </a:t>
            </a:r>
          </a:p>
          <a:p>
            <a:pPr>
              <a:lnSpc>
                <a:spcPct val="150000"/>
              </a:lnSpc>
            </a:pPr>
            <a:r>
              <a:rPr lang="en-US" sz="2400" dirty="0">
                <a:cs typeface="Times New Roman" pitchFamily="18" charset="0"/>
              </a:rPr>
              <a:t>Minimal cardiovascular effects</a:t>
            </a:r>
          </a:p>
          <a:p>
            <a:pPr>
              <a:lnSpc>
                <a:spcPct val="150000"/>
              </a:lnSpc>
            </a:pPr>
            <a:r>
              <a:rPr lang="en-US" sz="2400" dirty="0">
                <a:cs typeface="Times New Roman" pitchFamily="18" charset="0"/>
              </a:rPr>
              <a:t>Concentration—0.2 % (2mg/ml); PH = 6.9</a:t>
            </a:r>
          </a:p>
          <a:p>
            <a:pPr>
              <a:lnSpc>
                <a:spcPct val="150000"/>
              </a:lnSpc>
            </a:pPr>
            <a:r>
              <a:rPr lang="en-US" sz="2400" dirty="0">
                <a:cs typeface="Times New Roman" pitchFamily="18" charset="0"/>
              </a:rPr>
              <a:t>Hydrophobic at physiologic pH </a:t>
            </a:r>
          </a:p>
          <a:p>
            <a:pPr>
              <a:lnSpc>
                <a:spcPct val="150000"/>
              </a:lnSpc>
            </a:pPr>
            <a:r>
              <a:rPr lang="en-US" sz="2400" dirty="0">
                <a:cs typeface="Times New Roman" pitchFamily="18" charset="0"/>
              </a:rPr>
              <a:t>Appearance—clear liquid</a:t>
            </a:r>
          </a:p>
          <a:p>
            <a:pPr>
              <a:lnSpc>
                <a:spcPct val="150000"/>
              </a:lnSpc>
            </a:pPr>
            <a:r>
              <a:rPr lang="en-US" sz="2400" dirty="0">
                <a:cs typeface="Times New Roman" pitchFamily="18" charset="0"/>
              </a:rPr>
              <a:t>It has large safety margin</a:t>
            </a:r>
          </a:p>
          <a:p>
            <a:pPr>
              <a:lnSpc>
                <a:spcPct val="150000"/>
              </a:lnSpc>
            </a:pPr>
            <a:endParaRPr lang="en-US" sz="2400" dirty="0">
              <a:cs typeface="Times New Roman" pitchFamily="18" charset="0"/>
            </a:endParaRPr>
          </a:p>
        </p:txBody>
      </p:sp>
    </p:spTree>
    <p:extLst>
      <p:ext uri="{BB962C8B-B14F-4D97-AF65-F5344CB8AC3E}">
        <p14:creationId xmlns:p14="http://schemas.microsoft.com/office/powerpoint/2010/main" val="428420975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F8612-E0EC-E968-D4AB-5B13965A33A0}"/>
              </a:ext>
            </a:extLst>
          </p:cNvPr>
          <p:cNvSpPr>
            <a:spLocks noGrp="1"/>
          </p:cNvSpPr>
          <p:nvPr>
            <p:ph type="title"/>
          </p:nvPr>
        </p:nvSpPr>
        <p:spPr/>
        <p:txBody>
          <a:bodyPr/>
          <a:lstStyle/>
          <a:p>
            <a:r>
              <a:rPr lang="en-US" sz="4400" dirty="0">
                <a:latin typeface="+mn-lt"/>
              </a:rPr>
              <a:t>Cont.…</a:t>
            </a:r>
            <a:endParaRPr lang="en-US" dirty="0"/>
          </a:p>
        </p:txBody>
      </p:sp>
      <p:sp>
        <p:nvSpPr>
          <p:cNvPr id="3" name="Content Placeholder 2">
            <a:extLst>
              <a:ext uri="{FF2B5EF4-FFF2-40B4-BE49-F238E27FC236}">
                <a16:creationId xmlns:a16="http://schemas.microsoft.com/office/drawing/2014/main" id="{9F91C065-55E6-0822-23E4-6976EF3B2667}"/>
              </a:ext>
            </a:extLst>
          </p:cNvPr>
          <p:cNvSpPr>
            <a:spLocks noGrp="1"/>
          </p:cNvSpPr>
          <p:nvPr>
            <p:ph idx="1"/>
          </p:nvPr>
        </p:nvSpPr>
        <p:spPr/>
        <p:txBody>
          <a:bodyPr/>
          <a:lstStyle/>
          <a:p>
            <a:r>
              <a:rPr lang="en-US" b="1" dirty="0"/>
              <a:t>Mechanisms of Action</a:t>
            </a:r>
          </a:p>
          <a:p>
            <a:r>
              <a:rPr lang="en-US" sz="2800" dirty="0"/>
              <a:t>Etomidate depresses the reticular activating system and mimics the inhibitory effects of GABA.</a:t>
            </a:r>
          </a:p>
          <a:p>
            <a:pPr lvl="1"/>
            <a:r>
              <a:rPr lang="en-US" sz="2400" dirty="0"/>
              <a:t>i.e., GABA-A receptor agonist</a:t>
            </a:r>
          </a:p>
        </p:txBody>
      </p:sp>
    </p:spTree>
    <p:extLst>
      <p:ext uri="{BB962C8B-B14F-4D97-AF65-F5344CB8AC3E}">
        <p14:creationId xmlns:p14="http://schemas.microsoft.com/office/powerpoint/2010/main" val="401768726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836AE-9351-EDC8-B81F-300561D205FD}"/>
              </a:ext>
            </a:extLst>
          </p:cNvPr>
          <p:cNvSpPr>
            <a:spLocks noGrp="1"/>
          </p:cNvSpPr>
          <p:nvPr>
            <p:ph type="title"/>
          </p:nvPr>
        </p:nvSpPr>
        <p:spPr/>
        <p:txBody>
          <a:bodyPr/>
          <a:lstStyle/>
          <a:p>
            <a:r>
              <a:rPr lang="en-US" sz="4400" dirty="0">
                <a:latin typeface="+mn-lt"/>
              </a:rPr>
              <a:t>Cont.…</a:t>
            </a:r>
            <a:endParaRPr lang="en-US" dirty="0"/>
          </a:p>
        </p:txBody>
      </p:sp>
      <p:sp>
        <p:nvSpPr>
          <p:cNvPr id="3" name="Content Placeholder 2">
            <a:extLst>
              <a:ext uri="{FF2B5EF4-FFF2-40B4-BE49-F238E27FC236}">
                <a16:creationId xmlns:a16="http://schemas.microsoft.com/office/drawing/2014/main" id="{FA145B64-B9EB-8E5D-D8CE-24BD40484879}"/>
              </a:ext>
            </a:extLst>
          </p:cNvPr>
          <p:cNvSpPr>
            <a:spLocks noGrp="1"/>
          </p:cNvSpPr>
          <p:nvPr>
            <p:ph idx="1"/>
          </p:nvPr>
        </p:nvSpPr>
        <p:spPr>
          <a:xfrm>
            <a:off x="304800" y="1417638"/>
            <a:ext cx="8382000" cy="4602163"/>
          </a:xfrm>
        </p:spPr>
        <p:txBody>
          <a:bodyPr>
            <a:normAutofit/>
          </a:bodyPr>
          <a:lstStyle/>
          <a:p>
            <a:r>
              <a:rPr lang="en-US" b="1" dirty="0"/>
              <a:t>Structure–Activity Relationships</a:t>
            </a:r>
          </a:p>
          <a:p>
            <a:r>
              <a:rPr lang="en-US" sz="2400" dirty="0"/>
              <a:t>Etomidate contains a </a:t>
            </a:r>
            <a:r>
              <a:rPr lang="en-US" sz="2400" dirty="0" err="1"/>
              <a:t>carboxylated</a:t>
            </a:r>
            <a:r>
              <a:rPr lang="en-US" sz="2400" dirty="0"/>
              <a:t> imidazole and is structurally unrelated to other anesthetic agents</a:t>
            </a:r>
            <a:r>
              <a:rPr lang="en-US" sz="2800" dirty="0"/>
              <a:t>.</a:t>
            </a:r>
          </a:p>
          <a:p>
            <a:pPr lvl="1"/>
            <a:r>
              <a:rPr lang="en-US" dirty="0"/>
              <a:t> </a:t>
            </a:r>
            <a:r>
              <a:rPr lang="en-US" sz="2600" dirty="0"/>
              <a:t>The imidazole ring provides water solubility in acidic solutions and lipid solubility at physiological </a:t>
            </a:r>
            <a:r>
              <a:rPr lang="en-US" sz="2600" dirty="0" err="1"/>
              <a:t>pH.</a:t>
            </a:r>
            <a:r>
              <a:rPr lang="en-US" dirty="0"/>
              <a:t> </a:t>
            </a:r>
          </a:p>
          <a:p>
            <a:pPr lvl="2"/>
            <a:r>
              <a:rPr lang="en-US" dirty="0"/>
              <a:t>Therefore, it is dissolved in propylene glycol for injection. </a:t>
            </a:r>
          </a:p>
          <a:p>
            <a:pPr lvl="3"/>
            <a:r>
              <a:rPr lang="en-US" dirty="0"/>
              <a:t>This solution often causes pain on injection that can be lessened by a prior intravenous injection of lidocaine.</a:t>
            </a:r>
          </a:p>
        </p:txBody>
      </p:sp>
    </p:spTree>
    <p:extLst>
      <p:ext uri="{BB962C8B-B14F-4D97-AF65-F5344CB8AC3E}">
        <p14:creationId xmlns:p14="http://schemas.microsoft.com/office/powerpoint/2010/main" val="248909186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solidFill>
                  <a:schemeClr val="tx2">
                    <a:satMod val="130000"/>
                  </a:schemeClr>
                </a:solidFill>
                <a:effectLst>
                  <a:outerShdw blurRad="38100" dist="38100" dir="2700000" algn="tl">
                    <a:srgbClr val="000000">
                      <a:alpha val="43137"/>
                    </a:srgbClr>
                  </a:outerShdw>
                </a:effectLst>
                <a:latin typeface="+mn-lt"/>
              </a:rPr>
              <a:t>Pharmacokinetics of etomidate</a:t>
            </a:r>
            <a:endParaRPr lang="en-US" sz="4000" dirty="0">
              <a:effectLst>
                <a:outerShdw blurRad="38100" dist="38100" dir="2700000" algn="tl">
                  <a:srgbClr val="000000">
                    <a:alpha val="43137"/>
                  </a:srgbClr>
                </a:outerShdw>
              </a:effectLst>
              <a:latin typeface="+mn-lt"/>
            </a:endParaRPr>
          </a:p>
        </p:txBody>
      </p:sp>
      <p:sp>
        <p:nvSpPr>
          <p:cNvPr id="3" name="Content Placeholder 2"/>
          <p:cNvSpPr>
            <a:spLocks noGrp="1"/>
          </p:cNvSpPr>
          <p:nvPr>
            <p:ph idx="1"/>
          </p:nvPr>
        </p:nvSpPr>
        <p:spPr>
          <a:xfrm>
            <a:off x="457200" y="1600200"/>
            <a:ext cx="8534400" cy="4525963"/>
          </a:xfrm>
        </p:spPr>
        <p:txBody>
          <a:bodyPr>
            <a:noAutofit/>
          </a:bodyPr>
          <a:lstStyle/>
          <a:p>
            <a:pPr>
              <a:buFont typeface="Wingdings" panose="05000000000000000000" pitchFamily="2" charset="2"/>
              <a:buChar char="ü"/>
            </a:pPr>
            <a:r>
              <a:rPr lang="en-US" sz="2800" b="1" dirty="0">
                <a:cs typeface="Times New Roman" pitchFamily="18" charset="0"/>
              </a:rPr>
              <a:t>Absorption </a:t>
            </a:r>
          </a:p>
          <a:p>
            <a:r>
              <a:rPr lang="en-US" sz="2400" dirty="0">
                <a:cs typeface="Times New Roman" pitchFamily="18" charset="0"/>
              </a:rPr>
              <a:t>It </a:t>
            </a:r>
            <a:r>
              <a:rPr lang="bg-BG" sz="2400" dirty="0">
                <a:cs typeface="Times New Roman" pitchFamily="18" charset="0"/>
              </a:rPr>
              <a:t> is available only for </a:t>
            </a:r>
            <a:r>
              <a:rPr lang="en-US" sz="2400" dirty="0">
                <a:cs typeface="Times New Roman" pitchFamily="18" charset="0"/>
              </a:rPr>
              <a:t>IV</a:t>
            </a:r>
            <a:r>
              <a:rPr lang="bg-BG" sz="2400" dirty="0">
                <a:cs typeface="Times New Roman" pitchFamily="18" charset="0"/>
              </a:rPr>
              <a:t> administration </a:t>
            </a:r>
            <a:endParaRPr lang="en-US" sz="2400" dirty="0">
              <a:cs typeface="Times New Roman" pitchFamily="18" charset="0"/>
            </a:endParaRPr>
          </a:p>
          <a:p>
            <a:r>
              <a:rPr lang="en-US" sz="2400" dirty="0">
                <a:cs typeface="Times New Roman" pitchFamily="18" charset="0"/>
              </a:rPr>
              <a:t>It</a:t>
            </a:r>
            <a:r>
              <a:rPr lang="bg-BG" sz="2400" dirty="0">
                <a:cs typeface="Times New Roman" pitchFamily="18" charset="0"/>
              </a:rPr>
              <a:t> is used primarily for induction of general anesthesia</a:t>
            </a:r>
            <a:r>
              <a:rPr lang="en-US" sz="2400" dirty="0">
                <a:cs typeface="Times New Roman" pitchFamily="18" charset="0"/>
              </a:rPr>
              <a:t>.</a:t>
            </a:r>
          </a:p>
          <a:p>
            <a:pPr>
              <a:buFont typeface="Wingdings" panose="05000000000000000000" pitchFamily="2" charset="2"/>
              <a:buChar char="ü"/>
            </a:pPr>
            <a:r>
              <a:rPr lang="en-US" sz="2800" b="1" dirty="0">
                <a:cs typeface="Times New Roman" pitchFamily="18" charset="0"/>
              </a:rPr>
              <a:t>Distribution</a:t>
            </a:r>
          </a:p>
          <a:p>
            <a:r>
              <a:rPr lang="en-US" sz="2400" dirty="0">
                <a:cs typeface="Times New Roman" pitchFamily="18" charset="0"/>
              </a:rPr>
              <a:t>Although it is highly protein bound (75%),</a:t>
            </a:r>
          </a:p>
          <a:p>
            <a:pPr lvl="1"/>
            <a:r>
              <a:rPr lang="en-US" sz="2000" dirty="0">
                <a:cs typeface="Times New Roman" pitchFamily="18" charset="0"/>
              </a:rPr>
              <a:t> </a:t>
            </a:r>
            <a:r>
              <a:rPr lang="en-US" sz="2400" dirty="0">
                <a:cs typeface="Times New Roman" pitchFamily="18" charset="0"/>
              </a:rPr>
              <a:t>It has rapid onset </a:t>
            </a:r>
            <a:r>
              <a:rPr lang="bg-BG" sz="2400" dirty="0">
                <a:cs typeface="Times New Roman" pitchFamily="18" charset="0"/>
              </a:rPr>
              <a:t>due to </a:t>
            </a:r>
            <a:endParaRPr lang="en-US" sz="2000" dirty="0">
              <a:cs typeface="Times New Roman" pitchFamily="18" charset="0"/>
            </a:endParaRPr>
          </a:p>
          <a:p>
            <a:pPr lvl="2" algn="just"/>
            <a:r>
              <a:rPr lang="bg-BG" dirty="0">
                <a:cs typeface="Times New Roman" pitchFamily="18" charset="0"/>
              </a:rPr>
              <a:t>its high lipid solubility and large</a:t>
            </a:r>
            <a:r>
              <a:rPr lang="en-US" dirty="0">
                <a:cs typeface="Times New Roman" pitchFamily="18" charset="0"/>
              </a:rPr>
              <a:t> </a:t>
            </a:r>
            <a:r>
              <a:rPr lang="bg-BG" dirty="0">
                <a:cs typeface="Times New Roman" pitchFamily="18" charset="0"/>
              </a:rPr>
              <a:t>nonionized fraction at physiological pH</a:t>
            </a:r>
            <a:r>
              <a:rPr lang="bg-BG" sz="2000" dirty="0">
                <a:cs typeface="Times New Roman" pitchFamily="18" charset="0"/>
              </a:rPr>
              <a:t>.</a:t>
            </a:r>
            <a:endParaRPr lang="en-US" sz="2000" dirty="0">
              <a:cs typeface="Times New Roman" pitchFamily="18" charset="0"/>
            </a:endParaRPr>
          </a:p>
          <a:p>
            <a:r>
              <a:rPr lang="en-US" sz="2400" dirty="0">
                <a:cs typeface="Times New Roman" pitchFamily="18" charset="0"/>
              </a:rPr>
              <a:t>Quick recovery due to redistribution to inactive sites</a:t>
            </a:r>
          </a:p>
          <a:p>
            <a:endParaRPr lang="en-US" sz="2400" dirty="0">
              <a:cs typeface="Times New Roman" pitchFamily="18" charset="0"/>
            </a:endParaRPr>
          </a:p>
        </p:txBody>
      </p:sp>
    </p:spTree>
    <p:extLst>
      <p:ext uri="{BB962C8B-B14F-4D97-AF65-F5344CB8AC3E}">
        <p14:creationId xmlns:p14="http://schemas.microsoft.com/office/powerpoint/2010/main" val="341955734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2CE21-C532-A65B-B51D-746322B26F11}"/>
              </a:ext>
            </a:extLst>
          </p:cNvPr>
          <p:cNvSpPr>
            <a:spLocks noGrp="1"/>
          </p:cNvSpPr>
          <p:nvPr>
            <p:ph type="title"/>
          </p:nvPr>
        </p:nvSpPr>
        <p:spPr/>
        <p:txBody>
          <a:bodyPr/>
          <a:lstStyle/>
          <a:p>
            <a:r>
              <a:rPr lang="en-US" sz="4400" dirty="0">
                <a:latin typeface="+mn-lt"/>
              </a:rPr>
              <a:t>Cont.…</a:t>
            </a:r>
            <a:endParaRPr lang="en-US" dirty="0"/>
          </a:p>
        </p:txBody>
      </p:sp>
      <p:sp>
        <p:nvSpPr>
          <p:cNvPr id="3" name="Content Placeholder 2">
            <a:extLst>
              <a:ext uri="{FF2B5EF4-FFF2-40B4-BE49-F238E27FC236}">
                <a16:creationId xmlns:a16="http://schemas.microsoft.com/office/drawing/2014/main" id="{B6DF867A-CEC0-F380-1041-C1218BD16623}"/>
              </a:ext>
            </a:extLst>
          </p:cNvPr>
          <p:cNvSpPr>
            <a:spLocks noGrp="1"/>
          </p:cNvSpPr>
          <p:nvPr>
            <p:ph idx="1"/>
          </p:nvPr>
        </p:nvSpPr>
        <p:spPr/>
        <p:txBody>
          <a:bodyPr>
            <a:normAutofit/>
          </a:bodyPr>
          <a:lstStyle/>
          <a:p>
            <a:pPr>
              <a:buFont typeface="Wingdings" panose="05000000000000000000" pitchFamily="2" charset="2"/>
              <a:buChar char="ü"/>
            </a:pPr>
            <a:r>
              <a:rPr lang="en-US" sz="2800" b="1" i="0" u="none" strike="noStrike" baseline="0" dirty="0"/>
              <a:t>Biotransformation</a:t>
            </a:r>
            <a:endParaRPr lang="en-US" sz="2400" b="1" i="0" u="none" strike="noStrike" baseline="0" dirty="0"/>
          </a:p>
          <a:p>
            <a:r>
              <a:rPr lang="en-US" sz="2400" dirty="0">
                <a:cs typeface="Times New Roman" pitchFamily="18" charset="0"/>
              </a:rPr>
              <a:t>Metabolized by ester hydrolysis (plasma esterases) to inactive metabolites</a:t>
            </a:r>
          </a:p>
          <a:p>
            <a:pPr>
              <a:buFont typeface="Wingdings" panose="05000000000000000000" pitchFamily="2" charset="2"/>
              <a:buChar char="ü"/>
            </a:pPr>
            <a:r>
              <a:rPr lang="en-US" b="1" dirty="0"/>
              <a:t>Excretion</a:t>
            </a:r>
            <a:endParaRPr lang="en-US" sz="2800" b="1" dirty="0"/>
          </a:p>
          <a:p>
            <a:r>
              <a:rPr lang="en-US" sz="2400" dirty="0">
                <a:cs typeface="Times New Roman" pitchFamily="18" charset="0"/>
              </a:rPr>
              <a:t>The end products of etomidate hydrolysis are primarily excreted in the urine. </a:t>
            </a:r>
          </a:p>
          <a:p>
            <a:pPr lvl="1"/>
            <a:r>
              <a:rPr lang="en-US" sz="2400" dirty="0">
                <a:cs typeface="Times New Roman" pitchFamily="18" charset="0"/>
              </a:rPr>
              <a:t>excreted by the kidney (80%) and in bile (20%).</a:t>
            </a:r>
          </a:p>
          <a:p>
            <a:r>
              <a:rPr lang="en-US" sz="2400" dirty="0">
                <a:cs typeface="Times New Roman" pitchFamily="18" charset="0"/>
              </a:rPr>
              <a:t>Short context-sensitive half-time </a:t>
            </a:r>
          </a:p>
          <a:p>
            <a:pPr lvl="1"/>
            <a:r>
              <a:rPr lang="en-US" sz="2400" dirty="0">
                <a:cs typeface="Times New Roman" pitchFamily="18" charset="0"/>
              </a:rPr>
              <a:t>but not usually given as an infusion due to endocrine response</a:t>
            </a:r>
          </a:p>
          <a:p>
            <a:endParaRPr lang="en-US" sz="3200" dirty="0">
              <a:cs typeface="Times New Roman" pitchFamily="18" charset="0"/>
            </a:endParaRPr>
          </a:p>
          <a:p>
            <a:endParaRPr lang="en-US" dirty="0"/>
          </a:p>
        </p:txBody>
      </p:sp>
    </p:spTree>
    <p:extLst>
      <p:ext uri="{BB962C8B-B14F-4D97-AF65-F5344CB8AC3E}">
        <p14:creationId xmlns:p14="http://schemas.microsoft.com/office/powerpoint/2010/main" val="250132499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4000" dirty="0">
                <a:solidFill>
                  <a:schemeClr val="tx2">
                    <a:satMod val="130000"/>
                  </a:schemeClr>
                </a:solidFill>
              </a:rPr>
              <a:t>Pharmacodynamics of Etomidate</a:t>
            </a:r>
            <a:endParaRPr lang="en-US" sz="4000" dirty="0"/>
          </a:p>
        </p:txBody>
      </p:sp>
      <p:sp>
        <p:nvSpPr>
          <p:cNvPr id="3" name="Content Placeholder 2"/>
          <p:cNvSpPr>
            <a:spLocks noGrp="1"/>
          </p:cNvSpPr>
          <p:nvPr>
            <p:ph idx="1"/>
          </p:nvPr>
        </p:nvSpPr>
        <p:spPr>
          <a:xfrm>
            <a:off x="457200" y="1600200"/>
            <a:ext cx="8305800" cy="4525963"/>
          </a:xfrm>
        </p:spPr>
        <p:txBody>
          <a:bodyPr>
            <a:normAutofit/>
          </a:bodyPr>
          <a:lstStyle/>
          <a:p>
            <a:pPr>
              <a:buFont typeface="Wingdings" pitchFamily="2" charset="2"/>
              <a:buChar char="Ø"/>
            </a:pPr>
            <a:r>
              <a:rPr lang="en-US" b="1" dirty="0">
                <a:effectLst>
                  <a:outerShdw blurRad="38100" dist="38100" dir="2700000" algn="tl">
                    <a:srgbClr val="000000">
                      <a:alpha val="43137"/>
                    </a:srgbClr>
                  </a:outerShdw>
                </a:effectLst>
              </a:rPr>
              <a:t>CNS</a:t>
            </a:r>
            <a:endParaRPr lang="en-US" sz="2400" b="1" dirty="0">
              <a:effectLst>
                <a:outerShdw blurRad="38100" dist="38100" dir="2700000" algn="tl">
                  <a:srgbClr val="000000">
                    <a:alpha val="43137"/>
                  </a:srgbClr>
                </a:outerShdw>
              </a:effectLst>
            </a:endParaRPr>
          </a:p>
          <a:p>
            <a:pPr lvl="1"/>
            <a:r>
              <a:rPr lang="en-US" sz="2400" dirty="0">
                <a:cs typeface="Times New Roman" pitchFamily="18" charset="0"/>
              </a:rPr>
              <a:t>Potent Cerebral vasoconstrictor ( </a:t>
            </a:r>
            <a:r>
              <a:rPr lang="en-US" sz="2400" dirty="0">
                <a:cs typeface="Times New Roman" pitchFamily="18" charset="0"/>
                <a:sym typeface="Symbol"/>
              </a:rPr>
              <a:t></a:t>
            </a:r>
            <a:r>
              <a:rPr lang="en-US" sz="2400" dirty="0">
                <a:cs typeface="Times New Roman" pitchFamily="18" charset="0"/>
              </a:rPr>
              <a:t> CBF, </a:t>
            </a:r>
            <a:r>
              <a:rPr lang="en-US" sz="2400" dirty="0">
                <a:cs typeface="Times New Roman" pitchFamily="18" charset="0"/>
                <a:sym typeface="Symbol"/>
              </a:rPr>
              <a:t> </a:t>
            </a:r>
            <a:r>
              <a:rPr lang="en-US" sz="2400" dirty="0">
                <a:cs typeface="Times New Roman" pitchFamily="18" charset="0"/>
              </a:rPr>
              <a:t>CBV, </a:t>
            </a:r>
            <a:r>
              <a:rPr lang="en-US" sz="2400" dirty="0">
                <a:cs typeface="Times New Roman" pitchFamily="18" charset="0"/>
                <a:sym typeface="Symbol"/>
              </a:rPr>
              <a:t> </a:t>
            </a:r>
            <a:r>
              <a:rPr lang="en-US" sz="2400" dirty="0">
                <a:cs typeface="Times New Roman" pitchFamily="18" charset="0"/>
              </a:rPr>
              <a:t>ICP, </a:t>
            </a:r>
            <a:r>
              <a:rPr lang="en-US" sz="2400" dirty="0">
                <a:cs typeface="Times New Roman" pitchFamily="18" charset="0"/>
                <a:sym typeface="Symbol"/>
              </a:rPr>
              <a:t> </a:t>
            </a:r>
            <a:r>
              <a:rPr lang="en-US" sz="2400" dirty="0">
                <a:cs typeface="Times New Roman" pitchFamily="18" charset="0"/>
              </a:rPr>
              <a:t>CMRO2)</a:t>
            </a:r>
          </a:p>
          <a:p>
            <a:pPr lvl="1"/>
            <a:r>
              <a:rPr lang="en-US" sz="2400" dirty="0">
                <a:cs typeface="Times New Roman" pitchFamily="18" charset="0"/>
              </a:rPr>
              <a:t>Spontaneous myoclonic activity (50% of patients)</a:t>
            </a:r>
          </a:p>
          <a:p>
            <a:pPr lvl="1"/>
            <a:r>
              <a:rPr lang="en-US" sz="2400" dirty="0">
                <a:cs typeface="Times New Roman" pitchFamily="18" charset="0"/>
              </a:rPr>
              <a:t>CPP is either maintained or increased.</a:t>
            </a:r>
          </a:p>
          <a:p>
            <a:pPr lvl="2"/>
            <a:r>
              <a:rPr lang="en-US" dirty="0">
                <a:cs typeface="Times New Roman" pitchFamily="18" charset="0"/>
              </a:rPr>
              <a:t> because it has minimal effect on the MAP</a:t>
            </a:r>
          </a:p>
          <a:p>
            <a:pPr>
              <a:buNone/>
            </a:pPr>
            <a:endParaRPr lang="en-US" sz="2400" dirty="0"/>
          </a:p>
          <a:p>
            <a:endParaRPr lang="en-US" sz="2400" dirty="0"/>
          </a:p>
        </p:txBody>
      </p:sp>
    </p:spTree>
    <p:extLst>
      <p:ext uri="{BB962C8B-B14F-4D97-AF65-F5344CB8AC3E}">
        <p14:creationId xmlns:p14="http://schemas.microsoft.com/office/powerpoint/2010/main" val="35856268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chemeClr val="tx2">
                    <a:satMod val="130000"/>
                  </a:schemeClr>
                </a:solidFill>
                <a:latin typeface="+mn-lt"/>
              </a:rPr>
              <a:t>Pharmacodynamics…</a:t>
            </a:r>
            <a:endParaRPr lang="en-US" sz="4000" dirty="0">
              <a:latin typeface="+mn-lt"/>
            </a:endParaRPr>
          </a:p>
        </p:txBody>
      </p:sp>
      <p:sp>
        <p:nvSpPr>
          <p:cNvPr id="3" name="Content Placeholder 2"/>
          <p:cNvSpPr>
            <a:spLocks noGrp="1"/>
          </p:cNvSpPr>
          <p:nvPr>
            <p:ph idx="1"/>
          </p:nvPr>
        </p:nvSpPr>
        <p:spPr>
          <a:xfrm>
            <a:off x="457200" y="1600200"/>
            <a:ext cx="8534400" cy="4525963"/>
          </a:xfrm>
        </p:spPr>
        <p:txBody>
          <a:bodyPr>
            <a:normAutofit fontScale="92500"/>
          </a:bodyPr>
          <a:lstStyle/>
          <a:p>
            <a:pPr>
              <a:buFont typeface="Wingdings" pitchFamily="2" charset="2"/>
              <a:buChar char="Ø"/>
            </a:pPr>
            <a:r>
              <a:rPr lang="en-US" b="1" dirty="0">
                <a:effectLst>
                  <a:outerShdw blurRad="38100" dist="38100" dir="2700000" algn="tl">
                    <a:srgbClr val="000000">
                      <a:alpha val="43137"/>
                    </a:srgbClr>
                  </a:outerShdw>
                </a:effectLst>
                <a:cs typeface="Times New Roman" pitchFamily="18" charset="0"/>
              </a:rPr>
              <a:t>CVS</a:t>
            </a:r>
            <a:endParaRPr lang="en-US" sz="3600" b="1" dirty="0">
              <a:effectLst>
                <a:outerShdw blurRad="38100" dist="38100" dir="2700000" algn="tl">
                  <a:srgbClr val="000000">
                    <a:alpha val="43137"/>
                  </a:srgbClr>
                </a:outerShdw>
              </a:effectLst>
              <a:cs typeface="Times New Roman" pitchFamily="18" charset="0"/>
            </a:endParaRPr>
          </a:p>
          <a:p>
            <a:pPr lvl="1"/>
            <a:r>
              <a:rPr lang="en-US" dirty="0">
                <a:cs typeface="Times New Roman" pitchFamily="18" charset="0"/>
              </a:rPr>
              <a:t>It has minimal effects on the CVS</a:t>
            </a:r>
          </a:p>
          <a:p>
            <a:pPr lvl="2"/>
            <a:r>
              <a:rPr lang="en-US" sz="2600" dirty="0">
                <a:cs typeface="Times New Roman" pitchFamily="18" charset="0"/>
              </a:rPr>
              <a:t>modest  </a:t>
            </a:r>
            <a:r>
              <a:rPr lang="en-US" sz="2600" dirty="0">
                <a:cs typeface="Times New Roman" pitchFamily="18" charset="0"/>
                <a:sym typeface="Symbol"/>
              </a:rPr>
              <a:t></a:t>
            </a:r>
            <a:r>
              <a:rPr lang="en-US" sz="2600" dirty="0">
                <a:cs typeface="Times New Roman" pitchFamily="18" charset="0"/>
              </a:rPr>
              <a:t> in BP, </a:t>
            </a:r>
          </a:p>
          <a:p>
            <a:pPr lvl="2"/>
            <a:r>
              <a:rPr lang="en-US" sz="2600" dirty="0">
                <a:cs typeface="Times New Roman" pitchFamily="18" charset="0"/>
              </a:rPr>
              <a:t>minimal effect on HR and CO</a:t>
            </a:r>
          </a:p>
          <a:p>
            <a:pPr lvl="2"/>
            <a:r>
              <a:rPr lang="en-US" sz="2600" dirty="0">
                <a:cs typeface="Times New Roman" pitchFamily="18" charset="0"/>
              </a:rPr>
              <a:t>minimal effect on the MAP</a:t>
            </a:r>
          </a:p>
          <a:p>
            <a:pPr lvl="2"/>
            <a:r>
              <a:rPr lang="en-US" sz="2600" dirty="0">
                <a:cs typeface="Times New Roman" pitchFamily="18" charset="0"/>
              </a:rPr>
              <a:t>does not release histamine.  </a:t>
            </a:r>
          </a:p>
          <a:p>
            <a:pPr>
              <a:buFont typeface="Wingdings" pitchFamily="2" charset="2"/>
              <a:buChar char="Ø"/>
            </a:pPr>
            <a:r>
              <a:rPr lang="en-US" sz="2800" b="1" dirty="0">
                <a:effectLst>
                  <a:outerShdw blurRad="38100" dist="38100" dir="2700000" algn="tl">
                    <a:srgbClr val="000000">
                      <a:alpha val="43137"/>
                    </a:srgbClr>
                  </a:outerShdw>
                </a:effectLst>
                <a:cs typeface="Times New Roman" pitchFamily="18" charset="0"/>
              </a:rPr>
              <a:t>Respiratory</a:t>
            </a:r>
            <a:endParaRPr lang="en-US" sz="3600" b="1" dirty="0">
              <a:effectLst>
                <a:outerShdw blurRad="38100" dist="38100" dir="2700000" algn="tl">
                  <a:srgbClr val="000000">
                    <a:alpha val="43137"/>
                  </a:srgbClr>
                </a:outerShdw>
              </a:effectLst>
              <a:cs typeface="Times New Roman" pitchFamily="18" charset="0"/>
            </a:endParaRPr>
          </a:p>
          <a:p>
            <a:pPr lvl="1"/>
            <a:r>
              <a:rPr lang="en-US" sz="2400" dirty="0">
                <a:cs typeface="Times New Roman" pitchFamily="18" charset="0"/>
              </a:rPr>
              <a:t>Less depression than thiopental /propofol or benzodiazepines</a:t>
            </a:r>
          </a:p>
          <a:p>
            <a:pPr lvl="1"/>
            <a:r>
              <a:rPr lang="en-US" sz="2400" dirty="0">
                <a:cs typeface="Times New Roman" pitchFamily="18" charset="0"/>
              </a:rPr>
              <a:t>Even induction doses usually do not result in apnea unless opioids have also been administered.</a:t>
            </a:r>
          </a:p>
          <a:p>
            <a:endParaRPr lang="en-US" dirty="0"/>
          </a:p>
          <a:p>
            <a:endParaRPr lang="en-US" dirty="0"/>
          </a:p>
        </p:txBody>
      </p:sp>
    </p:spTree>
    <p:extLst>
      <p:ext uri="{BB962C8B-B14F-4D97-AF65-F5344CB8AC3E}">
        <p14:creationId xmlns:p14="http://schemas.microsoft.com/office/powerpoint/2010/main" val="259623526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chemeClr val="tx2">
                    <a:satMod val="130000"/>
                  </a:schemeClr>
                </a:solidFill>
              </a:rPr>
              <a:t>Pharmacodynamics…</a:t>
            </a:r>
            <a:endParaRPr lang="en-US" sz="3600" dirty="0"/>
          </a:p>
        </p:txBody>
      </p:sp>
      <p:sp>
        <p:nvSpPr>
          <p:cNvPr id="3" name="Content Placeholder 2"/>
          <p:cNvSpPr>
            <a:spLocks noGrp="1"/>
          </p:cNvSpPr>
          <p:nvPr>
            <p:ph idx="1"/>
          </p:nvPr>
        </p:nvSpPr>
        <p:spPr>
          <a:xfrm>
            <a:off x="457200" y="1417638"/>
            <a:ext cx="8458200" cy="4708525"/>
          </a:xfrm>
        </p:spPr>
        <p:txBody>
          <a:bodyPr>
            <a:normAutofit/>
          </a:bodyPr>
          <a:lstStyle/>
          <a:p>
            <a:pPr>
              <a:buFont typeface="Wingdings" pitchFamily="2" charset="2"/>
              <a:buChar char="Ø"/>
            </a:pPr>
            <a:r>
              <a:rPr lang="en-US" b="1" dirty="0">
                <a:effectLst>
                  <a:outerShdw blurRad="38100" dist="38100" dir="2700000" algn="tl">
                    <a:srgbClr val="000000">
                      <a:alpha val="43137"/>
                    </a:srgbClr>
                  </a:outerShdw>
                </a:effectLst>
                <a:cs typeface="Times New Roman" pitchFamily="18" charset="0"/>
              </a:rPr>
              <a:t>Endocrine</a:t>
            </a:r>
            <a:endParaRPr lang="en-US" sz="2400" b="1" dirty="0">
              <a:effectLst>
                <a:outerShdw blurRad="38100" dist="38100" dir="2700000" algn="tl">
                  <a:srgbClr val="000000">
                    <a:alpha val="43137"/>
                  </a:srgbClr>
                </a:outerShdw>
              </a:effectLst>
              <a:cs typeface="Times New Roman" pitchFamily="18" charset="0"/>
            </a:endParaRPr>
          </a:p>
          <a:p>
            <a:pPr>
              <a:buFont typeface="Wingdings" pitchFamily="2" charset="2"/>
              <a:buChar char="§"/>
            </a:pPr>
            <a:r>
              <a:rPr lang="en-US" sz="2400" dirty="0">
                <a:cs typeface="Times New Roman" pitchFamily="18" charset="0"/>
              </a:rPr>
              <a:t>Adrenocortical suppression  </a:t>
            </a:r>
          </a:p>
          <a:p>
            <a:pPr lvl="1"/>
            <a:r>
              <a:rPr lang="bg-BG" sz="2200" dirty="0">
                <a:cs typeface="Times New Roman" pitchFamily="18" charset="0"/>
              </a:rPr>
              <a:t>Induction doses transiently inhibit enzymes involved in cortisol and aldosterone synthesis</a:t>
            </a:r>
            <a:r>
              <a:rPr lang="en-US" sz="2200" dirty="0">
                <a:cs typeface="Times New Roman" pitchFamily="18" charset="0"/>
              </a:rPr>
              <a:t> (</a:t>
            </a:r>
            <a:r>
              <a:rPr lang="en-US" sz="2200" dirty="0">
                <a:solidFill>
                  <a:srgbClr val="FF0000"/>
                </a:solidFill>
                <a:cs typeface="Times New Roman" pitchFamily="18" charset="0"/>
              </a:rPr>
              <a:t>11β-hydroxylase</a:t>
            </a:r>
            <a:r>
              <a:rPr lang="en-US" sz="2200" dirty="0">
                <a:cs typeface="Times New Roman" pitchFamily="18" charset="0"/>
              </a:rPr>
              <a:t>)</a:t>
            </a:r>
            <a:r>
              <a:rPr lang="bg-BG" sz="2200" dirty="0">
                <a:cs typeface="Times New Roman" pitchFamily="18" charset="0"/>
              </a:rPr>
              <a:t>. </a:t>
            </a:r>
            <a:endParaRPr lang="en-US" sz="2200" dirty="0">
              <a:cs typeface="Times New Roman" pitchFamily="18" charset="0"/>
            </a:endParaRPr>
          </a:p>
          <a:p>
            <a:r>
              <a:rPr lang="bg-BG" sz="2400" dirty="0">
                <a:cs typeface="Times New Roman" pitchFamily="18" charset="0"/>
              </a:rPr>
              <a:t>Long-term infusions lead to</a:t>
            </a:r>
            <a:r>
              <a:rPr lang="en-US" sz="2400" dirty="0">
                <a:cs typeface="Times New Roman" pitchFamily="18" charset="0"/>
              </a:rPr>
              <a:t> </a:t>
            </a:r>
            <a:r>
              <a:rPr lang="bg-BG" sz="2400" b="1" dirty="0">
                <a:cs typeface="Times New Roman" pitchFamily="18" charset="0"/>
              </a:rPr>
              <a:t>adrenocortical suppression</a:t>
            </a:r>
            <a:endParaRPr lang="en-US" sz="2400" b="1" dirty="0">
              <a:cs typeface="Times New Roman" pitchFamily="18" charset="0"/>
            </a:endParaRPr>
          </a:p>
          <a:p>
            <a:pPr lvl="1"/>
            <a:r>
              <a:rPr lang="bg-BG" sz="2000" dirty="0">
                <a:cs typeface="Times New Roman" pitchFamily="18" charset="0"/>
              </a:rPr>
              <a:t> </a:t>
            </a:r>
            <a:r>
              <a:rPr lang="bg-BG" sz="2400" dirty="0">
                <a:cs typeface="Times New Roman" pitchFamily="18" charset="0"/>
              </a:rPr>
              <a:t> associated with an increased mortality rate in critically ill</a:t>
            </a:r>
            <a:r>
              <a:rPr lang="en-US" sz="2400" dirty="0">
                <a:cs typeface="Times New Roman" pitchFamily="18" charset="0"/>
              </a:rPr>
              <a:t> (septic)</a:t>
            </a:r>
            <a:r>
              <a:rPr lang="bg-BG" sz="2400" dirty="0">
                <a:cs typeface="Times New Roman" pitchFamily="18" charset="0"/>
              </a:rPr>
              <a:t> patients.</a:t>
            </a:r>
            <a:endParaRPr lang="en-US" sz="2400" dirty="0">
              <a:cs typeface="Times New Roman" pitchFamily="18" charset="0"/>
            </a:endParaRPr>
          </a:p>
          <a:p>
            <a:pPr lvl="2"/>
            <a:r>
              <a:rPr lang="en-US" dirty="0">
                <a:cs typeface="Times New Roman" pitchFamily="18" charset="0"/>
              </a:rPr>
              <a:t>Consider treating with steroids if unexplained hypotension develops</a:t>
            </a:r>
            <a:r>
              <a:rPr lang="en-US" sz="2000" dirty="0">
                <a:cs typeface="Times New Roman" pitchFamily="18" charset="0"/>
              </a:rPr>
              <a:t>.</a:t>
            </a:r>
          </a:p>
          <a:p>
            <a:endParaRPr lang="en-US" sz="2400" dirty="0">
              <a:cs typeface="Times New Roman" pitchFamily="18" charset="0"/>
            </a:endParaRPr>
          </a:p>
          <a:p>
            <a:endParaRPr lang="en-US" sz="2400" dirty="0">
              <a:cs typeface="Times New Roman" pitchFamily="18" charset="0"/>
            </a:endParaRPr>
          </a:p>
          <a:p>
            <a:endParaRPr lang="en-US" sz="2400" dirty="0">
              <a:cs typeface="Times New Roman" pitchFamily="18" charset="0"/>
            </a:endParaRPr>
          </a:p>
        </p:txBody>
      </p:sp>
    </p:spTree>
    <p:extLst>
      <p:ext uri="{BB962C8B-B14F-4D97-AF65-F5344CB8AC3E}">
        <p14:creationId xmlns:p14="http://schemas.microsoft.com/office/powerpoint/2010/main" val="150232229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9F7CB-556A-503A-FAA3-3FE9660E0FF3}"/>
              </a:ext>
            </a:extLst>
          </p:cNvPr>
          <p:cNvSpPr>
            <a:spLocks noGrp="1"/>
          </p:cNvSpPr>
          <p:nvPr>
            <p:ph type="title"/>
          </p:nvPr>
        </p:nvSpPr>
        <p:spPr/>
        <p:txBody>
          <a:bodyPr/>
          <a:lstStyle/>
          <a:p>
            <a:r>
              <a:rPr lang="en-US" sz="4400" dirty="0">
                <a:latin typeface="+mn-lt"/>
              </a:rPr>
              <a:t>Cont.…</a:t>
            </a:r>
            <a:endParaRPr lang="en-US" dirty="0"/>
          </a:p>
        </p:txBody>
      </p:sp>
      <p:sp>
        <p:nvSpPr>
          <p:cNvPr id="3" name="Content Placeholder 2">
            <a:extLst>
              <a:ext uri="{FF2B5EF4-FFF2-40B4-BE49-F238E27FC236}">
                <a16:creationId xmlns:a16="http://schemas.microsoft.com/office/drawing/2014/main" id="{FED73A11-F07C-31CD-2DC4-35C3907F7A3A}"/>
              </a:ext>
            </a:extLst>
          </p:cNvPr>
          <p:cNvSpPr>
            <a:spLocks noGrp="1"/>
          </p:cNvSpPr>
          <p:nvPr>
            <p:ph idx="1"/>
          </p:nvPr>
        </p:nvSpPr>
        <p:spPr/>
        <p:txBody>
          <a:bodyPr/>
          <a:lstStyle/>
          <a:p>
            <a:pPr>
              <a:buFont typeface="Wingdings" panose="05000000000000000000" pitchFamily="2" charset="2"/>
              <a:buChar char="q"/>
            </a:pPr>
            <a:r>
              <a:rPr lang="en-US" dirty="0"/>
              <a:t>Clinical Uses</a:t>
            </a:r>
          </a:p>
          <a:p>
            <a:r>
              <a:rPr lang="en-US" sz="2800" dirty="0"/>
              <a:t>Hemodynamically stable induction</a:t>
            </a:r>
          </a:p>
          <a:p>
            <a:pPr lvl="1"/>
            <a:r>
              <a:rPr lang="en-US" dirty="0"/>
              <a:t> for cardiac, trauma, and hypovolemic patients</a:t>
            </a:r>
          </a:p>
          <a:p>
            <a:pPr marL="342900" lvl="1" indent="-342900">
              <a:buFont typeface="Arial" pitchFamily="34" charset="0"/>
              <a:buChar char="•"/>
            </a:pPr>
            <a:r>
              <a:rPr lang="en-US" dirty="0"/>
              <a:t>Choice for MAC sedation because of </a:t>
            </a:r>
          </a:p>
          <a:p>
            <a:pPr marL="1200150" lvl="3" indent="-342900"/>
            <a:r>
              <a:rPr lang="en-US" sz="2400" dirty="0"/>
              <a:t>the preservation of airway reflexes.</a:t>
            </a:r>
          </a:p>
        </p:txBody>
      </p:sp>
    </p:spTree>
    <p:extLst>
      <p:ext uri="{BB962C8B-B14F-4D97-AF65-F5344CB8AC3E}">
        <p14:creationId xmlns:p14="http://schemas.microsoft.com/office/powerpoint/2010/main" val="371292976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dirty="0">
                <a:solidFill>
                  <a:schemeClr val="tx2">
                    <a:satMod val="130000"/>
                  </a:schemeClr>
                </a:solidFill>
                <a:effectLst>
                  <a:outerShdw blurRad="38100" dist="38100" dir="2700000" algn="tl">
                    <a:srgbClr val="000000">
                      <a:alpha val="43137"/>
                    </a:srgbClr>
                  </a:outerShdw>
                </a:effectLst>
                <a:latin typeface="Agency FB" pitchFamily="34" charset="0"/>
              </a:rPr>
              <a:t>Etomidate:  dose</a:t>
            </a:r>
            <a:endParaRPr lang="en-US" sz="6000" dirty="0">
              <a:effectLst>
                <a:outerShdw blurRad="38100" dist="38100" dir="2700000" algn="tl">
                  <a:srgbClr val="000000">
                    <a:alpha val="43137"/>
                  </a:srgbClr>
                </a:outerShdw>
              </a:effectLst>
              <a:latin typeface="Agency FB" pitchFamily="34" charset="0"/>
            </a:endParaRPr>
          </a:p>
        </p:txBody>
      </p:sp>
      <p:sp>
        <p:nvSpPr>
          <p:cNvPr id="3" name="Content Placeholder 2"/>
          <p:cNvSpPr>
            <a:spLocks noGrp="1"/>
          </p:cNvSpPr>
          <p:nvPr>
            <p:ph idx="1"/>
          </p:nvPr>
        </p:nvSpPr>
        <p:spPr>
          <a:xfrm>
            <a:off x="457200" y="1600200"/>
            <a:ext cx="8458200" cy="4525963"/>
          </a:xfrm>
        </p:spPr>
        <p:txBody>
          <a:bodyPr>
            <a:normAutofit/>
          </a:bodyPr>
          <a:lstStyle/>
          <a:p>
            <a:r>
              <a:rPr lang="en-US" sz="2800" dirty="0">
                <a:cs typeface="Times New Roman" pitchFamily="18" charset="0"/>
              </a:rPr>
              <a:t>Induction of anesthesia</a:t>
            </a:r>
          </a:p>
          <a:p>
            <a:pPr lvl="1"/>
            <a:r>
              <a:rPr lang="en-US" dirty="0">
                <a:cs typeface="Times New Roman" pitchFamily="18" charset="0"/>
              </a:rPr>
              <a:t>Dose=0.2-0.3 mg / kg IV</a:t>
            </a:r>
          </a:p>
          <a:p>
            <a:pPr lvl="1"/>
            <a:endParaRPr lang="en-US" dirty="0">
              <a:cs typeface="Times New Roman" pitchFamily="18" charset="0"/>
            </a:endParaRPr>
          </a:p>
          <a:p>
            <a:pPr lvl="1"/>
            <a:r>
              <a:rPr lang="en-US" dirty="0">
                <a:solidFill>
                  <a:srgbClr val="FF0000"/>
                </a:solidFill>
                <a:cs typeface="Times New Roman" pitchFamily="18" charset="0"/>
              </a:rPr>
              <a:t>Good for those patients with compromised myocardial contractility (heart failure)	</a:t>
            </a:r>
          </a:p>
          <a:p>
            <a:endParaRPr lang="en-US" sz="2800" dirty="0">
              <a:cs typeface="Times New Roman" pitchFamily="18" charset="0"/>
            </a:endParaRPr>
          </a:p>
          <a:p>
            <a:endParaRPr lang="en-US" sz="2800" dirty="0">
              <a:cs typeface="Times New Roman" pitchFamily="18" charset="0"/>
            </a:endParaRPr>
          </a:p>
          <a:p>
            <a:endParaRPr lang="en-US" sz="2800" dirty="0">
              <a:cs typeface="Times New Roman" pitchFamily="18" charset="0"/>
            </a:endParaRPr>
          </a:p>
        </p:txBody>
      </p:sp>
    </p:spTree>
    <p:extLst>
      <p:ext uri="{BB962C8B-B14F-4D97-AF65-F5344CB8AC3E}">
        <p14:creationId xmlns:p14="http://schemas.microsoft.com/office/powerpoint/2010/main" val="388490772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tx2">
                    <a:satMod val="130000"/>
                  </a:schemeClr>
                </a:solidFill>
                <a:latin typeface="+mn-lt"/>
              </a:rPr>
              <a:t> </a:t>
            </a:r>
            <a:r>
              <a:rPr lang="en-US" dirty="0">
                <a:latin typeface="+mn-lt"/>
              </a:rPr>
              <a:t>Cont.…</a:t>
            </a:r>
          </a:p>
        </p:txBody>
      </p:sp>
      <p:sp>
        <p:nvSpPr>
          <p:cNvPr id="3" name="Content Placeholder 2"/>
          <p:cNvSpPr>
            <a:spLocks noGrp="1"/>
          </p:cNvSpPr>
          <p:nvPr>
            <p:ph idx="1"/>
          </p:nvPr>
        </p:nvSpPr>
        <p:spPr/>
        <p:txBody>
          <a:bodyPr>
            <a:normAutofit/>
          </a:bodyPr>
          <a:lstStyle/>
          <a:p>
            <a:pPr>
              <a:buFont typeface="Wingdings" pitchFamily="2" charset="2"/>
              <a:buChar char="Ø"/>
            </a:pPr>
            <a:r>
              <a:rPr lang="en-US" sz="4000" dirty="0">
                <a:solidFill>
                  <a:schemeClr val="tx2">
                    <a:satMod val="130000"/>
                  </a:schemeClr>
                </a:solidFill>
                <a:cs typeface="Times New Roman" pitchFamily="18" charset="0"/>
              </a:rPr>
              <a:t>Advantages</a:t>
            </a:r>
            <a:endParaRPr lang="en-US" dirty="0">
              <a:cs typeface="Times New Roman" pitchFamily="18" charset="0"/>
            </a:endParaRPr>
          </a:p>
          <a:p>
            <a:r>
              <a:rPr lang="en-US" sz="2800" dirty="0">
                <a:cs typeface="Times New Roman" pitchFamily="18" charset="0"/>
              </a:rPr>
              <a:t>Minimal CV effect vs. propofol and thiopental</a:t>
            </a:r>
          </a:p>
          <a:p>
            <a:endParaRPr lang="en-US" sz="2800" dirty="0">
              <a:cs typeface="Times New Roman" pitchFamily="18" charset="0"/>
            </a:endParaRPr>
          </a:p>
          <a:p>
            <a:r>
              <a:rPr lang="en-US" sz="2800" dirty="0">
                <a:cs typeface="Times New Roman" pitchFamily="18" charset="0"/>
              </a:rPr>
              <a:t>Rapid onset</a:t>
            </a:r>
          </a:p>
          <a:p>
            <a:endParaRPr lang="en-US" sz="2800" dirty="0">
              <a:cs typeface="Times New Roman" pitchFamily="18" charset="0"/>
            </a:endParaRPr>
          </a:p>
          <a:p>
            <a:r>
              <a:rPr lang="en-US" sz="2800" dirty="0">
                <a:cs typeface="Times New Roman" pitchFamily="18" charset="0"/>
              </a:rPr>
              <a:t>Quick recovery ----3-8 minutes</a:t>
            </a:r>
          </a:p>
          <a:p>
            <a:endParaRPr lang="en-US" dirty="0">
              <a:cs typeface="Times New Roman" pitchFamily="18" charset="0"/>
            </a:endParaRPr>
          </a:p>
        </p:txBody>
      </p:sp>
    </p:spTree>
    <p:extLst>
      <p:ext uri="{BB962C8B-B14F-4D97-AF65-F5344CB8AC3E}">
        <p14:creationId xmlns:p14="http://schemas.microsoft.com/office/powerpoint/2010/main" val="263612679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atMod val="130000"/>
                  </a:schemeClr>
                </a:solidFill>
                <a:latin typeface="Agency FB" pitchFamily="34" charset="0"/>
              </a:rPr>
              <a:t> </a:t>
            </a:r>
            <a:r>
              <a:rPr lang="en-US" dirty="0">
                <a:solidFill>
                  <a:schemeClr val="tx2">
                    <a:satMod val="130000"/>
                  </a:schemeClr>
                </a:solidFill>
                <a:latin typeface="+mn-lt"/>
              </a:rPr>
              <a:t> </a:t>
            </a:r>
            <a:r>
              <a:rPr lang="en-US" dirty="0">
                <a:latin typeface="+mn-lt"/>
              </a:rPr>
              <a:t>Cont.…</a:t>
            </a:r>
            <a:endParaRPr lang="en-US" dirty="0"/>
          </a:p>
        </p:txBody>
      </p:sp>
      <p:sp>
        <p:nvSpPr>
          <p:cNvPr id="3" name="Content Placeholder 2"/>
          <p:cNvSpPr>
            <a:spLocks noGrp="1"/>
          </p:cNvSpPr>
          <p:nvPr>
            <p:ph idx="1"/>
          </p:nvPr>
        </p:nvSpPr>
        <p:spPr>
          <a:xfrm>
            <a:off x="457200" y="1295400"/>
            <a:ext cx="8229600" cy="4830763"/>
          </a:xfrm>
        </p:spPr>
        <p:txBody>
          <a:bodyPr>
            <a:normAutofit/>
          </a:bodyPr>
          <a:lstStyle/>
          <a:p>
            <a:pPr>
              <a:buFont typeface="Wingdings" pitchFamily="2" charset="2"/>
              <a:buChar char="Ø"/>
            </a:pPr>
            <a:r>
              <a:rPr lang="en-US" sz="4000" dirty="0">
                <a:solidFill>
                  <a:schemeClr val="tx2">
                    <a:satMod val="130000"/>
                  </a:schemeClr>
                </a:solidFill>
                <a:cs typeface="Times New Roman" pitchFamily="18" charset="0"/>
              </a:rPr>
              <a:t> Side effects</a:t>
            </a:r>
            <a:endParaRPr lang="en-US" dirty="0">
              <a:cs typeface="Times New Roman" pitchFamily="18" charset="0"/>
            </a:endParaRPr>
          </a:p>
          <a:p>
            <a:r>
              <a:rPr lang="en-US" sz="2600" dirty="0">
                <a:cs typeface="Times New Roman" pitchFamily="18" charset="0"/>
              </a:rPr>
              <a:t>Adrenocortical suppression</a:t>
            </a:r>
          </a:p>
          <a:p>
            <a:r>
              <a:rPr lang="en-US" sz="2600" dirty="0">
                <a:cs typeface="Times New Roman" pitchFamily="18" charset="0"/>
              </a:rPr>
              <a:t>No analgesia vs. ketamine</a:t>
            </a:r>
          </a:p>
          <a:p>
            <a:r>
              <a:rPr lang="en-US" sz="2600" dirty="0">
                <a:cs typeface="Times New Roman" pitchFamily="18" charset="0"/>
              </a:rPr>
              <a:t>Pain on injection</a:t>
            </a:r>
          </a:p>
          <a:p>
            <a:r>
              <a:rPr lang="en-US" sz="2600" dirty="0">
                <a:cs typeface="Times New Roman" pitchFamily="18" charset="0"/>
              </a:rPr>
              <a:t>Postoperative nausea and vomiting (PONV)</a:t>
            </a:r>
          </a:p>
          <a:p>
            <a:r>
              <a:rPr lang="en-US" sz="2600" dirty="0">
                <a:cs typeface="Times New Roman" pitchFamily="18" charset="0"/>
              </a:rPr>
              <a:t>Hiccups</a:t>
            </a:r>
          </a:p>
          <a:p>
            <a:r>
              <a:rPr lang="en-US" sz="2600" dirty="0">
                <a:cs typeface="Times New Roman" pitchFamily="18" charset="0"/>
              </a:rPr>
              <a:t>Myoclonic movements during induction</a:t>
            </a:r>
          </a:p>
          <a:p>
            <a:pPr lvl="1"/>
            <a:r>
              <a:rPr lang="en-US" sz="2400" dirty="0">
                <a:cs typeface="Times New Roman" pitchFamily="18" charset="0"/>
              </a:rPr>
              <a:t>It  may have disinhibitory effects on the parts of the CNS that control extrapyramidal motor activity.</a:t>
            </a:r>
          </a:p>
          <a:p>
            <a:pPr lvl="1"/>
            <a:endParaRPr lang="en-US" dirty="0">
              <a:cs typeface="Times New Roman" pitchFamily="18" charset="0"/>
            </a:endParaRPr>
          </a:p>
          <a:p>
            <a:endParaRPr lang="en-US" dirty="0">
              <a:cs typeface="Times New Roman" pitchFamily="18" charset="0"/>
            </a:endParaRPr>
          </a:p>
        </p:txBody>
      </p:sp>
    </p:spTree>
    <p:extLst>
      <p:ext uri="{BB962C8B-B14F-4D97-AF65-F5344CB8AC3E}">
        <p14:creationId xmlns:p14="http://schemas.microsoft.com/office/powerpoint/2010/main" val="280162076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368C7-5233-3EC7-A1CF-BC3B260EDE5A}"/>
              </a:ext>
            </a:extLst>
          </p:cNvPr>
          <p:cNvSpPr>
            <a:spLocks noGrp="1"/>
          </p:cNvSpPr>
          <p:nvPr>
            <p:ph type="title"/>
          </p:nvPr>
        </p:nvSpPr>
        <p:spPr/>
        <p:txBody>
          <a:bodyPr/>
          <a:lstStyle/>
          <a:p>
            <a:r>
              <a:rPr lang="en-US" dirty="0">
                <a:solidFill>
                  <a:schemeClr val="tx2">
                    <a:satMod val="130000"/>
                  </a:schemeClr>
                </a:solidFill>
                <a:latin typeface="+mn-lt"/>
              </a:rPr>
              <a:t> </a:t>
            </a:r>
            <a:r>
              <a:rPr lang="en-US" dirty="0">
                <a:latin typeface="+mn-lt"/>
              </a:rPr>
              <a:t>Cont.…</a:t>
            </a:r>
            <a:endParaRPr lang="en-US" dirty="0"/>
          </a:p>
        </p:txBody>
      </p:sp>
      <p:sp>
        <p:nvSpPr>
          <p:cNvPr id="3" name="Content Placeholder 2">
            <a:extLst>
              <a:ext uri="{FF2B5EF4-FFF2-40B4-BE49-F238E27FC236}">
                <a16:creationId xmlns:a16="http://schemas.microsoft.com/office/drawing/2014/main" id="{85E49AF8-EE91-C525-125A-A5215F110306}"/>
              </a:ext>
            </a:extLst>
          </p:cNvPr>
          <p:cNvSpPr>
            <a:spLocks noGrp="1"/>
          </p:cNvSpPr>
          <p:nvPr>
            <p:ph idx="1"/>
          </p:nvPr>
        </p:nvSpPr>
        <p:spPr>
          <a:xfrm>
            <a:off x="457200" y="1600200"/>
            <a:ext cx="8458200" cy="4525963"/>
          </a:xfrm>
        </p:spPr>
        <p:txBody>
          <a:bodyPr/>
          <a:lstStyle/>
          <a:p>
            <a:r>
              <a:rPr lang="en-US" dirty="0"/>
              <a:t>Drug Interactions</a:t>
            </a:r>
          </a:p>
          <a:p>
            <a:pPr lvl="1"/>
            <a:r>
              <a:rPr lang="en-US" sz="2400" dirty="0"/>
              <a:t>Fentanyl increases the plasma level and prolongs the elimination half-life of etomidate. </a:t>
            </a:r>
          </a:p>
          <a:p>
            <a:pPr lvl="1"/>
            <a:r>
              <a:rPr lang="en-US" sz="2400" dirty="0"/>
              <a:t>Opioids decrease the myoclonus characteristic of an etomidate induction.</a:t>
            </a:r>
          </a:p>
        </p:txBody>
      </p:sp>
    </p:spTree>
    <p:extLst>
      <p:ext uri="{BB962C8B-B14F-4D97-AF65-F5344CB8AC3E}">
        <p14:creationId xmlns:p14="http://schemas.microsoft.com/office/powerpoint/2010/main" val="311660713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11F9-3C9F-C30A-6358-968BD7490311}"/>
              </a:ext>
            </a:extLst>
          </p:cNvPr>
          <p:cNvSpPr>
            <a:spLocks noGrp="1"/>
          </p:cNvSpPr>
          <p:nvPr>
            <p:ph type="title"/>
          </p:nvPr>
        </p:nvSpPr>
        <p:spPr/>
        <p:txBody>
          <a:bodyPr/>
          <a:lstStyle/>
          <a:p>
            <a:r>
              <a:rPr lang="en-US" dirty="0"/>
              <a:t>Dexmedetomidine</a:t>
            </a:r>
          </a:p>
        </p:txBody>
      </p:sp>
      <p:sp>
        <p:nvSpPr>
          <p:cNvPr id="3" name="Content Placeholder 2">
            <a:extLst>
              <a:ext uri="{FF2B5EF4-FFF2-40B4-BE49-F238E27FC236}">
                <a16:creationId xmlns:a16="http://schemas.microsoft.com/office/drawing/2014/main" id="{EE162BB9-E0A9-132E-6F86-B8E112FC1681}"/>
              </a:ext>
            </a:extLst>
          </p:cNvPr>
          <p:cNvSpPr>
            <a:spLocks noGrp="1"/>
          </p:cNvSpPr>
          <p:nvPr>
            <p:ph idx="1"/>
          </p:nvPr>
        </p:nvSpPr>
        <p:spPr/>
        <p:txBody>
          <a:bodyPr>
            <a:normAutofit/>
          </a:bodyPr>
          <a:lstStyle/>
          <a:p>
            <a:r>
              <a:rPr lang="en-US" sz="2400" dirty="0"/>
              <a:t>Introduced into clinical practice in 1999.</a:t>
            </a:r>
          </a:p>
          <a:p>
            <a:r>
              <a:rPr lang="en-US" sz="2400" dirty="0"/>
              <a:t>It is an alpha-2-adrenergic agonist.</a:t>
            </a:r>
          </a:p>
          <a:p>
            <a:r>
              <a:rPr lang="en-US" sz="2400" dirty="0"/>
              <a:t>It has analgesic properties, and can reduce opiate requirements in ICU patients</a:t>
            </a:r>
          </a:p>
          <a:p>
            <a:r>
              <a:rPr lang="en-US" sz="2400" dirty="0"/>
              <a:t>It is a sedative </a:t>
            </a:r>
          </a:p>
          <a:p>
            <a:pPr lvl="1"/>
            <a:r>
              <a:rPr lang="en-US" sz="2400" dirty="0"/>
              <a:t>which has limited respiratory depressant effects</a:t>
            </a:r>
          </a:p>
        </p:txBody>
      </p:sp>
    </p:spTree>
    <p:extLst>
      <p:ext uri="{BB962C8B-B14F-4D97-AF65-F5344CB8AC3E}">
        <p14:creationId xmlns:p14="http://schemas.microsoft.com/office/powerpoint/2010/main" val="129576800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416A7-26EE-B2B0-9E3E-E7075DC1B8E7}"/>
              </a:ext>
            </a:extLst>
          </p:cNvPr>
          <p:cNvSpPr>
            <a:spLocks noGrp="1"/>
          </p:cNvSpPr>
          <p:nvPr>
            <p:ph type="title"/>
          </p:nvPr>
        </p:nvSpPr>
        <p:spPr/>
        <p:txBody>
          <a:bodyPr>
            <a:noAutofit/>
          </a:bodyPr>
          <a:lstStyle/>
          <a:p>
            <a:pPr algn="l"/>
            <a:r>
              <a:rPr lang="en-US" sz="3600" dirty="0"/>
              <a:t>Pharmacokinetics of Dexmedetomidine</a:t>
            </a:r>
          </a:p>
        </p:txBody>
      </p:sp>
      <p:sp>
        <p:nvSpPr>
          <p:cNvPr id="3" name="Content Placeholder 2">
            <a:extLst>
              <a:ext uri="{FF2B5EF4-FFF2-40B4-BE49-F238E27FC236}">
                <a16:creationId xmlns:a16="http://schemas.microsoft.com/office/drawing/2014/main" id="{C8DFCA3E-A7D2-7C57-8CF6-EDA3CEB01333}"/>
              </a:ext>
            </a:extLst>
          </p:cNvPr>
          <p:cNvSpPr>
            <a:spLocks noGrp="1"/>
          </p:cNvSpPr>
          <p:nvPr>
            <p:ph idx="1"/>
          </p:nvPr>
        </p:nvSpPr>
        <p:spPr/>
        <p:txBody>
          <a:bodyPr>
            <a:normAutofit/>
          </a:bodyPr>
          <a:lstStyle/>
          <a:p>
            <a:r>
              <a:rPr lang="en-US" sz="2600" dirty="0"/>
              <a:t>Rapid distribution phase with  </a:t>
            </a:r>
          </a:p>
          <a:p>
            <a:pPr lvl="1"/>
            <a:r>
              <a:rPr lang="en-US" sz="2600" dirty="0"/>
              <a:t>Distribution half-life of 6 minutes; </a:t>
            </a:r>
          </a:p>
          <a:p>
            <a:pPr lvl="1"/>
            <a:r>
              <a:rPr lang="en-US" sz="2600" dirty="0"/>
              <a:t>a terminal elimination half life of 2 hours</a:t>
            </a:r>
          </a:p>
          <a:p>
            <a:pPr marL="342900" lvl="1" indent="-342900">
              <a:buFont typeface="Arial" pitchFamily="34" charset="0"/>
              <a:buChar char="•"/>
            </a:pPr>
            <a:r>
              <a:rPr lang="en-US" sz="2600" dirty="0"/>
              <a:t>Highly protein binding ( 94%)</a:t>
            </a:r>
          </a:p>
          <a:p>
            <a:pPr marL="342900" lvl="1" indent="-342900">
              <a:buFont typeface="Arial" pitchFamily="34" charset="0"/>
              <a:buChar char="•"/>
            </a:pPr>
            <a:r>
              <a:rPr lang="en-US" sz="2400" dirty="0"/>
              <a:t>Undergoes almost complete biotransformation with very little unchanged dexmedetomidine in the urine and feces.</a:t>
            </a:r>
          </a:p>
        </p:txBody>
      </p:sp>
    </p:spTree>
    <p:extLst>
      <p:ext uri="{BB962C8B-B14F-4D97-AF65-F5344CB8AC3E}">
        <p14:creationId xmlns:p14="http://schemas.microsoft.com/office/powerpoint/2010/main" val="301813702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E29C0-1107-F749-0D58-9C32B3CCD822}"/>
              </a:ext>
            </a:extLst>
          </p:cNvPr>
          <p:cNvSpPr>
            <a:spLocks noGrp="1"/>
          </p:cNvSpPr>
          <p:nvPr>
            <p:ph type="title"/>
          </p:nvPr>
        </p:nvSpPr>
        <p:spPr/>
        <p:txBody>
          <a:bodyPr>
            <a:noAutofit/>
          </a:bodyPr>
          <a:lstStyle/>
          <a:p>
            <a:pPr algn="l"/>
            <a:r>
              <a:rPr lang="en-US" sz="3200" dirty="0"/>
              <a:t>Pharmacodynamics of Dexmedetomidine</a:t>
            </a:r>
          </a:p>
        </p:txBody>
      </p:sp>
      <p:sp>
        <p:nvSpPr>
          <p:cNvPr id="3" name="Content Placeholder 2">
            <a:extLst>
              <a:ext uri="{FF2B5EF4-FFF2-40B4-BE49-F238E27FC236}">
                <a16:creationId xmlns:a16="http://schemas.microsoft.com/office/drawing/2014/main" id="{E01A89B1-301E-F2FB-FC20-DB2E772533BA}"/>
              </a:ext>
            </a:extLst>
          </p:cNvPr>
          <p:cNvSpPr>
            <a:spLocks noGrp="1"/>
          </p:cNvSpPr>
          <p:nvPr>
            <p:ph idx="1"/>
          </p:nvPr>
        </p:nvSpPr>
        <p:spPr/>
        <p:txBody>
          <a:bodyPr/>
          <a:lstStyle/>
          <a:p>
            <a:r>
              <a:rPr lang="en-US" sz="2800" dirty="0"/>
              <a:t>Acts on the alpha-2-adrenergic receptors in the spinal cord and brain</a:t>
            </a:r>
            <a:r>
              <a:rPr lang="en-US" dirty="0"/>
              <a:t>.</a:t>
            </a:r>
          </a:p>
          <a:p>
            <a:pPr lvl="1"/>
            <a:r>
              <a:rPr lang="en-US" sz="2400" dirty="0"/>
              <a:t>Its effects are primarily at the locus coeruleus that activates sleep centers in the brain.</a:t>
            </a:r>
          </a:p>
          <a:p>
            <a:pPr marL="342900" lvl="1" indent="-342900">
              <a:buFont typeface="Arial" pitchFamily="34" charset="0"/>
              <a:buChar char="•"/>
            </a:pPr>
            <a:r>
              <a:rPr lang="en-US" dirty="0"/>
              <a:t>Clinically, patients are sedated but </a:t>
            </a:r>
          </a:p>
          <a:p>
            <a:pPr marL="1200150" lvl="3" indent="-342900"/>
            <a:r>
              <a:rPr lang="en-US" sz="2400" dirty="0"/>
              <a:t>easily arousable, and </a:t>
            </a:r>
          </a:p>
          <a:p>
            <a:pPr marL="1200150" lvl="3" indent="-342900"/>
            <a:r>
              <a:rPr lang="en-US" sz="2400" dirty="0"/>
              <a:t>able to follow commands with minimal respiratory depression</a:t>
            </a:r>
          </a:p>
          <a:p>
            <a:pPr marL="342900" lvl="1" indent="-342900">
              <a:buFont typeface="Arial" panose="020B0604020202020204" pitchFamily="34" charset="0"/>
              <a:buChar char="•"/>
            </a:pPr>
            <a:r>
              <a:rPr lang="en-US" sz="2400" dirty="0">
                <a:cs typeface="Times New Roman" pitchFamily="18" charset="0"/>
                <a:sym typeface="Symbol"/>
              </a:rPr>
              <a:t> HR (Bradycardia) </a:t>
            </a:r>
          </a:p>
          <a:p>
            <a:pPr marL="342900" lvl="1" indent="-342900">
              <a:buFont typeface="Arial" panose="020B0604020202020204" pitchFamily="34" charset="0"/>
              <a:buChar char="•"/>
            </a:pPr>
            <a:r>
              <a:rPr lang="en-US" sz="2400" dirty="0">
                <a:cs typeface="Times New Roman" pitchFamily="18" charset="0"/>
                <a:sym typeface="Symbol"/>
              </a:rPr>
              <a:t> BP (Hypotension)</a:t>
            </a:r>
            <a:endParaRPr lang="en-US" sz="2400" dirty="0"/>
          </a:p>
        </p:txBody>
      </p:sp>
    </p:spTree>
    <p:extLst>
      <p:ext uri="{BB962C8B-B14F-4D97-AF65-F5344CB8AC3E}">
        <p14:creationId xmlns:p14="http://schemas.microsoft.com/office/powerpoint/2010/main" val="41757486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85A96-BA72-2C99-B52B-55780256E1FF}"/>
              </a:ext>
            </a:extLst>
          </p:cNvPr>
          <p:cNvSpPr>
            <a:spLocks noGrp="1"/>
          </p:cNvSpPr>
          <p:nvPr>
            <p:ph type="title"/>
          </p:nvPr>
        </p:nvSpPr>
        <p:spPr/>
        <p:txBody>
          <a:bodyPr/>
          <a:lstStyle/>
          <a:p>
            <a:r>
              <a:rPr lang="en-US" dirty="0">
                <a:solidFill>
                  <a:schemeClr val="tx2">
                    <a:satMod val="130000"/>
                  </a:schemeClr>
                </a:solidFill>
                <a:latin typeface="+mn-lt"/>
              </a:rPr>
              <a:t> </a:t>
            </a:r>
            <a:r>
              <a:rPr lang="en-US" dirty="0">
                <a:latin typeface="+mn-lt"/>
              </a:rPr>
              <a:t>Cont.…</a:t>
            </a:r>
            <a:endParaRPr lang="en-US" dirty="0"/>
          </a:p>
        </p:txBody>
      </p:sp>
      <p:sp>
        <p:nvSpPr>
          <p:cNvPr id="3" name="Content Placeholder 2">
            <a:extLst>
              <a:ext uri="{FF2B5EF4-FFF2-40B4-BE49-F238E27FC236}">
                <a16:creationId xmlns:a16="http://schemas.microsoft.com/office/drawing/2014/main" id="{077F3289-E4D2-3B3B-DF87-B7533C2C3661}"/>
              </a:ext>
            </a:extLst>
          </p:cNvPr>
          <p:cNvSpPr>
            <a:spLocks noGrp="1"/>
          </p:cNvSpPr>
          <p:nvPr>
            <p:ph idx="1"/>
          </p:nvPr>
        </p:nvSpPr>
        <p:spPr>
          <a:xfrm>
            <a:off x="457200" y="1600200"/>
            <a:ext cx="8458200" cy="4525963"/>
          </a:xfrm>
        </p:spPr>
        <p:txBody>
          <a:bodyPr/>
          <a:lstStyle/>
          <a:p>
            <a:pPr>
              <a:buFont typeface="Wingdings" panose="05000000000000000000" pitchFamily="2" charset="2"/>
              <a:buChar char="q"/>
            </a:pPr>
            <a:r>
              <a:rPr lang="en-US" dirty="0"/>
              <a:t>Clinical uses</a:t>
            </a:r>
          </a:p>
          <a:p>
            <a:r>
              <a:rPr lang="en-US" sz="2600" dirty="0"/>
              <a:t>ICU sedation in mechanically ventilated patients </a:t>
            </a:r>
          </a:p>
          <a:p>
            <a:r>
              <a:rPr lang="en-US" sz="2600" dirty="0"/>
              <a:t>Procedural sedation</a:t>
            </a:r>
          </a:p>
          <a:p>
            <a:r>
              <a:rPr lang="en-US" sz="2600" dirty="0"/>
              <a:t>As a component of general anesthesia</a:t>
            </a:r>
          </a:p>
          <a:p>
            <a:r>
              <a:rPr lang="en-US" sz="2600" dirty="0"/>
              <a:t>Pediatrics: preoperative anxiolysis and emergence delirium</a:t>
            </a:r>
          </a:p>
          <a:p>
            <a:r>
              <a:rPr lang="en-US" sz="2600" dirty="0"/>
              <a:t>Local anesthesia adjuvant</a:t>
            </a:r>
          </a:p>
          <a:p>
            <a:pPr lvl="1"/>
            <a:r>
              <a:rPr lang="en-US" sz="2000" dirty="0"/>
              <a:t>It was found to p</a:t>
            </a:r>
            <a:r>
              <a:rPr lang="en-US" sz="2000" b="0" i="0" u="none" strike="noStrike" baseline="0" dirty="0"/>
              <a:t>rolong both motor and sensory blocks when administered intrathecally in combination with local anesthetic.</a:t>
            </a:r>
            <a:endParaRPr lang="en-US" sz="2000" dirty="0"/>
          </a:p>
        </p:txBody>
      </p:sp>
    </p:spTree>
    <p:extLst>
      <p:ext uri="{BB962C8B-B14F-4D97-AF65-F5344CB8AC3E}">
        <p14:creationId xmlns:p14="http://schemas.microsoft.com/office/powerpoint/2010/main" val="311830187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79B4A-0ABD-BF14-6317-32CCEF519668}"/>
              </a:ext>
            </a:extLst>
          </p:cNvPr>
          <p:cNvSpPr>
            <a:spLocks noGrp="1"/>
          </p:cNvSpPr>
          <p:nvPr>
            <p:ph type="title"/>
          </p:nvPr>
        </p:nvSpPr>
        <p:spPr/>
        <p:txBody>
          <a:bodyPr/>
          <a:lstStyle/>
          <a:p>
            <a:r>
              <a:rPr lang="en-US" dirty="0">
                <a:solidFill>
                  <a:schemeClr val="tx2">
                    <a:satMod val="130000"/>
                  </a:schemeClr>
                </a:solidFill>
                <a:latin typeface="+mn-lt"/>
              </a:rPr>
              <a:t> </a:t>
            </a:r>
            <a:r>
              <a:rPr lang="en-US" dirty="0">
                <a:latin typeface="+mn-lt"/>
              </a:rPr>
              <a:t>Cont.…</a:t>
            </a:r>
            <a:endParaRPr lang="en-US" dirty="0"/>
          </a:p>
        </p:txBody>
      </p:sp>
      <p:sp>
        <p:nvSpPr>
          <p:cNvPr id="3" name="Content Placeholder 2">
            <a:extLst>
              <a:ext uri="{FF2B5EF4-FFF2-40B4-BE49-F238E27FC236}">
                <a16:creationId xmlns:a16="http://schemas.microsoft.com/office/drawing/2014/main" id="{9824F0FB-9ACF-B968-3018-A66A9FE3877C}"/>
              </a:ext>
            </a:extLst>
          </p:cNvPr>
          <p:cNvSpPr>
            <a:spLocks noGrp="1"/>
          </p:cNvSpPr>
          <p:nvPr>
            <p:ph idx="1"/>
          </p:nvPr>
        </p:nvSpPr>
        <p:spPr/>
        <p:txBody>
          <a:bodyPr/>
          <a:lstStyle/>
          <a:p>
            <a:r>
              <a:rPr lang="en-US" dirty="0"/>
              <a:t>DOSE</a:t>
            </a:r>
          </a:p>
          <a:p>
            <a:pPr lvl="1"/>
            <a:r>
              <a:rPr lang="en-US" sz="2400" b="0" i="0" u="none" strike="noStrike" baseline="0" dirty="0"/>
              <a:t>Administration: IV bolus: 0.5–1 mcg/kg over 15 min, </a:t>
            </a:r>
          </a:p>
          <a:p>
            <a:pPr lvl="1"/>
            <a:r>
              <a:rPr lang="en-US" sz="2400" b="0" i="0" u="none" strike="noStrike" baseline="0" dirty="0"/>
              <a:t>followed by 0.3–0.7 mcg/kg/h IV infusion</a:t>
            </a:r>
            <a:endParaRPr lang="en-US" sz="4000" dirty="0"/>
          </a:p>
          <a:p>
            <a:pPr marL="0" indent="0">
              <a:buNone/>
            </a:pPr>
            <a:endParaRPr lang="en-US" dirty="0"/>
          </a:p>
        </p:txBody>
      </p:sp>
    </p:spTree>
    <p:extLst>
      <p:ext uri="{BB962C8B-B14F-4D97-AF65-F5344CB8AC3E}">
        <p14:creationId xmlns:p14="http://schemas.microsoft.com/office/powerpoint/2010/main" val="321754350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C825A-7AD9-836D-C819-E01363EA9097}"/>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61AE0821-9917-FAA0-6A4B-3F0046D48036}"/>
              </a:ext>
            </a:extLst>
          </p:cNvPr>
          <p:cNvSpPr>
            <a:spLocks noGrp="1"/>
          </p:cNvSpPr>
          <p:nvPr>
            <p:ph idx="1"/>
          </p:nvPr>
        </p:nvSpPr>
        <p:spPr/>
        <p:txBody>
          <a:bodyPr>
            <a:normAutofit/>
          </a:bodyPr>
          <a:lstStyle/>
          <a:p>
            <a:pPr>
              <a:buFont typeface="Wingdings" panose="05000000000000000000" pitchFamily="2" charset="2"/>
              <a:buChar char="q"/>
            </a:pPr>
            <a:r>
              <a:rPr lang="en-US" sz="3600" b="1" dirty="0"/>
              <a:t>Side Effects</a:t>
            </a:r>
          </a:p>
          <a:p>
            <a:r>
              <a:rPr lang="en-US" dirty="0"/>
              <a:t>Hypotension (23%)</a:t>
            </a:r>
          </a:p>
          <a:p>
            <a:r>
              <a:rPr lang="en-US" dirty="0"/>
              <a:t>Bradycardia (40%)</a:t>
            </a:r>
          </a:p>
          <a:p>
            <a:pPr lvl="1"/>
            <a:r>
              <a:rPr lang="en-US" dirty="0"/>
              <a:t>can be managed with </a:t>
            </a:r>
          </a:p>
          <a:p>
            <a:pPr lvl="2"/>
            <a:r>
              <a:rPr lang="en-US" dirty="0"/>
              <a:t>atropine, ephedrine, or volume administration</a:t>
            </a:r>
          </a:p>
          <a:p>
            <a:r>
              <a:rPr lang="en-US" dirty="0"/>
              <a:t>Dry mouth</a:t>
            </a:r>
          </a:p>
          <a:p>
            <a:r>
              <a:rPr lang="en-US" dirty="0"/>
              <a:t>Nausea</a:t>
            </a:r>
          </a:p>
        </p:txBody>
      </p:sp>
    </p:spTree>
    <p:extLst>
      <p:ext uri="{BB962C8B-B14F-4D97-AF65-F5344CB8AC3E}">
        <p14:creationId xmlns:p14="http://schemas.microsoft.com/office/powerpoint/2010/main" val="382406542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dirty="0">
                <a:effectLst>
                  <a:outerShdw blurRad="38100" dist="38100" dir="2700000" algn="tl">
                    <a:srgbClr val="000000">
                      <a:alpha val="43137"/>
                    </a:srgbClr>
                  </a:outerShdw>
                </a:effectLst>
                <a:latin typeface="Agency FB" pitchFamily="34" charset="0"/>
                <a:cs typeface="Times New Roman" pitchFamily="18" charset="0"/>
              </a:rPr>
              <a:t>Benzodiazepines (BZDs)</a:t>
            </a:r>
            <a:endParaRPr lang="en-US" dirty="0">
              <a:effectLst>
                <a:outerShdw blurRad="38100" dist="38100" dir="2700000" algn="tl">
                  <a:srgbClr val="000000">
                    <a:alpha val="43137"/>
                  </a:srgbClr>
                </a:outerShdw>
              </a:effectLst>
              <a:latin typeface="Agency FB" pitchFamily="34" charset="0"/>
            </a:endParaRPr>
          </a:p>
        </p:txBody>
      </p:sp>
      <p:sp>
        <p:nvSpPr>
          <p:cNvPr id="3" name="Content Placeholder 2"/>
          <p:cNvSpPr>
            <a:spLocks noGrp="1"/>
          </p:cNvSpPr>
          <p:nvPr>
            <p:ph idx="1"/>
          </p:nvPr>
        </p:nvSpPr>
        <p:spPr>
          <a:xfrm>
            <a:off x="457200" y="1066800"/>
            <a:ext cx="8458200" cy="5059363"/>
          </a:xfrm>
        </p:spPr>
        <p:txBody>
          <a:bodyPr>
            <a:normAutofit/>
          </a:bodyPr>
          <a:lstStyle/>
          <a:p>
            <a:endParaRPr lang="en-US" sz="4400" b="1" dirty="0">
              <a:latin typeface="Times New Roman" pitchFamily="18" charset="0"/>
              <a:cs typeface="Times New Roman" pitchFamily="18" charset="0"/>
            </a:endParaRPr>
          </a:p>
          <a:p>
            <a:r>
              <a:rPr lang="en-US" sz="5400" dirty="0">
                <a:solidFill>
                  <a:srgbClr val="FF0000"/>
                </a:solidFill>
                <a:effectLst>
                  <a:outerShdw blurRad="38100" dist="38100" dir="2700000" algn="tl">
                    <a:srgbClr val="000000">
                      <a:alpha val="43137"/>
                    </a:srgbClr>
                  </a:outerShdw>
                </a:effectLst>
                <a:latin typeface="Agency FB" pitchFamily="34" charset="0"/>
              </a:rPr>
              <a:t>Diazepam</a:t>
            </a:r>
          </a:p>
          <a:p>
            <a:r>
              <a:rPr lang="en-US" sz="5400" dirty="0">
                <a:solidFill>
                  <a:srgbClr val="FF0000"/>
                </a:solidFill>
                <a:effectLst>
                  <a:outerShdw blurRad="38100" dist="38100" dir="2700000" algn="tl">
                    <a:srgbClr val="000000">
                      <a:alpha val="43137"/>
                    </a:srgbClr>
                  </a:outerShdw>
                </a:effectLst>
                <a:latin typeface="Agency FB" pitchFamily="34" charset="0"/>
              </a:rPr>
              <a:t>Midazolam</a:t>
            </a:r>
          </a:p>
          <a:p>
            <a:r>
              <a:rPr lang="en-US" sz="5400" dirty="0">
                <a:effectLst>
                  <a:outerShdw blurRad="38100" dist="38100" dir="2700000" algn="tl">
                    <a:srgbClr val="000000">
                      <a:alpha val="43137"/>
                    </a:srgbClr>
                  </a:outerShdw>
                </a:effectLst>
                <a:latin typeface="Agency FB" pitchFamily="34" charset="0"/>
              </a:rPr>
              <a:t>Lorazepam	</a:t>
            </a:r>
          </a:p>
          <a:p>
            <a:endParaRPr lang="en-US" sz="5400" u="sng" dirty="0">
              <a:effectLst>
                <a:outerShdw blurRad="38100" dist="38100" dir="2700000" algn="tl">
                  <a:srgbClr val="000000">
                    <a:alpha val="43137"/>
                  </a:srgbClr>
                </a:outerShdw>
              </a:effectLst>
              <a:latin typeface="Agency FB" pitchFamily="34" charset="0"/>
            </a:endParaRPr>
          </a:p>
          <a:p>
            <a:endParaRPr lang="en-US" sz="5400" dirty="0">
              <a:effectLst>
                <a:outerShdw blurRad="38100" dist="38100" dir="2700000" algn="tl">
                  <a:srgbClr val="000000">
                    <a:alpha val="43137"/>
                  </a:srgbClr>
                </a:outerShdw>
              </a:effectLst>
              <a:latin typeface="Agency FB" pitchFamily="34" charset="0"/>
            </a:endParaRPr>
          </a:p>
        </p:txBody>
      </p:sp>
    </p:spTree>
    <p:extLst>
      <p:ext uri="{BB962C8B-B14F-4D97-AF65-F5344CB8AC3E}">
        <p14:creationId xmlns:p14="http://schemas.microsoft.com/office/powerpoint/2010/main" val="201895907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D43AE-A7A7-E688-3D5E-AAFC49D697F1}"/>
              </a:ext>
            </a:extLst>
          </p:cNvPr>
          <p:cNvSpPr>
            <a:spLocks noGrp="1"/>
          </p:cNvSpPr>
          <p:nvPr>
            <p:ph type="title"/>
          </p:nvPr>
        </p:nvSpPr>
        <p:spPr/>
        <p:txBody>
          <a:bodyPr>
            <a:normAutofit/>
          </a:bodyPr>
          <a:lstStyle/>
          <a:p>
            <a:r>
              <a:rPr lang="en-US" sz="3200" dirty="0">
                <a:latin typeface="+mn-lt"/>
              </a:rPr>
              <a:t>Outline</a:t>
            </a:r>
          </a:p>
        </p:txBody>
      </p:sp>
      <p:sp>
        <p:nvSpPr>
          <p:cNvPr id="3" name="Content Placeholder 2">
            <a:extLst>
              <a:ext uri="{FF2B5EF4-FFF2-40B4-BE49-F238E27FC236}">
                <a16:creationId xmlns:a16="http://schemas.microsoft.com/office/drawing/2014/main" id="{8106E14C-5DCE-1031-D2F0-06A410ACB5F3}"/>
              </a:ext>
            </a:extLst>
          </p:cNvPr>
          <p:cNvSpPr>
            <a:spLocks noGrp="1"/>
          </p:cNvSpPr>
          <p:nvPr>
            <p:ph idx="1"/>
          </p:nvPr>
        </p:nvSpPr>
        <p:spPr>
          <a:xfrm>
            <a:off x="457200" y="1600200"/>
            <a:ext cx="8382000" cy="4525963"/>
          </a:xfrm>
        </p:spPr>
        <p:txBody>
          <a:bodyPr>
            <a:normAutofit/>
          </a:bodyPr>
          <a:lstStyle/>
          <a:p>
            <a:endParaRPr lang="en-US" sz="2800" b="0" i="0" u="none" strike="noStrike" baseline="0" dirty="0"/>
          </a:p>
          <a:p>
            <a:r>
              <a:rPr lang="en-US" sz="2800" b="0" i="0" u="none" strike="noStrike" baseline="0" dirty="0">
                <a:solidFill>
                  <a:srgbClr val="000000"/>
                </a:solidFill>
              </a:rPr>
              <a:t>Pharmacokinetics BZDs </a:t>
            </a:r>
          </a:p>
          <a:p>
            <a:r>
              <a:rPr lang="en-US" sz="2800" dirty="0">
                <a:solidFill>
                  <a:srgbClr val="000000"/>
                </a:solidFill>
              </a:rPr>
              <a:t>Pharmacodynamics</a:t>
            </a:r>
            <a:r>
              <a:rPr lang="en-US" sz="2800" b="0" i="0" u="none" strike="noStrike" baseline="0" dirty="0">
                <a:solidFill>
                  <a:srgbClr val="000000"/>
                </a:solidFill>
              </a:rPr>
              <a:t> BZDs </a:t>
            </a:r>
          </a:p>
          <a:p>
            <a:r>
              <a:rPr lang="en-US" sz="2800" b="0" i="0" u="none" strike="noStrike" baseline="0" dirty="0">
                <a:solidFill>
                  <a:srgbClr val="000000"/>
                </a:solidFill>
              </a:rPr>
              <a:t>MOAs of different classes of commonly used BZDs </a:t>
            </a:r>
          </a:p>
          <a:p>
            <a:pPr marL="0" indent="0">
              <a:buNone/>
            </a:pPr>
            <a:endParaRPr lang="en-US" sz="2800" b="0" i="0" u="none" strike="noStrike" baseline="0" dirty="0">
              <a:solidFill>
                <a:srgbClr val="000000"/>
              </a:solidFill>
            </a:endParaRPr>
          </a:p>
          <a:p>
            <a:endParaRPr lang="en-US" sz="2800" dirty="0"/>
          </a:p>
        </p:txBody>
      </p:sp>
    </p:spTree>
    <p:extLst>
      <p:ext uri="{BB962C8B-B14F-4D97-AF65-F5344CB8AC3E}">
        <p14:creationId xmlns:p14="http://schemas.microsoft.com/office/powerpoint/2010/main" val="375574111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FE3D3-4065-D45E-D7A0-7373BE97E3DC}"/>
              </a:ext>
            </a:extLst>
          </p:cNvPr>
          <p:cNvSpPr>
            <a:spLocks noGrp="1"/>
          </p:cNvSpPr>
          <p:nvPr>
            <p:ph type="title"/>
          </p:nvPr>
        </p:nvSpPr>
        <p:spPr/>
        <p:txBody>
          <a:bodyPr/>
          <a:lstStyle/>
          <a:p>
            <a:r>
              <a:rPr lang="en-US" dirty="0">
                <a:latin typeface="+mn-lt"/>
              </a:rPr>
              <a:t>Introduction</a:t>
            </a:r>
          </a:p>
        </p:txBody>
      </p:sp>
      <p:sp>
        <p:nvSpPr>
          <p:cNvPr id="3" name="Content Placeholder 2">
            <a:extLst>
              <a:ext uri="{FF2B5EF4-FFF2-40B4-BE49-F238E27FC236}">
                <a16:creationId xmlns:a16="http://schemas.microsoft.com/office/drawing/2014/main" id="{45398ED5-A43D-45DC-B9D8-F12D39B5C5B2}"/>
              </a:ext>
            </a:extLst>
          </p:cNvPr>
          <p:cNvSpPr>
            <a:spLocks noGrp="1"/>
          </p:cNvSpPr>
          <p:nvPr>
            <p:ph idx="1"/>
          </p:nvPr>
        </p:nvSpPr>
        <p:spPr/>
        <p:txBody>
          <a:bodyPr>
            <a:normAutofit/>
          </a:bodyPr>
          <a:lstStyle/>
          <a:p>
            <a:r>
              <a:rPr lang="en-US" sz="2400" b="0" i="0" u="none" strike="noStrike" baseline="0" dirty="0">
                <a:solidFill>
                  <a:srgbClr val="000000"/>
                </a:solidFill>
              </a:rPr>
              <a:t>Benzodiazepines were discovered in 1954 by Sternbach.</a:t>
            </a:r>
          </a:p>
          <a:p>
            <a:r>
              <a:rPr lang="en-US" sz="2400" dirty="0">
                <a:solidFill>
                  <a:srgbClr val="000000"/>
                </a:solidFill>
              </a:rPr>
              <a:t>C</a:t>
            </a:r>
            <a:r>
              <a:rPr lang="en-US" sz="2400" b="0" i="0" u="none" strike="noStrike" baseline="0" dirty="0">
                <a:solidFill>
                  <a:srgbClr val="000000"/>
                </a:solidFill>
              </a:rPr>
              <a:t>hlordiazepoxide (Librium) was the first benzodiazepine patented in 1959. </a:t>
            </a:r>
          </a:p>
          <a:p>
            <a:r>
              <a:rPr lang="en-US" sz="2400" b="0" i="0" u="none" strike="noStrike" baseline="0" dirty="0">
                <a:solidFill>
                  <a:srgbClr val="000000"/>
                </a:solidFill>
              </a:rPr>
              <a:t>Widely used in anesthesia as </a:t>
            </a:r>
          </a:p>
          <a:p>
            <a:pPr lvl="1"/>
            <a:r>
              <a:rPr lang="en-US" sz="2400" b="0" i="0" u="none" strike="noStrike" baseline="0" dirty="0">
                <a:solidFill>
                  <a:srgbClr val="000000"/>
                </a:solidFill>
              </a:rPr>
              <a:t>anxiolytics, </a:t>
            </a:r>
          </a:p>
          <a:p>
            <a:pPr lvl="1"/>
            <a:r>
              <a:rPr lang="en-US" sz="2400" b="0" i="0" u="none" strike="noStrike" baseline="0" dirty="0">
                <a:solidFill>
                  <a:srgbClr val="000000"/>
                </a:solidFill>
              </a:rPr>
              <a:t>sedatives, and </a:t>
            </a:r>
          </a:p>
          <a:p>
            <a:pPr lvl="1"/>
            <a:r>
              <a:rPr lang="en-US" sz="2400" b="0" i="0" u="none" strike="noStrike" baseline="0" dirty="0">
                <a:solidFill>
                  <a:srgbClr val="000000"/>
                </a:solidFill>
              </a:rPr>
              <a:t>hypnotics.</a:t>
            </a:r>
            <a:endParaRPr lang="en-US" sz="4000" dirty="0"/>
          </a:p>
        </p:txBody>
      </p:sp>
    </p:spTree>
    <p:extLst>
      <p:ext uri="{BB962C8B-B14F-4D97-AF65-F5344CB8AC3E}">
        <p14:creationId xmlns:p14="http://schemas.microsoft.com/office/powerpoint/2010/main" val="99338958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effectLst>
                  <a:outerShdw blurRad="38100" dist="38100" dir="2700000" algn="tl">
                    <a:srgbClr val="000000">
                      <a:alpha val="43137"/>
                    </a:srgbClr>
                  </a:outerShdw>
                </a:effectLst>
              </a:rPr>
              <a:t>Benzodiazepines: Mechanism of Action</a:t>
            </a:r>
          </a:p>
        </p:txBody>
      </p:sp>
      <p:sp>
        <p:nvSpPr>
          <p:cNvPr id="3" name="Content Placeholder 2"/>
          <p:cNvSpPr>
            <a:spLocks noGrp="1"/>
          </p:cNvSpPr>
          <p:nvPr>
            <p:ph idx="1"/>
          </p:nvPr>
        </p:nvSpPr>
        <p:spPr>
          <a:xfrm>
            <a:off x="228600" y="1600200"/>
            <a:ext cx="8763000" cy="4525963"/>
          </a:xfrm>
        </p:spPr>
        <p:txBody>
          <a:bodyPr>
            <a:normAutofit/>
          </a:bodyPr>
          <a:lstStyle/>
          <a:p>
            <a:pPr>
              <a:lnSpc>
                <a:spcPct val="150000"/>
              </a:lnSpc>
            </a:pPr>
            <a:r>
              <a:rPr lang="en-US" sz="2800" dirty="0">
                <a:cs typeface="Times New Roman" pitchFamily="18" charset="0"/>
              </a:rPr>
              <a:t>Interact with specific cerebral cortex receptors </a:t>
            </a:r>
          </a:p>
          <a:p>
            <a:pPr lvl="1">
              <a:lnSpc>
                <a:spcPct val="150000"/>
              </a:lnSpc>
            </a:pPr>
            <a:r>
              <a:rPr lang="en-US" sz="2400" dirty="0">
                <a:cs typeface="Times New Roman" pitchFamily="18" charset="0"/>
              </a:rPr>
              <a:t>Benzodiazepine-receptor binding facilitates GABA receptor binding, </a:t>
            </a:r>
            <a:r>
              <a:rPr lang="en-US" sz="2400" dirty="0">
                <a:cs typeface="Times New Roman" pitchFamily="18" charset="0"/>
                <a:sym typeface="Symbol"/>
              </a:rPr>
              <a:t>es </a:t>
            </a:r>
            <a:r>
              <a:rPr lang="en-US" sz="2400" dirty="0">
                <a:cs typeface="Times New Roman" pitchFamily="18" charset="0"/>
              </a:rPr>
              <a:t>membrane conductance of Cl- ions</a:t>
            </a:r>
          </a:p>
          <a:p>
            <a:pPr lvl="2">
              <a:lnSpc>
                <a:spcPct val="150000"/>
              </a:lnSpc>
              <a:buFont typeface="Wingdings" pitchFamily="2" charset="2"/>
              <a:buChar char="ü"/>
            </a:pPr>
            <a:r>
              <a:rPr lang="en-US" dirty="0">
                <a:cs typeface="Times New Roman" pitchFamily="18" charset="0"/>
              </a:rPr>
              <a:t>Causes change in membrane polarization and inhibits normal neuronal function</a:t>
            </a:r>
          </a:p>
          <a:p>
            <a:endParaRPr lang="en-US" sz="2800" dirty="0">
              <a:cs typeface="Times New Roman" pitchFamily="18" charset="0"/>
            </a:endParaRPr>
          </a:p>
        </p:txBody>
      </p:sp>
    </p:spTree>
    <p:extLst>
      <p:ext uri="{BB962C8B-B14F-4D97-AF65-F5344CB8AC3E}">
        <p14:creationId xmlns:p14="http://schemas.microsoft.com/office/powerpoint/2010/main" val="4043901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atMod val="130000"/>
                  </a:schemeClr>
                </a:solidFill>
                <a:latin typeface="+mn-lt"/>
              </a:rPr>
              <a:t> Cont…</a:t>
            </a:r>
            <a:endParaRPr lang="en-US" dirty="0">
              <a:latin typeface="+mn-lt"/>
            </a:endParaRPr>
          </a:p>
        </p:txBody>
      </p:sp>
      <p:sp>
        <p:nvSpPr>
          <p:cNvPr id="3" name="Content Placeholder 2"/>
          <p:cNvSpPr>
            <a:spLocks noGrp="1"/>
          </p:cNvSpPr>
          <p:nvPr>
            <p:ph idx="1"/>
          </p:nvPr>
        </p:nvSpPr>
        <p:spPr>
          <a:xfrm>
            <a:off x="457200" y="1600200"/>
            <a:ext cx="8458200" cy="4525963"/>
          </a:xfrm>
        </p:spPr>
        <p:txBody>
          <a:bodyPr>
            <a:normAutofit/>
          </a:bodyPr>
          <a:lstStyle/>
          <a:p>
            <a:pPr>
              <a:buFont typeface="Wingdings" pitchFamily="2" charset="2"/>
              <a:buChar char="§"/>
            </a:pPr>
            <a:r>
              <a:rPr lang="en-US" sz="2400" dirty="0">
                <a:cs typeface="Times New Roman" pitchFamily="18" charset="0"/>
              </a:rPr>
              <a:t>They inhibit the actions of glycine by</a:t>
            </a:r>
          </a:p>
          <a:p>
            <a:pPr lvl="1" algn="just"/>
            <a:r>
              <a:rPr lang="en-US" sz="2400" dirty="0">
                <a:cs typeface="Times New Roman" pitchFamily="18" charset="0"/>
              </a:rPr>
              <a:t> increasing the concentration of a glycine inhibitory neurotransmitter </a:t>
            </a:r>
            <a:r>
              <a:rPr lang="en-US" sz="2400" dirty="0">
                <a:cs typeface="Times New Roman" pitchFamily="18" charset="0"/>
                <a:sym typeface="Symbol"/>
              </a:rPr>
              <a:t> </a:t>
            </a:r>
            <a:r>
              <a:rPr lang="en-US" sz="2400" dirty="0">
                <a:cs typeface="Times New Roman" pitchFamily="18" charset="0"/>
              </a:rPr>
              <a:t>which will lead to antianxiety and skeletal muscle relaxant effects.</a:t>
            </a:r>
          </a:p>
          <a:p>
            <a:r>
              <a:rPr lang="en-US" sz="2400" dirty="0">
                <a:cs typeface="Times New Roman" pitchFamily="18" charset="0"/>
              </a:rPr>
              <a:t>Facilitate the actions of the inhibitory neurotransmitter GABA </a:t>
            </a:r>
          </a:p>
          <a:p>
            <a:pPr lvl="1"/>
            <a:r>
              <a:rPr lang="en-US" sz="2400" dirty="0">
                <a:cs typeface="Times New Roman" pitchFamily="18" charset="0"/>
              </a:rPr>
              <a:t>which results in the sedative and anticonvulsant effects.</a:t>
            </a:r>
          </a:p>
          <a:p>
            <a:endParaRPr lang="en-US" sz="2400" dirty="0">
              <a:cs typeface="Times New Roman" pitchFamily="18" charset="0"/>
            </a:endParaRPr>
          </a:p>
        </p:txBody>
      </p:sp>
    </p:spTree>
    <p:extLst>
      <p:ext uri="{BB962C8B-B14F-4D97-AF65-F5344CB8AC3E}">
        <p14:creationId xmlns:p14="http://schemas.microsoft.com/office/powerpoint/2010/main" val="390465200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E8CB3-3A8B-86E6-3801-A488DFDC903A}"/>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975C7CFA-55D0-7AA6-D488-9037EF2C1CD5}"/>
              </a:ext>
            </a:extLst>
          </p:cNvPr>
          <p:cNvSpPr>
            <a:spLocks noGrp="1"/>
          </p:cNvSpPr>
          <p:nvPr>
            <p:ph idx="1"/>
          </p:nvPr>
        </p:nvSpPr>
        <p:spPr/>
        <p:txBody>
          <a:bodyPr/>
          <a:lstStyle/>
          <a:p>
            <a:pPr algn="l">
              <a:buFont typeface="Wingdings" panose="05000000000000000000" pitchFamily="2" charset="2"/>
              <a:buChar char="q"/>
            </a:pPr>
            <a:r>
              <a:rPr lang="en-US" dirty="0"/>
              <a:t>Characteristics</a:t>
            </a:r>
            <a:r>
              <a:rPr lang="en-US" b="0" i="0" u="none" strike="noStrike" baseline="0" dirty="0"/>
              <a:t> </a:t>
            </a:r>
          </a:p>
          <a:p>
            <a:pPr algn="l"/>
            <a:r>
              <a:rPr lang="en-US" sz="2800" b="0" i="0" u="none" strike="noStrike" baseline="0" dirty="0">
                <a:solidFill>
                  <a:srgbClr val="FF0000"/>
                </a:solidFill>
              </a:rPr>
              <a:t>Anxiolytic</a:t>
            </a:r>
          </a:p>
          <a:p>
            <a:pPr algn="l"/>
            <a:r>
              <a:rPr lang="en-US" sz="2800" dirty="0"/>
              <a:t>A</a:t>
            </a:r>
            <a:r>
              <a:rPr lang="en-US" sz="2800" b="0" i="0" u="none" strike="noStrike" baseline="0" dirty="0"/>
              <a:t>nterograde amnestic-----retrograde memory is not affected </a:t>
            </a:r>
          </a:p>
          <a:p>
            <a:pPr algn="l"/>
            <a:r>
              <a:rPr lang="en-US" sz="2800" dirty="0">
                <a:solidFill>
                  <a:srgbClr val="FF0000"/>
                </a:solidFill>
              </a:rPr>
              <a:t>S</a:t>
            </a:r>
            <a:r>
              <a:rPr lang="en-US" sz="2800" b="0" i="0" u="none" strike="noStrike" baseline="0" dirty="0">
                <a:solidFill>
                  <a:srgbClr val="FF0000"/>
                </a:solidFill>
              </a:rPr>
              <a:t>edative</a:t>
            </a:r>
          </a:p>
          <a:p>
            <a:pPr algn="l"/>
            <a:r>
              <a:rPr lang="en-US" sz="2800" dirty="0">
                <a:solidFill>
                  <a:srgbClr val="FF0000"/>
                </a:solidFill>
              </a:rPr>
              <a:t>H</a:t>
            </a:r>
            <a:r>
              <a:rPr lang="en-US" sz="2800" b="0" i="0" u="none" strike="noStrike" baseline="0" dirty="0">
                <a:solidFill>
                  <a:srgbClr val="FF0000"/>
                </a:solidFill>
              </a:rPr>
              <a:t>ypnotic</a:t>
            </a:r>
            <a:endParaRPr lang="en-US" sz="2800" b="0" i="0" u="none" strike="noStrike" baseline="0" dirty="0"/>
          </a:p>
          <a:p>
            <a:pPr algn="l"/>
            <a:r>
              <a:rPr lang="en-US" sz="2800" dirty="0"/>
              <a:t>Muscle relaxant (centrally produced)</a:t>
            </a:r>
          </a:p>
          <a:p>
            <a:pPr algn="l"/>
            <a:r>
              <a:rPr lang="en-US" sz="2800" dirty="0"/>
              <a:t>Anticonvulsants.</a:t>
            </a:r>
          </a:p>
        </p:txBody>
      </p:sp>
    </p:spTree>
    <p:extLst>
      <p:ext uri="{BB962C8B-B14F-4D97-AF65-F5344CB8AC3E}">
        <p14:creationId xmlns:p14="http://schemas.microsoft.com/office/powerpoint/2010/main" val="266001188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Cont.…</a:t>
            </a:r>
            <a:endParaRPr lang="en-US" sz="5400" dirty="0">
              <a:latin typeface="+mn-lt"/>
            </a:endParaRPr>
          </a:p>
        </p:txBody>
      </p:sp>
      <p:sp>
        <p:nvSpPr>
          <p:cNvPr id="3" name="Content Placeholder 2"/>
          <p:cNvSpPr>
            <a:spLocks noGrp="1"/>
          </p:cNvSpPr>
          <p:nvPr>
            <p:ph idx="1"/>
          </p:nvPr>
        </p:nvSpPr>
        <p:spPr/>
        <p:txBody>
          <a:bodyPr>
            <a:normAutofit/>
          </a:bodyPr>
          <a:lstStyle/>
          <a:p>
            <a:pPr>
              <a:buFont typeface="Wingdings" pitchFamily="2" charset="2"/>
              <a:buChar char="q"/>
            </a:pPr>
            <a:r>
              <a:rPr lang="en-US" dirty="0">
                <a:cs typeface="Times New Roman" pitchFamily="18" charset="0"/>
              </a:rPr>
              <a:t>Anaesthetic Uses</a:t>
            </a:r>
          </a:p>
          <a:p>
            <a:r>
              <a:rPr lang="en-US" sz="2800" dirty="0">
                <a:cs typeface="Times New Roman" pitchFamily="18" charset="0"/>
              </a:rPr>
              <a:t>Premedication                  -  diazepam, lorazepam</a:t>
            </a:r>
          </a:p>
          <a:p>
            <a:r>
              <a:rPr lang="en-US" sz="2800" dirty="0">
                <a:cs typeface="Times New Roman" pitchFamily="18" charset="0"/>
              </a:rPr>
              <a:t>IV Sedation                       -  diazepam, midazolam</a:t>
            </a:r>
          </a:p>
          <a:p>
            <a:r>
              <a:rPr lang="en-US" sz="2800" dirty="0">
                <a:cs typeface="Times New Roman" pitchFamily="18" charset="0"/>
              </a:rPr>
              <a:t>Anticonvulsant                 -  diazepam</a:t>
            </a:r>
          </a:p>
          <a:p>
            <a:r>
              <a:rPr lang="en-US" sz="2800" dirty="0">
                <a:cs typeface="Times New Roman" pitchFamily="18" charset="0"/>
              </a:rPr>
              <a:t>Induction of anaesthesia   -  midazolam</a:t>
            </a:r>
          </a:p>
          <a:p>
            <a:r>
              <a:rPr lang="en-US" sz="2800" dirty="0">
                <a:cs typeface="Times New Roman" pitchFamily="18" charset="0"/>
              </a:rPr>
              <a:t> Maintenance of anaesthesia</a:t>
            </a:r>
          </a:p>
          <a:p>
            <a:r>
              <a:rPr lang="en-US" sz="2800" dirty="0">
                <a:cs typeface="Times New Roman" pitchFamily="18" charset="0"/>
              </a:rPr>
              <a:t>suppression of seizure activity</a:t>
            </a:r>
          </a:p>
          <a:p>
            <a:r>
              <a:rPr lang="en-US" sz="2800" dirty="0">
                <a:cs typeface="Times New Roman" pitchFamily="18" charset="0"/>
              </a:rPr>
              <a:t>Nausea and Vomiting Prophylaxis    - IV midazolam</a:t>
            </a:r>
          </a:p>
          <a:p>
            <a:endParaRPr lang="en-US" sz="2800" dirty="0">
              <a:cs typeface="Times New Roman" pitchFamily="18" charset="0"/>
            </a:endParaRPr>
          </a:p>
        </p:txBody>
      </p:sp>
    </p:spTree>
    <p:extLst>
      <p:ext uri="{BB962C8B-B14F-4D97-AF65-F5344CB8AC3E}">
        <p14:creationId xmlns:p14="http://schemas.microsoft.com/office/powerpoint/2010/main" val="262470627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5400" dirty="0">
                <a:solidFill>
                  <a:schemeClr val="tx2">
                    <a:satMod val="130000"/>
                  </a:schemeClr>
                </a:solidFill>
                <a:effectLst>
                  <a:outerShdw blurRad="38100" dist="38100" dir="2700000" algn="tl">
                    <a:srgbClr val="000000">
                      <a:alpha val="43137"/>
                    </a:srgbClr>
                  </a:outerShdw>
                </a:effectLst>
                <a:latin typeface="Agency FB" pitchFamily="34" charset="0"/>
              </a:rPr>
              <a:t>Pharmacokinetics Of BZDs</a:t>
            </a:r>
            <a:endParaRPr lang="en-US" dirty="0">
              <a:effectLst>
                <a:outerShdw blurRad="38100" dist="38100" dir="2700000" algn="tl">
                  <a:srgbClr val="000000">
                    <a:alpha val="43137"/>
                  </a:srgbClr>
                </a:outerShdw>
              </a:effectLst>
              <a:latin typeface="Agency FB" pitchFamily="34" charset="0"/>
            </a:endParaRPr>
          </a:p>
        </p:txBody>
      </p:sp>
      <p:sp>
        <p:nvSpPr>
          <p:cNvPr id="3" name="Content Placeholder 2"/>
          <p:cNvSpPr>
            <a:spLocks noGrp="1"/>
          </p:cNvSpPr>
          <p:nvPr>
            <p:ph idx="1"/>
          </p:nvPr>
        </p:nvSpPr>
        <p:spPr>
          <a:xfrm>
            <a:off x="457200" y="1295400"/>
            <a:ext cx="8534400" cy="5029200"/>
          </a:xfrm>
        </p:spPr>
        <p:txBody>
          <a:bodyPr>
            <a:noAutofit/>
          </a:bodyPr>
          <a:lstStyle/>
          <a:p>
            <a:pPr>
              <a:buFont typeface="Wingdings" pitchFamily="2" charset="2"/>
              <a:buChar char="Ø"/>
            </a:pPr>
            <a:r>
              <a:rPr lang="en-US" dirty="0">
                <a:solidFill>
                  <a:schemeClr val="tx2">
                    <a:satMod val="130000"/>
                  </a:schemeClr>
                </a:solidFill>
                <a:cs typeface="Times New Roman" pitchFamily="18" charset="0"/>
              </a:rPr>
              <a:t>Absorption</a:t>
            </a:r>
            <a:r>
              <a:rPr lang="en-US" sz="2800" dirty="0">
                <a:solidFill>
                  <a:schemeClr val="tx2">
                    <a:satMod val="130000"/>
                  </a:schemeClr>
                </a:solidFill>
                <a:cs typeface="Times New Roman" pitchFamily="18" charset="0"/>
              </a:rPr>
              <a:t>: </a:t>
            </a:r>
          </a:p>
          <a:p>
            <a:pPr lvl="1" algn="just"/>
            <a:r>
              <a:rPr lang="en-US" sz="2400" dirty="0">
                <a:solidFill>
                  <a:schemeClr val="tx2">
                    <a:satMod val="130000"/>
                  </a:schemeClr>
                </a:solidFill>
                <a:cs typeface="Times New Roman" pitchFamily="18" charset="0"/>
              </a:rPr>
              <a:t> C</a:t>
            </a:r>
            <a:r>
              <a:rPr lang="en-US" sz="2400" dirty="0">
                <a:cs typeface="Times New Roman" pitchFamily="18" charset="0"/>
              </a:rPr>
              <a:t>ommonly administered PO, IM, and IV to provide sedation</a:t>
            </a:r>
          </a:p>
          <a:p>
            <a:pPr lvl="1" algn="just"/>
            <a:r>
              <a:rPr lang="en-US" sz="2400" dirty="0">
                <a:cs typeface="Times New Roman" pitchFamily="18" charset="0"/>
              </a:rPr>
              <a:t>or, less commonly, to induce general anesthesia</a:t>
            </a:r>
          </a:p>
          <a:p>
            <a:r>
              <a:rPr lang="en-US" sz="2600" dirty="0">
                <a:cs typeface="Times New Roman" pitchFamily="18" charset="0"/>
              </a:rPr>
              <a:t>Diazepam and lorazepam are well absorbed from GIT, </a:t>
            </a:r>
          </a:p>
          <a:p>
            <a:pPr lvl="1"/>
            <a:r>
              <a:rPr lang="en-US" sz="2400" dirty="0">
                <a:cs typeface="Times New Roman" pitchFamily="18" charset="0"/>
              </a:rPr>
              <a:t>with peak plasma levels in 1 and 2 hrs., respectively</a:t>
            </a:r>
            <a:r>
              <a:rPr lang="en-US" sz="2200" dirty="0">
                <a:cs typeface="Times New Roman" pitchFamily="18" charset="0"/>
              </a:rPr>
              <a:t>.</a:t>
            </a:r>
          </a:p>
          <a:p>
            <a:r>
              <a:rPr lang="en-US" sz="2400" dirty="0">
                <a:cs typeface="Times New Roman" pitchFamily="18" charset="0"/>
              </a:rPr>
              <a:t>Oral midazolam is popular for pediatrics premedication. </a:t>
            </a:r>
          </a:p>
          <a:p>
            <a:pPr algn="just"/>
            <a:r>
              <a:rPr lang="en-US" sz="2400" dirty="0">
                <a:cs typeface="Times New Roman" pitchFamily="18" charset="0"/>
              </a:rPr>
              <a:t>IM diazepam is painful and unreliable.</a:t>
            </a:r>
          </a:p>
          <a:p>
            <a:pPr algn="just"/>
            <a:r>
              <a:rPr lang="en-US" sz="2400" dirty="0">
                <a:cs typeface="Times New Roman" pitchFamily="18" charset="0"/>
              </a:rPr>
              <a:t>Midazolam and lorazepam are well absorbed after IM, with peak levels in 30 and 90 minutes, respectively.</a:t>
            </a:r>
          </a:p>
          <a:p>
            <a:pPr marL="0" indent="0">
              <a:buNone/>
            </a:pPr>
            <a:endParaRPr lang="en-US" sz="2800" dirty="0">
              <a:cs typeface="Times New Roman" pitchFamily="18" charset="0"/>
            </a:endParaRPr>
          </a:p>
        </p:txBody>
      </p:sp>
    </p:spTree>
    <p:extLst>
      <p:ext uri="{BB962C8B-B14F-4D97-AF65-F5344CB8AC3E}">
        <p14:creationId xmlns:p14="http://schemas.microsoft.com/office/powerpoint/2010/main" val="187613774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Cont.…</a:t>
            </a:r>
            <a:endParaRPr lang="en-US" dirty="0">
              <a:latin typeface="+mn-lt"/>
            </a:endParaRPr>
          </a:p>
        </p:txBody>
      </p:sp>
      <p:sp>
        <p:nvSpPr>
          <p:cNvPr id="3" name="Content Placeholder 2"/>
          <p:cNvSpPr>
            <a:spLocks noGrp="1"/>
          </p:cNvSpPr>
          <p:nvPr>
            <p:ph idx="1"/>
          </p:nvPr>
        </p:nvSpPr>
        <p:spPr>
          <a:xfrm>
            <a:off x="457200" y="1295400"/>
            <a:ext cx="8382000" cy="4830763"/>
          </a:xfrm>
        </p:spPr>
        <p:txBody>
          <a:bodyPr>
            <a:normAutofit fontScale="92500"/>
          </a:bodyPr>
          <a:lstStyle/>
          <a:p>
            <a:pPr>
              <a:lnSpc>
                <a:spcPct val="80000"/>
              </a:lnSpc>
              <a:buFont typeface="Wingdings" pitchFamily="2" charset="2"/>
              <a:buChar char="Ø"/>
            </a:pPr>
            <a:r>
              <a:rPr lang="en-US" sz="3600" dirty="0">
                <a:solidFill>
                  <a:schemeClr val="tx2">
                    <a:satMod val="130000"/>
                  </a:schemeClr>
                </a:solidFill>
                <a:cs typeface="Times New Roman" pitchFamily="18" charset="0"/>
              </a:rPr>
              <a:t>Distribution</a:t>
            </a:r>
            <a:endParaRPr lang="en-US" dirty="0">
              <a:solidFill>
                <a:schemeClr val="tx2">
                  <a:satMod val="130000"/>
                </a:schemeClr>
              </a:solidFill>
              <a:cs typeface="Times New Roman" pitchFamily="18" charset="0"/>
            </a:endParaRPr>
          </a:p>
          <a:p>
            <a:pPr>
              <a:lnSpc>
                <a:spcPct val="80000"/>
              </a:lnSpc>
            </a:pPr>
            <a:r>
              <a:rPr lang="en-US" sz="2800" dirty="0">
                <a:cs typeface="Times New Roman" pitchFamily="18" charset="0"/>
              </a:rPr>
              <a:t>Very highly protein bound (90-98%).</a:t>
            </a:r>
          </a:p>
          <a:p>
            <a:pPr>
              <a:lnSpc>
                <a:spcPct val="80000"/>
              </a:lnSpc>
              <a:buFont typeface="Wingdings" pitchFamily="2" charset="2"/>
              <a:buChar char="§"/>
            </a:pPr>
            <a:r>
              <a:rPr lang="en-US" sz="2800" dirty="0">
                <a:cs typeface="Times New Roman" pitchFamily="18" charset="0"/>
              </a:rPr>
              <a:t>Diazepam: </a:t>
            </a:r>
          </a:p>
          <a:p>
            <a:pPr lvl="1">
              <a:lnSpc>
                <a:spcPct val="80000"/>
              </a:lnSpc>
            </a:pPr>
            <a:r>
              <a:rPr lang="en-US" sz="2400" dirty="0">
                <a:cs typeface="Times New Roman" pitchFamily="18" charset="0"/>
              </a:rPr>
              <a:t>Very lipid soluble, rapidly penetrates blood-brain barrier</a:t>
            </a:r>
          </a:p>
          <a:p>
            <a:pPr>
              <a:lnSpc>
                <a:spcPct val="80000"/>
              </a:lnSpc>
              <a:buFont typeface="Wingdings" pitchFamily="2" charset="2"/>
              <a:buChar char="§"/>
            </a:pPr>
            <a:r>
              <a:rPr lang="en-US" sz="2800" dirty="0">
                <a:cs typeface="Times New Roman" pitchFamily="18" charset="0"/>
              </a:rPr>
              <a:t>Lorazepam: </a:t>
            </a:r>
          </a:p>
          <a:p>
            <a:pPr lvl="1">
              <a:lnSpc>
                <a:spcPct val="80000"/>
              </a:lnSpc>
            </a:pPr>
            <a:r>
              <a:rPr lang="en-US" sz="2200" dirty="0">
                <a:cs typeface="Times New Roman" pitchFamily="18" charset="0"/>
              </a:rPr>
              <a:t>moderate lipid solubility, slower brain uptake and onset of action</a:t>
            </a:r>
          </a:p>
          <a:p>
            <a:pPr>
              <a:lnSpc>
                <a:spcPct val="80000"/>
              </a:lnSpc>
            </a:pPr>
            <a:r>
              <a:rPr lang="en-US" sz="2800" dirty="0">
                <a:cs typeface="Times New Roman" pitchFamily="18" charset="0"/>
              </a:rPr>
              <a:t>Midazolam: </a:t>
            </a:r>
          </a:p>
          <a:p>
            <a:pPr lvl="1">
              <a:lnSpc>
                <a:spcPct val="80000"/>
              </a:lnSpc>
            </a:pPr>
            <a:r>
              <a:rPr lang="en-US" sz="2400" dirty="0">
                <a:cs typeface="Times New Roman" pitchFamily="18" charset="0"/>
              </a:rPr>
              <a:t>Water soluble at low pH, structural component causes increase in its lipid solubility</a:t>
            </a:r>
          </a:p>
          <a:p>
            <a:pPr algn="just">
              <a:lnSpc>
                <a:spcPct val="80000"/>
              </a:lnSpc>
            </a:pPr>
            <a:r>
              <a:rPr lang="en-US" sz="2600" dirty="0">
                <a:solidFill>
                  <a:srgbClr val="FF0000"/>
                </a:solidFill>
                <a:cs typeface="Times New Roman" pitchFamily="18" charset="0"/>
              </a:rPr>
              <a:t>Redistribution is fairly rapid and is responsible for awakening.</a:t>
            </a:r>
          </a:p>
          <a:p>
            <a:pPr>
              <a:lnSpc>
                <a:spcPct val="80000"/>
              </a:lnSpc>
            </a:pPr>
            <a:r>
              <a:rPr lang="en-US" sz="2800" dirty="0">
                <a:solidFill>
                  <a:srgbClr val="FF0000"/>
                </a:solidFill>
                <a:cs typeface="Times New Roman" pitchFamily="18" charset="0"/>
              </a:rPr>
              <a:t>Frequently used as induction agent </a:t>
            </a:r>
          </a:p>
          <a:p>
            <a:pPr lvl="1">
              <a:lnSpc>
                <a:spcPct val="80000"/>
              </a:lnSpc>
            </a:pPr>
            <a:r>
              <a:rPr lang="en-US" sz="2400" dirty="0">
                <a:cs typeface="Times New Roman" pitchFamily="18" charset="0"/>
              </a:rPr>
              <a:t>But none can match rapid onset or short duration of propofol or thiopental</a:t>
            </a:r>
          </a:p>
          <a:p>
            <a:pPr>
              <a:lnSpc>
                <a:spcPct val="80000"/>
              </a:lnSpc>
            </a:pPr>
            <a:endParaRPr lang="en-US" sz="2800" dirty="0">
              <a:cs typeface="Times New Roman" pitchFamily="18" charset="0"/>
            </a:endParaRPr>
          </a:p>
          <a:p>
            <a:pPr>
              <a:lnSpc>
                <a:spcPct val="80000"/>
              </a:lnSpc>
            </a:pPr>
            <a:endParaRPr lang="en-US" sz="2800" dirty="0">
              <a:cs typeface="Times New Roman" pitchFamily="18" charset="0"/>
            </a:endParaRPr>
          </a:p>
          <a:p>
            <a:endParaRPr lang="en-US" dirty="0"/>
          </a:p>
        </p:txBody>
      </p:sp>
    </p:spTree>
    <p:extLst>
      <p:ext uri="{BB962C8B-B14F-4D97-AF65-F5344CB8AC3E}">
        <p14:creationId xmlns:p14="http://schemas.microsoft.com/office/powerpoint/2010/main" val="277634076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Cont.…</a:t>
            </a:r>
            <a:endParaRPr lang="en-US" dirty="0">
              <a:latin typeface="+mn-lt"/>
            </a:endParaRPr>
          </a:p>
        </p:txBody>
      </p:sp>
      <p:sp>
        <p:nvSpPr>
          <p:cNvPr id="3" name="Content Placeholder 2"/>
          <p:cNvSpPr>
            <a:spLocks noGrp="1"/>
          </p:cNvSpPr>
          <p:nvPr>
            <p:ph idx="1"/>
          </p:nvPr>
        </p:nvSpPr>
        <p:spPr>
          <a:xfrm>
            <a:off x="228600" y="1219200"/>
            <a:ext cx="8763000" cy="4906963"/>
          </a:xfrm>
        </p:spPr>
        <p:txBody>
          <a:bodyPr>
            <a:normAutofit fontScale="70000" lnSpcReduction="20000"/>
          </a:bodyPr>
          <a:lstStyle/>
          <a:p>
            <a:pPr>
              <a:buFont typeface="Wingdings" pitchFamily="2" charset="2"/>
              <a:buChar char="Ø"/>
            </a:pPr>
            <a:r>
              <a:rPr lang="bg-BG" sz="4600" b="1" dirty="0">
                <a:cs typeface="Times New Roman" pitchFamily="18" charset="0"/>
              </a:rPr>
              <a:t>Biotransformation</a:t>
            </a:r>
          </a:p>
          <a:p>
            <a:r>
              <a:rPr lang="bg-BG" dirty="0">
                <a:cs typeface="Times New Roman" pitchFamily="18" charset="0"/>
              </a:rPr>
              <a:t> </a:t>
            </a:r>
            <a:r>
              <a:rPr lang="en-US" dirty="0">
                <a:cs typeface="Times New Roman" pitchFamily="18" charset="0"/>
              </a:rPr>
              <a:t>R</a:t>
            </a:r>
            <a:r>
              <a:rPr lang="bg-BG" dirty="0">
                <a:cs typeface="Times New Roman" pitchFamily="18" charset="0"/>
              </a:rPr>
              <a:t>ely on the liver for biotransformation into water-soluble glucuronide end products. </a:t>
            </a:r>
            <a:endParaRPr lang="en-US" dirty="0">
              <a:cs typeface="Times New Roman" pitchFamily="18" charset="0"/>
            </a:endParaRPr>
          </a:p>
          <a:p>
            <a:r>
              <a:rPr lang="bg-BG" dirty="0">
                <a:cs typeface="Times New Roman" pitchFamily="18" charset="0"/>
              </a:rPr>
              <a:t>The phase I metabolites of diazepam are pharmacologically active.</a:t>
            </a:r>
          </a:p>
          <a:p>
            <a:pPr lvl="1"/>
            <a:r>
              <a:rPr lang="bg-BG" sz="3100" dirty="0">
                <a:cs typeface="Times New Roman" pitchFamily="18" charset="0"/>
              </a:rPr>
              <a:t>Slow hepatic extraction and a large V</a:t>
            </a:r>
            <a:r>
              <a:rPr lang="bg-BG" sz="3100" baseline="-25000" dirty="0">
                <a:cs typeface="Times New Roman" pitchFamily="18" charset="0"/>
              </a:rPr>
              <a:t>d</a:t>
            </a:r>
            <a:r>
              <a:rPr lang="bg-BG" sz="3100" dirty="0">
                <a:cs typeface="Times New Roman" pitchFamily="18" charset="0"/>
              </a:rPr>
              <a:t> result in a long elimination half-life for diazepam (30 h</a:t>
            </a:r>
            <a:r>
              <a:rPr lang="en-US" sz="3100" dirty="0">
                <a:cs typeface="Times New Roman" pitchFamily="18" charset="0"/>
              </a:rPr>
              <a:t>r</a:t>
            </a:r>
            <a:r>
              <a:rPr lang="bg-BG" sz="3100" dirty="0">
                <a:cs typeface="Times New Roman" pitchFamily="18" charset="0"/>
              </a:rPr>
              <a:t>).</a:t>
            </a:r>
            <a:endParaRPr lang="en-US" sz="3100" dirty="0">
              <a:cs typeface="Times New Roman" pitchFamily="18" charset="0"/>
            </a:endParaRPr>
          </a:p>
          <a:p>
            <a:r>
              <a:rPr lang="bg-BG" dirty="0">
                <a:cs typeface="Times New Roman" pitchFamily="18" charset="0"/>
              </a:rPr>
              <a:t> Although lorazepam also has a low hepatic extraction ratio, </a:t>
            </a:r>
            <a:endParaRPr lang="en-US" dirty="0">
              <a:cs typeface="Times New Roman" pitchFamily="18" charset="0"/>
            </a:endParaRPr>
          </a:p>
          <a:p>
            <a:pPr lvl="1"/>
            <a:r>
              <a:rPr lang="bg-BG" sz="3100" dirty="0">
                <a:cs typeface="Times New Roman" pitchFamily="18" charset="0"/>
              </a:rPr>
              <a:t>its lower lipid solubility limits its </a:t>
            </a:r>
            <a:r>
              <a:rPr lang="bg-BG" sz="3100" i="1" dirty="0">
                <a:cs typeface="Times New Roman" pitchFamily="18" charset="0"/>
              </a:rPr>
              <a:t>V</a:t>
            </a:r>
            <a:r>
              <a:rPr lang="bg-BG" sz="3100" baseline="-25000" dirty="0">
                <a:cs typeface="Times New Roman" pitchFamily="18" charset="0"/>
              </a:rPr>
              <a:t>d</a:t>
            </a:r>
            <a:r>
              <a:rPr lang="bg-BG" sz="3100" dirty="0">
                <a:cs typeface="Times New Roman" pitchFamily="18" charset="0"/>
              </a:rPr>
              <a:t>, resulting in a shorter elimination half-life (15 h</a:t>
            </a:r>
            <a:r>
              <a:rPr lang="en-US" sz="3100" dirty="0">
                <a:cs typeface="Times New Roman" pitchFamily="18" charset="0"/>
              </a:rPr>
              <a:t>r</a:t>
            </a:r>
            <a:r>
              <a:rPr lang="bg-BG" sz="3100" dirty="0">
                <a:cs typeface="Times New Roman" pitchFamily="18" charset="0"/>
              </a:rPr>
              <a:t>). </a:t>
            </a:r>
            <a:endParaRPr lang="en-US" sz="3100" dirty="0">
              <a:cs typeface="Times New Roman" pitchFamily="18" charset="0"/>
            </a:endParaRPr>
          </a:p>
          <a:p>
            <a:pPr lvl="1" algn="just"/>
            <a:r>
              <a:rPr lang="bg-BG" sz="3100" dirty="0">
                <a:cs typeface="Times New Roman" pitchFamily="18" charset="0"/>
              </a:rPr>
              <a:t>Nonetheless, the clinical duration of lorazepam is often quite prolonged due to a very high receptor affinity. </a:t>
            </a:r>
            <a:endParaRPr lang="en-US" sz="3100" dirty="0">
              <a:cs typeface="Times New Roman" pitchFamily="18" charset="0"/>
            </a:endParaRPr>
          </a:p>
          <a:p>
            <a:r>
              <a:rPr lang="bg-BG" dirty="0">
                <a:cs typeface="Times New Roman" pitchFamily="18" charset="0"/>
              </a:rPr>
              <a:t>In contrast, midazolam shares diazepam's </a:t>
            </a:r>
            <a:r>
              <a:rPr lang="bg-BG" i="1" dirty="0">
                <a:cs typeface="Times New Roman" pitchFamily="18" charset="0"/>
              </a:rPr>
              <a:t>V</a:t>
            </a:r>
            <a:r>
              <a:rPr lang="bg-BG" baseline="-25000" dirty="0">
                <a:cs typeface="Times New Roman" pitchFamily="18" charset="0"/>
              </a:rPr>
              <a:t>d</a:t>
            </a:r>
            <a:r>
              <a:rPr lang="bg-BG" dirty="0">
                <a:cs typeface="Times New Roman" pitchFamily="18" charset="0"/>
              </a:rPr>
              <a:t>, but its elimination half-life (2 h) </a:t>
            </a:r>
            <a:r>
              <a:rPr lang="bg-BG" sz="3200" dirty="0">
                <a:cs typeface="Times New Roman" pitchFamily="18" charset="0"/>
              </a:rPr>
              <a:t>is the shortest of the group </a:t>
            </a:r>
            <a:endParaRPr lang="en-US" sz="3200" dirty="0">
              <a:cs typeface="Times New Roman" pitchFamily="18" charset="0"/>
            </a:endParaRPr>
          </a:p>
          <a:p>
            <a:pPr lvl="1"/>
            <a:r>
              <a:rPr lang="bg-BG" sz="3400" dirty="0">
                <a:cs typeface="Times New Roman" pitchFamily="18" charset="0"/>
              </a:rPr>
              <a:t>because of its high hepatic extraction ratio.</a:t>
            </a:r>
            <a:r>
              <a:rPr lang="en-US" sz="3400" dirty="0">
                <a:cs typeface="Times New Roman" pitchFamily="18" charset="0"/>
              </a:rPr>
              <a:t> </a:t>
            </a:r>
            <a:endParaRPr lang="bg-BG" sz="3400" dirty="0">
              <a:cs typeface="Times New Roman" pitchFamily="18" charset="0"/>
            </a:endParaRPr>
          </a:p>
          <a:p>
            <a:endParaRPr lang="en-US" dirty="0">
              <a:cs typeface="Times New Roman" pitchFamily="18" charset="0"/>
            </a:endParaRPr>
          </a:p>
        </p:txBody>
      </p:sp>
    </p:spTree>
    <p:extLst>
      <p:ext uri="{BB962C8B-B14F-4D97-AF65-F5344CB8AC3E}">
        <p14:creationId xmlns:p14="http://schemas.microsoft.com/office/powerpoint/2010/main" val="242331051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Cont.…</a:t>
            </a:r>
            <a:endParaRPr lang="en-US" dirty="0">
              <a:latin typeface="+mn-lt"/>
            </a:endParaRPr>
          </a:p>
        </p:txBody>
      </p:sp>
      <p:sp>
        <p:nvSpPr>
          <p:cNvPr id="3" name="Content Placeholder 2"/>
          <p:cNvSpPr>
            <a:spLocks noGrp="1"/>
          </p:cNvSpPr>
          <p:nvPr>
            <p:ph idx="1"/>
          </p:nvPr>
        </p:nvSpPr>
        <p:spPr>
          <a:xfrm>
            <a:off x="457200" y="1417638"/>
            <a:ext cx="8458200" cy="4708525"/>
          </a:xfrm>
        </p:spPr>
        <p:txBody>
          <a:bodyPr>
            <a:normAutofit/>
          </a:bodyPr>
          <a:lstStyle/>
          <a:p>
            <a:pPr>
              <a:buFont typeface="Wingdings" pitchFamily="2" charset="2"/>
              <a:buChar char="Ø"/>
            </a:pPr>
            <a:r>
              <a:rPr lang="bg-BG" sz="3900" dirty="0">
                <a:effectLst>
                  <a:outerShdw blurRad="38100" dist="38100" dir="2700000" algn="tl">
                    <a:srgbClr val="000000">
                      <a:alpha val="43137"/>
                    </a:srgbClr>
                  </a:outerShdw>
                </a:effectLst>
                <a:cs typeface="Times New Roman" pitchFamily="18" charset="0"/>
              </a:rPr>
              <a:t>Excretion</a:t>
            </a:r>
          </a:p>
          <a:p>
            <a:pPr algn="just"/>
            <a:r>
              <a:rPr lang="bg-BG" sz="2400" dirty="0">
                <a:cs typeface="Times New Roman" pitchFamily="18" charset="0"/>
              </a:rPr>
              <a:t>The metabolites of benzodiazepine</a:t>
            </a:r>
            <a:r>
              <a:rPr lang="en-US" sz="2400" dirty="0">
                <a:cs typeface="Times New Roman" pitchFamily="18" charset="0"/>
              </a:rPr>
              <a:t>s </a:t>
            </a:r>
            <a:r>
              <a:rPr lang="bg-BG" sz="2400" dirty="0">
                <a:cs typeface="Times New Roman" pitchFamily="18" charset="0"/>
              </a:rPr>
              <a:t>biotransformation are excreted chiefly in the urine. </a:t>
            </a:r>
            <a:endParaRPr lang="en-US" sz="2400" dirty="0">
              <a:cs typeface="Times New Roman" pitchFamily="18" charset="0"/>
            </a:endParaRPr>
          </a:p>
          <a:p>
            <a:pPr algn="just"/>
            <a:r>
              <a:rPr lang="bg-BG" sz="2400" dirty="0">
                <a:cs typeface="Times New Roman" pitchFamily="18" charset="0"/>
              </a:rPr>
              <a:t>Enterohepatic circulation produces a secondary peak in diazepam plasma concentration 6–12 h following administration. </a:t>
            </a:r>
            <a:endParaRPr lang="en-US" sz="2400" dirty="0">
              <a:cs typeface="Times New Roman" pitchFamily="18" charset="0"/>
            </a:endParaRPr>
          </a:p>
          <a:p>
            <a:pPr algn="just"/>
            <a:r>
              <a:rPr lang="bg-BG" sz="2400" dirty="0">
                <a:cs typeface="Times New Roman" pitchFamily="18" charset="0"/>
              </a:rPr>
              <a:t>Renal failure may lead to prolonged sedation</a:t>
            </a:r>
            <a:r>
              <a:rPr lang="en-US" sz="2400" dirty="0">
                <a:cs typeface="Times New Roman" pitchFamily="18" charset="0"/>
              </a:rPr>
              <a:t> </a:t>
            </a:r>
            <a:r>
              <a:rPr lang="bg-BG" sz="2400" dirty="0">
                <a:cs typeface="Times New Roman" pitchFamily="18" charset="0"/>
              </a:rPr>
              <a:t>in patients receiving midazolam</a:t>
            </a:r>
            <a:endParaRPr lang="en-US" sz="2400" dirty="0">
              <a:cs typeface="Times New Roman" pitchFamily="18" charset="0"/>
            </a:endParaRPr>
          </a:p>
          <a:p>
            <a:pPr lvl="1" algn="just"/>
            <a:r>
              <a:rPr lang="bg-BG" sz="2400" dirty="0">
                <a:cs typeface="Times New Roman" pitchFamily="18" charset="0"/>
              </a:rPr>
              <a:t> due to the accumulation of a conjugated metabolite (</a:t>
            </a:r>
            <a:r>
              <a:rPr lang="bg-BG" sz="2400" dirty="0">
                <a:cs typeface="Times New Roman" pitchFamily="18" charset="0"/>
                <a:sym typeface="Symbol"/>
              </a:rPr>
              <a:t></a:t>
            </a:r>
            <a:r>
              <a:rPr lang="bg-BG" sz="2400" dirty="0">
                <a:cs typeface="Times New Roman" pitchFamily="18" charset="0"/>
              </a:rPr>
              <a:t>-hydroxymidazolam).</a:t>
            </a:r>
          </a:p>
          <a:p>
            <a:pPr marL="0" indent="0" algn="just">
              <a:buNone/>
            </a:pPr>
            <a:endParaRPr lang="bg-BG" sz="2400" dirty="0">
              <a:cs typeface="Times New Roman" pitchFamily="18" charset="0"/>
            </a:endParaRPr>
          </a:p>
          <a:p>
            <a:pPr algn="just"/>
            <a:endParaRPr lang="en-US" sz="2400" dirty="0"/>
          </a:p>
        </p:txBody>
      </p:sp>
    </p:spTree>
    <p:extLst>
      <p:ext uri="{BB962C8B-B14F-4D97-AF65-F5344CB8AC3E}">
        <p14:creationId xmlns:p14="http://schemas.microsoft.com/office/powerpoint/2010/main" val="119572708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983CE-F113-9DBB-2819-6C90080882BE}"/>
              </a:ext>
            </a:extLst>
          </p:cNvPr>
          <p:cNvSpPr>
            <a:spLocks noGrp="1"/>
          </p:cNvSpPr>
          <p:nvPr>
            <p:ph type="title"/>
          </p:nvPr>
        </p:nvSpPr>
        <p:spPr/>
        <p:txBody>
          <a:bodyPr>
            <a:noAutofit/>
          </a:bodyPr>
          <a:lstStyle/>
          <a:p>
            <a:r>
              <a:rPr lang="en-US" sz="3200" dirty="0"/>
              <a:t>Benzodiazepine Metabolism and Clearance</a:t>
            </a:r>
          </a:p>
        </p:txBody>
      </p:sp>
      <p:graphicFrame>
        <p:nvGraphicFramePr>
          <p:cNvPr id="7" name="Table 7">
            <a:extLst>
              <a:ext uri="{FF2B5EF4-FFF2-40B4-BE49-F238E27FC236}">
                <a16:creationId xmlns:a16="http://schemas.microsoft.com/office/drawing/2014/main" id="{1D5F41DD-2288-EE85-E875-2B3A5A182C96}"/>
              </a:ext>
            </a:extLst>
          </p:cNvPr>
          <p:cNvGraphicFramePr>
            <a:graphicFrameLocks noGrp="1"/>
          </p:cNvGraphicFramePr>
          <p:nvPr>
            <p:ph idx="1"/>
            <p:extLst>
              <p:ext uri="{D42A27DB-BD31-4B8C-83A1-F6EECF244321}">
                <p14:modId xmlns:p14="http://schemas.microsoft.com/office/powerpoint/2010/main" val="1777013687"/>
              </p:ext>
            </p:extLst>
          </p:nvPr>
        </p:nvGraphicFramePr>
        <p:xfrm>
          <a:off x="457200" y="1600200"/>
          <a:ext cx="8229600" cy="431038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3761396270"/>
                    </a:ext>
                  </a:extLst>
                </a:gridCol>
                <a:gridCol w="1524000">
                  <a:extLst>
                    <a:ext uri="{9D8B030D-6E8A-4147-A177-3AD203B41FA5}">
                      <a16:colId xmlns:a16="http://schemas.microsoft.com/office/drawing/2014/main" val="610717008"/>
                    </a:ext>
                  </a:extLst>
                </a:gridCol>
                <a:gridCol w="2819400">
                  <a:extLst>
                    <a:ext uri="{9D8B030D-6E8A-4147-A177-3AD203B41FA5}">
                      <a16:colId xmlns:a16="http://schemas.microsoft.com/office/drawing/2014/main" val="580877318"/>
                    </a:ext>
                  </a:extLst>
                </a:gridCol>
                <a:gridCol w="2057400">
                  <a:extLst>
                    <a:ext uri="{9D8B030D-6E8A-4147-A177-3AD203B41FA5}">
                      <a16:colId xmlns:a16="http://schemas.microsoft.com/office/drawing/2014/main" val="3786514769"/>
                    </a:ext>
                  </a:extLst>
                </a:gridCol>
              </a:tblGrid>
              <a:tr h="187960">
                <a:tc>
                  <a:txBody>
                    <a:bodyPr/>
                    <a:lstStyle/>
                    <a:p>
                      <a:pPr>
                        <a:lnSpc>
                          <a:spcPct val="150000"/>
                        </a:lnSpc>
                      </a:pPr>
                      <a:r>
                        <a:rPr lang="en-US" sz="1800" b="1" i="0" u="none" strike="noStrike" kern="1200" baseline="0" dirty="0">
                          <a:solidFill>
                            <a:schemeClr val="lt1"/>
                          </a:solidFill>
                          <a:latin typeface="+mn-lt"/>
                          <a:ea typeface="+mn-ea"/>
                          <a:cs typeface="+mn-cs"/>
                        </a:rPr>
                        <a:t>Drug</a:t>
                      </a:r>
                      <a:endParaRPr lang="en-US" dirty="0"/>
                    </a:p>
                  </a:txBody>
                  <a:tcPr/>
                </a:tc>
                <a:tc>
                  <a:txBody>
                    <a:bodyPr/>
                    <a:lstStyle/>
                    <a:p>
                      <a:pPr>
                        <a:lnSpc>
                          <a:spcPct val="150000"/>
                        </a:lnSpc>
                      </a:pPr>
                      <a:r>
                        <a:rPr lang="en-US" sz="1800" b="1" i="0" u="none" strike="noStrike" kern="1200" baseline="0" dirty="0">
                          <a:solidFill>
                            <a:schemeClr val="lt1"/>
                          </a:solidFill>
                          <a:latin typeface="+mn-lt"/>
                          <a:ea typeface="+mn-ea"/>
                          <a:cs typeface="+mn-cs"/>
                        </a:rPr>
                        <a:t>Duration </a:t>
                      </a:r>
                    </a:p>
                  </a:txBody>
                  <a:tcPr/>
                </a:tc>
                <a:tc>
                  <a:txBody>
                    <a:bodyPr/>
                    <a:lstStyle/>
                    <a:p>
                      <a:pPr>
                        <a:lnSpc>
                          <a:spcPct val="150000"/>
                        </a:lnSpc>
                      </a:pPr>
                      <a:r>
                        <a:rPr lang="en-US" sz="1800" b="1" i="0" u="none" strike="noStrike" kern="1200" baseline="0" dirty="0">
                          <a:solidFill>
                            <a:schemeClr val="lt1"/>
                          </a:solidFill>
                          <a:latin typeface="+mn-lt"/>
                          <a:ea typeface="+mn-ea"/>
                          <a:cs typeface="+mn-cs"/>
                        </a:rPr>
                        <a:t>Metabolites</a:t>
                      </a:r>
                    </a:p>
                    <a:p>
                      <a:pPr>
                        <a:lnSpc>
                          <a:spcPct val="150000"/>
                        </a:lnSpc>
                      </a:pPr>
                      <a:endParaRPr lang="en-US" dirty="0"/>
                    </a:p>
                  </a:txBody>
                  <a:tcPr/>
                </a:tc>
                <a:tc>
                  <a:txBody>
                    <a:bodyPr/>
                    <a:lstStyle/>
                    <a:p>
                      <a:pPr>
                        <a:lnSpc>
                          <a:spcPct val="150000"/>
                        </a:lnSpc>
                      </a:pPr>
                      <a:r>
                        <a:rPr lang="en-US" sz="1800" b="1" i="0" u="none" strike="noStrike" kern="1200" baseline="0" dirty="0">
                          <a:solidFill>
                            <a:schemeClr val="lt1"/>
                          </a:solidFill>
                          <a:latin typeface="+mn-lt"/>
                          <a:ea typeface="+mn-ea"/>
                          <a:cs typeface="+mn-cs"/>
                        </a:rPr>
                        <a:t> Hepatic Clearance</a:t>
                      </a:r>
                      <a:endParaRPr lang="en-US" dirty="0"/>
                    </a:p>
                  </a:txBody>
                  <a:tcPr/>
                </a:tc>
                <a:extLst>
                  <a:ext uri="{0D108BD9-81ED-4DB2-BD59-A6C34878D82A}">
                    <a16:rowId xmlns:a16="http://schemas.microsoft.com/office/drawing/2014/main" val="1675207612"/>
                  </a:ext>
                </a:extLst>
              </a:tr>
              <a:tr h="370840">
                <a:tc>
                  <a:txBody>
                    <a:bodyPr/>
                    <a:lstStyle/>
                    <a:p>
                      <a:pPr>
                        <a:lnSpc>
                          <a:spcPct val="150000"/>
                        </a:lnSpc>
                      </a:pPr>
                      <a:r>
                        <a:rPr lang="en-US" sz="1800" b="0" i="0" u="none" strike="noStrike" kern="1200" baseline="0" dirty="0">
                          <a:solidFill>
                            <a:schemeClr val="dk1"/>
                          </a:solidFill>
                          <a:latin typeface="+mn-lt"/>
                          <a:ea typeface="+mn-ea"/>
                          <a:cs typeface="+mn-cs"/>
                        </a:rPr>
                        <a:t>Midazolam  </a:t>
                      </a:r>
                      <a:endParaRPr lang="en-US" dirty="0"/>
                    </a:p>
                  </a:txBody>
                  <a:tcPr/>
                </a:tc>
                <a:tc>
                  <a:txBody>
                    <a:bodyPr/>
                    <a:lstStyle/>
                    <a:p>
                      <a:pPr>
                        <a:lnSpc>
                          <a:spcPct val="150000"/>
                        </a:lnSpc>
                      </a:pPr>
                      <a:r>
                        <a:rPr lang="en-US" sz="1800" b="0" i="0" u="none" strike="noStrike" kern="1200" baseline="0" dirty="0">
                          <a:solidFill>
                            <a:schemeClr val="dk1"/>
                          </a:solidFill>
                          <a:latin typeface="+mn-lt"/>
                          <a:ea typeface="+mn-ea"/>
                          <a:cs typeface="+mn-cs"/>
                        </a:rPr>
                        <a:t> Short  </a:t>
                      </a:r>
                      <a:endParaRPr lang="en-US" dirty="0"/>
                    </a:p>
                  </a:txBody>
                  <a:tcPr/>
                </a:tc>
                <a:tc>
                  <a:txBody>
                    <a:bodyPr/>
                    <a:lstStyle/>
                    <a:p>
                      <a:pPr>
                        <a:lnSpc>
                          <a:spcPct val="150000"/>
                        </a:lnSpc>
                      </a:pPr>
                      <a:r>
                        <a:rPr lang="en-US" sz="1800" b="0" i="0" u="none" strike="noStrike" kern="1200" baseline="0" dirty="0">
                          <a:solidFill>
                            <a:schemeClr val="dk1"/>
                          </a:solidFill>
                          <a:latin typeface="+mn-lt"/>
                          <a:ea typeface="+mn-ea"/>
                          <a:cs typeface="+mn-cs"/>
                        </a:rPr>
                        <a:t>1-hydroxymidazolam (mild CNS depressant)</a:t>
                      </a:r>
                    </a:p>
                    <a:p>
                      <a:pPr>
                        <a:lnSpc>
                          <a:spcPct val="150000"/>
                        </a:lnSpc>
                      </a:pPr>
                      <a:endParaRPr lang="en-US" dirty="0"/>
                    </a:p>
                  </a:txBody>
                  <a:tcPr/>
                </a:tc>
                <a:tc>
                  <a:txBody>
                    <a:bodyPr/>
                    <a:lstStyle/>
                    <a:p>
                      <a:pPr>
                        <a:lnSpc>
                          <a:spcPct val="150000"/>
                        </a:lnSpc>
                      </a:pPr>
                      <a:r>
                        <a:rPr lang="en-US" sz="1800" b="0" i="0" u="none" strike="noStrike" kern="1200" baseline="0" dirty="0">
                          <a:solidFill>
                            <a:schemeClr val="dk1"/>
                          </a:solidFill>
                          <a:latin typeface="+mn-lt"/>
                          <a:ea typeface="+mn-ea"/>
                          <a:cs typeface="+mn-cs"/>
                        </a:rPr>
                        <a:t> High</a:t>
                      </a:r>
                      <a:endParaRPr lang="en-US" dirty="0"/>
                    </a:p>
                  </a:txBody>
                  <a:tcPr/>
                </a:tc>
                <a:extLst>
                  <a:ext uri="{0D108BD9-81ED-4DB2-BD59-A6C34878D82A}">
                    <a16:rowId xmlns:a16="http://schemas.microsoft.com/office/drawing/2014/main" val="3267126095"/>
                  </a:ext>
                </a:extLst>
              </a:tr>
              <a:tr h="370840">
                <a:tc>
                  <a:txBody>
                    <a:bodyPr/>
                    <a:lstStyle/>
                    <a:p>
                      <a:pPr>
                        <a:lnSpc>
                          <a:spcPct val="150000"/>
                        </a:lnSpc>
                      </a:pPr>
                      <a:r>
                        <a:rPr lang="en-US" sz="1800" b="0" i="0" u="none" strike="noStrike" kern="1200" baseline="0" dirty="0">
                          <a:solidFill>
                            <a:schemeClr val="dk1"/>
                          </a:solidFill>
                          <a:latin typeface="+mn-lt"/>
                          <a:ea typeface="+mn-ea"/>
                          <a:cs typeface="+mn-cs"/>
                        </a:rPr>
                        <a:t>Diazepam  </a:t>
                      </a:r>
                      <a:endParaRPr lang="en-US" dirty="0"/>
                    </a:p>
                  </a:txBody>
                  <a:tcPr/>
                </a:tc>
                <a:tc>
                  <a:txBody>
                    <a:bodyPr/>
                    <a:lstStyle/>
                    <a:p>
                      <a:pPr>
                        <a:lnSpc>
                          <a:spcPct val="150000"/>
                        </a:lnSpc>
                      </a:pPr>
                      <a:r>
                        <a:rPr lang="en-US" sz="1800" b="0" i="0" u="none" strike="noStrike" kern="1200" baseline="0" dirty="0">
                          <a:solidFill>
                            <a:schemeClr val="dk1"/>
                          </a:solidFill>
                          <a:latin typeface="+mn-lt"/>
                          <a:ea typeface="+mn-ea"/>
                          <a:cs typeface="+mn-cs"/>
                        </a:rPr>
                        <a:t>Intermediate  </a:t>
                      </a:r>
                      <a:endParaRPr lang="en-US" dirty="0"/>
                    </a:p>
                  </a:txBody>
                  <a:tcPr/>
                </a:tc>
                <a:tc>
                  <a:txBody>
                    <a:bodyPr/>
                    <a:lstStyle/>
                    <a:p>
                      <a:pPr>
                        <a:lnSpc>
                          <a:spcPct val="150000"/>
                        </a:lnSpc>
                      </a:pPr>
                      <a:r>
                        <a:rPr lang="en-US" sz="1800" b="0" i="0" u="none" strike="noStrike" kern="1200" baseline="0" dirty="0">
                          <a:solidFill>
                            <a:schemeClr val="dk1"/>
                          </a:solidFill>
                          <a:latin typeface="+mn-lt"/>
                          <a:ea typeface="+mn-ea"/>
                          <a:cs typeface="+mn-cs"/>
                        </a:rPr>
                        <a:t> Oxazepam and</a:t>
                      </a:r>
                    </a:p>
                    <a:p>
                      <a:pPr>
                        <a:lnSpc>
                          <a:spcPct val="150000"/>
                        </a:lnSpc>
                      </a:pPr>
                      <a:r>
                        <a:rPr lang="en-US" sz="1800" b="0" i="0" u="none" strike="noStrike" kern="1200" baseline="0" dirty="0" err="1">
                          <a:solidFill>
                            <a:schemeClr val="dk1"/>
                          </a:solidFill>
                          <a:latin typeface="+mn-lt"/>
                          <a:ea typeface="+mn-ea"/>
                          <a:cs typeface="+mn-cs"/>
                        </a:rPr>
                        <a:t>Desmethyldiazepam</a:t>
                      </a:r>
                      <a:r>
                        <a:rPr lang="en-US" sz="1800" b="0" i="0" u="none" strike="noStrike" kern="1200" baseline="0" dirty="0">
                          <a:solidFill>
                            <a:schemeClr val="dk1"/>
                          </a:solidFill>
                          <a:latin typeface="+mn-lt"/>
                          <a:ea typeface="+mn-ea"/>
                          <a:cs typeface="+mn-cs"/>
                        </a:rPr>
                        <a:t> (Active metabolites)</a:t>
                      </a:r>
                    </a:p>
                    <a:p>
                      <a:pPr>
                        <a:lnSpc>
                          <a:spcPct val="150000"/>
                        </a:lnSpc>
                      </a:pPr>
                      <a:endParaRPr lang="en-US" dirty="0"/>
                    </a:p>
                  </a:txBody>
                  <a:tcPr/>
                </a:tc>
                <a:tc>
                  <a:txBody>
                    <a:bodyPr/>
                    <a:lstStyle/>
                    <a:p>
                      <a:pPr>
                        <a:lnSpc>
                          <a:spcPct val="150000"/>
                        </a:lnSpc>
                      </a:pPr>
                      <a:r>
                        <a:rPr lang="en-US" sz="1800" b="0" i="0" u="none" strike="noStrike" kern="1200" baseline="0" dirty="0">
                          <a:solidFill>
                            <a:schemeClr val="dk1"/>
                          </a:solidFill>
                          <a:latin typeface="+mn-lt"/>
                          <a:ea typeface="+mn-ea"/>
                          <a:cs typeface="+mn-cs"/>
                        </a:rPr>
                        <a:t> </a:t>
                      </a:r>
                    </a:p>
                    <a:p>
                      <a:pPr>
                        <a:lnSpc>
                          <a:spcPct val="150000"/>
                        </a:lnSpc>
                      </a:pPr>
                      <a:r>
                        <a:rPr lang="en-US" sz="1800" b="0" i="0" u="none" strike="noStrike" kern="1200" baseline="0" dirty="0">
                          <a:solidFill>
                            <a:schemeClr val="dk1"/>
                          </a:solidFill>
                          <a:latin typeface="+mn-lt"/>
                          <a:ea typeface="+mn-ea"/>
                          <a:cs typeface="+mn-cs"/>
                        </a:rPr>
                        <a:t>Slow</a:t>
                      </a:r>
                      <a:endParaRPr lang="en-US" dirty="0"/>
                    </a:p>
                  </a:txBody>
                  <a:tcPr/>
                </a:tc>
                <a:extLst>
                  <a:ext uri="{0D108BD9-81ED-4DB2-BD59-A6C34878D82A}">
                    <a16:rowId xmlns:a16="http://schemas.microsoft.com/office/drawing/2014/main" val="677052664"/>
                  </a:ext>
                </a:extLst>
              </a:tr>
              <a:tr h="370840">
                <a:tc>
                  <a:txBody>
                    <a:bodyPr/>
                    <a:lstStyle/>
                    <a:p>
                      <a:pPr>
                        <a:lnSpc>
                          <a:spcPct val="150000"/>
                        </a:lnSpc>
                      </a:pPr>
                      <a:r>
                        <a:rPr lang="en-US" sz="1800" b="0" i="0" u="none" strike="noStrike" kern="1200" baseline="0" dirty="0">
                          <a:solidFill>
                            <a:schemeClr val="dk1"/>
                          </a:solidFill>
                          <a:latin typeface="+mn-lt"/>
                          <a:ea typeface="+mn-ea"/>
                          <a:cs typeface="+mn-cs"/>
                        </a:rPr>
                        <a:t>Lorazepam  </a:t>
                      </a:r>
                      <a:endParaRPr lang="en-US" dirty="0"/>
                    </a:p>
                  </a:txBody>
                  <a:tcPr/>
                </a:tc>
                <a:tc>
                  <a:txBody>
                    <a:bodyPr/>
                    <a:lstStyle/>
                    <a:p>
                      <a:pPr>
                        <a:lnSpc>
                          <a:spcPct val="150000"/>
                        </a:lnSpc>
                      </a:pPr>
                      <a:r>
                        <a:rPr lang="en-US" sz="1800" b="0" i="0" u="none" strike="noStrike" kern="1200" baseline="0" dirty="0">
                          <a:solidFill>
                            <a:schemeClr val="dk1"/>
                          </a:solidFill>
                          <a:latin typeface="+mn-lt"/>
                          <a:ea typeface="+mn-ea"/>
                          <a:cs typeface="+mn-cs"/>
                        </a:rPr>
                        <a:t> Long  </a:t>
                      </a:r>
                      <a:endParaRPr lang="en-US" dirty="0"/>
                    </a:p>
                  </a:txBody>
                  <a:tcPr/>
                </a:tc>
                <a:tc>
                  <a:txBody>
                    <a:bodyPr/>
                    <a:lstStyle/>
                    <a:p>
                      <a:pPr>
                        <a:lnSpc>
                          <a:spcPct val="150000"/>
                        </a:lnSpc>
                      </a:pPr>
                      <a:r>
                        <a:rPr lang="en-US" sz="1800" b="0" i="0" u="none" strike="noStrike" kern="1200" baseline="0" dirty="0">
                          <a:solidFill>
                            <a:schemeClr val="dk1"/>
                          </a:solidFill>
                          <a:latin typeface="+mn-lt"/>
                          <a:ea typeface="+mn-ea"/>
                          <a:cs typeface="+mn-cs"/>
                        </a:rPr>
                        <a:t> Inactive </a:t>
                      </a:r>
                      <a:endParaRPr lang="en-US" dirty="0"/>
                    </a:p>
                  </a:txBody>
                  <a:tcPr/>
                </a:tc>
                <a:tc>
                  <a:txBody>
                    <a:bodyPr/>
                    <a:lstStyle/>
                    <a:p>
                      <a:pPr>
                        <a:lnSpc>
                          <a:spcPct val="150000"/>
                        </a:lnSpc>
                      </a:pPr>
                      <a:r>
                        <a:rPr lang="en-US" sz="1800" b="0" i="0" u="none" strike="noStrike" kern="1200" baseline="0" dirty="0">
                          <a:solidFill>
                            <a:schemeClr val="dk1"/>
                          </a:solidFill>
                          <a:latin typeface="+mn-lt"/>
                          <a:ea typeface="+mn-ea"/>
                          <a:cs typeface="+mn-cs"/>
                        </a:rPr>
                        <a:t> Intermediate</a:t>
                      </a:r>
                      <a:endParaRPr lang="en-US" dirty="0"/>
                    </a:p>
                  </a:txBody>
                  <a:tcPr/>
                </a:tc>
                <a:extLst>
                  <a:ext uri="{0D108BD9-81ED-4DB2-BD59-A6C34878D82A}">
                    <a16:rowId xmlns:a16="http://schemas.microsoft.com/office/drawing/2014/main" val="3617354489"/>
                  </a:ext>
                </a:extLst>
              </a:tr>
            </a:tbl>
          </a:graphicData>
        </a:graphic>
      </p:graphicFrame>
    </p:spTree>
    <p:extLst>
      <p:ext uri="{BB962C8B-B14F-4D97-AF65-F5344CB8AC3E}">
        <p14:creationId xmlns:p14="http://schemas.microsoft.com/office/powerpoint/2010/main" val="287901084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br>
              <a:rPr lang="en-US" sz="3600" dirty="0">
                <a:effectLst>
                  <a:outerShdw blurRad="38100" dist="38100" dir="2700000" algn="tl">
                    <a:srgbClr val="000000">
                      <a:alpha val="43137"/>
                    </a:srgbClr>
                  </a:outerShdw>
                </a:effectLst>
                <a:latin typeface="+mn-lt"/>
                <a:cs typeface="Times New Roman" pitchFamily="18" charset="0"/>
              </a:rPr>
            </a:br>
            <a:r>
              <a:rPr lang="en-US" sz="3200" dirty="0">
                <a:effectLst>
                  <a:outerShdw blurRad="38100" dist="38100" dir="2700000" algn="tl">
                    <a:srgbClr val="000000">
                      <a:alpha val="43137"/>
                    </a:srgbClr>
                  </a:outerShdw>
                </a:effectLst>
                <a:latin typeface="+mn-lt"/>
                <a:cs typeface="Times New Roman" pitchFamily="18" charset="0"/>
              </a:rPr>
              <a:t>E</a:t>
            </a:r>
            <a:r>
              <a:rPr lang="bg-BG" sz="3200" dirty="0">
                <a:effectLst>
                  <a:outerShdw blurRad="38100" dist="38100" dir="2700000" algn="tl">
                    <a:srgbClr val="000000">
                      <a:alpha val="43137"/>
                    </a:srgbClr>
                  </a:outerShdw>
                </a:effectLst>
                <a:latin typeface="+mn-lt"/>
                <a:cs typeface="Times New Roman" pitchFamily="18" charset="0"/>
              </a:rPr>
              <a:t>ffects on organ systems</a:t>
            </a:r>
            <a:r>
              <a:rPr lang="en-US" sz="3200" dirty="0">
                <a:effectLst>
                  <a:outerShdw blurRad="38100" dist="38100" dir="2700000" algn="tl">
                    <a:srgbClr val="000000">
                      <a:alpha val="43137"/>
                    </a:srgbClr>
                  </a:outerShdw>
                </a:effectLst>
                <a:latin typeface="+mn-lt"/>
                <a:cs typeface="Times New Roman" pitchFamily="18" charset="0"/>
              </a:rPr>
              <a:t>: Pharmacodynamics</a:t>
            </a:r>
            <a:br>
              <a:rPr lang="bg-BG" sz="3600" dirty="0">
                <a:effectLst>
                  <a:outerShdw blurRad="38100" dist="38100" dir="2700000" algn="tl">
                    <a:srgbClr val="000000">
                      <a:alpha val="43137"/>
                    </a:srgbClr>
                  </a:outerShdw>
                </a:effectLst>
                <a:latin typeface="+mn-lt"/>
                <a:cs typeface="Times New Roman" pitchFamily="18" charset="0"/>
              </a:rPr>
            </a:br>
            <a:endParaRPr lang="en-US" sz="3600" dirty="0">
              <a:effectLst>
                <a:outerShdw blurRad="38100" dist="38100" dir="2700000" algn="tl">
                  <a:srgbClr val="000000">
                    <a:alpha val="43137"/>
                  </a:srgbClr>
                </a:outerShdw>
              </a:effectLst>
              <a:latin typeface="+mn-lt"/>
              <a:cs typeface="Times New Roman" pitchFamily="18" charset="0"/>
            </a:endParaRPr>
          </a:p>
        </p:txBody>
      </p:sp>
      <p:sp>
        <p:nvSpPr>
          <p:cNvPr id="3" name="Content Placeholder 2"/>
          <p:cNvSpPr>
            <a:spLocks noGrp="1"/>
          </p:cNvSpPr>
          <p:nvPr>
            <p:ph idx="1"/>
          </p:nvPr>
        </p:nvSpPr>
        <p:spPr/>
        <p:txBody>
          <a:bodyPr>
            <a:normAutofit/>
          </a:bodyPr>
          <a:lstStyle/>
          <a:p>
            <a:pPr algn="just">
              <a:buFont typeface="Wingdings" pitchFamily="2" charset="2"/>
              <a:buChar char="Ø"/>
            </a:pPr>
            <a:r>
              <a:rPr lang="en-US" dirty="0">
                <a:effectLst>
                  <a:outerShdw blurRad="38100" dist="38100" dir="2700000" algn="tl">
                    <a:srgbClr val="000000">
                      <a:alpha val="43137"/>
                    </a:srgbClr>
                  </a:outerShdw>
                </a:effectLst>
                <a:cs typeface="Times New Roman" pitchFamily="18" charset="0"/>
              </a:rPr>
              <a:t>CVS</a:t>
            </a:r>
            <a:r>
              <a:rPr lang="en-US" dirty="0">
                <a:cs typeface="Times New Roman" pitchFamily="18" charset="0"/>
              </a:rPr>
              <a:t> </a:t>
            </a:r>
            <a:r>
              <a:rPr lang="en-US" sz="2800" dirty="0">
                <a:cs typeface="Times New Roman" pitchFamily="18" charset="0"/>
              </a:rPr>
              <a:t>: </a:t>
            </a:r>
          </a:p>
          <a:p>
            <a:pPr algn="just"/>
            <a:r>
              <a:rPr lang="en-US" sz="2400" dirty="0">
                <a:cs typeface="Times New Roman" pitchFamily="18" charset="0"/>
              </a:rPr>
              <a:t>Minimal CV depressant effects even at induction doses.</a:t>
            </a:r>
          </a:p>
          <a:p>
            <a:pPr lvl="1"/>
            <a:r>
              <a:rPr lang="en-US" sz="2400" dirty="0">
                <a:cs typeface="Times New Roman" pitchFamily="18" charset="0"/>
              </a:rPr>
              <a:t>↓ arterial Bp, cardiac output, PVR slightly.</a:t>
            </a:r>
          </a:p>
          <a:p>
            <a:pPr lvl="1"/>
            <a:r>
              <a:rPr lang="en-US" sz="2400" dirty="0">
                <a:cs typeface="Times New Roman" pitchFamily="18" charset="0"/>
              </a:rPr>
              <a:t> HR sometimes rises</a:t>
            </a:r>
          </a:p>
          <a:p>
            <a:pPr algn="just"/>
            <a:r>
              <a:rPr lang="en-US" sz="2400" dirty="0">
                <a:cs typeface="Times New Roman" pitchFamily="18" charset="0"/>
              </a:rPr>
              <a:t>Changes in HR variability during midazolam sedation suggest drug induced vagolysis.</a:t>
            </a:r>
          </a:p>
          <a:p>
            <a:pPr algn="just"/>
            <a:endParaRPr lang="en-US" sz="2800" dirty="0">
              <a:cs typeface="Times New Roman" pitchFamily="18" charset="0"/>
            </a:endParaRPr>
          </a:p>
        </p:txBody>
      </p:sp>
    </p:spTree>
    <p:extLst>
      <p:ext uri="{BB962C8B-B14F-4D97-AF65-F5344CB8AC3E}">
        <p14:creationId xmlns:p14="http://schemas.microsoft.com/office/powerpoint/2010/main" val="298818521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Cont.…</a:t>
            </a:r>
            <a:endParaRPr lang="en-US" dirty="0">
              <a:latin typeface="+mn-lt"/>
            </a:endParaRPr>
          </a:p>
        </p:txBody>
      </p:sp>
      <p:sp>
        <p:nvSpPr>
          <p:cNvPr id="3" name="Content Placeholder 2"/>
          <p:cNvSpPr>
            <a:spLocks noGrp="1"/>
          </p:cNvSpPr>
          <p:nvPr>
            <p:ph idx="1"/>
          </p:nvPr>
        </p:nvSpPr>
        <p:spPr>
          <a:xfrm>
            <a:off x="457200" y="1600200"/>
            <a:ext cx="8305800" cy="4525963"/>
          </a:xfrm>
        </p:spPr>
        <p:txBody>
          <a:bodyPr/>
          <a:lstStyle/>
          <a:p>
            <a:pPr>
              <a:buFont typeface="Wingdings" pitchFamily="2" charset="2"/>
              <a:buChar char="Ø"/>
            </a:pPr>
            <a:r>
              <a:rPr lang="en-US" sz="3600" dirty="0">
                <a:effectLst>
                  <a:outerShdw blurRad="38100" dist="38100" dir="2700000" algn="tl">
                    <a:srgbClr val="000000">
                      <a:alpha val="43137"/>
                    </a:srgbClr>
                  </a:outerShdw>
                </a:effectLst>
                <a:cs typeface="Times New Roman" pitchFamily="18" charset="0"/>
              </a:rPr>
              <a:t>Respiratory</a:t>
            </a:r>
            <a:endParaRPr lang="en-US" dirty="0">
              <a:effectLst>
                <a:outerShdw blurRad="38100" dist="38100" dir="2700000" algn="tl">
                  <a:srgbClr val="000000">
                    <a:alpha val="43137"/>
                  </a:srgbClr>
                </a:outerShdw>
              </a:effectLst>
              <a:cs typeface="Times New Roman" pitchFamily="18" charset="0"/>
            </a:endParaRPr>
          </a:p>
          <a:p>
            <a:r>
              <a:rPr lang="en-US" sz="2800" dirty="0">
                <a:cs typeface="Times New Roman" pitchFamily="18" charset="0"/>
              </a:rPr>
              <a:t>Depress ventilatory response to CO2</a:t>
            </a:r>
          </a:p>
          <a:p>
            <a:pPr lvl="1"/>
            <a:r>
              <a:rPr lang="en-US" sz="2400" dirty="0">
                <a:cs typeface="Times New Roman" pitchFamily="18" charset="0"/>
              </a:rPr>
              <a:t>Usually insignificant unless drugs given IV or with other respiratory depressants.</a:t>
            </a:r>
          </a:p>
          <a:p>
            <a:pPr marL="457200" lvl="1" indent="0">
              <a:buNone/>
            </a:pPr>
            <a:endParaRPr lang="en-US" sz="2400" dirty="0">
              <a:cs typeface="Times New Roman" pitchFamily="18" charset="0"/>
            </a:endParaRPr>
          </a:p>
          <a:p>
            <a:pPr algn="just"/>
            <a:r>
              <a:rPr lang="en-US" sz="2400" dirty="0">
                <a:cs typeface="Times New Roman" pitchFamily="18" charset="0"/>
              </a:rPr>
              <a:t>Ventilation must be monitored in all patients receiving IV BZDs and resuscitation equipment immediately available.</a:t>
            </a:r>
          </a:p>
          <a:p>
            <a:pPr algn="just"/>
            <a:r>
              <a:rPr lang="en-US" sz="2400" b="1" u="sng" dirty="0">
                <a:cs typeface="Times New Roman" pitchFamily="18" charset="0"/>
              </a:rPr>
              <a:t>Tolerance</a:t>
            </a:r>
            <a:r>
              <a:rPr lang="en-US" sz="2400" dirty="0">
                <a:cs typeface="Times New Roman" pitchFamily="18" charset="0"/>
              </a:rPr>
              <a:t> :- addiction liability is less.</a:t>
            </a:r>
          </a:p>
          <a:p>
            <a:pPr algn="just"/>
            <a:endParaRPr lang="en-US" sz="2400" dirty="0">
              <a:cs typeface="Times New Roman" pitchFamily="18" charset="0"/>
            </a:endParaRPr>
          </a:p>
          <a:p>
            <a:endParaRPr lang="en-US" dirty="0">
              <a:cs typeface="Times New Roman" pitchFamily="18" charset="0"/>
            </a:endParaRPr>
          </a:p>
        </p:txBody>
      </p:sp>
    </p:spTree>
    <p:extLst>
      <p:ext uri="{BB962C8B-B14F-4D97-AF65-F5344CB8AC3E}">
        <p14:creationId xmlns:p14="http://schemas.microsoft.com/office/powerpoint/2010/main" val="127783893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Cont.…</a:t>
            </a:r>
            <a:endParaRPr lang="en-US" dirty="0"/>
          </a:p>
        </p:txBody>
      </p:sp>
      <p:sp>
        <p:nvSpPr>
          <p:cNvPr id="3" name="Content Placeholder 2"/>
          <p:cNvSpPr>
            <a:spLocks noGrp="1"/>
          </p:cNvSpPr>
          <p:nvPr>
            <p:ph idx="1"/>
          </p:nvPr>
        </p:nvSpPr>
        <p:spPr>
          <a:xfrm>
            <a:off x="533400" y="1600200"/>
            <a:ext cx="8382000" cy="4800600"/>
          </a:xfrm>
        </p:spPr>
        <p:txBody>
          <a:bodyPr>
            <a:noAutofit/>
          </a:bodyPr>
          <a:lstStyle/>
          <a:p>
            <a:pPr>
              <a:lnSpc>
                <a:spcPct val="80000"/>
              </a:lnSpc>
              <a:buFont typeface="Wingdings" pitchFamily="2" charset="2"/>
              <a:buChar char="Ø"/>
            </a:pPr>
            <a:r>
              <a:rPr lang="en-US" sz="3600" dirty="0">
                <a:effectLst>
                  <a:outerShdw blurRad="38100" dist="38100" dir="2700000" algn="tl">
                    <a:srgbClr val="000000">
                      <a:alpha val="43137"/>
                    </a:srgbClr>
                  </a:outerShdw>
                </a:effectLst>
                <a:cs typeface="Times New Roman" pitchFamily="18" charset="0"/>
              </a:rPr>
              <a:t>Cerebral</a:t>
            </a:r>
          </a:p>
          <a:p>
            <a:pPr>
              <a:lnSpc>
                <a:spcPct val="80000"/>
              </a:lnSpc>
              <a:buFont typeface="Wingdings" pitchFamily="2" charset="2"/>
              <a:buChar char="§"/>
            </a:pPr>
            <a:r>
              <a:rPr lang="en-US" sz="2600" dirty="0">
                <a:cs typeface="Times New Roman" pitchFamily="18" charset="0"/>
              </a:rPr>
              <a:t> </a:t>
            </a:r>
            <a:r>
              <a:rPr lang="en-US" sz="2400" dirty="0">
                <a:cs typeface="Times New Roman" pitchFamily="18" charset="0"/>
                <a:sym typeface="Symbol"/>
              </a:rPr>
              <a:t> </a:t>
            </a:r>
            <a:r>
              <a:rPr lang="en-US" sz="2400" dirty="0">
                <a:cs typeface="Times New Roman" pitchFamily="18" charset="0"/>
              </a:rPr>
              <a:t>CMRO2, </a:t>
            </a:r>
            <a:r>
              <a:rPr lang="en-US" sz="2400" dirty="0">
                <a:cs typeface="Times New Roman" pitchFamily="18" charset="0"/>
                <a:sym typeface="Symbol"/>
              </a:rPr>
              <a:t> </a:t>
            </a:r>
            <a:r>
              <a:rPr lang="en-US" sz="2400" dirty="0">
                <a:cs typeface="Times New Roman" pitchFamily="18" charset="0"/>
              </a:rPr>
              <a:t>CBF, and </a:t>
            </a:r>
            <a:r>
              <a:rPr lang="en-US" sz="2400" dirty="0">
                <a:cs typeface="Times New Roman" pitchFamily="18" charset="0"/>
                <a:sym typeface="Symbol"/>
              </a:rPr>
              <a:t> </a:t>
            </a:r>
            <a:r>
              <a:rPr lang="en-US" sz="2400" dirty="0">
                <a:cs typeface="Times New Roman" pitchFamily="18" charset="0"/>
              </a:rPr>
              <a:t>ICP </a:t>
            </a:r>
          </a:p>
          <a:p>
            <a:pPr lvl="1">
              <a:lnSpc>
                <a:spcPct val="80000"/>
              </a:lnSpc>
            </a:pPr>
            <a:r>
              <a:rPr lang="en-US" sz="2400" dirty="0">
                <a:cs typeface="Times New Roman" pitchFamily="18" charset="0"/>
              </a:rPr>
              <a:t>but not to same extent  as barbiturates</a:t>
            </a:r>
          </a:p>
          <a:p>
            <a:pPr>
              <a:lnSpc>
                <a:spcPct val="80000"/>
              </a:lnSpc>
            </a:pPr>
            <a:r>
              <a:rPr lang="en-US" sz="2400" dirty="0">
                <a:cs typeface="Times New Roman" pitchFamily="18" charset="0"/>
              </a:rPr>
              <a:t>Effective in preventing and controlling grand mal seizures</a:t>
            </a:r>
          </a:p>
          <a:p>
            <a:pPr>
              <a:lnSpc>
                <a:spcPct val="80000"/>
              </a:lnSpc>
            </a:pPr>
            <a:r>
              <a:rPr lang="en-US" sz="2400" dirty="0">
                <a:solidFill>
                  <a:srgbClr val="FF0000"/>
                </a:solidFill>
                <a:cs typeface="Times New Roman" pitchFamily="18" charset="0"/>
              </a:rPr>
              <a:t>Antegrade amnesia </a:t>
            </a:r>
            <a:r>
              <a:rPr lang="en-US" sz="2400" dirty="0">
                <a:cs typeface="Times New Roman" pitchFamily="18" charset="0"/>
              </a:rPr>
              <a:t>with oral sedative doses.</a:t>
            </a:r>
          </a:p>
          <a:p>
            <a:pPr>
              <a:lnSpc>
                <a:spcPct val="80000"/>
              </a:lnSpc>
            </a:pPr>
            <a:r>
              <a:rPr lang="en-US" sz="2400" dirty="0">
                <a:cs typeface="Times New Roman" pitchFamily="18" charset="0"/>
              </a:rPr>
              <a:t>Mild- muscle-relaxant property </a:t>
            </a:r>
          </a:p>
          <a:p>
            <a:pPr lvl="1">
              <a:lnSpc>
                <a:spcPct val="80000"/>
              </a:lnSpc>
            </a:pPr>
            <a:r>
              <a:rPr lang="en-US" sz="2200" dirty="0">
                <a:cs typeface="Times New Roman" pitchFamily="18" charset="0"/>
              </a:rPr>
              <a:t>mediated at spinal cord level (not at neuromuscular junction)</a:t>
            </a:r>
          </a:p>
          <a:p>
            <a:pPr>
              <a:lnSpc>
                <a:spcPct val="80000"/>
              </a:lnSpc>
            </a:pPr>
            <a:r>
              <a:rPr lang="en-US" sz="2400" dirty="0">
                <a:cs typeface="Times New Roman" pitchFamily="18" charset="0"/>
              </a:rPr>
              <a:t>Anxiolytic, amnestic, sedative effects seen at low doses progress to unconsciousness at induction doses</a:t>
            </a:r>
          </a:p>
          <a:p>
            <a:pPr algn="just">
              <a:lnSpc>
                <a:spcPct val="80000"/>
              </a:lnSpc>
            </a:pPr>
            <a:r>
              <a:rPr lang="en-US" sz="2400" dirty="0">
                <a:cs typeface="Times New Roman" pitchFamily="18" charset="0"/>
              </a:rPr>
              <a:t>Slower loss of consciousness and longer recovery vs thiopental or propofol</a:t>
            </a:r>
          </a:p>
          <a:p>
            <a:pPr>
              <a:lnSpc>
                <a:spcPct val="80000"/>
              </a:lnSpc>
            </a:pPr>
            <a:r>
              <a:rPr lang="en-US" sz="2400" dirty="0">
                <a:solidFill>
                  <a:srgbClr val="FF0000"/>
                </a:solidFill>
                <a:cs typeface="Times New Roman" pitchFamily="18" charset="0"/>
              </a:rPr>
              <a:t>Lack analgesic properties</a:t>
            </a:r>
          </a:p>
          <a:p>
            <a:endParaRPr lang="en-US" sz="2600" dirty="0">
              <a:cs typeface="Times New Roman" pitchFamily="18" charset="0"/>
            </a:endParaRPr>
          </a:p>
        </p:txBody>
      </p:sp>
    </p:spTree>
    <p:extLst>
      <p:ext uri="{BB962C8B-B14F-4D97-AF65-F5344CB8AC3E}">
        <p14:creationId xmlns:p14="http://schemas.microsoft.com/office/powerpoint/2010/main" val="411265195"/>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solidFill>
                  <a:schemeClr val="tx2">
                    <a:satMod val="130000"/>
                  </a:schemeClr>
                </a:solidFill>
                <a:effectLst>
                  <a:outerShdw blurRad="38100" dist="38100" dir="2700000" algn="tl">
                    <a:srgbClr val="000000">
                      <a:alpha val="43137"/>
                    </a:srgbClr>
                  </a:outerShdw>
                </a:effectLst>
                <a:latin typeface="Agency FB" pitchFamily="34" charset="0"/>
              </a:rPr>
              <a:t>Benzodiazepine: Drug Interactions</a:t>
            </a:r>
            <a:endParaRPr lang="en-US" sz="5400" dirty="0">
              <a:effectLst>
                <a:outerShdw blurRad="38100" dist="38100" dir="2700000" algn="tl">
                  <a:srgbClr val="000000">
                    <a:alpha val="43137"/>
                  </a:srgbClr>
                </a:outerShdw>
              </a:effectLst>
              <a:latin typeface="Agency FB" pitchFamily="34" charset="0"/>
            </a:endParaRPr>
          </a:p>
        </p:txBody>
      </p:sp>
      <p:sp>
        <p:nvSpPr>
          <p:cNvPr id="3" name="Content Placeholder 2"/>
          <p:cNvSpPr>
            <a:spLocks noGrp="1"/>
          </p:cNvSpPr>
          <p:nvPr>
            <p:ph idx="1"/>
          </p:nvPr>
        </p:nvSpPr>
        <p:spPr>
          <a:xfrm>
            <a:off x="457200" y="1600200"/>
            <a:ext cx="8458200" cy="4876800"/>
          </a:xfrm>
        </p:spPr>
        <p:txBody>
          <a:bodyPr>
            <a:noAutofit/>
          </a:bodyPr>
          <a:lstStyle/>
          <a:p>
            <a:pPr>
              <a:lnSpc>
                <a:spcPct val="80000"/>
              </a:lnSpc>
            </a:pPr>
            <a:r>
              <a:rPr lang="en-US" sz="2400" dirty="0">
                <a:cs typeface="Times New Roman" pitchFamily="18" charset="0"/>
              </a:rPr>
              <a:t>Cimetidine binds to cytochrome P-450 </a:t>
            </a:r>
          </a:p>
          <a:p>
            <a:pPr lvl="1">
              <a:lnSpc>
                <a:spcPct val="80000"/>
              </a:lnSpc>
            </a:pPr>
            <a:r>
              <a:rPr lang="en-US" sz="2400" dirty="0">
                <a:cs typeface="Times New Roman" pitchFamily="18" charset="0"/>
              </a:rPr>
              <a:t>reduces metabolism of diazepam</a:t>
            </a:r>
          </a:p>
          <a:p>
            <a:pPr>
              <a:lnSpc>
                <a:spcPct val="80000"/>
              </a:lnSpc>
            </a:pPr>
            <a:r>
              <a:rPr lang="en-US" sz="2400" dirty="0">
                <a:cs typeface="Times New Roman" pitchFamily="18" charset="0"/>
              </a:rPr>
              <a:t>Erythromycin inhibits metabolism of midazolam </a:t>
            </a:r>
          </a:p>
          <a:p>
            <a:pPr lvl="1">
              <a:lnSpc>
                <a:spcPct val="80000"/>
              </a:lnSpc>
            </a:pPr>
            <a:r>
              <a:rPr lang="en-US" sz="2400" dirty="0">
                <a:cs typeface="Times New Roman" pitchFamily="18" charset="0"/>
              </a:rPr>
              <a:t> causes 2-3x prolongation and intensification of its effects</a:t>
            </a:r>
          </a:p>
          <a:p>
            <a:pPr>
              <a:lnSpc>
                <a:spcPct val="80000"/>
              </a:lnSpc>
            </a:pPr>
            <a:r>
              <a:rPr lang="en-US" sz="2400" dirty="0">
                <a:cs typeface="Times New Roman" pitchFamily="18" charset="0"/>
              </a:rPr>
              <a:t>Heparin displaces diazepam from protein-binding sites </a:t>
            </a:r>
          </a:p>
          <a:p>
            <a:pPr lvl="1">
              <a:lnSpc>
                <a:spcPct val="80000"/>
              </a:lnSpc>
            </a:pPr>
            <a:r>
              <a:rPr lang="en-US" sz="2400" dirty="0">
                <a:cs typeface="Times New Roman" pitchFamily="18" charset="0"/>
                <a:sym typeface="Symbol"/>
              </a:rPr>
              <a:t></a:t>
            </a:r>
            <a:r>
              <a:rPr lang="en-US" sz="2400" dirty="0">
                <a:cs typeface="Times New Roman" pitchFamily="18" charset="0"/>
              </a:rPr>
              <a:t>es free drug concentration (200% </a:t>
            </a:r>
            <a:r>
              <a:rPr lang="en-US" sz="2400" dirty="0">
                <a:cs typeface="Times New Roman" pitchFamily="18" charset="0"/>
                <a:sym typeface="Symbol"/>
              </a:rPr>
              <a:t></a:t>
            </a:r>
            <a:r>
              <a:rPr lang="en-US" sz="2400" dirty="0">
                <a:cs typeface="Times New Roman" pitchFamily="18" charset="0"/>
              </a:rPr>
              <a:t>after 1000 units of heparin)</a:t>
            </a:r>
          </a:p>
          <a:p>
            <a:pPr>
              <a:lnSpc>
                <a:spcPct val="80000"/>
              </a:lnSpc>
            </a:pPr>
            <a:r>
              <a:rPr lang="en-US" sz="2400" dirty="0">
                <a:cs typeface="Times New Roman" pitchFamily="18" charset="0"/>
              </a:rPr>
              <a:t>Combination of opioids and diazepam reduce BP and PVR, </a:t>
            </a:r>
          </a:p>
          <a:p>
            <a:pPr lvl="1">
              <a:lnSpc>
                <a:spcPct val="80000"/>
              </a:lnSpc>
            </a:pPr>
            <a:r>
              <a:rPr lang="en-US" sz="2400" dirty="0">
                <a:cs typeface="Times New Roman" pitchFamily="18" charset="0"/>
              </a:rPr>
              <a:t>Especially pronounced in pts. with ischemic or VHD</a:t>
            </a:r>
          </a:p>
          <a:p>
            <a:pPr>
              <a:lnSpc>
                <a:spcPct val="80000"/>
              </a:lnSpc>
            </a:pPr>
            <a:r>
              <a:rPr lang="en-US" sz="2400" dirty="0">
                <a:cs typeface="Times New Roman" pitchFamily="18" charset="0"/>
              </a:rPr>
              <a:t>Reduce MAC of volatile anesthetics up to 30%.</a:t>
            </a:r>
          </a:p>
          <a:p>
            <a:pPr>
              <a:lnSpc>
                <a:spcPct val="80000"/>
              </a:lnSpc>
            </a:pPr>
            <a:r>
              <a:rPr lang="en-US" sz="2400" dirty="0">
                <a:cs typeface="Times New Roman" pitchFamily="18" charset="0"/>
              </a:rPr>
              <a:t>Ethanol, barbiturates, other CNS system depressants</a:t>
            </a:r>
          </a:p>
          <a:p>
            <a:pPr lvl="1">
              <a:lnSpc>
                <a:spcPct val="80000"/>
              </a:lnSpc>
              <a:buFont typeface="Wingdings" pitchFamily="2" charset="2"/>
              <a:buChar char="ü"/>
            </a:pPr>
            <a:r>
              <a:rPr lang="en-US" sz="2400" dirty="0">
                <a:solidFill>
                  <a:srgbClr val="FF0000"/>
                </a:solidFill>
                <a:cs typeface="Times New Roman" pitchFamily="18" charset="0"/>
              </a:rPr>
              <a:t>potentiate sedative effects of benzodiazepines</a:t>
            </a:r>
          </a:p>
          <a:p>
            <a:endParaRPr lang="en-US" sz="2400" dirty="0">
              <a:cs typeface="Times New Roman" pitchFamily="18" charset="0"/>
            </a:endParaRPr>
          </a:p>
        </p:txBody>
      </p:sp>
    </p:spTree>
    <p:extLst>
      <p:ext uri="{BB962C8B-B14F-4D97-AF65-F5344CB8AC3E}">
        <p14:creationId xmlns:p14="http://schemas.microsoft.com/office/powerpoint/2010/main" val="3224184237"/>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709C6-B313-722D-70FE-84EE709025B6}"/>
              </a:ext>
            </a:extLst>
          </p:cNvPr>
          <p:cNvSpPr>
            <a:spLocks noGrp="1"/>
          </p:cNvSpPr>
          <p:nvPr>
            <p:ph type="title"/>
          </p:nvPr>
        </p:nvSpPr>
        <p:spPr/>
        <p:txBody>
          <a:bodyPr/>
          <a:lstStyle/>
          <a:p>
            <a:r>
              <a:rPr lang="en-US" sz="4400" dirty="0"/>
              <a:t>Cont.…</a:t>
            </a:r>
            <a:endParaRPr lang="en-US" dirty="0"/>
          </a:p>
        </p:txBody>
      </p:sp>
      <p:sp>
        <p:nvSpPr>
          <p:cNvPr id="3" name="Content Placeholder 2">
            <a:extLst>
              <a:ext uri="{FF2B5EF4-FFF2-40B4-BE49-F238E27FC236}">
                <a16:creationId xmlns:a16="http://schemas.microsoft.com/office/drawing/2014/main" id="{A77C5FE7-523B-27B7-68B4-BE3177DE1699}"/>
              </a:ext>
            </a:extLst>
          </p:cNvPr>
          <p:cNvSpPr>
            <a:spLocks noGrp="1"/>
          </p:cNvSpPr>
          <p:nvPr>
            <p:ph idx="1"/>
          </p:nvPr>
        </p:nvSpPr>
        <p:spPr/>
        <p:txBody>
          <a:bodyPr>
            <a:normAutofit/>
          </a:bodyPr>
          <a:lstStyle/>
          <a:p>
            <a:r>
              <a:rPr lang="en-US" sz="3600" b="1" dirty="0"/>
              <a:t>Side Effects</a:t>
            </a:r>
          </a:p>
          <a:p>
            <a:r>
              <a:rPr lang="en-US" sz="2400" dirty="0"/>
              <a:t>Associated with limited adverse events.</a:t>
            </a:r>
          </a:p>
          <a:p>
            <a:pPr lvl="1"/>
            <a:r>
              <a:rPr lang="en-US" sz="2400" dirty="0"/>
              <a:t>Hypotension in hypovolemic patients</a:t>
            </a:r>
          </a:p>
          <a:p>
            <a:pPr lvl="1"/>
            <a:r>
              <a:rPr lang="en-US" sz="2400" dirty="0"/>
              <a:t>Respiratory depression—particularly when combined with opioids (synergistic reaction)</a:t>
            </a:r>
          </a:p>
          <a:p>
            <a:pPr lvl="1"/>
            <a:r>
              <a:rPr lang="en-US" sz="2400" dirty="0"/>
              <a:t>Anaphylaxis (extremely rare)</a:t>
            </a:r>
          </a:p>
          <a:p>
            <a:pPr lvl="1"/>
            <a:r>
              <a:rPr lang="en-US" sz="2400" dirty="0"/>
              <a:t>Pain or thrombophlebitis following IV injection, especially diazepam</a:t>
            </a:r>
            <a:endParaRPr lang="en-US" sz="2000" dirty="0"/>
          </a:p>
        </p:txBody>
      </p:sp>
    </p:spTree>
    <p:extLst>
      <p:ext uri="{BB962C8B-B14F-4D97-AF65-F5344CB8AC3E}">
        <p14:creationId xmlns:p14="http://schemas.microsoft.com/office/powerpoint/2010/main" val="1196857850"/>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000" dirty="0">
                <a:effectLst>
                  <a:outerShdw blurRad="38100" dist="38100" dir="2700000" algn="tl">
                    <a:srgbClr val="000000">
                      <a:alpha val="43137"/>
                    </a:srgbClr>
                  </a:outerShdw>
                </a:effectLst>
                <a:latin typeface="Agency FB" pitchFamily="34" charset="0"/>
              </a:rPr>
              <a:t>Diazepam</a:t>
            </a:r>
            <a:endParaRPr lang="en-US" dirty="0">
              <a:effectLst>
                <a:outerShdw blurRad="38100" dist="38100" dir="2700000" algn="tl">
                  <a:srgbClr val="000000">
                    <a:alpha val="43137"/>
                  </a:srgbClr>
                </a:outerShdw>
              </a:effectLst>
              <a:latin typeface="Agency FB" pitchFamily="34" charset="0"/>
            </a:endParaRPr>
          </a:p>
        </p:txBody>
      </p:sp>
      <p:sp>
        <p:nvSpPr>
          <p:cNvPr id="3" name="Content Placeholder 2"/>
          <p:cNvSpPr>
            <a:spLocks noGrp="1"/>
          </p:cNvSpPr>
          <p:nvPr>
            <p:ph idx="1"/>
          </p:nvPr>
        </p:nvSpPr>
        <p:spPr>
          <a:xfrm>
            <a:off x="457200" y="1600200"/>
            <a:ext cx="8305800" cy="4525963"/>
          </a:xfrm>
        </p:spPr>
        <p:txBody>
          <a:bodyPr>
            <a:normAutofit/>
          </a:bodyPr>
          <a:lstStyle/>
          <a:p>
            <a:r>
              <a:rPr lang="en-US" sz="2400" dirty="0">
                <a:cs typeface="Times New Roman" pitchFamily="18" charset="0"/>
              </a:rPr>
              <a:t>It  was synthesized in 1963 and it was used intravenously to induce anesthesia in 1965.</a:t>
            </a:r>
          </a:p>
          <a:p>
            <a:r>
              <a:rPr lang="en-US" sz="2400" dirty="0">
                <a:cs typeface="Times New Roman" pitchFamily="18" charset="0"/>
              </a:rPr>
              <a:t>It is available in oral &amp; intravenous forms</a:t>
            </a:r>
          </a:p>
          <a:p>
            <a:r>
              <a:rPr lang="en-US" sz="2400" dirty="0">
                <a:cs typeface="Times New Roman" pitchFamily="18" charset="0"/>
              </a:rPr>
              <a:t>Intermediate duration of action (15-30 min).</a:t>
            </a:r>
          </a:p>
          <a:p>
            <a:r>
              <a:rPr lang="en-US" sz="2400" dirty="0">
                <a:cs typeface="Times New Roman" pitchFamily="18" charset="0"/>
              </a:rPr>
              <a:t>Highly protein bound (98%).</a:t>
            </a:r>
          </a:p>
          <a:p>
            <a:r>
              <a:rPr lang="en-US" sz="2400" dirty="0">
                <a:cs typeface="Times New Roman" pitchFamily="18" charset="0"/>
              </a:rPr>
              <a:t>Slow hepatic clearance</a:t>
            </a:r>
          </a:p>
          <a:p>
            <a:r>
              <a:rPr lang="en-US" sz="2400" dirty="0">
                <a:cs typeface="Times New Roman" pitchFamily="18" charset="0"/>
              </a:rPr>
              <a:t>Long elimination half life (20-50 hr.)</a:t>
            </a:r>
          </a:p>
          <a:p>
            <a:r>
              <a:rPr lang="en-US" sz="2400" dirty="0">
                <a:cs typeface="Times New Roman" pitchFamily="18" charset="0"/>
              </a:rPr>
              <a:t>High oral bioavailability (94%)</a:t>
            </a:r>
          </a:p>
          <a:p>
            <a:r>
              <a:rPr lang="en-US" sz="2400" dirty="0">
                <a:cs typeface="Times New Roman" pitchFamily="18" charset="0"/>
              </a:rPr>
              <a:t>Very lipid soluble, rapidly penetrates blood-brain barrier</a:t>
            </a:r>
          </a:p>
          <a:p>
            <a:endParaRPr lang="en-US" sz="2400" dirty="0">
              <a:cs typeface="Times New Roman" pitchFamily="18" charset="0"/>
            </a:endParaRPr>
          </a:p>
          <a:p>
            <a:endParaRPr lang="en-US" sz="2600" dirty="0">
              <a:cs typeface="Times New Roman" pitchFamily="18" charset="0"/>
            </a:endParaRPr>
          </a:p>
          <a:p>
            <a:endParaRPr lang="en-US" sz="2600" dirty="0">
              <a:cs typeface="Times New Roman" pitchFamily="18" charset="0"/>
            </a:endParaRPr>
          </a:p>
        </p:txBody>
      </p:sp>
    </p:spTree>
    <p:extLst>
      <p:ext uri="{BB962C8B-B14F-4D97-AF65-F5344CB8AC3E}">
        <p14:creationId xmlns:p14="http://schemas.microsoft.com/office/powerpoint/2010/main" val="191836563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E5D2A-A2ED-841A-2C70-A79669184A81}"/>
              </a:ext>
            </a:extLst>
          </p:cNvPr>
          <p:cNvSpPr>
            <a:spLocks noGrp="1"/>
          </p:cNvSpPr>
          <p:nvPr>
            <p:ph type="title"/>
          </p:nvPr>
        </p:nvSpPr>
        <p:spPr/>
        <p:txBody>
          <a:bodyPr/>
          <a:lstStyle/>
          <a:p>
            <a:r>
              <a:rPr lang="en-US" sz="4400" dirty="0"/>
              <a:t>Cont.…</a:t>
            </a:r>
            <a:endParaRPr lang="en-US" dirty="0"/>
          </a:p>
        </p:txBody>
      </p:sp>
      <p:sp>
        <p:nvSpPr>
          <p:cNvPr id="3" name="Content Placeholder 2">
            <a:extLst>
              <a:ext uri="{FF2B5EF4-FFF2-40B4-BE49-F238E27FC236}">
                <a16:creationId xmlns:a16="http://schemas.microsoft.com/office/drawing/2014/main" id="{4628FD42-DA8D-33F7-065B-F10475EB4DB2}"/>
              </a:ext>
            </a:extLst>
          </p:cNvPr>
          <p:cNvSpPr>
            <a:spLocks noGrp="1"/>
          </p:cNvSpPr>
          <p:nvPr>
            <p:ph idx="1"/>
          </p:nvPr>
        </p:nvSpPr>
        <p:spPr/>
        <p:txBody>
          <a:bodyPr>
            <a:noAutofit/>
          </a:bodyPr>
          <a:lstStyle/>
          <a:p>
            <a:r>
              <a:rPr lang="en-US" sz="2400" dirty="0">
                <a:cs typeface="Times New Roman" pitchFamily="18" charset="0"/>
              </a:rPr>
              <a:t>IV diazepam use ↓</a:t>
            </a:r>
            <a:r>
              <a:rPr lang="en-US" sz="2400" baseline="-25000" dirty="0">
                <a:cs typeface="Times New Roman" pitchFamily="18" charset="0"/>
              </a:rPr>
              <a:t>ed</a:t>
            </a:r>
            <a:r>
              <a:rPr lang="en-US" sz="2400" dirty="0">
                <a:cs typeface="Times New Roman" pitchFamily="18" charset="0"/>
              </a:rPr>
              <a:t>  because of the advent of midazolam.</a:t>
            </a:r>
          </a:p>
          <a:p>
            <a:endParaRPr lang="en-US" sz="2400" dirty="0">
              <a:cs typeface="Times New Roman" pitchFamily="18" charset="0"/>
            </a:endParaRPr>
          </a:p>
          <a:p>
            <a:r>
              <a:rPr lang="en-US" sz="2400" dirty="0">
                <a:cs typeface="Times New Roman" pitchFamily="18" charset="0"/>
              </a:rPr>
              <a:t>Insoluble in water, </a:t>
            </a:r>
          </a:p>
          <a:p>
            <a:pPr lvl="1"/>
            <a:r>
              <a:rPr lang="en-US" sz="2400" dirty="0">
                <a:cs typeface="Times New Roman" pitchFamily="18" charset="0"/>
              </a:rPr>
              <a:t>so parenteral preparations contain propylene glycol, which can produce venous irritation</a:t>
            </a:r>
          </a:p>
          <a:p>
            <a:endParaRPr lang="en-US" sz="2400" dirty="0">
              <a:cs typeface="Times New Roman" pitchFamily="18" charset="0"/>
            </a:endParaRPr>
          </a:p>
          <a:p>
            <a:r>
              <a:rPr lang="en-US" sz="2400" dirty="0">
                <a:cs typeface="Times New Roman" pitchFamily="18" charset="0"/>
              </a:rPr>
              <a:t>Dilution with water  causes cloudiness.</a:t>
            </a:r>
          </a:p>
          <a:p>
            <a:r>
              <a:rPr lang="en-US" sz="2400" dirty="0">
                <a:cs typeface="Times New Roman" pitchFamily="18" charset="0"/>
              </a:rPr>
              <a:t>IV or IM injection is painful &amp; thrombophlebitis</a:t>
            </a:r>
          </a:p>
          <a:p>
            <a:pPr lvl="1"/>
            <a:r>
              <a:rPr lang="en-US" sz="2400" dirty="0">
                <a:solidFill>
                  <a:srgbClr val="FF0000"/>
                </a:solidFill>
                <a:cs typeface="Times New Roman" pitchFamily="18" charset="0"/>
              </a:rPr>
              <a:t> propylene glycol</a:t>
            </a:r>
          </a:p>
          <a:p>
            <a:pPr lvl="1">
              <a:buFont typeface="Wingdings" pitchFamily="2" charset="2"/>
              <a:buChar char="ü"/>
            </a:pPr>
            <a:r>
              <a:rPr lang="en-US" sz="2400" dirty="0">
                <a:cs typeface="Times New Roman" pitchFamily="18" charset="0"/>
              </a:rPr>
              <a:t>Pain on injection can be minimized by dilution &amp; use of  large veins</a:t>
            </a:r>
          </a:p>
          <a:p>
            <a:endParaRPr lang="en-US" sz="2400" dirty="0"/>
          </a:p>
        </p:txBody>
      </p:sp>
    </p:spTree>
    <p:extLst>
      <p:ext uri="{BB962C8B-B14F-4D97-AF65-F5344CB8AC3E}">
        <p14:creationId xmlns:p14="http://schemas.microsoft.com/office/powerpoint/2010/main" val="156005415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Cont.…</a:t>
            </a:r>
            <a:endParaRPr lang="en-US" dirty="0"/>
          </a:p>
        </p:txBody>
      </p:sp>
      <p:sp>
        <p:nvSpPr>
          <p:cNvPr id="3" name="Content Placeholder 2"/>
          <p:cNvSpPr>
            <a:spLocks noGrp="1"/>
          </p:cNvSpPr>
          <p:nvPr>
            <p:ph idx="1"/>
          </p:nvPr>
        </p:nvSpPr>
        <p:spPr/>
        <p:txBody>
          <a:bodyPr>
            <a:normAutofit fontScale="92500" lnSpcReduction="10000"/>
          </a:bodyPr>
          <a:lstStyle/>
          <a:p>
            <a:r>
              <a:rPr lang="en-US" sz="3600" dirty="0">
                <a:effectLst>
                  <a:outerShdw blurRad="38100" dist="38100" dir="2700000" algn="tl">
                    <a:srgbClr val="000000">
                      <a:alpha val="43137"/>
                    </a:srgbClr>
                  </a:outerShdw>
                </a:effectLst>
                <a:cs typeface="Times New Roman" pitchFamily="18" charset="0"/>
              </a:rPr>
              <a:t>Clinical Uses</a:t>
            </a:r>
          </a:p>
          <a:p>
            <a:pPr lvl="1"/>
            <a:r>
              <a:rPr lang="en-US" dirty="0">
                <a:cs typeface="Times New Roman" pitchFamily="18" charset="0"/>
              </a:rPr>
              <a:t> Premedication</a:t>
            </a:r>
          </a:p>
          <a:p>
            <a:pPr lvl="2"/>
            <a:r>
              <a:rPr lang="en-US" b="0" i="0" u="none" strike="noStrike" baseline="0" dirty="0">
                <a:solidFill>
                  <a:srgbClr val="000000"/>
                </a:solidFill>
              </a:rPr>
              <a:t>The goals of this application are anxiolysis, sedation, amnesia, vagolysis, and </a:t>
            </a:r>
            <a:r>
              <a:rPr lang="en-US" b="0" i="0" u="none" strike="noStrike" baseline="0" dirty="0" err="1">
                <a:solidFill>
                  <a:srgbClr val="000000"/>
                </a:solidFill>
              </a:rPr>
              <a:t>sympathicolysis</a:t>
            </a:r>
            <a:r>
              <a:rPr lang="en-US" b="0" i="0" u="none" strike="noStrike" baseline="0" dirty="0">
                <a:solidFill>
                  <a:srgbClr val="000000"/>
                </a:solidFill>
              </a:rPr>
              <a:t>, and reduction of PONV.</a:t>
            </a:r>
            <a:endParaRPr lang="en-US" sz="4000" dirty="0">
              <a:cs typeface="Times New Roman" pitchFamily="18" charset="0"/>
            </a:endParaRPr>
          </a:p>
          <a:p>
            <a:pPr lvl="1"/>
            <a:r>
              <a:rPr lang="en-US" dirty="0">
                <a:cs typeface="Times New Roman" pitchFamily="18" charset="0"/>
              </a:rPr>
              <a:t> For induction of anaesthesia for risk pts.</a:t>
            </a:r>
          </a:p>
          <a:p>
            <a:pPr lvl="1"/>
            <a:r>
              <a:rPr lang="en-US" dirty="0">
                <a:cs typeface="Times New Roman" pitchFamily="18" charset="0"/>
              </a:rPr>
              <a:t> Sedation during regional anaesthesia</a:t>
            </a:r>
          </a:p>
          <a:p>
            <a:pPr lvl="1"/>
            <a:r>
              <a:rPr lang="en-US" dirty="0">
                <a:cs typeface="Times New Roman" pitchFamily="18" charset="0"/>
              </a:rPr>
              <a:t> To reduce hallucination after Ketamine &amp; control post-operative restlessness.</a:t>
            </a:r>
          </a:p>
          <a:p>
            <a:pPr lvl="1"/>
            <a:r>
              <a:rPr lang="en-US" dirty="0">
                <a:cs typeface="Times New Roman" pitchFamily="18" charset="0"/>
              </a:rPr>
              <a:t>Anticonvulsant.</a:t>
            </a:r>
          </a:p>
          <a:p>
            <a:pPr lvl="1"/>
            <a:r>
              <a:rPr lang="en-US" dirty="0">
                <a:cs typeface="Times New Roman" pitchFamily="18" charset="0"/>
              </a:rPr>
              <a:t>For skeletal muscle relaxation.</a:t>
            </a:r>
          </a:p>
          <a:p>
            <a:pPr lvl="1"/>
            <a:endParaRPr lang="en-US" dirty="0">
              <a:cs typeface="Times New Roman" pitchFamily="18" charset="0"/>
            </a:endParaRPr>
          </a:p>
          <a:p>
            <a:pPr lvl="1"/>
            <a:endParaRPr lang="en-US" dirty="0">
              <a:cs typeface="Times New Roman" pitchFamily="18" charset="0"/>
            </a:endParaRPr>
          </a:p>
        </p:txBody>
      </p:sp>
    </p:spTree>
    <p:extLst>
      <p:ext uri="{BB962C8B-B14F-4D97-AF65-F5344CB8AC3E}">
        <p14:creationId xmlns:p14="http://schemas.microsoft.com/office/powerpoint/2010/main" val="214725169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7200" dirty="0">
                <a:effectLst>
                  <a:outerShdw blurRad="38100" dist="38100" dir="2700000" algn="tl">
                    <a:srgbClr val="000000">
                      <a:alpha val="43137"/>
                    </a:srgbClr>
                  </a:outerShdw>
                </a:effectLst>
                <a:latin typeface="+mn-lt"/>
              </a:rPr>
              <a:t>Dose</a:t>
            </a:r>
            <a:endParaRPr lang="en-US" dirty="0">
              <a:effectLst>
                <a:outerShdw blurRad="38100" dist="38100" dir="2700000" algn="tl">
                  <a:srgbClr val="000000">
                    <a:alpha val="43137"/>
                  </a:srgbClr>
                </a:outerShdw>
              </a:effectLst>
              <a:latin typeface="+mn-lt"/>
            </a:endParaRPr>
          </a:p>
        </p:txBody>
      </p:sp>
      <p:sp>
        <p:nvSpPr>
          <p:cNvPr id="3" name="Content Placeholder 2"/>
          <p:cNvSpPr>
            <a:spLocks noGrp="1"/>
          </p:cNvSpPr>
          <p:nvPr>
            <p:ph idx="1"/>
          </p:nvPr>
        </p:nvSpPr>
        <p:spPr/>
        <p:txBody>
          <a:bodyPr/>
          <a:lstStyle/>
          <a:p>
            <a:pPr>
              <a:lnSpc>
                <a:spcPct val="80000"/>
              </a:lnSpc>
              <a:buNone/>
            </a:pPr>
            <a:r>
              <a:rPr lang="en-US" dirty="0">
                <a:effectLst>
                  <a:outerShdw blurRad="38100" dist="38100" dir="2700000" algn="tl">
                    <a:srgbClr val="000000">
                      <a:alpha val="43137"/>
                    </a:srgbClr>
                  </a:outerShdw>
                </a:effectLst>
                <a:cs typeface="Times New Roman" pitchFamily="18" charset="0"/>
              </a:rPr>
              <a:t>Diazepam  	</a:t>
            </a:r>
          </a:p>
          <a:p>
            <a:pPr>
              <a:lnSpc>
                <a:spcPct val="80000"/>
              </a:lnSpc>
              <a:buNone/>
            </a:pPr>
            <a:r>
              <a:rPr lang="en-US" dirty="0">
                <a:cs typeface="Times New Roman" pitchFamily="18" charset="0"/>
              </a:rPr>
              <a:t>Premedication	       Oral		0.2-0.5 mg/kg</a:t>
            </a:r>
          </a:p>
          <a:p>
            <a:pPr>
              <a:lnSpc>
                <a:spcPct val="80000"/>
              </a:lnSpc>
              <a:buNone/>
            </a:pPr>
            <a:r>
              <a:rPr lang="en-US" dirty="0">
                <a:cs typeface="Times New Roman" pitchFamily="18" charset="0"/>
              </a:rPr>
              <a:t>Sedation		        IV		0.04-0.2 mg/kg</a:t>
            </a:r>
          </a:p>
          <a:p>
            <a:pPr>
              <a:lnSpc>
                <a:spcPct val="80000"/>
              </a:lnSpc>
              <a:buNone/>
            </a:pPr>
            <a:r>
              <a:rPr lang="en-US" dirty="0">
                <a:cs typeface="Times New Roman" pitchFamily="18" charset="0"/>
              </a:rPr>
              <a:t>Induction		        IV		0.3-0.6 mg/kg</a:t>
            </a:r>
          </a:p>
          <a:p>
            <a:endParaRPr lang="en-US" dirty="0">
              <a:cs typeface="Times New Roman" pitchFamily="18" charset="0"/>
            </a:endParaRPr>
          </a:p>
        </p:txBody>
      </p:sp>
    </p:spTree>
    <p:extLst>
      <p:ext uri="{BB962C8B-B14F-4D97-AF65-F5344CB8AC3E}">
        <p14:creationId xmlns:p14="http://schemas.microsoft.com/office/powerpoint/2010/main" val="1008265350"/>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sz="6000" dirty="0">
                <a:effectLst>
                  <a:outerShdw blurRad="38100" dist="38100" dir="2700000" algn="tl">
                    <a:srgbClr val="000000">
                      <a:alpha val="43137"/>
                    </a:srgbClr>
                  </a:outerShdw>
                </a:effectLst>
                <a:latin typeface="+mn-lt"/>
              </a:rPr>
              <a:t>Midazolam</a:t>
            </a:r>
            <a:endParaRPr lang="en-US" dirty="0">
              <a:effectLst>
                <a:outerShdw blurRad="38100" dist="38100" dir="2700000" algn="tl">
                  <a:srgbClr val="000000">
                    <a:alpha val="43137"/>
                  </a:srgbClr>
                </a:outerShdw>
              </a:effectLst>
              <a:latin typeface="+mn-lt"/>
            </a:endParaRPr>
          </a:p>
        </p:txBody>
      </p:sp>
      <p:sp>
        <p:nvSpPr>
          <p:cNvPr id="3" name="Content Placeholder 2"/>
          <p:cNvSpPr>
            <a:spLocks noGrp="1"/>
          </p:cNvSpPr>
          <p:nvPr>
            <p:ph idx="1"/>
          </p:nvPr>
        </p:nvSpPr>
        <p:spPr/>
        <p:txBody>
          <a:bodyPr>
            <a:noAutofit/>
          </a:bodyPr>
          <a:lstStyle/>
          <a:p>
            <a:r>
              <a:rPr lang="en-US" sz="2400" dirty="0">
                <a:cs typeface="Times New Roman" pitchFamily="18" charset="0"/>
              </a:rPr>
              <a:t>First discovered in 1976.</a:t>
            </a:r>
          </a:p>
          <a:p>
            <a:r>
              <a:rPr lang="en-US" sz="2400" dirty="0">
                <a:cs typeface="Times New Roman" pitchFamily="18" charset="0"/>
              </a:rPr>
              <a:t>It is the most widely used BZDs in the perioperative period.</a:t>
            </a:r>
          </a:p>
          <a:p>
            <a:r>
              <a:rPr lang="en-US" sz="2400" dirty="0">
                <a:cs typeface="Times New Roman" pitchFamily="18" charset="0"/>
              </a:rPr>
              <a:t>Faster onset of action after IV administration</a:t>
            </a:r>
          </a:p>
          <a:p>
            <a:pPr lvl="1"/>
            <a:r>
              <a:rPr lang="en-US" sz="2400" dirty="0">
                <a:cs typeface="Times New Roman" pitchFamily="18" charset="0"/>
              </a:rPr>
              <a:t>peak effect reached within 2 to 3 minutes</a:t>
            </a:r>
          </a:p>
          <a:p>
            <a:r>
              <a:rPr lang="en-US" altLang="zh-TW" sz="2400" dirty="0">
                <a:cs typeface="Times New Roman" pitchFamily="18" charset="0"/>
              </a:rPr>
              <a:t>Shorter duration of action (15-20 min) vs. diazepam. </a:t>
            </a:r>
          </a:p>
          <a:p>
            <a:r>
              <a:rPr lang="en-US" altLang="zh-TW" sz="2400" dirty="0">
                <a:cs typeface="Times New Roman" pitchFamily="18" charset="0"/>
              </a:rPr>
              <a:t>High hepatic clearance</a:t>
            </a:r>
          </a:p>
          <a:p>
            <a:r>
              <a:rPr lang="en-US" sz="2400" b="0" i="0" u="none" strike="noStrike" baseline="0" dirty="0">
                <a:solidFill>
                  <a:srgbClr val="000000"/>
                </a:solidFill>
              </a:rPr>
              <a:t>High protein binding: 94% to 98%.</a:t>
            </a:r>
            <a:endParaRPr lang="en-US" altLang="zh-TW" sz="2400" dirty="0">
              <a:cs typeface="Times New Roman" pitchFamily="18" charset="0"/>
            </a:endParaRPr>
          </a:p>
          <a:p>
            <a:r>
              <a:rPr lang="en-US" altLang="zh-TW" sz="2400" dirty="0">
                <a:cs typeface="Times New Roman" pitchFamily="18" charset="0"/>
              </a:rPr>
              <a:t>Short elimination half-life (1.8-2.6 hr.) vs. diazepam</a:t>
            </a:r>
          </a:p>
          <a:p>
            <a:r>
              <a:rPr lang="en-US" altLang="zh-TW" sz="2400" dirty="0">
                <a:cs typeface="Times New Roman" pitchFamily="18" charset="0"/>
              </a:rPr>
              <a:t>Minimal side-effect</a:t>
            </a:r>
          </a:p>
          <a:p>
            <a:r>
              <a:rPr lang="en-US" altLang="zh-TW" sz="2400" dirty="0">
                <a:cs typeface="Times New Roman" pitchFamily="18" charset="0"/>
              </a:rPr>
              <a:t>It is 3 to 6 times as potent as diazepam</a:t>
            </a:r>
          </a:p>
          <a:p>
            <a:endParaRPr lang="en-US" sz="2400" dirty="0"/>
          </a:p>
          <a:p>
            <a:endParaRPr lang="en-US" sz="2400" dirty="0"/>
          </a:p>
        </p:txBody>
      </p:sp>
    </p:spTree>
    <p:extLst>
      <p:ext uri="{BB962C8B-B14F-4D97-AF65-F5344CB8AC3E}">
        <p14:creationId xmlns:p14="http://schemas.microsoft.com/office/powerpoint/2010/main" val="417688073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AB077-F09F-38BB-D935-14BB72E1549E}"/>
              </a:ext>
            </a:extLst>
          </p:cNvPr>
          <p:cNvSpPr>
            <a:spLocks noGrp="1"/>
          </p:cNvSpPr>
          <p:nvPr>
            <p:ph type="title"/>
          </p:nvPr>
        </p:nvSpPr>
        <p:spPr/>
        <p:txBody>
          <a:bodyPr/>
          <a:lstStyle/>
          <a:p>
            <a:r>
              <a:rPr lang="en-US" sz="4400" dirty="0"/>
              <a:t>Cont.…</a:t>
            </a:r>
            <a:endParaRPr lang="en-US" dirty="0"/>
          </a:p>
        </p:txBody>
      </p:sp>
      <p:sp>
        <p:nvSpPr>
          <p:cNvPr id="3" name="Content Placeholder 2">
            <a:extLst>
              <a:ext uri="{FF2B5EF4-FFF2-40B4-BE49-F238E27FC236}">
                <a16:creationId xmlns:a16="http://schemas.microsoft.com/office/drawing/2014/main" id="{09DC15A6-AE49-44CB-DE61-D2E7263EC39B}"/>
              </a:ext>
            </a:extLst>
          </p:cNvPr>
          <p:cNvSpPr>
            <a:spLocks noGrp="1"/>
          </p:cNvSpPr>
          <p:nvPr>
            <p:ph idx="1"/>
          </p:nvPr>
        </p:nvSpPr>
        <p:spPr/>
        <p:txBody>
          <a:bodyPr>
            <a:normAutofit/>
          </a:bodyPr>
          <a:lstStyle/>
          <a:p>
            <a:r>
              <a:rPr lang="en-US" sz="2400" b="0" i="0" u="none" strike="noStrike" baseline="0" dirty="0">
                <a:solidFill>
                  <a:srgbClr val="000000"/>
                </a:solidFill>
              </a:rPr>
              <a:t>Low oral bioavailability (less than 50%)</a:t>
            </a:r>
          </a:p>
          <a:p>
            <a:pPr lvl="1"/>
            <a:r>
              <a:rPr lang="en-US" sz="2400" b="0" i="0" u="none" strike="noStrike" baseline="0" dirty="0">
                <a:solidFill>
                  <a:srgbClr val="000000"/>
                </a:solidFill>
              </a:rPr>
              <a:t> due to a significant first-pass metabolism in the intestinal wall and the liver</a:t>
            </a:r>
            <a:endParaRPr lang="en-US" altLang="zh-TW" sz="2400" dirty="0">
              <a:cs typeface="Times New Roman" pitchFamily="18" charset="0"/>
            </a:endParaRPr>
          </a:p>
          <a:p>
            <a:r>
              <a:rPr lang="en-US" altLang="zh-TW" sz="2400" dirty="0">
                <a:cs typeface="Times New Roman" pitchFamily="18" charset="0"/>
              </a:rPr>
              <a:t> No pain on injection </a:t>
            </a:r>
          </a:p>
          <a:p>
            <a:pPr lvl="1"/>
            <a:r>
              <a:rPr lang="en-US" sz="2400" dirty="0"/>
              <a:t>M</a:t>
            </a:r>
            <a:r>
              <a:rPr lang="en-US" sz="2400" b="0" i="0" u="none" strike="noStrike" baseline="0" dirty="0"/>
              <a:t>ay cause burning with injection secondary to its acidic formulation</a:t>
            </a:r>
            <a:endParaRPr lang="en-US" altLang="zh-TW" sz="2400" dirty="0">
              <a:cs typeface="Times New Roman" pitchFamily="18" charset="0"/>
            </a:endParaRPr>
          </a:p>
          <a:p>
            <a:r>
              <a:rPr lang="en-US" sz="2400" dirty="0"/>
              <a:t>Water-soluble and undergoes conformational change in the bloodstream, becoming more lipophilic</a:t>
            </a:r>
          </a:p>
          <a:p>
            <a:pPr lvl="1"/>
            <a:r>
              <a:rPr lang="en-US" sz="2400" dirty="0">
                <a:cs typeface="Times New Roman" pitchFamily="18" charset="0"/>
              </a:rPr>
              <a:t>I.e., Its solubility is PH dependent</a:t>
            </a:r>
          </a:p>
          <a:p>
            <a:pPr lvl="2"/>
            <a:r>
              <a:rPr lang="en-US" dirty="0">
                <a:cs typeface="Times New Roman" pitchFamily="18" charset="0"/>
              </a:rPr>
              <a:t>When exposed to physiologic P</a:t>
            </a:r>
            <a:r>
              <a:rPr lang="en-US" baseline="-25000" dirty="0">
                <a:cs typeface="Times New Roman" pitchFamily="18" charset="0"/>
              </a:rPr>
              <a:t>H </a:t>
            </a:r>
            <a:r>
              <a:rPr lang="en-US" baseline="-25000" dirty="0">
                <a:cs typeface="Times New Roman" pitchFamily="18" charset="0"/>
                <a:sym typeface="Symbol"/>
              </a:rPr>
              <a:t> </a:t>
            </a:r>
            <a:r>
              <a:rPr lang="en-US" dirty="0">
                <a:cs typeface="Times New Roman" pitchFamily="18" charset="0"/>
              </a:rPr>
              <a:t>↑ lipid Solubilit</a:t>
            </a:r>
            <a:r>
              <a:rPr lang="en-US" dirty="0"/>
              <a:t>y. </a:t>
            </a:r>
          </a:p>
          <a:p>
            <a:endParaRPr lang="en-US" sz="2400" dirty="0"/>
          </a:p>
        </p:txBody>
      </p:sp>
    </p:spTree>
    <p:extLst>
      <p:ext uri="{BB962C8B-B14F-4D97-AF65-F5344CB8AC3E}">
        <p14:creationId xmlns:p14="http://schemas.microsoft.com/office/powerpoint/2010/main" val="1815728502"/>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DFF5A-9344-9020-1A0B-857FC9F2A315}"/>
              </a:ext>
            </a:extLst>
          </p:cNvPr>
          <p:cNvSpPr>
            <a:spLocks noGrp="1"/>
          </p:cNvSpPr>
          <p:nvPr>
            <p:ph type="title"/>
          </p:nvPr>
        </p:nvSpPr>
        <p:spPr/>
        <p:txBody>
          <a:bodyPr/>
          <a:lstStyle/>
          <a:p>
            <a:r>
              <a:rPr lang="en-US" sz="4400" dirty="0"/>
              <a:t>Cont.…</a:t>
            </a:r>
            <a:endParaRPr lang="en-US" dirty="0"/>
          </a:p>
        </p:txBody>
      </p:sp>
      <p:sp>
        <p:nvSpPr>
          <p:cNvPr id="3" name="Content Placeholder 2">
            <a:extLst>
              <a:ext uri="{FF2B5EF4-FFF2-40B4-BE49-F238E27FC236}">
                <a16:creationId xmlns:a16="http://schemas.microsoft.com/office/drawing/2014/main" id="{2D10F78D-401D-3E52-45E0-257B493A1725}"/>
              </a:ext>
            </a:extLst>
          </p:cNvPr>
          <p:cNvSpPr>
            <a:spLocks noGrp="1"/>
          </p:cNvSpPr>
          <p:nvPr>
            <p:ph idx="1"/>
          </p:nvPr>
        </p:nvSpPr>
        <p:spPr/>
        <p:txBody>
          <a:bodyPr>
            <a:normAutofit/>
          </a:bodyPr>
          <a:lstStyle/>
          <a:p>
            <a:pPr algn="l"/>
            <a:r>
              <a:rPr lang="en-US" sz="2400" b="0" i="0" u="none" strike="noStrike" baseline="0" dirty="0"/>
              <a:t>Route of administration</a:t>
            </a:r>
          </a:p>
          <a:p>
            <a:pPr algn="l"/>
            <a:r>
              <a:rPr lang="en-US" sz="2400" b="0" i="0" u="none" strike="noStrike" baseline="0" dirty="0"/>
              <a:t>IV, intranasally, orally, rectally, and intramuscularly. </a:t>
            </a:r>
          </a:p>
          <a:p>
            <a:pPr lvl="1"/>
            <a:r>
              <a:rPr lang="en-US" sz="2400" b="0" i="0" u="none" strike="noStrike" baseline="0" dirty="0"/>
              <a:t>This flexibility in route of administration also contributes to its popularity.</a:t>
            </a:r>
          </a:p>
          <a:p>
            <a:pPr algn="l"/>
            <a:r>
              <a:rPr lang="en-US" sz="2400" b="0" i="0" u="none" strike="noStrike" baseline="0" dirty="0"/>
              <a:t>Its high lipid solubility, short duration of action, and short context sensitive</a:t>
            </a:r>
            <a:r>
              <a:rPr lang="en-US" sz="2400" dirty="0"/>
              <a:t> </a:t>
            </a:r>
            <a:r>
              <a:rPr lang="en-US" sz="2400" b="0" i="0" u="none" strike="noStrike" baseline="0" dirty="0"/>
              <a:t>half-time </a:t>
            </a:r>
          </a:p>
          <a:p>
            <a:pPr lvl="1"/>
            <a:r>
              <a:rPr lang="en-US" sz="2400" b="0" i="0" u="none" strike="noStrike" baseline="0" dirty="0"/>
              <a:t>allow this drug to be administered as a continuous infusion, unlike other benzodiazepines</a:t>
            </a:r>
          </a:p>
          <a:p>
            <a:r>
              <a:rPr lang="en-US" sz="2400" dirty="0"/>
              <a:t>It is the benzodiazepine of choice for induction of anesthesia.</a:t>
            </a:r>
          </a:p>
        </p:txBody>
      </p:sp>
    </p:spTree>
    <p:extLst>
      <p:ext uri="{BB962C8B-B14F-4D97-AF65-F5344CB8AC3E}">
        <p14:creationId xmlns:p14="http://schemas.microsoft.com/office/powerpoint/2010/main" val="2134626182"/>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Cont.…</a:t>
            </a:r>
            <a:endParaRPr lang="en-US" dirty="0"/>
          </a:p>
        </p:txBody>
      </p:sp>
      <p:sp>
        <p:nvSpPr>
          <p:cNvPr id="3" name="Content Placeholder 2"/>
          <p:cNvSpPr>
            <a:spLocks noGrp="1"/>
          </p:cNvSpPr>
          <p:nvPr>
            <p:ph idx="1"/>
          </p:nvPr>
        </p:nvSpPr>
        <p:spPr>
          <a:xfrm>
            <a:off x="457200" y="1600200"/>
            <a:ext cx="8382000" cy="4525963"/>
          </a:xfrm>
        </p:spPr>
        <p:txBody>
          <a:bodyPr>
            <a:normAutofit fontScale="92500" lnSpcReduction="10000"/>
          </a:bodyPr>
          <a:lstStyle/>
          <a:p>
            <a:pPr>
              <a:buFont typeface="Wingdings" pitchFamily="2" charset="2"/>
              <a:buChar char="Ø"/>
            </a:pPr>
            <a:r>
              <a:rPr lang="en-US" altLang="zh-TW" dirty="0">
                <a:effectLst>
                  <a:outerShdw blurRad="38100" dist="38100" dir="2700000" algn="tl">
                    <a:srgbClr val="000000">
                      <a:alpha val="43137"/>
                    </a:srgbClr>
                  </a:outerShdw>
                </a:effectLst>
                <a:cs typeface="Times New Roman" pitchFamily="18" charset="0"/>
              </a:rPr>
              <a:t>Midazolam indication</a:t>
            </a:r>
          </a:p>
          <a:p>
            <a:r>
              <a:rPr lang="en-US" altLang="zh-TW" b="1" dirty="0">
                <a:cs typeface="Times New Roman" pitchFamily="18" charset="0"/>
              </a:rPr>
              <a:t>Conscious sedation</a:t>
            </a:r>
          </a:p>
          <a:p>
            <a:pPr lvl="1"/>
            <a:r>
              <a:rPr lang="en-US" altLang="zh-TW" sz="2600" dirty="0">
                <a:cs typeface="Times New Roman" pitchFamily="18" charset="0"/>
              </a:rPr>
              <a:t>Minimally depressed level of consciousness</a:t>
            </a:r>
          </a:p>
          <a:p>
            <a:pPr lvl="1"/>
            <a:r>
              <a:rPr lang="en-US" altLang="zh-TW" sz="2600" dirty="0">
                <a:cs typeface="Times New Roman" pitchFamily="18" charset="0"/>
              </a:rPr>
              <a:t>Independently and continuously maintain an airway and adequate cardiorespiratory  function.</a:t>
            </a:r>
          </a:p>
          <a:p>
            <a:pPr lvl="1"/>
            <a:r>
              <a:rPr lang="en-US" altLang="zh-TW" sz="2600" dirty="0">
                <a:cs typeface="Times New Roman" pitchFamily="18" charset="0"/>
              </a:rPr>
              <a:t>Respond to tactile stimulation and/or verbal command.</a:t>
            </a:r>
          </a:p>
          <a:p>
            <a:pPr lvl="1"/>
            <a:r>
              <a:rPr lang="en-US" altLang="zh-TW" sz="2600" dirty="0">
                <a:cs typeface="Times New Roman" pitchFamily="18" charset="0"/>
              </a:rPr>
              <a:t>Tolerate the unpleasant procedures.</a:t>
            </a:r>
          </a:p>
          <a:p>
            <a:r>
              <a:rPr lang="en-US" sz="2600" b="1" dirty="0">
                <a:cs typeface="Times New Roman" pitchFamily="18" charset="0"/>
              </a:rPr>
              <a:t>Premedication</a:t>
            </a:r>
            <a:r>
              <a:rPr lang="en-US" sz="2600" dirty="0">
                <a:cs typeface="Times New Roman" pitchFamily="18" charset="0"/>
              </a:rPr>
              <a:t> – 0.07 – 0.1mg/kg IM  30-60 min preoperatively.</a:t>
            </a:r>
          </a:p>
          <a:p>
            <a:r>
              <a:rPr lang="en-US" sz="2600" b="1" dirty="0">
                <a:cs typeface="Times New Roman" pitchFamily="18" charset="0"/>
              </a:rPr>
              <a:t>Induction of anesthesia</a:t>
            </a:r>
            <a:r>
              <a:rPr lang="en-US" sz="2600" dirty="0">
                <a:cs typeface="Times New Roman" pitchFamily="18" charset="0"/>
              </a:rPr>
              <a:t> </a:t>
            </a:r>
          </a:p>
          <a:p>
            <a:r>
              <a:rPr lang="en-US" sz="2600" b="1" dirty="0">
                <a:cs typeface="Times New Roman" pitchFamily="18" charset="0"/>
              </a:rPr>
              <a:t>IV Infusion in the ICU</a:t>
            </a:r>
            <a:r>
              <a:rPr lang="en-US" sz="2600" dirty="0">
                <a:cs typeface="Times New Roman" pitchFamily="18" charset="0"/>
              </a:rPr>
              <a:t>: 0.02 – 0.1 mg/kg/hr.  </a:t>
            </a:r>
          </a:p>
          <a:p>
            <a:endParaRPr lang="en-US" altLang="zh-TW" sz="3000" dirty="0"/>
          </a:p>
          <a:p>
            <a:endParaRPr lang="en-US" dirty="0"/>
          </a:p>
          <a:p>
            <a:endParaRPr lang="en-US" dirty="0"/>
          </a:p>
        </p:txBody>
      </p:sp>
    </p:spTree>
    <p:extLst>
      <p:ext uri="{BB962C8B-B14F-4D97-AF65-F5344CB8AC3E}">
        <p14:creationId xmlns:p14="http://schemas.microsoft.com/office/powerpoint/2010/main" val="3079571135"/>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atMod val="130000"/>
                  </a:schemeClr>
                </a:solidFill>
                <a:latin typeface="+mn-lt"/>
              </a:rPr>
              <a:t> Cont…</a:t>
            </a:r>
            <a:endParaRPr lang="en-US" dirty="0">
              <a:latin typeface="+mn-lt"/>
            </a:endParaRPr>
          </a:p>
        </p:txBody>
      </p:sp>
      <p:sp>
        <p:nvSpPr>
          <p:cNvPr id="3" name="Content Placeholder 2"/>
          <p:cNvSpPr>
            <a:spLocks noGrp="1"/>
          </p:cNvSpPr>
          <p:nvPr>
            <p:ph idx="1"/>
          </p:nvPr>
        </p:nvSpPr>
        <p:spPr/>
        <p:txBody>
          <a:bodyPr>
            <a:normAutofit fontScale="92500"/>
          </a:bodyPr>
          <a:lstStyle/>
          <a:p>
            <a:pPr>
              <a:buFont typeface="Wingdings" pitchFamily="2" charset="2"/>
              <a:buChar char="Ø"/>
              <a:defRPr/>
            </a:pPr>
            <a:r>
              <a:rPr lang="en-US" altLang="zh-TW" dirty="0">
                <a:cs typeface="Times New Roman" pitchFamily="18" charset="0"/>
              </a:rPr>
              <a:t>Drugs that inhibit the metabolism of midazolam</a:t>
            </a:r>
          </a:p>
          <a:p>
            <a:pPr>
              <a:buFont typeface="Wingdings" pitchFamily="2" charset="2"/>
              <a:buNone/>
              <a:defRPr/>
            </a:pPr>
            <a:r>
              <a:rPr lang="en-US" altLang="zh-TW" dirty="0">
                <a:cs typeface="Times New Roman" pitchFamily="18" charset="0"/>
              </a:rPr>
              <a:t>   * Cimetidine</a:t>
            </a:r>
          </a:p>
          <a:p>
            <a:pPr>
              <a:buFont typeface="Wingdings" pitchFamily="2" charset="2"/>
              <a:buNone/>
              <a:defRPr/>
            </a:pPr>
            <a:r>
              <a:rPr lang="en-US" altLang="zh-TW" dirty="0">
                <a:cs typeface="Times New Roman" pitchFamily="18" charset="0"/>
              </a:rPr>
              <a:t>   * Ranitidine</a:t>
            </a:r>
          </a:p>
          <a:p>
            <a:pPr>
              <a:buFont typeface="Wingdings" pitchFamily="2" charset="2"/>
              <a:buNone/>
              <a:defRPr/>
            </a:pPr>
            <a:r>
              <a:rPr lang="en-US" altLang="zh-TW" dirty="0">
                <a:cs typeface="Times New Roman" pitchFamily="18" charset="0"/>
              </a:rPr>
              <a:t>   * Omeprazole</a:t>
            </a:r>
          </a:p>
          <a:p>
            <a:pPr>
              <a:buFont typeface="Wingdings" pitchFamily="2" charset="2"/>
              <a:buNone/>
              <a:defRPr/>
            </a:pPr>
            <a:r>
              <a:rPr lang="en-US" altLang="zh-TW" dirty="0">
                <a:cs typeface="Times New Roman" pitchFamily="18" charset="0"/>
              </a:rPr>
              <a:t>   * Oral contraceptives</a:t>
            </a:r>
          </a:p>
          <a:p>
            <a:pPr>
              <a:buFont typeface="Wingdings" pitchFamily="2" charset="2"/>
              <a:buChar char="Ø"/>
              <a:defRPr/>
            </a:pPr>
            <a:r>
              <a:rPr lang="en-US" altLang="zh-TW" dirty="0">
                <a:cs typeface="Times New Roman" pitchFamily="18" charset="0"/>
              </a:rPr>
              <a:t>Drug that enhance the metabolism of midazolam</a:t>
            </a:r>
          </a:p>
          <a:p>
            <a:pPr>
              <a:buFont typeface="Wingdings" pitchFamily="2" charset="2"/>
              <a:buNone/>
              <a:defRPr/>
            </a:pPr>
            <a:r>
              <a:rPr lang="en-US" altLang="zh-TW" dirty="0">
                <a:cs typeface="Times New Roman" pitchFamily="18" charset="0"/>
              </a:rPr>
              <a:t>   * Rifampin</a:t>
            </a:r>
          </a:p>
          <a:p>
            <a:pPr>
              <a:buFont typeface="Arial" charset="0"/>
              <a:buChar char="•"/>
              <a:defRPr/>
            </a:pPr>
            <a:endParaRPr lang="en-US" dirty="0">
              <a:cs typeface="Times New Roman" pitchFamily="18" charset="0"/>
            </a:endParaRPr>
          </a:p>
          <a:p>
            <a:endParaRPr lang="en-US" dirty="0">
              <a:cs typeface="Times New Roman" pitchFamily="18" charset="0"/>
            </a:endParaRPr>
          </a:p>
        </p:txBody>
      </p:sp>
    </p:spTree>
    <p:extLst>
      <p:ext uri="{BB962C8B-B14F-4D97-AF65-F5344CB8AC3E}">
        <p14:creationId xmlns:p14="http://schemas.microsoft.com/office/powerpoint/2010/main" val="2660046851"/>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effectLst>
                  <a:outerShdw blurRad="38100" dist="38100" dir="2700000" algn="tl">
                    <a:srgbClr val="000000">
                      <a:alpha val="43137"/>
                    </a:srgbClr>
                  </a:outerShdw>
                </a:effectLst>
                <a:latin typeface="Agency FB" pitchFamily="34" charset="0"/>
                <a:cs typeface="Arial" pitchFamily="34" charset="0"/>
              </a:rPr>
              <a:t>Midazolam vs. diazepam</a:t>
            </a:r>
            <a:endParaRPr lang="en-US" sz="5400" dirty="0">
              <a:effectLst>
                <a:outerShdw blurRad="38100" dist="38100" dir="2700000" algn="tl">
                  <a:srgbClr val="000000">
                    <a:alpha val="43137"/>
                  </a:srgbClr>
                </a:outerShdw>
              </a:effectLst>
              <a:latin typeface="Agency FB" pitchFamily="34" charset="0"/>
            </a:endParaRPr>
          </a:p>
        </p:txBody>
      </p:sp>
      <p:sp>
        <p:nvSpPr>
          <p:cNvPr id="3" name="Content Placeholder 2"/>
          <p:cNvSpPr>
            <a:spLocks noGrp="1"/>
          </p:cNvSpPr>
          <p:nvPr>
            <p:ph idx="1"/>
          </p:nvPr>
        </p:nvSpPr>
        <p:spPr>
          <a:xfrm>
            <a:off x="457200" y="1600200"/>
            <a:ext cx="8382000" cy="4525963"/>
          </a:xfrm>
        </p:spPr>
        <p:txBody>
          <a:bodyPr>
            <a:noAutofit/>
          </a:bodyPr>
          <a:lstStyle/>
          <a:p>
            <a:pPr algn="just">
              <a:lnSpc>
                <a:spcPct val="150000"/>
              </a:lnSpc>
            </a:pPr>
            <a:r>
              <a:rPr lang="en-US" sz="2400" dirty="0">
                <a:solidFill>
                  <a:schemeClr val="tx2"/>
                </a:solidFill>
                <a:ea typeface="Majalla UI"/>
                <a:cs typeface="Times New Roman" pitchFamily="18" charset="0"/>
              </a:rPr>
              <a:t> </a:t>
            </a:r>
            <a:r>
              <a:rPr lang="en-US" sz="2400" dirty="0">
                <a:solidFill>
                  <a:srgbClr val="C00000"/>
                </a:solidFill>
                <a:ea typeface="Majalla UI"/>
                <a:cs typeface="Times New Roman" pitchFamily="18" charset="0"/>
              </a:rPr>
              <a:t>Midazolam is 2-3 times more potent </a:t>
            </a:r>
            <a:r>
              <a:rPr lang="en-US" sz="2400" dirty="0">
                <a:solidFill>
                  <a:schemeClr val="tx2"/>
                </a:solidFill>
                <a:ea typeface="Majalla UI"/>
                <a:cs typeface="Times New Roman" pitchFamily="18" charset="0"/>
              </a:rPr>
              <a:t>than diazepam:</a:t>
            </a:r>
          </a:p>
          <a:p>
            <a:pPr algn="just">
              <a:lnSpc>
                <a:spcPct val="150000"/>
              </a:lnSpc>
            </a:pPr>
            <a:r>
              <a:rPr lang="en-US" sz="2400" dirty="0">
                <a:solidFill>
                  <a:srgbClr val="C00000"/>
                </a:solidFill>
                <a:ea typeface="Majalla UI"/>
                <a:cs typeface="Times New Roman" pitchFamily="18" charset="0"/>
              </a:rPr>
              <a:t>The dose for IV conscious sedation:</a:t>
            </a:r>
            <a:r>
              <a:rPr lang="en-US" sz="2400" dirty="0">
                <a:solidFill>
                  <a:schemeClr val="tx2"/>
                </a:solidFill>
                <a:ea typeface="Majalla UI"/>
                <a:cs typeface="Times New Roman" pitchFamily="18" charset="0"/>
              </a:rPr>
              <a:t> 0.5 – 3 mg for midazolam, and 1-10 mg for diazepam.</a:t>
            </a:r>
          </a:p>
          <a:p>
            <a:pPr algn="just">
              <a:lnSpc>
                <a:spcPct val="150000"/>
              </a:lnSpc>
            </a:pPr>
            <a:r>
              <a:rPr lang="en-US" sz="2400" dirty="0">
                <a:solidFill>
                  <a:schemeClr val="tx2"/>
                </a:solidFill>
                <a:ea typeface="Majalla UI"/>
                <a:cs typeface="Times New Roman" pitchFamily="18" charset="0"/>
              </a:rPr>
              <a:t>  </a:t>
            </a:r>
            <a:r>
              <a:rPr lang="en-US" sz="2400" dirty="0">
                <a:solidFill>
                  <a:srgbClr val="C00000"/>
                </a:solidFill>
                <a:ea typeface="Majalla UI"/>
                <a:cs typeface="Times New Roman" pitchFamily="18" charset="0"/>
              </a:rPr>
              <a:t>Midazolam has a more rapid onset, greater amnestic effect, less postoperative sedative effects </a:t>
            </a:r>
            <a:r>
              <a:rPr lang="en-US" sz="2400" dirty="0">
                <a:solidFill>
                  <a:schemeClr val="tx2"/>
                </a:solidFill>
                <a:ea typeface="Majalla UI"/>
                <a:cs typeface="Times New Roman" pitchFamily="18" charset="0"/>
              </a:rPr>
              <a:t>than diazepam.</a:t>
            </a:r>
          </a:p>
          <a:p>
            <a:pPr algn="just">
              <a:lnSpc>
                <a:spcPct val="150000"/>
              </a:lnSpc>
            </a:pPr>
            <a:endParaRPr lang="en-US" sz="2400" dirty="0">
              <a:solidFill>
                <a:schemeClr val="tx2"/>
              </a:solidFill>
              <a:ea typeface="Majalla UI"/>
              <a:cs typeface="Times New Roman" pitchFamily="18" charset="0"/>
            </a:endParaRPr>
          </a:p>
          <a:p>
            <a:pPr algn="just">
              <a:lnSpc>
                <a:spcPct val="150000"/>
              </a:lnSpc>
            </a:pPr>
            <a:endParaRPr lang="ar-SA" sz="2400" dirty="0">
              <a:ea typeface="Majalla UI"/>
              <a:cs typeface="Times New Roman" pitchFamily="18" charset="0"/>
            </a:endParaRPr>
          </a:p>
          <a:p>
            <a:pPr>
              <a:lnSpc>
                <a:spcPct val="150000"/>
              </a:lnSpc>
            </a:pPr>
            <a:endParaRPr lang="en-US" sz="2400" dirty="0">
              <a:ea typeface="Majalla UI"/>
              <a:cs typeface="Times New Roman" pitchFamily="18" charset="0"/>
            </a:endParaRPr>
          </a:p>
          <a:p>
            <a:pPr>
              <a:lnSpc>
                <a:spcPct val="150000"/>
              </a:lnSpc>
            </a:pPr>
            <a:endParaRPr lang="en-US" sz="2400" dirty="0">
              <a:cs typeface="Times New Roman" pitchFamily="18" charset="0"/>
            </a:endParaRPr>
          </a:p>
        </p:txBody>
      </p:sp>
    </p:spTree>
    <p:extLst>
      <p:ext uri="{BB962C8B-B14F-4D97-AF65-F5344CB8AC3E}">
        <p14:creationId xmlns:p14="http://schemas.microsoft.com/office/powerpoint/2010/main" val="773164013"/>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atMod val="130000"/>
                  </a:schemeClr>
                </a:solidFill>
                <a:latin typeface="Agency FB" pitchFamily="34" charset="0"/>
              </a:rPr>
              <a:t> Cont…</a:t>
            </a:r>
            <a:endParaRPr lang="en-US" dirty="0"/>
          </a:p>
        </p:txBody>
      </p:sp>
      <p:sp>
        <p:nvSpPr>
          <p:cNvPr id="3" name="Content Placeholder 2"/>
          <p:cNvSpPr>
            <a:spLocks noGrp="1"/>
          </p:cNvSpPr>
          <p:nvPr>
            <p:ph idx="1"/>
          </p:nvPr>
        </p:nvSpPr>
        <p:spPr/>
        <p:txBody>
          <a:bodyPr>
            <a:normAutofit/>
          </a:bodyPr>
          <a:lstStyle/>
          <a:p>
            <a:pPr>
              <a:lnSpc>
                <a:spcPct val="150000"/>
              </a:lnSpc>
            </a:pPr>
            <a:r>
              <a:rPr lang="en-US" sz="2400" dirty="0">
                <a:solidFill>
                  <a:schemeClr val="tx2"/>
                </a:solidFill>
                <a:latin typeface="+mj-lt"/>
                <a:ea typeface="Majalla UI"/>
                <a:cs typeface="Times New Roman" pitchFamily="18" charset="0"/>
              </a:rPr>
              <a:t>  </a:t>
            </a:r>
            <a:r>
              <a:rPr lang="en-US" sz="2400" dirty="0">
                <a:solidFill>
                  <a:srgbClr val="C00000"/>
                </a:solidFill>
                <a:latin typeface="+mj-lt"/>
                <a:ea typeface="Majalla UI"/>
                <a:cs typeface="Times New Roman" pitchFamily="18" charset="0"/>
              </a:rPr>
              <a:t>Pain on injection and subsequent thrombophlebitis is less likely with midazolam</a:t>
            </a:r>
            <a:r>
              <a:rPr lang="en-US" sz="2400" dirty="0">
                <a:solidFill>
                  <a:schemeClr val="tx2"/>
                </a:solidFill>
                <a:latin typeface="+mj-lt"/>
                <a:ea typeface="Majalla UI"/>
                <a:cs typeface="Times New Roman" pitchFamily="18" charset="0"/>
              </a:rPr>
              <a:t>  </a:t>
            </a:r>
          </a:p>
          <a:p>
            <a:pPr>
              <a:lnSpc>
                <a:spcPct val="150000"/>
              </a:lnSpc>
            </a:pPr>
            <a:r>
              <a:rPr lang="en-US" sz="2400" dirty="0">
                <a:solidFill>
                  <a:srgbClr val="C00000"/>
                </a:solidFill>
                <a:latin typeface="+mj-lt"/>
                <a:ea typeface="Majalla UI"/>
                <a:cs typeface="Times New Roman" pitchFamily="18" charset="0"/>
              </a:rPr>
              <a:t>Midazolam</a:t>
            </a:r>
            <a:r>
              <a:rPr lang="en-US" sz="2400" dirty="0">
                <a:solidFill>
                  <a:schemeClr val="tx2"/>
                </a:solidFill>
                <a:latin typeface="+mj-lt"/>
                <a:ea typeface="Majalla UI"/>
                <a:cs typeface="Times New Roman" pitchFamily="18" charset="0"/>
              </a:rPr>
              <a:t> </a:t>
            </a:r>
            <a:r>
              <a:rPr lang="en-US" sz="2400" dirty="0">
                <a:solidFill>
                  <a:srgbClr val="C00000"/>
                </a:solidFill>
                <a:latin typeface="+mj-lt"/>
                <a:ea typeface="Majalla UI"/>
                <a:cs typeface="Times New Roman" pitchFamily="18" charset="0"/>
              </a:rPr>
              <a:t>is more costly</a:t>
            </a:r>
            <a:r>
              <a:rPr lang="en-US" sz="2400" dirty="0">
                <a:solidFill>
                  <a:schemeClr val="tx2"/>
                </a:solidFill>
                <a:latin typeface="+mj-lt"/>
                <a:ea typeface="Majalla UI"/>
                <a:cs typeface="Times New Roman" pitchFamily="18" charset="0"/>
              </a:rPr>
              <a:t> than diazepam.</a:t>
            </a:r>
          </a:p>
          <a:p>
            <a:pPr>
              <a:lnSpc>
                <a:spcPct val="150000"/>
              </a:lnSpc>
            </a:pPr>
            <a:r>
              <a:rPr lang="en-US" sz="2400" dirty="0">
                <a:solidFill>
                  <a:srgbClr val="C00000"/>
                </a:solidFill>
                <a:latin typeface="+mj-lt"/>
                <a:ea typeface="Majalla UI"/>
                <a:cs typeface="Times New Roman" pitchFamily="18" charset="0"/>
              </a:rPr>
              <a:t>Midazolam’s duration of action is less</a:t>
            </a:r>
            <a:r>
              <a:rPr lang="en-US" sz="2400" dirty="0">
                <a:solidFill>
                  <a:schemeClr val="tx2"/>
                </a:solidFill>
                <a:latin typeface="+mj-lt"/>
                <a:ea typeface="Majalla UI"/>
                <a:cs typeface="Times New Roman" pitchFamily="18" charset="0"/>
              </a:rPr>
              <a:t> than diazepam</a:t>
            </a:r>
          </a:p>
          <a:p>
            <a:pPr>
              <a:lnSpc>
                <a:spcPct val="150000"/>
              </a:lnSpc>
            </a:pPr>
            <a:r>
              <a:rPr lang="en-US" sz="2400" dirty="0">
                <a:solidFill>
                  <a:schemeClr val="tx2"/>
                </a:solidFill>
                <a:latin typeface="+mj-lt"/>
                <a:ea typeface="Majalla UI"/>
                <a:cs typeface="Times New Roman" pitchFamily="18" charset="0"/>
              </a:rPr>
              <a:t>Midazolam is supplied as a clear liquid </a:t>
            </a:r>
            <a:endParaRPr lang="ar-SA" sz="2400" dirty="0">
              <a:solidFill>
                <a:schemeClr val="tx2"/>
              </a:solidFill>
              <a:latin typeface="+mj-lt"/>
              <a:ea typeface="Majalla UI"/>
              <a:cs typeface="Times New Roman" pitchFamily="18" charset="0"/>
            </a:endParaRPr>
          </a:p>
          <a:p>
            <a:pPr>
              <a:lnSpc>
                <a:spcPct val="150000"/>
              </a:lnSpc>
            </a:pPr>
            <a:endParaRPr lang="en-US" sz="2400" dirty="0">
              <a:latin typeface="+mj-lt"/>
              <a:cs typeface="Times New Roman" pitchFamily="18" charset="0"/>
            </a:endParaRPr>
          </a:p>
          <a:p>
            <a:pPr>
              <a:lnSpc>
                <a:spcPct val="150000"/>
              </a:lnSpc>
            </a:pPr>
            <a:endParaRPr lang="en-US" sz="2400" dirty="0">
              <a:latin typeface="+mj-lt"/>
              <a:cs typeface="Times New Roman" pitchFamily="18" charset="0"/>
            </a:endParaRPr>
          </a:p>
        </p:txBody>
      </p:sp>
    </p:spTree>
    <p:extLst>
      <p:ext uri="{BB962C8B-B14F-4D97-AF65-F5344CB8AC3E}">
        <p14:creationId xmlns:p14="http://schemas.microsoft.com/office/powerpoint/2010/main" val="639275719"/>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B0359-E293-4EB0-E785-8BDD3854097E}"/>
              </a:ext>
            </a:extLst>
          </p:cNvPr>
          <p:cNvSpPr>
            <a:spLocks noGrp="1"/>
          </p:cNvSpPr>
          <p:nvPr>
            <p:ph type="title"/>
          </p:nvPr>
        </p:nvSpPr>
        <p:spPr/>
        <p:txBody>
          <a:bodyPr/>
          <a:lstStyle/>
          <a:p>
            <a:r>
              <a:rPr lang="en-US" dirty="0"/>
              <a:t>Midazolam uses and dose </a:t>
            </a:r>
          </a:p>
        </p:txBody>
      </p:sp>
      <p:graphicFrame>
        <p:nvGraphicFramePr>
          <p:cNvPr id="4" name="Content Placeholder 3">
            <a:extLst>
              <a:ext uri="{FF2B5EF4-FFF2-40B4-BE49-F238E27FC236}">
                <a16:creationId xmlns:a16="http://schemas.microsoft.com/office/drawing/2014/main" id="{ADE94232-4DA3-1E30-E624-091EF9985143}"/>
              </a:ext>
            </a:extLst>
          </p:cNvPr>
          <p:cNvGraphicFramePr>
            <a:graphicFrameLocks noGrp="1"/>
          </p:cNvGraphicFramePr>
          <p:nvPr>
            <p:ph idx="1"/>
            <p:extLst>
              <p:ext uri="{D42A27DB-BD31-4B8C-83A1-F6EECF244321}">
                <p14:modId xmlns:p14="http://schemas.microsoft.com/office/powerpoint/2010/main" val="3809636947"/>
              </p:ext>
            </p:extLst>
          </p:nvPr>
        </p:nvGraphicFramePr>
        <p:xfrm>
          <a:off x="457200" y="1600200"/>
          <a:ext cx="8229600" cy="5212080"/>
        </p:xfrm>
        <a:graphic>
          <a:graphicData uri="http://schemas.openxmlformats.org/drawingml/2006/table">
            <a:tbl>
              <a:tblPr firstRow="1" bandRow="1">
                <a:tableStyleId>{C4B1156A-380E-4F78-BDF5-A606A8083BF9}</a:tableStyleId>
              </a:tblPr>
              <a:tblGrid>
                <a:gridCol w="4495800">
                  <a:extLst>
                    <a:ext uri="{9D8B030D-6E8A-4147-A177-3AD203B41FA5}">
                      <a16:colId xmlns:a16="http://schemas.microsoft.com/office/drawing/2014/main" val="990221728"/>
                    </a:ext>
                  </a:extLst>
                </a:gridCol>
                <a:gridCol w="990600">
                  <a:extLst>
                    <a:ext uri="{9D8B030D-6E8A-4147-A177-3AD203B41FA5}">
                      <a16:colId xmlns:a16="http://schemas.microsoft.com/office/drawing/2014/main" val="3267223351"/>
                    </a:ext>
                  </a:extLst>
                </a:gridCol>
                <a:gridCol w="2743200">
                  <a:extLst>
                    <a:ext uri="{9D8B030D-6E8A-4147-A177-3AD203B41FA5}">
                      <a16:colId xmlns:a16="http://schemas.microsoft.com/office/drawing/2014/main" val="1648937061"/>
                    </a:ext>
                  </a:extLst>
                </a:gridCol>
              </a:tblGrid>
              <a:tr h="370840">
                <a:tc>
                  <a:txBody>
                    <a:bodyPr/>
                    <a:lstStyle/>
                    <a:p>
                      <a:pPr>
                        <a:lnSpc>
                          <a:spcPct val="100000"/>
                        </a:lnSpc>
                      </a:pPr>
                      <a:r>
                        <a:rPr lang="en-US" sz="2400" dirty="0"/>
                        <a:t>Uses  </a:t>
                      </a:r>
                    </a:p>
                  </a:txBody>
                  <a:tcPr/>
                </a:tc>
                <a:tc>
                  <a:txBody>
                    <a:bodyPr/>
                    <a:lstStyle/>
                    <a:p>
                      <a:pPr>
                        <a:lnSpc>
                          <a:spcPct val="100000"/>
                        </a:lnSpc>
                      </a:pPr>
                      <a:r>
                        <a:rPr lang="en-US" sz="2400" dirty="0"/>
                        <a:t>Route </a:t>
                      </a:r>
                    </a:p>
                  </a:txBody>
                  <a:tcPr/>
                </a:tc>
                <a:tc>
                  <a:txBody>
                    <a:bodyPr/>
                    <a:lstStyle/>
                    <a:p>
                      <a:pPr>
                        <a:lnSpc>
                          <a:spcPct val="100000"/>
                        </a:lnSpc>
                      </a:pPr>
                      <a:r>
                        <a:rPr lang="en-US" sz="2400" dirty="0"/>
                        <a:t>Dose</a:t>
                      </a:r>
                    </a:p>
                  </a:txBody>
                  <a:tcPr/>
                </a:tc>
                <a:extLst>
                  <a:ext uri="{0D108BD9-81ED-4DB2-BD59-A6C34878D82A}">
                    <a16:rowId xmlns:a16="http://schemas.microsoft.com/office/drawing/2014/main" val="3173474950"/>
                  </a:ext>
                </a:extLst>
              </a:tr>
              <a:tr h="370840">
                <a:tc rowSpan="2">
                  <a:txBody>
                    <a:bodyPr/>
                    <a:lstStyle/>
                    <a:p>
                      <a:pPr>
                        <a:lnSpc>
                          <a:spcPct val="100000"/>
                        </a:lnSpc>
                      </a:pPr>
                      <a:r>
                        <a:rPr lang="en-US" sz="2400" dirty="0"/>
                        <a:t> Premedication: (anxiolysis/anterograde amnesia)	</a:t>
                      </a:r>
                    </a:p>
                    <a:p>
                      <a:pPr>
                        <a:lnSpc>
                          <a:spcPct val="100000"/>
                        </a:lnSpc>
                      </a:pPr>
                      <a:endParaRPr lang="en-US" sz="2400" dirty="0"/>
                    </a:p>
                  </a:txBody>
                  <a:tcPr/>
                </a:tc>
                <a:tc>
                  <a:txBody>
                    <a:bodyPr/>
                    <a:lstStyle/>
                    <a:p>
                      <a:pPr>
                        <a:lnSpc>
                          <a:spcPct val="100000"/>
                        </a:lnSpc>
                      </a:pPr>
                      <a:r>
                        <a:rPr lang="en-US" sz="2400" dirty="0"/>
                        <a:t>IM</a:t>
                      </a:r>
                    </a:p>
                  </a:txBody>
                  <a:tcPr/>
                </a:tc>
                <a:tc>
                  <a:txBody>
                    <a:bodyPr/>
                    <a:lstStyle/>
                    <a:p>
                      <a:pPr>
                        <a:lnSpc>
                          <a:spcPct val="100000"/>
                        </a:lnSpc>
                      </a:pPr>
                      <a:r>
                        <a:rPr lang="en-US" sz="2400" dirty="0"/>
                        <a:t>0.07-0.1 mg/kg</a:t>
                      </a:r>
                      <a:endParaRPr lang="en-US" sz="2400" dirty="0">
                        <a:cs typeface="Times New Roman" pitchFamily="18" charset="0"/>
                      </a:endParaRPr>
                    </a:p>
                  </a:txBody>
                  <a:tcPr/>
                </a:tc>
                <a:extLst>
                  <a:ext uri="{0D108BD9-81ED-4DB2-BD59-A6C34878D82A}">
                    <a16:rowId xmlns:a16="http://schemas.microsoft.com/office/drawing/2014/main" val="81163927"/>
                  </a:ext>
                </a:extLst>
              </a:tr>
              <a:tr h="0">
                <a:tc vMerge="1">
                  <a:txBody>
                    <a:bodyPr/>
                    <a:lstStyle/>
                    <a:p>
                      <a:endParaRPr lang="en-US" dirty="0"/>
                    </a:p>
                  </a:txBody>
                  <a:tcPr/>
                </a:tc>
                <a:tc>
                  <a:txBody>
                    <a:bodyPr/>
                    <a:lstStyle/>
                    <a:p>
                      <a:pPr>
                        <a:lnSpc>
                          <a:spcPct val="100000"/>
                        </a:lnSpc>
                      </a:pPr>
                      <a:r>
                        <a:rPr lang="en-US" sz="2400" dirty="0"/>
                        <a:t>PO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u="none" strike="noStrike" baseline="0" dirty="0"/>
                        <a:t>0.4– 0.8 mg/kg </a:t>
                      </a:r>
                      <a:endParaRPr lang="en-US" sz="2400" dirty="0"/>
                    </a:p>
                  </a:txBody>
                  <a:tcPr/>
                </a:tc>
                <a:extLst>
                  <a:ext uri="{0D108BD9-81ED-4DB2-BD59-A6C34878D82A}">
                    <a16:rowId xmlns:a16="http://schemas.microsoft.com/office/drawing/2014/main" val="420055991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cs typeface="Times New Roman" pitchFamily="18" charset="0"/>
                        </a:rPr>
                        <a:t>Sedation		</a:t>
                      </a: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cs typeface="Times New Roman" pitchFamily="18" charset="0"/>
                        </a:rPr>
                        <a:t>IV</a:t>
                      </a:r>
                    </a:p>
                    <a:p>
                      <a:pPr>
                        <a:lnSpc>
                          <a:spcPct val="100000"/>
                        </a:lnSpc>
                      </a:pP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cs typeface="Times New Roman" pitchFamily="18" charset="0"/>
                        </a:rPr>
                        <a:t>0.01-0.1 mg/kg</a:t>
                      </a:r>
                    </a:p>
                    <a:p>
                      <a:pPr>
                        <a:lnSpc>
                          <a:spcPct val="100000"/>
                        </a:lnSpc>
                      </a:pPr>
                      <a:endParaRPr lang="en-US" sz="2400" dirty="0"/>
                    </a:p>
                  </a:txBody>
                  <a:tcPr/>
                </a:tc>
                <a:extLst>
                  <a:ext uri="{0D108BD9-81ED-4DB2-BD59-A6C34878D82A}">
                    <a16:rowId xmlns:a16="http://schemas.microsoft.com/office/drawing/2014/main" val="109216795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cs typeface="Times New Roman" pitchFamily="18" charset="0"/>
                        </a:rPr>
                        <a:t>Induction	 </a:t>
                      </a:r>
                    </a:p>
                    <a:p>
                      <a:pPr>
                        <a:lnSpc>
                          <a:spcPct val="100000"/>
                        </a:lnSpc>
                      </a:pP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cs typeface="Times New Roman" pitchFamily="18" charset="0"/>
                        </a:rPr>
                        <a:t>IV</a:t>
                      </a:r>
                    </a:p>
                    <a:p>
                      <a:pPr>
                        <a:lnSpc>
                          <a:spcPct val="100000"/>
                        </a:lnSpc>
                      </a:pP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cs typeface="Times New Roman" pitchFamily="18" charset="0"/>
                        </a:rPr>
                        <a:t>0.1-0.4 mg/kg</a:t>
                      </a:r>
                    </a:p>
                    <a:p>
                      <a:pPr>
                        <a:lnSpc>
                          <a:spcPct val="100000"/>
                        </a:lnSpc>
                      </a:pPr>
                      <a:endParaRPr lang="en-US" sz="2400" dirty="0"/>
                    </a:p>
                  </a:txBody>
                  <a:tcPr/>
                </a:tc>
                <a:extLst>
                  <a:ext uri="{0D108BD9-81ED-4DB2-BD59-A6C34878D82A}">
                    <a16:rowId xmlns:a16="http://schemas.microsoft.com/office/drawing/2014/main" val="58875113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i="0" u="none" strike="noStrike" baseline="0" dirty="0"/>
                        <a:t>Infusion (in conjunction with volatile anesthetics): (hypnosis/amnesia)</a:t>
                      </a:r>
                    </a:p>
                    <a:p>
                      <a:pPr>
                        <a:lnSpc>
                          <a:spcPct val="100000"/>
                        </a:lnSpc>
                      </a:pPr>
                      <a:endParaRPr lang="en-US" sz="2400" dirty="0"/>
                    </a:p>
                  </a:txBody>
                  <a:tcPr/>
                </a:tc>
                <a:tc>
                  <a:txBody>
                    <a:bodyPr/>
                    <a:lstStyle/>
                    <a:p>
                      <a:pPr>
                        <a:lnSpc>
                          <a:spcPct val="100000"/>
                        </a:lnSpc>
                      </a:pPr>
                      <a:r>
                        <a:rPr lang="en-US" sz="2400" dirty="0"/>
                        <a:t>IV</a:t>
                      </a:r>
                    </a:p>
                  </a:txBody>
                  <a:tcPr/>
                </a:tc>
                <a:tc>
                  <a:txBody>
                    <a:bodyPr/>
                    <a:lstStyle/>
                    <a:p>
                      <a:pPr>
                        <a:lnSpc>
                          <a:spcPct val="100000"/>
                        </a:lnSpc>
                      </a:pPr>
                      <a:r>
                        <a:rPr lang="en-US" sz="2400" b="0" i="0" u="none" strike="noStrike" baseline="0" dirty="0"/>
                        <a:t>0.25–1 mcg/kg/min</a:t>
                      </a:r>
                      <a:endParaRPr lang="en-US" sz="2400" dirty="0"/>
                    </a:p>
                  </a:txBody>
                  <a:tcPr/>
                </a:tc>
                <a:extLst>
                  <a:ext uri="{0D108BD9-81ED-4DB2-BD59-A6C34878D82A}">
                    <a16:rowId xmlns:a16="http://schemas.microsoft.com/office/drawing/2014/main" val="922391065"/>
                  </a:ext>
                </a:extLst>
              </a:tr>
            </a:tbl>
          </a:graphicData>
        </a:graphic>
      </p:graphicFrame>
    </p:spTree>
    <p:extLst>
      <p:ext uri="{BB962C8B-B14F-4D97-AF65-F5344CB8AC3E}">
        <p14:creationId xmlns:p14="http://schemas.microsoft.com/office/powerpoint/2010/main" val="1737545021"/>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83250-BAB0-7397-FD77-AC283CAF32DE}"/>
              </a:ext>
            </a:extLst>
          </p:cNvPr>
          <p:cNvSpPr>
            <a:spLocks noGrp="1"/>
          </p:cNvSpPr>
          <p:nvPr>
            <p:ph type="title"/>
          </p:nvPr>
        </p:nvSpPr>
        <p:spPr/>
        <p:txBody>
          <a:bodyPr/>
          <a:lstStyle/>
          <a:p>
            <a:r>
              <a:rPr lang="en-US" sz="4400" b="0" i="0" u="none" strike="noStrike" baseline="0" dirty="0">
                <a:solidFill>
                  <a:srgbClr val="000000"/>
                </a:solidFill>
                <a:latin typeface="Photina MT"/>
              </a:rPr>
              <a:t>Lorazepam</a:t>
            </a:r>
            <a:endParaRPr lang="en-US" dirty="0"/>
          </a:p>
        </p:txBody>
      </p:sp>
      <p:sp>
        <p:nvSpPr>
          <p:cNvPr id="3" name="Content Placeholder 2">
            <a:extLst>
              <a:ext uri="{FF2B5EF4-FFF2-40B4-BE49-F238E27FC236}">
                <a16:creationId xmlns:a16="http://schemas.microsoft.com/office/drawing/2014/main" id="{D7A612C1-248D-3339-1711-9D2F0F24E27A}"/>
              </a:ext>
            </a:extLst>
          </p:cNvPr>
          <p:cNvSpPr>
            <a:spLocks noGrp="1"/>
          </p:cNvSpPr>
          <p:nvPr>
            <p:ph idx="1"/>
          </p:nvPr>
        </p:nvSpPr>
        <p:spPr/>
        <p:txBody>
          <a:bodyPr>
            <a:noAutofit/>
          </a:bodyPr>
          <a:lstStyle/>
          <a:p>
            <a:r>
              <a:rPr lang="en-US" sz="2400" b="0" i="0" u="none" strike="noStrike" baseline="0" dirty="0">
                <a:solidFill>
                  <a:srgbClr val="000000"/>
                </a:solidFill>
              </a:rPr>
              <a:t>It is mostly used when a prolonged and intense anxiolysis is pursued, like in cardiac surgery. </a:t>
            </a:r>
          </a:p>
          <a:p>
            <a:r>
              <a:rPr lang="en-US" sz="2400" b="0" i="0" u="none" strike="noStrike" baseline="0" dirty="0">
                <a:solidFill>
                  <a:srgbClr val="000000"/>
                </a:solidFill>
              </a:rPr>
              <a:t>Typically, 2 to 4 mg is administered orally 2 hours before anesthesia and surgery.</a:t>
            </a:r>
          </a:p>
          <a:p>
            <a:pPr marL="0" algn="l" rtl="0" eaLnBrk="1" fontAlgn="t" latinLnBrk="0" hangingPunct="1">
              <a:lnSpc>
                <a:spcPct val="150000"/>
              </a:lnSpc>
              <a:spcBef>
                <a:spcPts val="0"/>
              </a:spcBef>
              <a:spcAft>
                <a:spcPts val="0"/>
              </a:spcAft>
            </a:pPr>
            <a:r>
              <a:rPr lang="en-US" sz="2400" dirty="0">
                <a:solidFill>
                  <a:srgbClr val="000000"/>
                </a:solidFill>
              </a:rPr>
              <a:t>M</a:t>
            </a:r>
            <a:r>
              <a:rPr lang="en-US" sz="2400" b="0" i="0" u="none" strike="noStrike" kern="1200" baseline="0" dirty="0">
                <a:solidFill>
                  <a:srgbClr val="000000"/>
                </a:solidFill>
                <a:effectLst/>
              </a:rPr>
              <a:t>oderate lipid solubility, </a:t>
            </a:r>
          </a:p>
          <a:p>
            <a:pPr marL="400050" lvl="1" fontAlgn="t">
              <a:lnSpc>
                <a:spcPct val="150000"/>
              </a:lnSpc>
              <a:spcBef>
                <a:spcPts val="0"/>
              </a:spcBef>
            </a:pPr>
            <a:r>
              <a:rPr lang="en-US" sz="2400" b="0" i="0" u="none" strike="noStrike" kern="1200" baseline="0" dirty="0">
                <a:solidFill>
                  <a:srgbClr val="000000"/>
                </a:solidFill>
                <a:effectLst/>
              </a:rPr>
              <a:t>slower brain uptake and onset of action</a:t>
            </a:r>
          </a:p>
          <a:p>
            <a:pPr marL="0" algn="l" rtl="0" eaLnBrk="1" fontAlgn="t" latinLnBrk="0" hangingPunct="1">
              <a:lnSpc>
                <a:spcPct val="150000"/>
              </a:lnSpc>
              <a:spcBef>
                <a:spcPts val="0"/>
              </a:spcBef>
              <a:spcAft>
                <a:spcPts val="0"/>
              </a:spcAft>
            </a:pPr>
            <a:r>
              <a:rPr lang="en-US" sz="2400" b="0" i="0" u="none" strike="noStrike" kern="1200" baseline="0" dirty="0">
                <a:solidFill>
                  <a:srgbClr val="000000"/>
                </a:solidFill>
                <a:effectLst/>
              </a:rPr>
              <a:t>Long duration of action (60 -120 min) </a:t>
            </a:r>
          </a:p>
          <a:p>
            <a:pPr marL="0" algn="l" rtl="0" eaLnBrk="1" fontAlgn="t" latinLnBrk="0" hangingPunct="1">
              <a:lnSpc>
                <a:spcPct val="150000"/>
              </a:lnSpc>
              <a:spcBef>
                <a:spcPts val="0"/>
              </a:spcBef>
              <a:spcAft>
                <a:spcPts val="0"/>
              </a:spcAft>
            </a:pPr>
            <a:r>
              <a:rPr lang="en-US" sz="2400" dirty="0">
                <a:solidFill>
                  <a:srgbClr val="000000"/>
                </a:solidFill>
              </a:rPr>
              <a:t>Highly protein bound (98%)</a:t>
            </a:r>
            <a:endParaRPr lang="en-US" sz="2400" b="0" i="0" u="none" strike="noStrike" dirty="0">
              <a:effectLst/>
            </a:endParaRPr>
          </a:p>
          <a:p>
            <a:pPr marL="0" indent="0" algn="l" rtl="0" eaLnBrk="1" fontAlgn="t" latinLnBrk="0" hangingPunct="1">
              <a:lnSpc>
                <a:spcPct val="150000"/>
              </a:lnSpc>
              <a:spcBef>
                <a:spcPts val="0"/>
              </a:spcBef>
              <a:spcAft>
                <a:spcPts val="0"/>
              </a:spcAft>
              <a:buNone/>
            </a:pPr>
            <a:endParaRPr lang="en-US" sz="2400" dirty="0"/>
          </a:p>
        </p:txBody>
      </p:sp>
    </p:spTree>
    <p:extLst>
      <p:ext uri="{BB962C8B-B14F-4D97-AF65-F5344CB8AC3E}">
        <p14:creationId xmlns:p14="http://schemas.microsoft.com/office/powerpoint/2010/main" val="3121769364"/>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EDEB7-2BD0-98D3-DF42-1811FB8D5A39}"/>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0485DCF8-645D-7C3E-DC22-9F66E8BB570C}"/>
              </a:ext>
            </a:extLst>
          </p:cNvPr>
          <p:cNvSpPr>
            <a:spLocks noGrp="1"/>
          </p:cNvSpPr>
          <p:nvPr>
            <p:ph idx="1"/>
          </p:nvPr>
        </p:nvSpPr>
        <p:spPr/>
        <p:txBody>
          <a:bodyPr/>
          <a:lstStyle/>
          <a:p>
            <a:pPr marL="0" algn="l" rtl="0" eaLnBrk="1" fontAlgn="t" latinLnBrk="0" hangingPunct="1">
              <a:lnSpc>
                <a:spcPct val="150000"/>
              </a:lnSpc>
              <a:spcBef>
                <a:spcPts val="0"/>
              </a:spcBef>
              <a:spcAft>
                <a:spcPts val="0"/>
              </a:spcAft>
            </a:pPr>
            <a:r>
              <a:rPr lang="en-US" sz="2400" b="0" i="0" u="none" strike="noStrike" kern="1200" baseline="0" dirty="0">
                <a:solidFill>
                  <a:srgbClr val="000000"/>
                </a:solidFill>
                <a:effectLst/>
              </a:rPr>
              <a:t>Inactive metabolites</a:t>
            </a:r>
            <a:endParaRPr lang="en-US" sz="2400" b="0" i="0" u="none" strike="noStrike" dirty="0">
              <a:effectLst/>
            </a:endParaRPr>
          </a:p>
          <a:p>
            <a:pPr marL="0" algn="l" rtl="0" eaLnBrk="1" fontAlgn="t" latinLnBrk="0" hangingPunct="1">
              <a:lnSpc>
                <a:spcPct val="150000"/>
              </a:lnSpc>
              <a:spcBef>
                <a:spcPts val="0"/>
              </a:spcBef>
              <a:spcAft>
                <a:spcPts val="0"/>
              </a:spcAft>
            </a:pPr>
            <a:r>
              <a:rPr lang="en-US" sz="2400" b="0" i="0" u="none" strike="noStrike" kern="1200" baseline="0" dirty="0">
                <a:solidFill>
                  <a:srgbClr val="000000"/>
                </a:solidFill>
                <a:effectLst/>
              </a:rPr>
              <a:t> Intermediate hepatic clearance</a:t>
            </a:r>
          </a:p>
          <a:p>
            <a:pPr marL="0" algn="l" rtl="0" eaLnBrk="1" fontAlgn="t" latinLnBrk="0" hangingPunct="1">
              <a:lnSpc>
                <a:spcPct val="150000"/>
              </a:lnSpc>
              <a:spcBef>
                <a:spcPts val="0"/>
              </a:spcBef>
              <a:spcAft>
                <a:spcPts val="0"/>
              </a:spcAft>
            </a:pPr>
            <a:r>
              <a:rPr lang="en-US" sz="2400" b="0" i="0" u="none" strike="noStrike" kern="1200" baseline="0" dirty="0">
                <a:solidFill>
                  <a:srgbClr val="000000"/>
                </a:solidFill>
                <a:effectLst/>
              </a:rPr>
              <a:t>It is not soluble in water</a:t>
            </a:r>
          </a:p>
          <a:p>
            <a:pPr marL="0" algn="l" rtl="0" eaLnBrk="1" fontAlgn="t" latinLnBrk="0" hangingPunct="1">
              <a:lnSpc>
                <a:spcPct val="150000"/>
              </a:lnSpc>
              <a:spcBef>
                <a:spcPts val="0"/>
              </a:spcBef>
              <a:spcAft>
                <a:spcPts val="0"/>
              </a:spcAft>
            </a:pPr>
            <a:r>
              <a:rPr lang="en-US" sz="2400" b="0" i="0" u="none" strike="noStrike" kern="1200" baseline="0" dirty="0">
                <a:solidFill>
                  <a:srgbClr val="000000"/>
                </a:solidFill>
                <a:effectLst/>
              </a:rPr>
              <a:t>It often cause vein irritation due to</a:t>
            </a:r>
          </a:p>
          <a:p>
            <a:pPr marL="400050" lvl="1" fontAlgn="t">
              <a:lnSpc>
                <a:spcPct val="150000"/>
              </a:lnSpc>
              <a:spcBef>
                <a:spcPts val="0"/>
              </a:spcBef>
            </a:pPr>
            <a:r>
              <a:rPr lang="en-US" sz="2000" b="0" i="0" u="none" strike="noStrike" kern="1200" baseline="0" dirty="0">
                <a:solidFill>
                  <a:srgbClr val="000000"/>
                </a:solidFill>
                <a:effectLst/>
              </a:rPr>
              <a:t> </a:t>
            </a:r>
            <a:r>
              <a:rPr lang="en-US" sz="2400" b="0" i="0" u="none" strike="noStrike" kern="1200" baseline="0" dirty="0">
                <a:solidFill>
                  <a:srgbClr val="000000"/>
                </a:solidFill>
                <a:effectLst/>
              </a:rPr>
              <a:t>the propylene glycol admixture</a:t>
            </a:r>
            <a:endParaRPr lang="en-US" sz="2000" b="0" i="0" u="none" strike="noStrike" kern="1200" baseline="0" dirty="0">
              <a:solidFill>
                <a:srgbClr val="000000"/>
              </a:solidFill>
              <a:effectLst/>
            </a:endParaRPr>
          </a:p>
          <a:p>
            <a:pPr marL="0" algn="l" rtl="0" eaLnBrk="1" fontAlgn="t" latinLnBrk="0" hangingPunct="1">
              <a:lnSpc>
                <a:spcPct val="150000"/>
              </a:lnSpc>
              <a:spcBef>
                <a:spcPts val="0"/>
              </a:spcBef>
              <a:spcAft>
                <a:spcPts val="0"/>
              </a:spcAft>
            </a:pPr>
            <a:r>
              <a:rPr lang="en-US" sz="2400" b="0" i="0" u="none" strike="noStrike" baseline="0" dirty="0">
                <a:solidFill>
                  <a:srgbClr val="000000"/>
                </a:solidFill>
              </a:rPr>
              <a:t>Unpredictable duration of amnesia</a:t>
            </a:r>
          </a:p>
          <a:p>
            <a:pPr marL="400050" lvl="1" fontAlgn="t">
              <a:lnSpc>
                <a:spcPct val="150000"/>
              </a:lnSpc>
              <a:spcBef>
                <a:spcPts val="0"/>
              </a:spcBef>
            </a:pPr>
            <a:r>
              <a:rPr lang="en-US" sz="2200" b="0" i="0" u="none" strike="noStrike" baseline="0" dirty="0">
                <a:solidFill>
                  <a:srgbClr val="000000"/>
                </a:solidFill>
              </a:rPr>
              <a:t>this is undesirable in patients who wish or need to have recall in the immediate postoperative period </a:t>
            </a:r>
            <a:endParaRPr lang="en-US" sz="2200" dirty="0"/>
          </a:p>
          <a:p>
            <a:endParaRPr lang="en-US" dirty="0"/>
          </a:p>
        </p:txBody>
      </p:sp>
    </p:spTree>
    <p:extLst>
      <p:ext uri="{BB962C8B-B14F-4D97-AF65-F5344CB8AC3E}">
        <p14:creationId xmlns:p14="http://schemas.microsoft.com/office/powerpoint/2010/main" val="1606613413"/>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B0359-E293-4EB0-E785-8BDD3854097E}"/>
              </a:ext>
            </a:extLst>
          </p:cNvPr>
          <p:cNvSpPr>
            <a:spLocks noGrp="1"/>
          </p:cNvSpPr>
          <p:nvPr>
            <p:ph type="title"/>
          </p:nvPr>
        </p:nvSpPr>
        <p:spPr/>
        <p:txBody>
          <a:bodyPr/>
          <a:lstStyle/>
          <a:p>
            <a:r>
              <a:rPr lang="en-US" dirty="0"/>
              <a:t>Lorazepam uses and dose </a:t>
            </a:r>
          </a:p>
        </p:txBody>
      </p:sp>
      <p:graphicFrame>
        <p:nvGraphicFramePr>
          <p:cNvPr id="4" name="Content Placeholder 3">
            <a:extLst>
              <a:ext uri="{FF2B5EF4-FFF2-40B4-BE49-F238E27FC236}">
                <a16:creationId xmlns:a16="http://schemas.microsoft.com/office/drawing/2014/main" id="{ADE94232-4DA3-1E30-E624-091EF9985143}"/>
              </a:ext>
            </a:extLst>
          </p:cNvPr>
          <p:cNvGraphicFramePr>
            <a:graphicFrameLocks noGrp="1"/>
          </p:cNvGraphicFramePr>
          <p:nvPr>
            <p:ph idx="1"/>
          </p:nvPr>
        </p:nvGraphicFramePr>
        <p:xfrm>
          <a:off x="457200" y="1600200"/>
          <a:ext cx="8229600" cy="2882140"/>
        </p:xfrm>
        <a:graphic>
          <a:graphicData uri="http://schemas.openxmlformats.org/drawingml/2006/table">
            <a:tbl>
              <a:tblPr firstRow="1" bandRow="1">
                <a:tableStyleId>{C4B1156A-380E-4F78-BDF5-A606A8083BF9}</a:tableStyleId>
              </a:tblPr>
              <a:tblGrid>
                <a:gridCol w="4495800">
                  <a:extLst>
                    <a:ext uri="{9D8B030D-6E8A-4147-A177-3AD203B41FA5}">
                      <a16:colId xmlns:a16="http://schemas.microsoft.com/office/drawing/2014/main" val="990221728"/>
                    </a:ext>
                  </a:extLst>
                </a:gridCol>
                <a:gridCol w="990600">
                  <a:extLst>
                    <a:ext uri="{9D8B030D-6E8A-4147-A177-3AD203B41FA5}">
                      <a16:colId xmlns:a16="http://schemas.microsoft.com/office/drawing/2014/main" val="3267223351"/>
                    </a:ext>
                  </a:extLst>
                </a:gridCol>
                <a:gridCol w="2743200">
                  <a:extLst>
                    <a:ext uri="{9D8B030D-6E8A-4147-A177-3AD203B41FA5}">
                      <a16:colId xmlns:a16="http://schemas.microsoft.com/office/drawing/2014/main" val="1648937061"/>
                    </a:ext>
                  </a:extLst>
                </a:gridCol>
              </a:tblGrid>
              <a:tr h="370840">
                <a:tc>
                  <a:txBody>
                    <a:bodyPr/>
                    <a:lstStyle/>
                    <a:p>
                      <a:pPr>
                        <a:lnSpc>
                          <a:spcPct val="150000"/>
                        </a:lnSpc>
                      </a:pPr>
                      <a:r>
                        <a:rPr lang="en-US" sz="2400" dirty="0"/>
                        <a:t>Uses  </a:t>
                      </a:r>
                    </a:p>
                  </a:txBody>
                  <a:tcPr/>
                </a:tc>
                <a:tc>
                  <a:txBody>
                    <a:bodyPr/>
                    <a:lstStyle/>
                    <a:p>
                      <a:pPr>
                        <a:lnSpc>
                          <a:spcPct val="150000"/>
                        </a:lnSpc>
                      </a:pPr>
                      <a:r>
                        <a:rPr lang="en-US" sz="2400" dirty="0"/>
                        <a:t>Route </a:t>
                      </a:r>
                    </a:p>
                  </a:txBody>
                  <a:tcPr/>
                </a:tc>
                <a:tc>
                  <a:txBody>
                    <a:bodyPr/>
                    <a:lstStyle/>
                    <a:p>
                      <a:pPr>
                        <a:lnSpc>
                          <a:spcPct val="150000"/>
                        </a:lnSpc>
                      </a:pPr>
                      <a:r>
                        <a:rPr lang="en-US" sz="2400" dirty="0"/>
                        <a:t>Dose</a:t>
                      </a:r>
                    </a:p>
                  </a:txBody>
                  <a:tcPr/>
                </a:tc>
                <a:extLst>
                  <a:ext uri="{0D108BD9-81ED-4DB2-BD59-A6C34878D82A}">
                    <a16:rowId xmlns:a16="http://schemas.microsoft.com/office/drawing/2014/main" val="3173474950"/>
                  </a:ext>
                </a:extLst>
              </a:tr>
              <a:tr h="370840">
                <a:tc rowSpan="2">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2400" dirty="0"/>
                        <a:t> Premedication</a:t>
                      </a:r>
                    </a:p>
                    <a:p>
                      <a:pPr>
                        <a:lnSpc>
                          <a:spcPct val="150000"/>
                        </a:lnSpc>
                      </a:pPr>
                      <a:endParaRPr lang="en-US" sz="2400" dirty="0"/>
                    </a:p>
                  </a:txBody>
                  <a:tcPr/>
                </a:tc>
                <a:tc>
                  <a:txBody>
                    <a:bodyPr/>
                    <a:lstStyle/>
                    <a:p>
                      <a:pPr>
                        <a:lnSpc>
                          <a:spcPct val="150000"/>
                        </a:lnSpc>
                      </a:pPr>
                      <a:r>
                        <a:rPr lang="en-US" sz="2400" dirty="0"/>
                        <a:t>PO</a:t>
                      </a:r>
                    </a:p>
                  </a:txBody>
                  <a:tcPr/>
                </a:tc>
                <a:tc>
                  <a:txBody>
                    <a:bodyPr/>
                    <a:lstStyle/>
                    <a:p>
                      <a:pPr>
                        <a:lnSpc>
                          <a:spcPct val="150000"/>
                        </a:lnSpc>
                      </a:pPr>
                      <a:r>
                        <a:rPr lang="en-US" sz="2400" dirty="0">
                          <a:cs typeface="Times New Roman" pitchFamily="18" charset="0"/>
                        </a:rPr>
                        <a:t> 0.05 mg/kg</a:t>
                      </a:r>
                    </a:p>
                  </a:txBody>
                  <a:tcPr/>
                </a:tc>
                <a:extLst>
                  <a:ext uri="{0D108BD9-81ED-4DB2-BD59-A6C34878D82A}">
                    <a16:rowId xmlns:a16="http://schemas.microsoft.com/office/drawing/2014/main" val="81163927"/>
                  </a:ext>
                </a:extLst>
              </a:tr>
              <a:tr h="0">
                <a:tc vMerge="1">
                  <a:txBody>
                    <a:bodyPr/>
                    <a:lstStyle/>
                    <a:p>
                      <a:endParaRPr lang="en-US" dirty="0"/>
                    </a:p>
                  </a:txBody>
                  <a:tcPr/>
                </a:tc>
                <a:tc>
                  <a:txBody>
                    <a:bodyPr/>
                    <a:lstStyle/>
                    <a:p>
                      <a:pPr>
                        <a:lnSpc>
                          <a:spcPct val="150000"/>
                        </a:lnSpc>
                      </a:pPr>
                      <a:r>
                        <a:rPr lang="en-US" sz="2400" dirty="0"/>
                        <a:t>IM </a:t>
                      </a:r>
                    </a:p>
                  </a:txBody>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2400" dirty="0">
                          <a:cs typeface="Times New Roman" pitchFamily="18" charset="0"/>
                        </a:rPr>
                        <a:t>0.03-0.05 mg/kg</a:t>
                      </a:r>
                      <a:endParaRPr lang="en-US" sz="2400" dirty="0"/>
                    </a:p>
                  </a:txBody>
                  <a:tcPr/>
                </a:tc>
                <a:extLst>
                  <a:ext uri="{0D108BD9-81ED-4DB2-BD59-A6C34878D82A}">
                    <a16:rowId xmlns:a16="http://schemas.microsoft.com/office/drawing/2014/main" val="4200559911"/>
                  </a:ext>
                </a:extLst>
              </a:tr>
              <a:tr h="370840">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2400" dirty="0">
                          <a:cs typeface="Times New Roman" pitchFamily="18" charset="0"/>
                        </a:rPr>
                        <a:t>Sedation		</a:t>
                      </a:r>
                      <a:endParaRPr lang="en-US" sz="2400" dirty="0"/>
                    </a:p>
                  </a:txBody>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2400" dirty="0">
                          <a:cs typeface="Times New Roman" pitchFamily="18" charset="0"/>
                        </a:rPr>
                        <a:t>IV</a:t>
                      </a:r>
                    </a:p>
                    <a:p>
                      <a:pPr>
                        <a:lnSpc>
                          <a:spcPct val="150000"/>
                        </a:lnSpc>
                      </a:pPr>
                      <a:endParaRPr lang="en-US" sz="2400" dirty="0"/>
                    </a:p>
                  </a:txBody>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2400" dirty="0">
                          <a:cs typeface="Times New Roman" pitchFamily="18" charset="0"/>
                        </a:rPr>
                        <a:t> 0.03-0.04 mg/kg	</a:t>
                      </a:r>
                      <a:endParaRPr lang="en-US" sz="2400" dirty="0"/>
                    </a:p>
                  </a:txBody>
                  <a:tcPr/>
                </a:tc>
                <a:extLst>
                  <a:ext uri="{0D108BD9-81ED-4DB2-BD59-A6C34878D82A}">
                    <a16:rowId xmlns:a16="http://schemas.microsoft.com/office/drawing/2014/main" val="1092167957"/>
                  </a:ext>
                </a:extLst>
              </a:tr>
            </a:tbl>
          </a:graphicData>
        </a:graphic>
      </p:graphicFrame>
    </p:spTree>
    <p:extLst>
      <p:ext uri="{BB962C8B-B14F-4D97-AF65-F5344CB8AC3E}">
        <p14:creationId xmlns:p14="http://schemas.microsoft.com/office/powerpoint/2010/main" val="1808986323"/>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B17A4-DCAE-4EAF-1365-B92B0DB01792}"/>
              </a:ext>
            </a:extLst>
          </p:cNvPr>
          <p:cNvSpPr>
            <a:spLocks noGrp="1"/>
          </p:cNvSpPr>
          <p:nvPr>
            <p:ph type="title"/>
          </p:nvPr>
        </p:nvSpPr>
        <p:spPr/>
        <p:txBody>
          <a:bodyPr/>
          <a:lstStyle/>
          <a:p>
            <a:r>
              <a:rPr lang="en-US" dirty="0" err="1"/>
              <a:t>Remimazolam</a:t>
            </a:r>
            <a:endParaRPr lang="en-US" dirty="0"/>
          </a:p>
        </p:txBody>
      </p:sp>
      <p:sp>
        <p:nvSpPr>
          <p:cNvPr id="3" name="Content Placeholder 2">
            <a:extLst>
              <a:ext uri="{FF2B5EF4-FFF2-40B4-BE49-F238E27FC236}">
                <a16:creationId xmlns:a16="http://schemas.microsoft.com/office/drawing/2014/main" id="{469BF76E-A269-E570-62A3-FAED692B550F}"/>
              </a:ext>
            </a:extLst>
          </p:cNvPr>
          <p:cNvSpPr>
            <a:spLocks noGrp="1"/>
          </p:cNvSpPr>
          <p:nvPr>
            <p:ph idx="1"/>
          </p:nvPr>
        </p:nvSpPr>
        <p:spPr/>
        <p:txBody>
          <a:bodyPr>
            <a:normAutofit lnSpcReduction="10000"/>
          </a:bodyPr>
          <a:lstStyle/>
          <a:p>
            <a:r>
              <a:rPr lang="en-US" sz="2400" dirty="0"/>
              <a:t>It is a new benzodiazepine with a structure and onset time similar to midazolam</a:t>
            </a:r>
          </a:p>
          <a:p>
            <a:r>
              <a:rPr lang="en-US" sz="2400" dirty="0"/>
              <a:t>It has a rapid offset </a:t>
            </a:r>
          </a:p>
          <a:p>
            <a:r>
              <a:rPr lang="en-US" sz="2400" dirty="0"/>
              <a:t>It has  quick onset and offset </a:t>
            </a:r>
          </a:p>
          <a:p>
            <a:pPr lvl="1"/>
            <a:r>
              <a:rPr lang="en-US" sz="2400" dirty="0"/>
              <a:t>offer the potential for use as an infusion</a:t>
            </a:r>
            <a:r>
              <a:rPr lang="en-US" sz="2000" dirty="0"/>
              <a:t>. </a:t>
            </a:r>
          </a:p>
          <a:p>
            <a:r>
              <a:rPr lang="en-US" sz="2400" dirty="0"/>
              <a:t>Undergoes organ-independent metabolism by tissue esterases (similar to remifentanil), and </a:t>
            </a:r>
          </a:p>
          <a:p>
            <a:pPr lvl="1"/>
            <a:r>
              <a:rPr lang="en-US" sz="2400" dirty="0"/>
              <a:t>Thus, does not result in accumulation of drug. </a:t>
            </a:r>
          </a:p>
          <a:p>
            <a:r>
              <a:rPr lang="en-US" sz="2400" dirty="0"/>
              <a:t>It is reversible with flumazenil</a:t>
            </a:r>
          </a:p>
          <a:p>
            <a:r>
              <a:rPr lang="en-US" sz="2400" dirty="0"/>
              <a:t>It may be a better choice for procedural sedation than midazolam.</a:t>
            </a:r>
          </a:p>
        </p:txBody>
      </p:sp>
    </p:spTree>
    <p:extLst>
      <p:ext uri="{BB962C8B-B14F-4D97-AF65-F5344CB8AC3E}">
        <p14:creationId xmlns:p14="http://schemas.microsoft.com/office/powerpoint/2010/main" val="1201347660"/>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67E1C-4A0D-98FF-0E9D-4A051CB4C5A6}"/>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B3C1253E-5B83-19E5-BD89-CE0CCE780F2F}"/>
              </a:ext>
            </a:extLst>
          </p:cNvPr>
          <p:cNvSpPr>
            <a:spLocks noGrp="1"/>
          </p:cNvSpPr>
          <p:nvPr>
            <p:ph idx="1"/>
          </p:nvPr>
        </p:nvSpPr>
        <p:spPr/>
        <p:txBody>
          <a:bodyPr>
            <a:normAutofit lnSpcReduction="10000"/>
          </a:bodyPr>
          <a:lstStyle/>
          <a:p>
            <a:r>
              <a:rPr lang="en-US" dirty="0"/>
              <a:t>Clinical uses of </a:t>
            </a:r>
            <a:r>
              <a:rPr lang="en-US" dirty="0" err="1"/>
              <a:t>remimazolam</a:t>
            </a:r>
            <a:endParaRPr lang="en-US" dirty="0"/>
          </a:p>
          <a:p>
            <a:r>
              <a:rPr lang="en-US" sz="2400" dirty="0"/>
              <a:t>Procedural sedation (such as colonoscopy)</a:t>
            </a:r>
          </a:p>
          <a:p>
            <a:r>
              <a:rPr lang="en-US" sz="2400" dirty="0"/>
              <a:t>ICU sedation</a:t>
            </a:r>
          </a:p>
          <a:p>
            <a:pPr lvl="1"/>
            <a:r>
              <a:rPr lang="en-US" sz="2000" dirty="0"/>
              <a:t> </a:t>
            </a:r>
            <a:r>
              <a:rPr lang="en-US" sz="2400" dirty="0"/>
              <a:t>as many critically ill patients have end organ dysfunction and would benefit from its organ-independent metabolism  </a:t>
            </a:r>
          </a:p>
          <a:p>
            <a:r>
              <a:rPr lang="en-US" sz="2400" dirty="0"/>
              <a:t>Provides a sedation alternative to propofol </a:t>
            </a:r>
          </a:p>
          <a:p>
            <a:pPr lvl="1"/>
            <a:r>
              <a:rPr lang="en-US" sz="2600" dirty="0"/>
              <a:t>by avoiding PRIS and accumulation of drug leading to prolonged sedation</a:t>
            </a:r>
          </a:p>
          <a:p>
            <a:r>
              <a:rPr lang="en-US" sz="2400" dirty="0"/>
              <a:t>Resulted in an improved procedure success rate, a reduction in the need for rescue medication, a decrease in time to recovery and a better cognitive recovery Vs. Midazolam</a:t>
            </a:r>
          </a:p>
        </p:txBody>
      </p:sp>
    </p:spTree>
    <p:extLst>
      <p:ext uri="{BB962C8B-B14F-4D97-AF65-F5344CB8AC3E}">
        <p14:creationId xmlns:p14="http://schemas.microsoft.com/office/powerpoint/2010/main" val="2719267165"/>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9A85F-6CD6-DE9D-BA81-D20E86151ADC}"/>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4762B3AA-EF41-E5F7-4646-8DB7C44CB65E}"/>
              </a:ext>
            </a:extLst>
          </p:cNvPr>
          <p:cNvSpPr>
            <a:spLocks noGrp="1"/>
          </p:cNvSpPr>
          <p:nvPr>
            <p:ph idx="1"/>
          </p:nvPr>
        </p:nvSpPr>
        <p:spPr/>
        <p:txBody>
          <a:bodyPr>
            <a:normAutofit/>
          </a:bodyPr>
          <a:lstStyle/>
          <a:p>
            <a:r>
              <a:rPr lang="en-US" sz="2400" dirty="0" err="1"/>
              <a:t>Remiazolam</a:t>
            </a:r>
            <a:r>
              <a:rPr lang="en-US" sz="2400" dirty="0"/>
              <a:t> has also been compared to propofol for the maintenance of general anesthesia.</a:t>
            </a:r>
          </a:p>
          <a:p>
            <a:pPr lvl="1"/>
            <a:r>
              <a:rPr lang="en-US" sz="2400" dirty="0"/>
              <a:t>Time to loss of consciousness was slightly longer for </a:t>
            </a:r>
            <a:r>
              <a:rPr lang="en-US" sz="2400" dirty="0" err="1"/>
              <a:t>remimazolam</a:t>
            </a:r>
            <a:r>
              <a:rPr lang="en-US" sz="2400" dirty="0"/>
              <a:t> when compared to propofol. </a:t>
            </a:r>
          </a:p>
          <a:p>
            <a:pPr lvl="1"/>
            <a:r>
              <a:rPr lang="en-US" sz="2400" dirty="0"/>
              <a:t>The incidence of hypotension and the need for vasopressor support was lower in patients who received </a:t>
            </a:r>
            <a:r>
              <a:rPr lang="en-US" sz="2400" dirty="0" err="1"/>
              <a:t>remimazolam</a:t>
            </a:r>
            <a:r>
              <a:rPr lang="en-US" sz="2400" dirty="0"/>
              <a:t> compared to propofol</a:t>
            </a:r>
          </a:p>
          <a:p>
            <a:r>
              <a:rPr lang="en-US" sz="2800" dirty="0">
                <a:solidFill>
                  <a:srgbClr val="FF0000"/>
                </a:solidFill>
              </a:rPr>
              <a:t>Further studies are needed to define its clinical uses</a:t>
            </a:r>
          </a:p>
        </p:txBody>
      </p:sp>
    </p:spTree>
    <p:extLst>
      <p:ext uri="{BB962C8B-B14F-4D97-AF65-F5344CB8AC3E}">
        <p14:creationId xmlns:p14="http://schemas.microsoft.com/office/powerpoint/2010/main" val="701362048"/>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effectLst>
                  <a:outerShdw blurRad="38100" dist="38100" dir="2700000" algn="tl">
                    <a:srgbClr val="000000">
                      <a:alpha val="43137"/>
                    </a:srgbClr>
                  </a:outerShdw>
                </a:effectLst>
                <a:latin typeface="+mn-lt"/>
              </a:rPr>
              <a:t>BZD antagonist (Antidote)</a:t>
            </a:r>
          </a:p>
        </p:txBody>
      </p:sp>
      <p:sp>
        <p:nvSpPr>
          <p:cNvPr id="3" name="Content Placeholder 2"/>
          <p:cNvSpPr>
            <a:spLocks noGrp="1"/>
          </p:cNvSpPr>
          <p:nvPr>
            <p:ph idx="1"/>
          </p:nvPr>
        </p:nvSpPr>
        <p:spPr>
          <a:xfrm>
            <a:off x="457200" y="1371600"/>
            <a:ext cx="8458200" cy="5257800"/>
          </a:xfrm>
        </p:spPr>
        <p:txBody>
          <a:bodyPr>
            <a:noAutofit/>
          </a:bodyPr>
          <a:lstStyle/>
          <a:p>
            <a:pPr algn="just"/>
            <a:r>
              <a:rPr lang="en-US" sz="2400" dirty="0">
                <a:cs typeface="Times New Roman" pitchFamily="18" charset="0"/>
              </a:rPr>
              <a:t>Flumazenil</a:t>
            </a:r>
          </a:p>
          <a:p>
            <a:pPr lvl="1" algn="just"/>
            <a:r>
              <a:rPr lang="en-US" sz="2400" dirty="0">
                <a:cs typeface="Times New Roman" pitchFamily="18" charset="0"/>
              </a:rPr>
              <a:t>is a specific and competitive antagonist of benzodiazepines at benzodiazepine receptors </a:t>
            </a:r>
          </a:p>
          <a:p>
            <a:pPr lvl="1" algn="just"/>
            <a:r>
              <a:rPr lang="en-US" sz="2400" dirty="0">
                <a:cs typeface="Times New Roman" pitchFamily="18" charset="0"/>
              </a:rPr>
              <a:t>has little intrinsic activity (practically no effect on normal subjects) but competes with agonists  </a:t>
            </a:r>
          </a:p>
          <a:p>
            <a:pPr>
              <a:lnSpc>
                <a:spcPct val="90000"/>
              </a:lnSpc>
            </a:pPr>
            <a:r>
              <a:rPr lang="en-US" sz="2400" dirty="0">
                <a:cs typeface="Times New Roman" pitchFamily="18" charset="0"/>
              </a:rPr>
              <a:t>Flumazenil = specific benzodiazepine antagonist</a:t>
            </a:r>
          </a:p>
          <a:p>
            <a:pPr lvl="1">
              <a:lnSpc>
                <a:spcPct val="90000"/>
              </a:lnSpc>
            </a:pPr>
            <a:r>
              <a:rPr lang="en-US" sz="2400" dirty="0">
                <a:cs typeface="Times New Roman" pitchFamily="18" charset="0"/>
              </a:rPr>
              <a:t>effectively reverses most of CNS effect of benzodiazepine. </a:t>
            </a:r>
          </a:p>
          <a:p>
            <a:pPr lvl="2">
              <a:lnSpc>
                <a:spcPct val="90000"/>
              </a:lnSpc>
            </a:pPr>
            <a:r>
              <a:rPr lang="en-US" sz="2800" dirty="0">
                <a:solidFill>
                  <a:srgbClr val="FF0000"/>
                </a:solidFill>
                <a:cs typeface="Times New Roman" pitchFamily="18" charset="0"/>
              </a:rPr>
              <a:t>Gives 45-90 min of antagonism</a:t>
            </a:r>
          </a:p>
          <a:p>
            <a:pPr algn="just"/>
            <a:r>
              <a:rPr lang="en-US" sz="2400" dirty="0">
                <a:cs typeface="Times New Roman" pitchFamily="18" charset="0"/>
              </a:rPr>
              <a:t>the CNS actions of BZDs antagonized within 2 min following the intravenous administration of flumazenil.</a:t>
            </a:r>
          </a:p>
          <a:p>
            <a:r>
              <a:rPr lang="en-US" sz="2400" dirty="0">
                <a:solidFill>
                  <a:srgbClr val="FF0000"/>
                </a:solidFill>
                <a:cs typeface="Times New Roman" pitchFamily="18" charset="0"/>
              </a:rPr>
              <a:t>BZD overdose can be reversed by</a:t>
            </a:r>
            <a:r>
              <a:rPr lang="en-US" sz="2400" b="1" dirty="0">
                <a:solidFill>
                  <a:srgbClr val="FF0000"/>
                </a:solidFill>
                <a:cs typeface="Times New Roman" pitchFamily="18" charset="0"/>
              </a:rPr>
              <a:t>  </a:t>
            </a:r>
            <a:r>
              <a:rPr lang="en-US" sz="2400" b="1" dirty="0" err="1">
                <a:solidFill>
                  <a:srgbClr val="FF0000"/>
                </a:solidFill>
                <a:cs typeface="Times New Roman" pitchFamily="18" charset="0"/>
              </a:rPr>
              <a:t>Physiostigmine</a:t>
            </a:r>
            <a:r>
              <a:rPr lang="en-US" sz="2400" dirty="0">
                <a:solidFill>
                  <a:srgbClr val="FF0000"/>
                </a:solidFill>
                <a:cs typeface="Times New Roman" pitchFamily="18" charset="0"/>
              </a:rPr>
              <a:t> – nonspecific antagonist</a:t>
            </a:r>
          </a:p>
          <a:p>
            <a:pPr algn="just"/>
            <a:endParaRPr lang="en-US" sz="2400" dirty="0">
              <a:cs typeface="Times New Roman" pitchFamily="18" charset="0"/>
            </a:endParaRPr>
          </a:p>
          <a:p>
            <a:pPr algn="just"/>
            <a:endParaRPr lang="en-US" sz="2400" dirty="0">
              <a:cs typeface="Times New Roman" pitchFamily="18" charset="0"/>
            </a:endParaRPr>
          </a:p>
          <a:p>
            <a:pPr algn="just"/>
            <a:endParaRPr lang="en-US" sz="2400" dirty="0">
              <a:cs typeface="Times New Roman" pitchFamily="18" charset="0"/>
            </a:endParaRPr>
          </a:p>
        </p:txBody>
      </p:sp>
    </p:spTree>
    <p:extLst>
      <p:ext uri="{BB962C8B-B14F-4D97-AF65-F5344CB8AC3E}">
        <p14:creationId xmlns:p14="http://schemas.microsoft.com/office/powerpoint/2010/main" val="2407941505"/>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latin typeface="Agency FB" pitchFamily="34" charset="0"/>
              </a:rPr>
              <a:t>BZD antagonist…</a:t>
            </a:r>
            <a:endParaRPr lang="en-US" dirty="0"/>
          </a:p>
        </p:txBody>
      </p:sp>
      <p:sp>
        <p:nvSpPr>
          <p:cNvPr id="3" name="Content Placeholder 2"/>
          <p:cNvSpPr>
            <a:spLocks noGrp="1"/>
          </p:cNvSpPr>
          <p:nvPr>
            <p:ph idx="1"/>
          </p:nvPr>
        </p:nvSpPr>
        <p:spPr>
          <a:xfrm>
            <a:off x="457200" y="1417638"/>
            <a:ext cx="8229600" cy="4708525"/>
          </a:xfrm>
        </p:spPr>
        <p:txBody>
          <a:bodyPr>
            <a:noAutofit/>
          </a:bodyPr>
          <a:lstStyle/>
          <a:p>
            <a:pPr marL="0" indent="0" algn="just">
              <a:buNone/>
            </a:pPr>
            <a:r>
              <a:rPr lang="en-US" sz="2400" dirty="0">
                <a:cs typeface="Times New Roman" pitchFamily="18" charset="0"/>
              </a:rPr>
              <a:t>Dosage</a:t>
            </a:r>
          </a:p>
          <a:p>
            <a:pPr algn="just"/>
            <a:r>
              <a:rPr lang="en-US" sz="2400" dirty="0">
                <a:solidFill>
                  <a:srgbClr val="FF0000"/>
                </a:solidFill>
                <a:cs typeface="Times New Roman" pitchFamily="18" charset="0"/>
              </a:rPr>
              <a:t>0.2 mg per min IV </a:t>
            </a:r>
            <a:r>
              <a:rPr lang="en-US" sz="2400" dirty="0">
                <a:cs typeface="Times New Roman" pitchFamily="18" charset="0"/>
              </a:rPr>
              <a:t>until reaching the desired degree of reversal (up to 3 mg). </a:t>
            </a:r>
          </a:p>
          <a:p>
            <a:pPr algn="just"/>
            <a:r>
              <a:rPr lang="en-US" sz="2400" dirty="0">
                <a:cs typeface="Times New Roman" pitchFamily="18" charset="0"/>
              </a:rPr>
              <a:t>The usual total dose is </a:t>
            </a:r>
            <a:r>
              <a:rPr lang="en-US" sz="2400" dirty="0">
                <a:solidFill>
                  <a:srgbClr val="FF0000"/>
                </a:solidFill>
                <a:cs typeface="Times New Roman" pitchFamily="18" charset="0"/>
              </a:rPr>
              <a:t>0.6–1. mg</a:t>
            </a:r>
          </a:p>
          <a:p>
            <a:pPr algn="just"/>
            <a:r>
              <a:rPr lang="en-US" sz="2400" dirty="0">
                <a:cs typeface="Times New Roman" pitchFamily="18" charset="0"/>
              </a:rPr>
              <a:t>Because of flumazenil's rapid hepatic clearance and short elimination half-life,</a:t>
            </a:r>
          </a:p>
          <a:p>
            <a:pPr lvl="1" algn="just"/>
            <a:r>
              <a:rPr lang="en-US" sz="2400" dirty="0">
                <a:cs typeface="Times New Roman" pitchFamily="18" charset="0"/>
              </a:rPr>
              <a:t> repeat doses may be required after 1–2 h to avoid resedation and premature recovery room or outpatient discharge. </a:t>
            </a:r>
          </a:p>
          <a:p>
            <a:pPr algn="just"/>
            <a:r>
              <a:rPr lang="en-US" sz="2400" dirty="0">
                <a:cs typeface="Times New Roman" pitchFamily="18" charset="0"/>
              </a:rPr>
              <a:t>A continuous infusion (0.5 mg/h) may be helpful in the case of an overdose of a longer-acting benzodiazepine. </a:t>
            </a:r>
          </a:p>
          <a:p>
            <a:pPr algn="just"/>
            <a:r>
              <a:rPr lang="en-US" sz="2400" dirty="0">
                <a:cs typeface="Times New Roman" pitchFamily="18" charset="0"/>
              </a:rPr>
              <a:t>Liver failure prolongs the clearance of flumazenil and benzodiazepines.</a:t>
            </a:r>
          </a:p>
          <a:p>
            <a:pPr marL="0" indent="0">
              <a:buNone/>
            </a:pPr>
            <a:r>
              <a:rPr lang="en-US" sz="2400" dirty="0"/>
              <a:t> </a:t>
            </a:r>
          </a:p>
          <a:p>
            <a:endParaRPr lang="en-US" sz="2400" dirty="0"/>
          </a:p>
          <a:p>
            <a:endParaRPr lang="en-US" sz="2400" dirty="0"/>
          </a:p>
        </p:txBody>
      </p:sp>
    </p:spTree>
    <p:extLst>
      <p:ext uri="{BB962C8B-B14F-4D97-AF65-F5344CB8AC3E}">
        <p14:creationId xmlns:p14="http://schemas.microsoft.com/office/powerpoint/2010/main" val="3271657735"/>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n-lt"/>
              </a:rPr>
              <a:t>BZD antagonist…</a:t>
            </a:r>
          </a:p>
        </p:txBody>
      </p:sp>
      <p:sp>
        <p:nvSpPr>
          <p:cNvPr id="3" name="Content Placeholder 2"/>
          <p:cNvSpPr>
            <a:spLocks noGrp="1"/>
          </p:cNvSpPr>
          <p:nvPr>
            <p:ph idx="1"/>
          </p:nvPr>
        </p:nvSpPr>
        <p:spPr>
          <a:xfrm>
            <a:off x="457200" y="1219200"/>
            <a:ext cx="8534400" cy="5257800"/>
          </a:xfrm>
        </p:spPr>
        <p:txBody>
          <a:bodyPr>
            <a:noAutofit/>
          </a:bodyPr>
          <a:lstStyle/>
          <a:p>
            <a:pPr>
              <a:buFont typeface="Wingdings" pitchFamily="2" charset="2"/>
              <a:buChar char="Ø"/>
            </a:pPr>
            <a:r>
              <a:rPr lang="en-US" sz="2800" dirty="0">
                <a:effectLst>
                  <a:outerShdw blurRad="38100" dist="38100" dir="2700000" algn="tl">
                    <a:srgbClr val="000000">
                      <a:alpha val="43137"/>
                    </a:srgbClr>
                  </a:outerShdw>
                </a:effectLst>
                <a:cs typeface="Times New Roman" pitchFamily="18" charset="0"/>
              </a:rPr>
              <a:t>Side Effects &amp; Drug Interactions of flumazenil</a:t>
            </a:r>
          </a:p>
          <a:p>
            <a:pPr>
              <a:buFont typeface="Wingdings" pitchFamily="2" charset="2"/>
              <a:buChar char="§"/>
            </a:pPr>
            <a:r>
              <a:rPr lang="en-US" sz="2400" dirty="0">
                <a:cs typeface="Times New Roman" pitchFamily="18" charset="0"/>
              </a:rPr>
              <a:t>Anxiety reactions </a:t>
            </a:r>
          </a:p>
          <a:p>
            <a:pPr lvl="1"/>
            <a:r>
              <a:rPr lang="en-US" sz="2000" dirty="0">
                <a:cs typeface="Times New Roman" pitchFamily="18" charset="0"/>
              </a:rPr>
              <a:t>in previously sedated patients and symptoms of withdrawal in those on long-term benzodiazepine therapy.</a:t>
            </a:r>
          </a:p>
          <a:p>
            <a:pPr>
              <a:buFont typeface="Wingdings" pitchFamily="2" charset="2"/>
              <a:buChar char="§"/>
            </a:pPr>
            <a:r>
              <a:rPr lang="en-US" sz="2400" dirty="0">
                <a:cs typeface="Times New Roman" pitchFamily="18" charset="0"/>
                <a:sym typeface="Symbol"/>
              </a:rPr>
              <a:t></a:t>
            </a:r>
            <a:r>
              <a:rPr lang="en-US" sz="2400" dirty="0">
                <a:cs typeface="Times New Roman" pitchFamily="18" charset="0"/>
              </a:rPr>
              <a:t> ICP in pts. with head injuries and abnormal intracranial compliance. </a:t>
            </a:r>
          </a:p>
          <a:p>
            <a:pPr>
              <a:buFont typeface="Wingdings" pitchFamily="2" charset="2"/>
              <a:buChar char="§"/>
            </a:pPr>
            <a:r>
              <a:rPr lang="en-US" sz="2400" dirty="0">
                <a:cs typeface="Times New Roman" pitchFamily="18" charset="0"/>
              </a:rPr>
              <a:t> May induce seizure activity if</a:t>
            </a:r>
          </a:p>
          <a:p>
            <a:pPr lvl="1"/>
            <a:r>
              <a:rPr lang="en-US" sz="2400" dirty="0">
                <a:cs typeface="Times New Roman" pitchFamily="18" charset="0"/>
              </a:rPr>
              <a:t> BZDs have been given as anticonvulsants or in conjunction with an overdose of tricyclic antidepressants. </a:t>
            </a:r>
          </a:p>
          <a:p>
            <a:r>
              <a:rPr lang="en-US" sz="2400" dirty="0">
                <a:cs typeface="Times New Roman" pitchFamily="18" charset="0"/>
                <a:sym typeface="Symbol"/>
              </a:rPr>
              <a:t> </a:t>
            </a:r>
            <a:r>
              <a:rPr lang="en-US" sz="2400" dirty="0">
                <a:cs typeface="Times New Roman" pitchFamily="18" charset="0"/>
              </a:rPr>
              <a:t>the incidence of emergence dysphoria and hallucinations. </a:t>
            </a:r>
          </a:p>
          <a:p>
            <a:pPr lvl="1"/>
            <a:r>
              <a:rPr lang="en-US" sz="2400" dirty="0">
                <a:cs typeface="Times New Roman" pitchFamily="18" charset="0"/>
              </a:rPr>
              <a:t> following a midazolam–ketamine anesthetic technique</a:t>
            </a:r>
          </a:p>
          <a:p>
            <a:r>
              <a:rPr lang="en-US" sz="2400" dirty="0">
                <a:cs typeface="Times New Roman" pitchFamily="18" charset="0"/>
              </a:rPr>
              <a:t> Nausea and vomiting  </a:t>
            </a:r>
          </a:p>
          <a:p>
            <a:r>
              <a:rPr lang="en-US" sz="2400" dirty="0">
                <a:cs typeface="Times New Roman" pitchFamily="18" charset="0"/>
              </a:rPr>
              <a:t>Flumazenil does not affect the MAC of inhalation anesthetics.</a:t>
            </a:r>
          </a:p>
          <a:p>
            <a:endParaRPr lang="en-US" sz="2000" dirty="0">
              <a:cs typeface="Times New Roman" pitchFamily="18" charset="0"/>
            </a:endParaRPr>
          </a:p>
          <a:p>
            <a:r>
              <a:rPr lang="en-US" sz="2000" dirty="0">
                <a:cs typeface="Times New Roman" pitchFamily="18" charset="0"/>
              </a:rPr>
              <a:t> </a:t>
            </a:r>
          </a:p>
          <a:p>
            <a:endParaRPr lang="en-US" sz="2000" dirty="0">
              <a:cs typeface="Times New Roman" pitchFamily="18" charset="0"/>
            </a:endParaRPr>
          </a:p>
          <a:p>
            <a:endParaRPr lang="en-US" sz="2000" dirty="0">
              <a:cs typeface="Times New Roman" pitchFamily="18" charset="0"/>
            </a:endParaRPr>
          </a:p>
          <a:p>
            <a:endParaRPr lang="en-US" sz="2000" dirty="0">
              <a:cs typeface="Times New Roman" pitchFamily="18" charset="0"/>
            </a:endParaRPr>
          </a:p>
        </p:txBody>
      </p:sp>
    </p:spTree>
    <p:extLst>
      <p:ext uri="{BB962C8B-B14F-4D97-AF65-F5344CB8AC3E}">
        <p14:creationId xmlns:p14="http://schemas.microsoft.com/office/powerpoint/2010/main" val="307916525"/>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BB7A5-CC95-D700-D5BF-606BF015F4EA}"/>
              </a:ext>
            </a:extLst>
          </p:cNvPr>
          <p:cNvSpPr>
            <a:spLocks noGrp="1"/>
          </p:cNvSpPr>
          <p:nvPr>
            <p:ph type="title"/>
          </p:nvPr>
        </p:nvSpPr>
        <p:spPr/>
        <p:txBody>
          <a:bodyPr>
            <a:normAutofit/>
          </a:bodyPr>
          <a:lstStyle/>
          <a:p>
            <a:r>
              <a:rPr lang="en-US" sz="2800" b="1" i="0" u="none" strike="noStrike" baseline="0" dirty="0"/>
              <a:t>Summary of IV  anesthetic effects on organ systems</a:t>
            </a:r>
            <a:endParaRPr lang="en-US" sz="6000" dirty="0"/>
          </a:p>
        </p:txBody>
      </p:sp>
      <p:pic>
        <p:nvPicPr>
          <p:cNvPr id="5" name="Content Placeholder 4">
            <a:extLst>
              <a:ext uri="{FF2B5EF4-FFF2-40B4-BE49-F238E27FC236}">
                <a16:creationId xmlns:a16="http://schemas.microsoft.com/office/drawing/2014/main" id="{E788EB31-B095-B86C-F069-68FBF741B2CA}"/>
              </a:ext>
            </a:extLst>
          </p:cNvPr>
          <p:cNvPicPr>
            <a:picLocks noGrp="1" noChangeAspect="1"/>
          </p:cNvPicPr>
          <p:nvPr>
            <p:ph idx="1"/>
          </p:nvPr>
        </p:nvPicPr>
        <p:blipFill>
          <a:blip r:embed="rId2"/>
          <a:stretch>
            <a:fillRect/>
          </a:stretch>
        </p:blipFill>
        <p:spPr>
          <a:xfrm>
            <a:off x="676275" y="1676400"/>
            <a:ext cx="7791450" cy="3834606"/>
          </a:xfrm>
        </p:spPr>
      </p:pic>
      <p:sp>
        <p:nvSpPr>
          <p:cNvPr id="9" name="TextBox 8">
            <a:extLst>
              <a:ext uri="{FF2B5EF4-FFF2-40B4-BE49-F238E27FC236}">
                <a16:creationId xmlns:a16="http://schemas.microsoft.com/office/drawing/2014/main" id="{E9553ADA-9F33-1FBA-3603-6458876AB9FB}"/>
              </a:ext>
            </a:extLst>
          </p:cNvPr>
          <p:cNvSpPr txBox="1"/>
          <p:nvPr/>
        </p:nvSpPr>
        <p:spPr>
          <a:xfrm>
            <a:off x="1219200" y="5855067"/>
            <a:ext cx="4572000" cy="400110"/>
          </a:xfrm>
          <a:prstGeom prst="rect">
            <a:avLst/>
          </a:prstGeom>
          <a:noFill/>
        </p:spPr>
        <p:txBody>
          <a:bodyPr wrap="square">
            <a:spAutoFit/>
          </a:bodyPr>
          <a:lstStyle/>
          <a:p>
            <a:r>
              <a:rPr lang="en-US" sz="2000" dirty="0" err="1"/>
              <a:t>B’dil</a:t>
            </a:r>
            <a:r>
              <a:rPr lang="en-US" sz="2000" dirty="0"/>
              <a:t> = bronchodilation</a:t>
            </a:r>
          </a:p>
        </p:txBody>
      </p:sp>
    </p:spTree>
    <p:extLst>
      <p:ext uri="{BB962C8B-B14F-4D97-AF65-F5344CB8AC3E}">
        <p14:creationId xmlns:p14="http://schemas.microsoft.com/office/powerpoint/2010/main" val="3158514333"/>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3" name="Content Placeholder 2"/>
          <p:cNvSpPr>
            <a:spLocks noGrp="1"/>
          </p:cNvSpPr>
          <p:nvPr>
            <p:ph idx="1"/>
          </p:nvPr>
        </p:nvSpPr>
        <p:spPr/>
        <p:txBody>
          <a:bodyPr/>
          <a:lstStyle/>
          <a:p>
            <a:endParaRPr lang="en-US" dirty="0"/>
          </a:p>
        </p:txBody>
      </p:sp>
      <p:sp>
        <p:nvSpPr>
          <p:cNvPr id="4" name="Rectangle 3"/>
          <p:cNvSpPr/>
          <p:nvPr/>
        </p:nvSpPr>
        <p:spPr>
          <a:xfrm>
            <a:off x="1295401" y="2967335"/>
            <a:ext cx="3849834" cy="1862048"/>
          </a:xfrm>
          <a:prstGeom prst="rect">
            <a:avLst/>
          </a:prstGeom>
          <a:noFill/>
        </p:spPr>
        <p:txBody>
          <a:bodyPr wrap="square" lIns="91440" tIns="45720" rIns="91440" bIns="45720">
            <a:spAutoFit/>
          </a:bodyPr>
          <a:lstStyle/>
          <a:p>
            <a:pPr algn="ctr"/>
            <a:r>
              <a:rPr lang="en-US" sz="11500" b="1" cap="none" spc="0"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rPr>
              <a:t>???</a:t>
            </a:r>
          </a:p>
        </p:txBody>
      </p:sp>
    </p:spTree>
    <p:extLst>
      <p:ext uri="{BB962C8B-B14F-4D97-AF65-F5344CB8AC3E}">
        <p14:creationId xmlns:p14="http://schemas.microsoft.com/office/powerpoint/2010/main" val="1253120300"/>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pPr marL="0" indent="0">
              <a:buNone/>
            </a:pPr>
            <a:endParaRPr lang="en-US" dirty="0"/>
          </a:p>
          <a:p>
            <a:endParaRPr lang="en-US" dirty="0"/>
          </a:p>
          <a:p>
            <a:endParaRPr lang="en-US" dirty="0"/>
          </a:p>
          <a:p>
            <a:endParaRPr lang="en-US" dirty="0"/>
          </a:p>
          <a:p>
            <a:endParaRPr lang="en-US" dirty="0"/>
          </a:p>
        </p:txBody>
      </p:sp>
      <p:sp>
        <p:nvSpPr>
          <p:cNvPr id="4" name="Rectangle 3"/>
          <p:cNvSpPr/>
          <p:nvPr/>
        </p:nvSpPr>
        <p:spPr>
          <a:xfrm>
            <a:off x="2815462" y="2967335"/>
            <a:ext cx="3513078" cy="923330"/>
          </a:xfrm>
          <a:prstGeom prst="rect">
            <a:avLst/>
          </a:prstGeom>
          <a:noFill/>
        </p:spPr>
        <p:txBody>
          <a:bodyPr wrap="none" lIns="91440" tIns="45720" rIns="91440" bIns="45720">
            <a:spAutoFit/>
          </a:bodyPr>
          <a:lstStyle/>
          <a:p>
            <a:pPr algn="ctr"/>
            <a:r>
              <a:rPr lang="en-US" sz="5400" b="1" cap="none"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rPr>
              <a:t>Thank you</a:t>
            </a:r>
          </a:p>
        </p:txBody>
      </p:sp>
    </p:spTree>
    <p:extLst>
      <p:ext uri="{BB962C8B-B14F-4D97-AF65-F5344CB8AC3E}">
        <p14:creationId xmlns:p14="http://schemas.microsoft.com/office/powerpoint/2010/main" val="42127311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14975</TotalTime>
  <Words>11416</Words>
  <Application>Microsoft Office PowerPoint</Application>
  <PresentationFormat>On-screen Show (4:3)</PresentationFormat>
  <Paragraphs>1488</Paragraphs>
  <Slides>173</Slides>
  <Notes>58</Notes>
  <HiddenSlides>0</HiddenSlides>
  <MMClips>0</MMClips>
  <ScaleCrop>false</ScaleCrop>
  <HeadingPairs>
    <vt:vector size="8" baseType="variant">
      <vt:variant>
        <vt:lpstr>Fonts Used</vt:lpstr>
      </vt:variant>
      <vt:variant>
        <vt:i4>23</vt:i4>
      </vt:variant>
      <vt:variant>
        <vt:lpstr>Theme</vt:lpstr>
      </vt:variant>
      <vt:variant>
        <vt:i4>1</vt:i4>
      </vt:variant>
      <vt:variant>
        <vt:lpstr>Embedded OLE Servers</vt:lpstr>
      </vt:variant>
      <vt:variant>
        <vt:i4>1</vt:i4>
      </vt:variant>
      <vt:variant>
        <vt:lpstr>Slide Titles</vt:lpstr>
      </vt:variant>
      <vt:variant>
        <vt:i4>173</vt:i4>
      </vt:variant>
    </vt:vector>
  </HeadingPairs>
  <TitlesOfParts>
    <vt:vector size="198" baseType="lpstr">
      <vt:lpstr>AaSansOutline</vt:lpstr>
      <vt:lpstr>Agency FB</vt:lpstr>
      <vt:lpstr>Arial</vt:lpstr>
      <vt:lpstr>ArialMT</vt:lpstr>
      <vt:lpstr>BrandingSans</vt:lpstr>
      <vt:lpstr>BrandingSansItalic</vt:lpstr>
      <vt:lpstr>Calibri</vt:lpstr>
      <vt:lpstr>Charis SIL</vt:lpstr>
      <vt:lpstr>Courier New</vt:lpstr>
      <vt:lpstr>Lucida Calligraphy</vt:lpstr>
      <vt:lpstr>Majalla UI</vt:lpstr>
      <vt:lpstr>MinionPro-Bold</vt:lpstr>
      <vt:lpstr>MinionPro-It</vt:lpstr>
      <vt:lpstr>MinionPro-Regular</vt:lpstr>
      <vt:lpstr>MyriadPro-Black</vt:lpstr>
      <vt:lpstr>MyriadPro-Regular</vt:lpstr>
      <vt:lpstr>Photina MT</vt:lpstr>
      <vt:lpstr>STIX</vt:lpstr>
      <vt:lpstr>Symbol</vt:lpstr>
      <vt:lpstr>Times New Roman</vt:lpstr>
      <vt:lpstr>TimesNewRomanPS-ItalicMT</vt:lpstr>
      <vt:lpstr>TimesNewRomanPSMT</vt:lpstr>
      <vt:lpstr>Wingdings</vt:lpstr>
      <vt:lpstr>Office Theme</vt:lpstr>
      <vt:lpstr>Bitmap Image</vt:lpstr>
      <vt:lpstr>PowerPoint Presentation</vt:lpstr>
      <vt:lpstr> Intravenous Anesthetic agents (IVAA) </vt:lpstr>
      <vt:lpstr>Outline</vt:lpstr>
      <vt:lpstr>Objectives</vt:lpstr>
      <vt:lpstr>Introduction</vt:lpstr>
      <vt:lpstr>Cont.….</vt:lpstr>
      <vt:lpstr>Properties of Ideal IV Anaesthetics</vt:lpstr>
      <vt:lpstr>Properties…</vt:lpstr>
      <vt:lpstr>Properties…</vt:lpstr>
      <vt:lpstr>Properties…</vt:lpstr>
      <vt:lpstr>Properties of the Ideal IV Anesthetic Agent</vt:lpstr>
      <vt:lpstr>Uses of intravenous Anaesthetics </vt:lpstr>
      <vt:lpstr> General Pharmacology of IV Hypnotics </vt:lpstr>
      <vt:lpstr>Propofol</vt:lpstr>
      <vt:lpstr>Propofol </vt:lpstr>
      <vt:lpstr>Propofol…</vt:lpstr>
      <vt:lpstr>Propofol</vt:lpstr>
      <vt:lpstr>Propofol…</vt:lpstr>
      <vt:lpstr>Mechanisms of Action </vt:lpstr>
      <vt:lpstr>Mechanisms of Action </vt:lpstr>
      <vt:lpstr>Pharmacokinetics of propofol </vt:lpstr>
      <vt:lpstr>Cont.….</vt:lpstr>
      <vt:lpstr>Cont.….</vt:lpstr>
      <vt:lpstr>Cont.…</vt:lpstr>
      <vt:lpstr>Cont.….</vt:lpstr>
      <vt:lpstr>Cont.…</vt:lpstr>
      <vt:lpstr>Cont.…</vt:lpstr>
      <vt:lpstr>Cont.…</vt:lpstr>
      <vt:lpstr>Pharmacodynamics…</vt:lpstr>
      <vt:lpstr>Clinical Uses of Propofol </vt:lpstr>
      <vt:lpstr>Cont.…</vt:lpstr>
      <vt:lpstr>Advantages of propofol</vt:lpstr>
      <vt:lpstr>Cont.….</vt:lpstr>
      <vt:lpstr>Cont.….</vt:lpstr>
      <vt:lpstr>Cont.….</vt:lpstr>
      <vt:lpstr>Cont.….</vt:lpstr>
      <vt:lpstr>Summary Of propofol</vt:lpstr>
      <vt:lpstr> Ketamine</vt:lpstr>
      <vt:lpstr>            Ketamine</vt:lpstr>
      <vt:lpstr>Cont.…</vt:lpstr>
      <vt:lpstr>Cont…</vt:lpstr>
      <vt:lpstr>Cont.… </vt:lpstr>
      <vt:lpstr>Mechanisms of Action</vt:lpstr>
      <vt:lpstr>Cont…</vt:lpstr>
      <vt:lpstr>Cont.…</vt:lpstr>
      <vt:lpstr>Cont.…</vt:lpstr>
      <vt:lpstr>Cont.…</vt:lpstr>
      <vt:lpstr>Cont.…</vt:lpstr>
      <vt:lpstr>Cont.….</vt:lpstr>
      <vt:lpstr>Cont.….</vt:lpstr>
      <vt:lpstr>Cont.….</vt:lpstr>
      <vt:lpstr>Cont…</vt:lpstr>
      <vt:lpstr>Cont.…</vt:lpstr>
      <vt:lpstr>Clinical uses</vt:lpstr>
      <vt:lpstr>Cont.…</vt:lpstr>
      <vt:lpstr>Cont.…</vt:lpstr>
      <vt:lpstr>Cont.…</vt:lpstr>
      <vt:lpstr>Cont.…</vt:lpstr>
      <vt:lpstr>Cont.…</vt:lpstr>
      <vt:lpstr>Cont.…</vt:lpstr>
      <vt:lpstr>Cont.…</vt:lpstr>
      <vt:lpstr>Cont…</vt:lpstr>
      <vt:lpstr>Recovery after ketamine</vt:lpstr>
      <vt:lpstr>Summary of Ketamine</vt:lpstr>
      <vt:lpstr>Barbiturates</vt:lpstr>
      <vt:lpstr>Introduction</vt:lpstr>
      <vt:lpstr>Cont.…</vt:lpstr>
      <vt:lpstr>Mechanism of action</vt:lpstr>
      <vt:lpstr>Classification</vt:lpstr>
      <vt:lpstr>Barbiturates</vt:lpstr>
      <vt:lpstr>Structure of barbiturates….</vt:lpstr>
      <vt:lpstr> Pharmacokinetics of Barbiturates </vt:lpstr>
      <vt:lpstr>Pharmacokinetics….</vt:lpstr>
      <vt:lpstr>Cont.…</vt:lpstr>
      <vt:lpstr>Pharmacokinetics….</vt:lpstr>
      <vt:lpstr>Pharmacokinetics….</vt:lpstr>
      <vt:lpstr>Pharmacokinetics….</vt:lpstr>
      <vt:lpstr> Pharmacodynamics of barbiturates </vt:lpstr>
      <vt:lpstr>Cont.….</vt:lpstr>
      <vt:lpstr>Cont…</vt:lpstr>
      <vt:lpstr>Cont…</vt:lpstr>
      <vt:lpstr>Cont…</vt:lpstr>
      <vt:lpstr>Cont…</vt:lpstr>
      <vt:lpstr>Cont…</vt:lpstr>
      <vt:lpstr>Barbiturates: Drug Interactions</vt:lpstr>
      <vt:lpstr>Thiopental </vt:lpstr>
      <vt:lpstr>Introduction </vt:lpstr>
      <vt:lpstr>Thiopental </vt:lpstr>
      <vt:lpstr>Thiopental…</vt:lpstr>
      <vt:lpstr>Mechanism of action of thiopental</vt:lpstr>
      <vt:lpstr>Pharmacodynamics </vt:lpstr>
      <vt:lpstr>Pharmacodynamics…</vt:lpstr>
      <vt:lpstr>Pharmacodynamics…</vt:lpstr>
      <vt:lpstr>Pharmacodynamics…</vt:lpstr>
      <vt:lpstr>Pharmacodynamics…</vt:lpstr>
      <vt:lpstr>Pharmacokinetics</vt:lpstr>
      <vt:lpstr>Pharmacokinetics…</vt:lpstr>
      <vt:lpstr>Thiopentone-</vt:lpstr>
      <vt:lpstr>Thiopental…</vt:lpstr>
      <vt:lpstr>Uses and dosages of common barbiturates.</vt:lpstr>
      <vt:lpstr>Side effects of Thiopental</vt:lpstr>
      <vt:lpstr>Cont.…</vt:lpstr>
      <vt:lpstr>Cont…</vt:lpstr>
      <vt:lpstr>Cont…</vt:lpstr>
      <vt:lpstr>Cont…</vt:lpstr>
      <vt:lpstr>Cont…</vt:lpstr>
      <vt:lpstr>Cont.…</vt:lpstr>
      <vt:lpstr>Contraindication…</vt:lpstr>
      <vt:lpstr> Methohexital </vt:lpstr>
      <vt:lpstr>Cont.…</vt:lpstr>
      <vt:lpstr>Cont…</vt:lpstr>
      <vt:lpstr>Summary of barbiturates</vt:lpstr>
      <vt:lpstr>Etomidate </vt:lpstr>
      <vt:lpstr>Etomidate</vt:lpstr>
      <vt:lpstr>Cont.…</vt:lpstr>
      <vt:lpstr>Cont.…</vt:lpstr>
      <vt:lpstr>Pharmacokinetics of etomidate</vt:lpstr>
      <vt:lpstr>Cont.…</vt:lpstr>
      <vt:lpstr>Pharmacodynamics of Etomidate</vt:lpstr>
      <vt:lpstr>Pharmacodynamics…</vt:lpstr>
      <vt:lpstr>Pharmacodynamics…</vt:lpstr>
      <vt:lpstr>Cont.…</vt:lpstr>
      <vt:lpstr>Etomidate:  dose</vt:lpstr>
      <vt:lpstr> Cont.…</vt:lpstr>
      <vt:lpstr>  Cont.…</vt:lpstr>
      <vt:lpstr> Cont.…</vt:lpstr>
      <vt:lpstr>Dexmedetomidine</vt:lpstr>
      <vt:lpstr>Pharmacokinetics of Dexmedetomidine</vt:lpstr>
      <vt:lpstr>Pharmacodynamics of Dexmedetomidine</vt:lpstr>
      <vt:lpstr> Cont.…</vt:lpstr>
      <vt:lpstr> Cont.…</vt:lpstr>
      <vt:lpstr>Cont.…</vt:lpstr>
      <vt:lpstr>Benzodiazepines (BZDs)</vt:lpstr>
      <vt:lpstr>Outline</vt:lpstr>
      <vt:lpstr>Introduction</vt:lpstr>
      <vt:lpstr>Benzodiazepines: Mechanism of Action</vt:lpstr>
      <vt:lpstr> Cont…</vt:lpstr>
      <vt:lpstr>Cont.…</vt:lpstr>
      <vt:lpstr>Cont.…</vt:lpstr>
      <vt:lpstr>Pharmacokinetics Of BZDs</vt:lpstr>
      <vt:lpstr>Cont.…</vt:lpstr>
      <vt:lpstr>Cont.…</vt:lpstr>
      <vt:lpstr>Cont.…</vt:lpstr>
      <vt:lpstr>Benzodiazepine Metabolism and Clearance</vt:lpstr>
      <vt:lpstr> Effects on organ systems: Pharmacodynamics </vt:lpstr>
      <vt:lpstr>Cont.…</vt:lpstr>
      <vt:lpstr>Cont.…</vt:lpstr>
      <vt:lpstr>Benzodiazepine: Drug Interactions</vt:lpstr>
      <vt:lpstr>Cont.…</vt:lpstr>
      <vt:lpstr>Diazepam</vt:lpstr>
      <vt:lpstr>Cont.…</vt:lpstr>
      <vt:lpstr>Cont.…</vt:lpstr>
      <vt:lpstr>Dose</vt:lpstr>
      <vt:lpstr>Midazolam</vt:lpstr>
      <vt:lpstr>Cont.…</vt:lpstr>
      <vt:lpstr>Cont.…</vt:lpstr>
      <vt:lpstr>Cont.…</vt:lpstr>
      <vt:lpstr> Cont…</vt:lpstr>
      <vt:lpstr>Midazolam vs. diazepam</vt:lpstr>
      <vt:lpstr> Cont…</vt:lpstr>
      <vt:lpstr>Midazolam uses and dose </vt:lpstr>
      <vt:lpstr>Lorazepam</vt:lpstr>
      <vt:lpstr>Cont.…</vt:lpstr>
      <vt:lpstr>Lorazepam uses and dose </vt:lpstr>
      <vt:lpstr>Remimazolam</vt:lpstr>
      <vt:lpstr>Cont.…</vt:lpstr>
      <vt:lpstr>Cont.…</vt:lpstr>
      <vt:lpstr>BZD antagonist (Antidote)</vt:lpstr>
      <vt:lpstr>BZD antagonist…</vt:lpstr>
      <vt:lpstr>BZD antagonist…</vt:lpstr>
      <vt:lpstr>Summary of IV  anesthetic effects on organ systems</vt:lpstr>
      <vt:lpstr>Cont.…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Intravenous Anesthetic agents (IVAA) </dc:title>
  <dc:creator>DELL</dc:creator>
  <cp:lastModifiedBy>Mulualem Sitot</cp:lastModifiedBy>
  <cp:revision>761</cp:revision>
  <dcterms:created xsi:type="dcterms:W3CDTF">2006-08-16T00:00:00Z</dcterms:created>
  <dcterms:modified xsi:type="dcterms:W3CDTF">2024-03-23T16:40:00Z</dcterms:modified>
</cp:coreProperties>
</file>