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8"/>
  </p:notesMasterIdLst>
  <p:sldIdLst>
    <p:sldId id="256" r:id="rId2"/>
    <p:sldId id="287" r:id="rId3"/>
    <p:sldId id="257" r:id="rId4"/>
    <p:sldId id="288" r:id="rId5"/>
    <p:sldId id="290" r:id="rId6"/>
    <p:sldId id="295" r:id="rId7"/>
    <p:sldId id="296" r:id="rId8"/>
    <p:sldId id="297" r:id="rId9"/>
    <p:sldId id="300" r:id="rId10"/>
    <p:sldId id="302" r:id="rId11"/>
    <p:sldId id="304" r:id="rId12"/>
    <p:sldId id="305" r:id="rId13"/>
    <p:sldId id="262" r:id="rId14"/>
    <p:sldId id="349" r:id="rId15"/>
    <p:sldId id="352" r:id="rId16"/>
    <p:sldId id="292" r:id="rId17"/>
    <p:sldId id="298" r:id="rId18"/>
    <p:sldId id="309" r:id="rId19"/>
    <p:sldId id="294" r:id="rId20"/>
    <p:sldId id="308" r:id="rId21"/>
    <p:sldId id="353" r:id="rId22"/>
    <p:sldId id="270" r:id="rId23"/>
    <p:sldId id="271" r:id="rId24"/>
    <p:sldId id="310" r:id="rId25"/>
    <p:sldId id="272" r:id="rId26"/>
    <p:sldId id="273" r:id="rId27"/>
    <p:sldId id="274" r:id="rId28"/>
    <p:sldId id="311" r:id="rId29"/>
    <p:sldId id="313" r:id="rId30"/>
    <p:sldId id="314" r:id="rId31"/>
    <p:sldId id="275" r:id="rId32"/>
    <p:sldId id="354" r:id="rId33"/>
    <p:sldId id="355" r:id="rId34"/>
    <p:sldId id="356" r:id="rId35"/>
    <p:sldId id="323" r:id="rId36"/>
    <p:sldId id="324" r:id="rId37"/>
    <p:sldId id="325" r:id="rId38"/>
    <p:sldId id="326" r:id="rId39"/>
    <p:sldId id="328" r:id="rId40"/>
    <p:sldId id="329" r:id="rId41"/>
    <p:sldId id="330" r:id="rId42"/>
    <p:sldId id="331" r:id="rId43"/>
    <p:sldId id="332" r:id="rId44"/>
    <p:sldId id="333" r:id="rId45"/>
    <p:sldId id="334" r:id="rId46"/>
    <p:sldId id="335" r:id="rId47"/>
    <p:sldId id="336" r:id="rId48"/>
    <p:sldId id="337" r:id="rId49"/>
    <p:sldId id="338" r:id="rId50"/>
    <p:sldId id="339" r:id="rId51"/>
    <p:sldId id="340" r:id="rId52"/>
    <p:sldId id="341" r:id="rId53"/>
    <p:sldId id="342" r:id="rId54"/>
    <p:sldId id="344" r:id="rId55"/>
    <p:sldId id="346" r:id="rId56"/>
    <p:sldId id="348" r:id="rId57"/>
    <p:sldId id="357" r:id="rId58"/>
    <p:sldId id="358" r:id="rId59"/>
    <p:sldId id="365" r:id="rId60"/>
    <p:sldId id="359" r:id="rId61"/>
    <p:sldId id="360" r:id="rId62"/>
    <p:sldId id="361" r:id="rId63"/>
    <p:sldId id="362" r:id="rId64"/>
    <p:sldId id="316" r:id="rId65"/>
    <p:sldId id="363" r:id="rId66"/>
    <p:sldId id="364" r:id="rId67"/>
    <p:sldId id="371" r:id="rId68"/>
    <p:sldId id="278" r:id="rId69"/>
    <p:sldId id="366" r:id="rId70"/>
    <p:sldId id="367" r:id="rId71"/>
    <p:sldId id="279" r:id="rId72"/>
    <p:sldId id="280" r:id="rId73"/>
    <p:sldId id="368" r:id="rId74"/>
    <p:sldId id="317" r:id="rId75"/>
    <p:sldId id="370" r:id="rId76"/>
    <p:sldId id="369" r:id="rId77"/>
    <p:sldId id="319" r:id="rId78"/>
    <p:sldId id="372" r:id="rId79"/>
    <p:sldId id="373" r:id="rId80"/>
    <p:sldId id="321" r:id="rId81"/>
    <p:sldId id="322" r:id="rId82"/>
    <p:sldId id="283" r:id="rId83"/>
    <p:sldId id="374" r:id="rId84"/>
    <p:sldId id="375" r:id="rId85"/>
    <p:sldId id="376" r:id="rId86"/>
    <p:sldId id="286" r:id="rId8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556" autoAdjust="0"/>
  </p:normalViewPr>
  <p:slideViewPr>
    <p:cSldViewPr>
      <p:cViewPr varScale="1">
        <p:scale>
          <a:sx n="63" d="100"/>
          <a:sy n="63" d="100"/>
        </p:scale>
        <p:origin x="1596"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05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D35225-3BB1-4EF5-B6BC-54136D04FE6C}" type="datetimeFigureOut">
              <a:rPr lang="en-US" smtClean="0"/>
              <a:pPr/>
              <a:t>3/23/2024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7143AF-B3E5-4CAA-A6CD-FD48F3B46C9C}" type="slidenum">
              <a:rPr lang="en-US" smtClean="0"/>
              <a:pPr/>
              <a:t>‹#›</a:t>
            </a:fld>
            <a:endParaRPr lang="en-US"/>
          </a:p>
        </p:txBody>
      </p:sp>
    </p:spTree>
    <p:extLst>
      <p:ext uri="{BB962C8B-B14F-4D97-AF65-F5344CB8AC3E}">
        <p14:creationId xmlns:p14="http://schemas.microsoft.com/office/powerpoint/2010/main" val="1188852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67143AF-B3E5-4CAA-A6CD-FD48F3B46C9C}" type="slidenum">
              <a:rPr lang="en-US" smtClean="0"/>
              <a:pPr/>
              <a:t>3</a:t>
            </a:fld>
            <a:endParaRPr lang="en-US" dirty="0"/>
          </a:p>
        </p:txBody>
      </p:sp>
    </p:spTree>
    <p:extLst>
      <p:ext uri="{BB962C8B-B14F-4D97-AF65-F5344CB8AC3E}">
        <p14:creationId xmlns:p14="http://schemas.microsoft.com/office/powerpoint/2010/main" val="3876880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At rest the cell membrane is relatively impermeable to sodium ions (Na+) but selectively permeable to potassium ions (K+) .</a:t>
            </a:r>
          </a:p>
          <a:p>
            <a:r>
              <a:rPr lang="en-US" sz="1800" b="0" i="0" u="none" strike="noStrike" baseline="0" dirty="0">
                <a:solidFill>
                  <a:srgbClr val="000000"/>
                </a:solidFill>
                <a:latin typeface="Photina MT"/>
              </a:rPr>
              <a:t>Although the membrane is relatively permeable to potassium ions, an intracellular-to-extracellular potassium ratio of 150 to 5 mM, or 30:1, is maintained by active removal of potassium as it leaks passively across the plasma membrane into the cell.</a:t>
            </a:r>
          </a:p>
          <a:p>
            <a:r>
              <a:rPr lang="en-US" sz="1800" b="0" i="0" u="none" strike="noStrike" baseline="0" dirty="0">
                <a:solidFill>
                  <a:srgbClr val="000000"/>
                </a:solidFill>
                <a:latin typeface="Photina MT"/>
              </a:rPr>
              <a:t>During an action potential, the nerve membrane transiently switches its higher permeability from K+ to Na+, thereby changing the membrane potential from negative to positive, and back again. </a:t>
            </a:r>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6</a:t>
            </a:fld>
            <a:endParaRPr lang="en-US"/>
          </a:p>
        </p:txBody>
      </p:sp>
    </p:spTree>
    <p:extLst>
      <p:ext uri="{BB962C8B-B14F-4D97-AF65-F5344CB8AC3E}">
        <p14:creationId xmlns:p14="http://schemas.microsoft.com/office/powerpoint/2010/main" val="570994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Conversely, other classes of drugs, most notably tricyclic antidepressants (amitriptyline),</a:t>
            </a:r>
            <a:r>
              <a:rPr lang="it-IT" sz="1200" dirty="0"/>
              <a:t>meperidine, volatile anesthetics, Ca channel blockers, </a:t>
            </a:r>
            <a:r>
              <a:rPr lang="en-US" sz="1200" dirty="0"/>
              <a:t>and ketamine, also may inhibit Na channels.</a:t>
            </a:r>
          </a:p>
          <a:p>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12</a:t>
            </a:fld>
            <a:endParaRPr lang="en-US"/>
          </a:p>
        </p:txBody>
      </p:sp>
    </p:spTree>
    <p:extLst>
      <p:ext uri="{BB962C8B-B14F-4D97-AF65-F5344CB8AC3E}">
        <p14:creationId xmlns:p14="http://schemas.microsoft.com/office/powerpoint/2010/main" val="2554044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a:t>Sensitivity of nerve fibers to inhibition by local anesthetics is determined by axonal diameter, myelination, and other anatomic and physiological factors.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B67143AF-B3E5-4CAA-A6CD-FD48F3B46C9C}" type="slidenum">
              <a:rPr lang="en-US" smtClean="0"/>
              <a:pPr/>
              <a:t>13</a:t>
            </a:fld>
            <a:endParaRPr lang="en-US"/>
          </a:p>
        </p:txBody>
      </p:sp>
    </p:spTree>
    <p:extLst>
      <p:ext uri="{BB962C8B-B14F-4D97-AF65-F5344CB8AC3E}">
        <p14:creationId xmlns:p14="http://schemas.microsoft.com/office/powerpoint/2010/main" val="1032176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 </a:t>
            </a:r>
            <a:r>
              <a:rPr lang="en-US" sz="1800" b="0" i="0" u="none" strike="noStrike" baseline="0" dirty="0">
                <a:solidFill>
                  <a:srgbClr val="000000"/>
                </a:solidFill>
                <a:latin typeface="Photina MT"/>
              </a:rPr>
              <a:t>When a local anesthetic solution is exposed to an area of greater vascularity, a greater rate and degree of absorption occur. </a:t>
            </a:r>
            <a:endParaRPr lang="bg-BG" sz="12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B67143AF-B3E5-4CAA-A6CD-FD48F3B46C9C}" type="slidenum">
              <a:rPr lang="en-US" smtClean="0"/>
              <a:pPr/>
              <a:t>22</a:t>
            </a:fld>
            <a:endParaRPr lang="en-US" dirty="0"/>
          </a:p>
        </p:txBody>
      </p:sp>
    </p:spTree>
    <p:extLst>
      <p:ext uri="{BB962C8B-B14F-4D97-AF65-F5344CB8AC3E}">
        <p14:creationId xmlns:p14="http://schemas.microsoft.com/office/powerpoint/2010/main" val="1972051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a:t>Vasoconstrictors have </a:t>
            </a:r>
            <a:r>
              <a:rPr lang="en-US" sz="1200" b="1" dirty="0"/>
              <a:t>more pronounced effects on shorter-acting </a:t>
            </a:r>
            <a:r>
              <a:rPr lang="en-US" sz="1200" dirty="0"/>
              <a:t>than longer-acting agents. For example, addition of epinephrine to lidocaine usually extends the duration of anesthesia by at least 50%, but epinephrine has little or no effect on the duration of bupivacaine peripheral nerve blocks.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dirty="0"/>
          </a:p>
        </p:txBody>
      </p:sp>
      <p:sp>
        <p:nvSpPr>
          <p:cNvPr id="4" name="Slide Number Placeholder 3"/>
          <p:cNvSpPr>
            <a:spLocks noGrp="1"/>
          </p:cNvSpPr>
          <p:nvPr>
            <p:ph type="sldNum" sz="quarter" idx="10"/>
          </p:nvPr>
        </p:nvSpPr>
        <p:spPr/>
        <p:txBody>
          <a:bodyPr/>
          <a:lstStyle/>
          <a:p>
            <a:fld id="{B67143AF-B3E5-4CAA-A6CD-FD48F3B46C9C}" type="slidenum">
              <a:rPr lang="en-US" smtClean="0"/>
              <a:pPr/>
              <a:t>23</a:t>
            </a:fld>
            <a:endParaRPr lang="en-US" dirty="0"/>
          </a:p>
        </p:txBody>
      </p:sp>
    </p:spTree>
    <p:extLst>
      <p:ext uri="{BB962C8B-B14F-4D97-AF65-F5344CB8AC3E}">
        <p14:creationId xmlns:p14="http://schemas.microsoft.com/office/powerpoint/2010/main" val="1049449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Local anesthetics exert direct effects on vascular smooth muscles in a concentration-dependent manner. At low concentrations, more potent agents appear to cause more vasoconstriction than less potent agents, thereby decreasing the rate of vascular absorption.</a:t>
            </a:r>
          </a:p>
          <a:p>
            <a:r>
              <a:rPr lang="en-US" sz="1200" dirty="0"/>
              <a:t>At high concentrations, vasodilatory effects seem to predominate for most local anesthetics.</a:t>
            </a:r>
            <a:endParaRPr lang="en-US" sz="1200" u="sng" dirty="0"/>
          </a:p>
          <a:p>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24</a:t>
            </a:fld>
            <a:endParaRPr lang="en-US"/>
          </a:p>
        </p:txBody>
      </p:sp>
    </p:spTree>
    <p:extLst>
      <p:ext uri="{BB962C8B-B14F-4D97-AF65-F5344CB8AC3E}">
        <p14:creationId xmlns:p14="http://schemas.microsoft.com/office/powerpoint/2010/main" val="440606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67143AF-B3E5-4CAA-A6CD-FD48F3B46C9C}" type="slidenum">
              <a:rPr lang="en-US" smtClean="0"/>
              <a:pPr/>
              <a:t>25</a:t>
            </a:fld>
            <a:endParaRPr lang="en-US" dirty="0"/>
          </a:p>
        </p:txBody>
      </p:sp>
    </p:spTree>
    <p:extLst>
      <p:ext uri="{BB962C8B-B14F-4D97-AF65-F5344CB8AC3E}">
        <p14:creationId xmlns:p14="http://schemas.microsoft.com/office/powerpoint/2010/main" val="284332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B67143AF-B3E5-4CAA-A6CD-FD48F3B46C9C}" type="slidenum">
              <a:rPr lang="en-US" smtClean="0"/>
              <a:pPr/>
              <a:t>26</a:t>
            </a:fld>
            <a:endParaRPr lang="en-US" dirty="0"/>
          </a:p>
        </p:txBody>
      </p:sp>
    </p:spTree>
    <p:extLst>
      <p:ext uri="{BB962C8B-B14F-4D97-AF65-F5344CB8AC3E}">
        <p14:creationId xmlns:p14="http://schemas.microsoft.com/office/powerpoint/2010/main" val="2180220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B67143AF-B3E5-4CAA-A6CD-FD48F3B46C9C}" type="slidenum">
              <a:rPr lang="en-US" smtClean="0"/>
              <a:pPr/>
              <a:t>27</a:t>
            </a:fld>
            <a:endParaRPr lang="en-US"/>
          </a:p>
        </p:txBody>
      </p:sp>
    </p:spTree>
    <p:extLst>
      <p:ext uri="{BB962C8B-B14F-4D97-AF65-F5344CB8AC3E}">
        <p14:creationId xmlns:p14="http://schemas.microsoft.com/office/powerpoint/2010/main" val="371333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67143AF-B3E5-4CAA-A6CD-FD48F3B46C9C}" type="slidenum">
              <a:rPr lang="en-US" smtClean="0"/>
              <a:pPr/>
              <a:t>31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4320" marR="3600" lvl="2" indent="-274320">
              <a:buClr>
                <a:schemeClr val="accent1"/>
              </a:buClr>
              <a:buSzPct val="85000"/>
              <a:buFont typeface="Wingdings 2"/>
              <a:buChar char=""/>
            </a:pPr>
            <a:r>
              <a:rPr lang="en-US" sz="1200" dirty="0">
                <a:solidFill>
                  <a:srgbClr val="000000"/>
                </a:solidFill>
                <a:latin typeface="Calibri" panose="020F0502020204030204" pitchFamily="34" charset="0"/>
                <a:cs typeface="Calibri" panose="020F0502020204030204" pitchFamily="34" charset="0"/>
              </a:rPr>
              <a:t>The onset of conduction block in isolated nerves is related to the physicochemical properties of the individual agents.</a:t>
            </a:r>
          </a:p>
          <a:p>
            <a:pPr marL="274320" marR="3600" lvl="2" indent="-274320">
              <a:buClr>
                <a:schemeClr val="accent1"/>
              </a:buClr>
              <a:buSzPct val="85000"/>
              <a:buFont typeface="Wingdings 2"/>
              <a:buChar char=""/>
            </a:pPr>
            <a:r>
              <a:rPr lang="en-US" sz="1200" dirty="0">
                <a:solidFill>
                  <a:srgbClr val="000000"/>
                </a:solidFill>
                <a:latin typeface="Calibri" panose="020F0502020204030204" pitchFamily="34" charset="0"/>
                <a:cs typeface="Calibri" panose="020F0502020204030204" pitchFamily="34" charset="0"/>
              </a:rPr>
              <a:t> In vivo latency is also dependent on the dose or concentration of local anesthetic used. </a:t>
            </a:r>
          </a:p>
          <a:p>
            <a:pPr marL="274320" marR="3600" lvl="2" indent="-274320">
              <a:buClr>
                <a:schemeClr val="accent1"/>
              </a:buClr>
              <a:buSzPct val="85000"/>
              <a:buFont typeface="Wingdings 2"/>
              <a:buChar char=""/>
            </a:pPr>
            <a:r>
              <a:rPr lang="en-US" sz="1200" dirty="0">
                <a:solidFill>
                  <a:srgbClr val="000000"/>
                </a:solidFill>
                <a:latin typeface="Calibri" panose="020F0502020204030204" pitchFamily="34" charset="0"/>
                <a:cs typeface="Calibri" panose="020F0502020204030204" pitchFamily="34" charset="0"/>
              </a:rPr>
              <a:t>For example, 0.75% bupivacaine has more rapid onset than 0.25%. </a:t>
            </a:r>
            <a:r>
              <a:rPr lang="en-US" sz="1200" dirty="0" err="1">
                <a:solidFill>
                  <a:srgbClr val="000000"/>
                </a:solidFill>
                <a:latin typeface="Calibri" panose="020F0502020204030204" pitchFamily="34" charset="0"/>
                <a:cs typeface="Calibri" panose="020F0502020204030204" pitchFamily="34" charset="0"/>
              </a:rPr>
              <a:t>Chloroprocaine</a:t>
            </a:r>
            <a:r>
              <a:rPr lang="en-US" sz="1200" dirty="0">
                <a:solidFill>
                  <a:srgbClr val="000000"/>
                </a:solidFill>
                <a:latin typeface="Calibri" panose="020F0502020204030204" pitchFamily="34" charset="0"/>
                <a:cs typeface="Calibri" panose="020F0502020204030204" pitchFamily="34" charset="0"/>
              </a:rPr>
              <a:t> demonstrates a rapid onset of action in humans because its low systemic toxicity permits its use in high concentrations (3%).</a:t>
            </a:r>
          </a:p>
          <a:p>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32</a:t>
            </a:fld>
            <a:endParaRPr lang="en-US"/>
          </a:p>
        </p:txBody>
      </p:sp>
    </p:spTree>
    <p:extLst>
      <p:ext uri="{BB962C8B-B14F-4D97-AF65-F5344CB8AC3E}">
        <p14:creationId xmlns:p14="http://schemas.microsoft.com/office/powerpoint/2010/main" val="42431914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As a practical example, the topical local anesthetic formulation EMLA (eutectic mixture of the local anesthetics lidocaine and prilocaine) vasoconstricts cutaneous vessels initially and through most of the first hour of application, but vasodilation is observed after 2 or more hours of application. </a:t>
            </a:r>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33</a:t>
            </a:fld>
            <a:endParaRPr lang="en-US"/>
          </a:p>
        </p:txBody>
      </p:sp>
    </p:spTree>
    <p:extLst>
      <p:ext uri="{BB962C8B-B14F-4D97-AF65-F5344CB8AC3E}">
        <p14:creationId xmlns:p14="http://schemas.microsoft.com/office/powerpoint/2010/main" val="2428774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A3F2F4E-B521-4599-9A62-247A31F4D6BC}" type="slidenum">
              <a:rPr lang="en-US" smtClean="0"/>
              <a:pPr/>
              <a:t>39</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The dosage of local anesthetic can be increased by administering either a larger volume or a more concentrated solution. For example, increasing the concentration of epidurally administered bupivacaine from 0.125% to 0.5% while maintaining the same volume of injectate (10 mL) resulted in shorter latency, an improved incidence of satisfactory analgesia, and a longer duration of sensory analgesia.</a:t>
            </a:r>
          </a:p>
          <a:p>
            <a:r>
              <a:rPr lang="en-US" sz="1800" b="0" i="0" u="none" strike="noStrike" baseline="0" dirty="0">
                <a:solidFill>
                  <a:srgbClr val="000000"/>
                </a:solidFill>
                <a:latin typeface="Photina MT"/>
              </a:rPr>
              <a:t>The volume per se of anesthetic solution probably influences the spread of anesthesia. For example, 30 mL of 1% lidocaine administered into the epidural space produced a level of anesthesia that was 4.3 dermatomes higher than that achieved when 10 mL of 3% lidocaine was given. </a:t>
            </a:r>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57</a:t>
            </a:fld>
            <a:endParaRPr lang="en-US"/>
          </a:p>
        </p:txBody>
      </p:sp>
    </p:spTree>
    <p:extLst>
      <p:ext uri="{BB962C8B-B14F-4D97-AF65-F5344CB8AC3E}">
        <p14:creationId xmlns:p14="http://schemas.microsoft.com/office/powerpoint/2010/main" val="894724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Epinephrine will significantly extend the duration of both infiltration anesthesia and peripheral nerve blockade with shorter-duration agents (e.g., lidocaine); epinephrine produces mild intensification of blockade but only most modest prolongation of epidural or peripheral blocks with bupivacaine.</a:t>
            </a:r>
          </a:p>
          <a:p>
            <a:r>
              <a:rPr lang="en-US" sz="1800" b="0" i="0" u="none" strike="noStrike" baseline="0" dirty="0">
                <a:solidFill>
                  <a:srgbClr val="000000"/>
                </a:solidFill>
                <a:latin typeface="Photina MT"/>
              </a:rPr>
              <a:t>Activation of </a:t>
            </a:r>
            <a:r>
              <a:rPr lang="en-US" sz="1800" b="0" i="0" u="none" strike="noStrike" baseline="0" dirty="0">
                <a:solidFill>
                  <a:srgbClr val="000000"/>
                </a:solidFill>
                <a:latin typeface="TnQ"/>
              </a:rPr>
              <a:t>α</a:t>
            </a:r>
            <a:r>
              <a:rPr lang="en-US" sz="1800" b="0" i="0" u="none" strike="noStrike" baseline="0" dirty="0">
                <a:solidFill>
                  <a:srgbClr val="000000"/>
                </a:solidFill>
                <a:latin typeface="Photina MT"/>
              </a:rPr>
              <a:t>2- adrenergic receptors in the spinal cord may contribute to the beneficial effect of epidural epinephrine. </a:t>
            </a:r>
            <a:r>
              <a:rPr lang="en-US" sz="1800" b="1" i="0" u="none" strike="noStrike" baseline="0" dirty="0">
                <a:solidFill>
                  <a:srgbClr val="000000"/>
                </a:solidFill>
                <a:latin typeface="Photina MT"/>
              </a:rPr>
              <a:t> </a:t>
            </a:r>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58</a:t>
            </a:fld>
            <a:endParaRPr lang="en-US"/>
          </a:p>
        </p:txBody>
      </p:sp>
    </p:spTree>
    <p:extLst>
      <p:ext uri="{BB962C8B-B14F-4D97-AF65-F5344CB8AC3E}">
        <p14:creationId xmlns:p14="http://schemas.microsoft.com/office/powerpoint/2010/main" val="10443272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An exception to this analgesic synergy is </a:t>
            </a:r>
            <a:r>
              <a:rPr lang="en-US" sz="1800" b="0" i="0" u="none" strike="noStrike" baseline="0" dirty="0" err="1">
                <a:latin typeface="TimesNewRomanPSMT"/>
              </a:rPr>
              <a:t>chloroprocaine</a:t>
            </a:r>
            <a:r>
              <a:rPr lang="en-US" sz="1800" b="0" i="0" u="none" strike="noStrike" baseline="0" dirty="0">
                <a:latin typeface="TimesNewRomanPSMT"/>
              </a:rPr>
              <a:t>, which appears to decrease the effectiveness of opioids </a:t>
            </a:r>
            <a:r>
              <a:rPr lang="en-US" sz="1800" b="0" i="0" u="none" strike="noStrike" baseline="0" dirty="0" err="1">
                <a:latin typeface="TimesNewRomanPSMT"/>
              </a:rPr>
              <a:t>coadministered</a:t>
            </a:r>
            <a:r>
              <a:rPr lang="en-US" sz="1800" b="0" i="0" u="none" strike="noStrike" baseline="0" dirty="0">
                <a:latin typeface="TimesNewRomanPSMT"/>
              </a:rPr>
              <a:t> epidurally.</a:t>
            </a:r>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59</a:t>
            </a:fld>
            <a:endParaRPr lang="en-US"/>
          </a:p>
        </p:txBody>
      </p:sp>
    </p:spTree>
    <p:extLst>
      <p:ext uri="{BB962C8B-B14F-4D97-AF65-F5344CB8AC3E}">
        <p14:creationId xmlns:p14="http://schemas.microsoft.com/office/powerpoint/2010/main" val="27464077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800" b="0" i="0" u="none" strike="noStrike" baseline="0" dirty="0">
                <a:solidFill>
                  <a:srgbClr val="000000"/>
                </a:solidFill>
                <a:latin typeface="Photina MT"/>
              </a:rPr>
              <a:t>These differences in the onset and duration of anesthesia and analgesia are due in part to the particular anatomy of the area of injection, which will influence the rate of diffusion and vascular absorption and, in turn, affect the amount of drug used for various types of regional anesthesia. In the subarachnoid space, for example, the lack of a nerve sheath around the spinal cord and deposition of the local anesthetic solution in the immediate vicinity of the spinal cord are responsible for the rapid onset of action, whereas the relatively small amount of drug used for spinal anesthesia probably accounts for the short duration of conduction block. In contrast, the onset of brachial plexus blockade is slow because the anesthetic agent is usually deposited at some distance from the nerve and must diffuse through various tissue barriers before reaching the nerve membrane. </a:t>
            </a:r>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61</a:t>
            </a:fld>
            <a:endParaRPr lang="en-US"/>
          </a:p>
        </p:txBody>
      </p:sp>
    </p:spTree>
    <p:extLst>
      <p:ext uri="{BB962C8B-B14F-4D97-AF65-F5344CB8AC3E}">
        <p14:creationId xmlns:p14="http://schemas.microsoft.com/office/powerpoint/2010/main" val="27271415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Local anesthetic solutions are alkalinized in order to hasten onset of neural Block.</a:t>
            </a:r>
          </a:p>
          <a:p>
            <a:pPr algn="l"/>
            <a:r>
              <a:rPr lang="en-US" sz="1800" b="0" i="0" u="none" strike="noStrike" baseline="0" dirty="0">
                <a:latin typeface="TimesNewRomanPSMT"/>
              </a:rPr>
              <a:t> </a:t>
            </a:r>
            <a:r>
              <a:rPr lang="en-US" sz="1800" b="0" i="0" u="none" strike="noStrike" baseline="0" dirty="0">
                <a:solidFill>
                  <a:srgbClr val="000000"/>
                </a:solidFill>
                <a:latin typeface="Photina MT"/>
              </a:rPr>
              <a:t>Mixtures of </a:t>
            </a:r>
            <a:r>
              <a:rPr lang="en-US" sz="1800" b="0" i="0" u="none" strike="noStrike" baseline="0" dirty="0" err="1">
                <a:solidFill>
                  <a:srgbClr val="000000"/>
                </a:solidFill>
                <a:latin typeface="Photina MT"/>
              </a:rPr>
              <a:t>chloroprocaine</a:t>
            </a:r>
            <a:r>
              <a:rPr lang="en-US" sz="1800" b="0" i="0" u="none" strike="noStrike" baseline="0" dirty="0">
                <a:solidFill>
                  <a:srgbClr val="000000"/>
                </a:solidFill>
                <a:latin typeface="Photina MT"/>
              </a:rPr>
              <a:t> and bupivacaine theoretically offer significant clinical advantages because of the rapid onset and low systemic toxicity of </a:t>
            </a:r>
            <a:r>
              <a:rPr lang="en-US" sz="1800" b="0" i="0" u="none" strike="noStrike" baseline="0" dirty="0" err="1">
                <a:solidFill>
                  <a:srgbClr val="000000"/>
                </a:solidFill>
                <a:latin typeface="Photina MT"/>
              </a:rPr>
              <a:t>chloroprocaine</a:t>
            </a:r>
            <a:r>
              <a:rPr lang="en-US" sz="1800" b="0" i="0" u="none" strike="noStrike" baseline="0" dirty="0">
                <a:solidFill>
                  <a:srgbClr val="000000"/>
                </a:solidFill>
                <a:latin typeface="Photina MT"/>
              </a:rPr>
              <a:t> and the long duration of action of bupivacaine; however, clinical results in studies of combinations have been mixed.</a:t>
            </a:r>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62</a:t>
            </a:fld>
            <a:endParaRPr lang="en-US"/>
          </a:p>
        </p:txBody>
      </p:sp>
    </p:spTree>
    <p:extLst>
      <p:ext uri="{BB962C8B-B14F-4D97-AF65-F5344CB8AC3E}">
        <p14:creationId xmlns:p14="http://schemas.microsoft.com/office/powerpoint/2010/main" val="813576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67143AF-B3E5-4CAA-A6CD-FD48F3B46C9C}" type="slidenum">
              <a:rPr lang="en-US" smtClean="0"/>
              <a:pPr/>
              <a:t>68</a:t>
            </a:fld>
            <a:endParaRPr lang="en-US"/>
          </a:p>
        </p:txBody>
      </p:sp>
    </p:spTree>
    <p:extLst>
      <p:ext uri="{BB962C8B-B14F-4D97-AF65-F5344CB8AC3E}">
        <p14:creationId xmlns:p14="http://schemas.microsoft.com/office/powerpoint/2010/main" val="2995847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Blockade of inhibitory pathways allows facilitatory neurons to function in an unopposed fashion, which results in an increase in excitatory activity leading to convulsions.</a:t>
            </a:r>
          </a:p>
          <a:p>
            <a:r>
              <a:rPr lang="en-US" sz="1800" b="0" i="0" u="none" strike="noStrike" baseline="0" dirty="0">
                <a:solidFill>
                  <a:srgbClr val="000000"/>
                </a:solidFill>
                <a:latin typeface="Photina MT"/>
              </a:rPr>
              <a:t>Seizures produce hypoventilation and a combined respiratory and metabolic acidosis, which further exacerbates the CNS toxicity. </a:t>
            </a:r>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69</a:t>
            </a:fld>
            <a:endParaRPr lang="en-US"/>
          </a:p>
        </p:txBody>
      </p:sp>
    </p:spTree>
    <p:extLst>
      <p:ext uri="{BB962C8B-B14F-4D97-AF65-F5344CB8AC3E}">
        <p14:creationId xmlns:p14="http://schemas.microsoft.com/office/powerpoint/2010/main" val="21244509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sz="1800" b="0" i="0" u="none" strike="noStrike" baseline="0" dirty="0">
                <a:solidFill>
                  <a:srgbClr val="000000"/>
                </a:solidFill>
                <a:latin typeface="Photina MT"/>
              </a:rPr>
              <a:t>CNS excitation may be the result of an initial blockade of inhibitory pathways in the cerebral cortex by LA drugs but can also result from the net stimulation of release of glutamate, an excitatory amino acid neurotransmitter. </a:t>
            </a:r>
          </a:p>
          <a:p>
            <a:pPr>
              <a:buFont typeface="Arial" pitchFamily="34" charset="0"/>
              <a:buChar char="•"/>
            </a:pPr>
            <a:r>
              <a:rPr lang="en-US" sz="1800" b="0" i="0" u="none" strike="noStrike" baseline="0" dirty="0">
                <a:solidFill>
                  <a:srgbClr val="000000"/>
                </a:solidFill>
                <a:latin typeface="Photina MT"/>
              </a:rPr>
              <a:t>Blockade of inhibitory pathways allows facilitatory neurons to function in an unopposed fashion, which results in an increase in excitatory activity leading to convulsions. </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67143AF-B3E5-4CAA-A6CD-FD48F3B46C9C}" type="slidenum">
              <a:rPr lang="en-US" smtClean="0"/>
              <a:pPr/>
              <a:t>71</a:t>
            </a:fld>
            <a:endParaRPr lang="en-US"/>
          </a:p>
        </p:txBody>
      </p:sp>
    </p:spTree>
    <p:extLst>
      <p:ext uri="{BB962C8B-B14F-4D97-AF65-F5344CB8AC3E}">
        <p14:creationId xmlns:p14="http://schemas.microsoft.com/office/powerpoint/2010/main" val="37281449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sz="1800" b="0" i="0" u="none" strike="noStrike" baseline="0" dirty="0">
                <a:solidFill>
                  <a:srgbClr val="000000"/>
                </a:solidFill>
                <a:latin typeface="Photina MT"/>
              </a:rPr>
              <a:t>While propofol is faster acting, large doses should be avoided, especially in patients with hemodynamic instability</a:t>
            </a:r>
          </a:p>
          <a:p>
            <a:pPr>
              <a:buFont typeface="Arial" pitchFamily="34" charset="0"/>
              <a:buChar char="•"/>
            </a:pPr>
            <a:r>
              <a:rPr lang="en-US" sz="1800" b="0" i="0" u="none" strike="noStrike" baseline="0" dirty="0">
                <a:solidFill>
                  <a:srgbClr val="000000"/>
                </a:solidFill>
                <a:latin typeface="Photina MT"/>
              </a:rPr>
              <a:t>Elevated PaCO2 enhances cerebral blood flow and thus the anesthetic is delivered more rapidly to the brain. In addition, diffusion of carbon dioxide into neuronal cells decreases intracellular pH, which facilitates conversion of the base form of the drugs to the cationic form. The cationic form does not diffuse well across the nerve membrane, so ion trapping will occur, which will increase the apparent CNS toxicity of local anesthetics. Hypercapnia and acidosis also decrease the plasma protein binding of local anesthetic agents</a:t>
            </a:r>
            <a:endParaRPr lang="en-US" dirty="0"/>
          </a:p>
        </p:txBody>
      </p:sp>
      <p:sp>
        <p:nvSpPr>
          <p:cNvPr id="4" name="Slide Number Placeholder 3"/>
          <p:cNvSpPr>
            <a:spLocks noGrp="1"/>
          </p:cNvSpPr>
          <p:nvPr>
            <p:ph type="sldNum" sz="quarter" idx="10"/>
          </p:nvPr>
        </p:nvSpPr>
        <p:spPr/>
        <p:txBody>
          <a:bodyPr/>
          <a:lstStyle/>
          <a:p>
            <a:fld id="{B67143AF-B3E5-4CAA-A6CD-FD48F3B46C9C}" type="slidenum">
              <a:rPr lang="en-US" smtClean="0"/>
              <a:pPr/>
              <a:t>72</a:t>
            </a:fld>
            <a:endParaRPr lang="en-US"/>
          </a:p>
        </p:txBody>
      </p:sp>
    </p:spTree>
    <p:extLst>
      <p:ext uri="{BB962C8B-B14F-4D97-AF65-F5344CB8AC3E}">
        <p14:creationId xmlns:p14="http://schemas.microsoft.com/office/powerpoint/2010/main" val="5352235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solidFill>
                  <a:srgbClr val="000000"/>
                </a:solidFill>
                <a:latin typeface="Photina MT"/>
              </a:rPr>
              <a:t>Seizures produce hypoventilation and a combined respiratory and metabolic acidosis, which further exacerbates the CNS toxicity. </a:t>
            </a:r>
            <a:endParaRPr lang="en-US" dirty="0"/>
          </a:p>
          <a:p>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73</a:t>
            </a:fld>
            <a:endParaRPr lang="en-US"/>
          </a:p>
        </p:txBody>
      </p:sp>
    </p:spTree>
    <p:extLst>
      <p:ext uri="{BB962C8B-B14F-4D97-AF65-F5344CB8AC3E}">
        <p14:creationId xmlns:p14="http://schemas.microsoft.com/office/powerpoint/2010/main" val="8716897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The main mechanisms of local anesthetic toxicity are blockades of cardiac sodium channels leading to negative inotropy and arrhythmia </a:t>
            </a:r>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74</a:t>
            </a:fld>
            <a:endParaRPr lang="en-US"/>
          </a:p>
        </p:txBody>
      </p:sp>
    </p:spTree>
    <p:extLst>
      <p:ext uri="{BB962C8B-B14F-4D97-AF65-F5344CB8AC3E}">
        <p14:creationId xmlns:p14="http://schemas.microsoft.com/office/powerpoint/2010/main" val="37693057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Photina MT"/>
              </a:rPr>
              <a:t>Other facets of local anesthetic toxicity include inhibition of fatty acid metabolism, interference with calcium homeostasis, and disruption of the mitochondrial respiratory chain.</a:t>
            </a:r>
          </a:p>
          <a:p>
            <a:r>
              <a:rPr lang="en-US" sz="1800" b="0" i="0" u="none" strike="noStrike" baseline="0" dirty="0">
                <a:solidFill>
                  <a:srgbClr val="000000"/>
                </a:solidFill>
                <a:latin typeface="Photina MT"/>
              </a:rPr>
              <a:t>Local anesthetics may depress myocardial contractility by affecting calcium influx and triggered release from the sarcoplasmic reticulum, as well as by inhibiting cardiac </a:t>
            </a:r>
            <a:r>
              <a:rPr lang="en-US" sz="1800" b="0" i="0" u="none" strike="noStrike" baseline="0" dirty="0" err="1">
                <a:solidFill>
                  <a:srgbClr val="000000"/>
                </a:solidFill>
                <a:latin typeface="Photina MT"/>
              </a:rPr>
              <a:t>sarcolemmal</a:t>
            </a:r>
            <a:r>
              <a:rPr lang="en-US" sz="1800" b="0" i="0" u="none" strike="noStrike" baseline="0" dirty="0">
                <a:solidFill>
                  <a:srgbClr val="000000"/>
                </a:solidFill>
                <a:latin typeface="Photina MT"/>
              </a:rPr>
              <a:t> Ca2+ currents and Na+ currents. </a:t>
            </a:r>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75</a:t>
            </a:fld>
            <a:endParaRPr lang="en-US"/>
          </a:p>
        </p:txBody>
      </p:sp>
    </p:spTree>
    <p:extLst>
      <p:ext uri="{BB962C8B-B14F-4D97-AF65-F5344CB8AC3E}">
        <p14:creationId xmlns:p14="http://schemas.microsoft.com/office/powerpoint/2010/main" val="35319850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In animal models, both ropivacaine and levobupivacaine appear to exhibit 30% to</a:t>
            </a:r>
          </a:p>
          <a:p>
            <a:pPr algn="l"/>
            <a:r>
              <a:rPr lang="en-US" sz="1800" b="0" i="0" u="none" strike="noStrike" baseline="0" dirty="0">
                <a:latin typeface="TimesNewRomanPSMT"/>
              </a:rPr>
              <a:t>40% less cardiovascular toxicity than bupivacaine on a milligram-to milligram basis</a:t>
            </a:r>
            <a:endParaRPr lang="en-US" b="1"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76</a:t>
            </a:fld>
            <a:endParaRPr lang="en-US"/>
          </a:p>
        </p:txBody>
      </p:sp>
    </p:spTree>
    <p:extLst>
      <p:ext uri="{BB962C8B-B14F-4D97-AF65-F5344CB8AC3E}">
        <p14:creationId xmlns:p14="http://schemas.microsoft.com/office/powerpoint/2010/main" val="29684160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Judicious dosing of local anesthetics is advisable in individuals at extremes of age, as decreased levels of plasma binding proteins may result in potentially greater fraction of unbound local anesthetics circulating systemically. Infants younger than 6 months of age are found to be at sixfold greater risk for LAST than older children</a:t>
            </a:r>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77</a:t>
            </a:fld>
            <a:endParaRPr lang="en-US"/>
          </a:p>
        </p:txBody>
      </p:sp>
    </p:spTree>
    <p:extLst>
      <p:ext uri="{BB962C8B-B14F-4D97-AF65-F5344CB8AC3E}">
        <p14:creationId xmlns:p14="http://schemas.microsoft.com/office/powerpoint/2010/main" val="4224259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a:latin typeface="Arial" pitchFamily="34" charset="0"/>
              </a:rPr>
              <a:t>Lipid may draw bupivacaine into plasma from binding site(s) in the heart.</a:t>
            </a:r>
          </a:p>
          <a:p>
            <a:endParaRPr lang="en-US" dirty="0"/>
          </a:p>
        </p:txBody>
      </p:sp>
      <p:sp>
        <p:nvSpPr>
          <p:cNvPr id="4" name="Slide Number Placeholder 3"/>
          <p:cNvSpPr>
            <a:spLocks noGrp="1"/>
          </p:cNvSpPr>
          <p:nvPr>
            <p:ph type="sldNum" sz="quarter" idx="10"/>
          </p:nvPr>
        </p:nvSpPr>
        <p:spPr/>
        <p:txBody>
          <a:bodyPr/>
          <a:lstStyle/>
          <a:p>
            <a:fld id="{B67143AF-B3E5-4CAA-A6CD-FD48F3B46C9C}" type="slidenum">
              <a:rPr lang="en-US" smtClean="0"/>
              <a:pPr/>
              <a:t>82</a:t>
            </a:fld>
            <a:endParaRPr lang="en-US"/>
          </a:p>
        </p:txBody>
      </p:sp>
    </p:spTree>
    <p:extLst>
      <p:ext uri="{BB962C8B-B14F-4D97-AF65-F5344CB8AC3E}">
        <p14:creationId xmlns:p14="http://schemas.microsoft.com/office/powerpoint/2010/main" val="36486672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7143AF-B3E5-4CAA-A6CD-FD48F3B46C9C}" type="slidenum">
              <a:rPr lang="en-US" smtClean="0"/>
              <a:pPr/>
              <a:t>83</a:t>
            </a:fld>
            <a:endParaRPr lang="en-US"/>
          </a:p>
        </p:txBody>
      </p:sp>
    </p:spTree>
    <p:extLst>
      <p:ext uri="{BB962C8B-B14F-4D97-AF65-F5344CB8AC3E}">
        <p14:creationId xmlns:p14="http://schemas.microsoft.com/office/powerpoint/2010/main" val="4249505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D8BD707-D9CF-40AE-B4C6-C98DA3205C09}" type="datetimeFigureOut">
              <a:rPr lang="en-US" smtClean="0"/>
              <a:pPr/>
              <a:t>3/23/2024</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dirty="0">
              <a:solidFill>
                <a:prstClr val="black"/>
              </a:solidFill>
            </a:endParaRPr>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6F15528-21DE-4FAA-801E-634DDDAF4B2B}" type="slidenum">
              <a:rPr lang="en-US" smtClean="0">
                <a:solidFill>
                  <a:srgbClr val="8CADAE">
                    <a:shade val="75000"/>
                  </a:srgbClr>
                </a:solidFill>
              </a:rPr>
              <a:pPr/>
              <a:t>‹#›</a:t>
            </a:fld>
            <a:endParaRPr lang="en-US">
              <a:solidFill>
                <a:srgbClr val="8CADAE">
                  <a:shade val="75000"/>
                </a:srgbClr>
              </a:solidFill>
            </a:endParaRPr>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a:t>Click to edit Master title style</a:t>
            </a:r>
          </a:p>
        </p:txBody>
      </p:sp>
    </p:spTree>
    <p:extLst>
      <p:ext uri="{BB962C8B-B14F-4D97-AF65-F5344CB8AC3E}">
        <p14:creationId xmlns:p14="http://schemas.microsoft.com/office/powerpoint/2010/main" val="119447972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B6F15528-21DE-4FAA-801E-634DDDAF4B2B}" type="slidenum">
              <a:rPr lang="en-US" smtClean="0">
                <a:solidFill>
                  <a:srgbClr val="8CADAE">
                    <a:shade val="75000"/>
                  </a:srgbClr>
                </a:solidFill>
              </a:rPr>
              <a:pPr/>
              <a:t>‹#›</a:t>
            </a:fld>
            <a:endParaRPr lang="en-US">
              <a:solidFill>
                <a:srgbClr val="8CADAE">
                  <a:shade val="75000"/>
                </a:srgbClr>
              </a:solidFill>
            </a:endParaRPr>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44668195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dirty="0">
              <a:solidFill>
                <a:prstClr val="black"/>
              </a:solidFill>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3/23/2024</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6F15528-21DE-4FAA-801E-634DDDAF4B2B}" type="slidenum">
              <a:rPr lang="en-US" smtClean="0">
                <a:solidFill>
                  <a:srgbClr val="8CADAE">
                    <a:shade val="75000"/>
                  </a:srgbClr>
                </a:solidFill>
              </a:rPr>
              <a:pPr/>
              <a:t>‹#›</a:t>
            </a:fld>
            <a:endParaRPr lang="en-US">
              <a:solidFill>
                <a:srgbClr val="8CADAE">
                  <a:shade val="75000"/>
                </a:srgbClr>
              </a:solidFill>
            </a:endParaRPr>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36229874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a:t>Click to edit Master title style</a:t>
            </a:r>
          </a:p>
        </p:txBody>
      </p:sp>
      <p:sp>
        <p:nvSpPr>
          <p:cNvPr id="5" name="Date Placeholder 4"/>
          <p:cNvSpPr>
            <a:spLocks noGrp="1"/>
          </p:cNvSpPr>
          <p:nvPr>
            <p:ph type="dt" sz="half" idx="10"/>
          </p:nvPr>
        </p:nvSpPr>
        <p:spPr>
          <a:xfrm>
            <a:off x="5791200" y="6409944"/>
            <a:ext cx="3044952" cy="365760"/>
          </a:xfrm>
        </p:spPr>
        <p:txBody>
          <a:bodyPr/>
          <a:lstStyle/>
          <a:p>
            <a:fld id="{1D8BD707-D9CF-40AE-B4C6-C98DA3205C09}" type="datetimeFigureOut">
              <a:rPr lang="en-US" smtClean="0"/>
              <a:pPr/>
              <a:t>3/23/2024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solidFill>
                  <a:srgbClr val="8CADAE">
                    <a:shade val="75000"/>
                  </a:srgbClr>
                </a:solidFill>
              </a:rPr>
              <a:pPr/>
              <a:t>‹#›</a:t>
            </a:fld>
            <a:endParaRPr lang="en-US">
              <a:solidFill>
                <a:srgbClr val="8CADAE">
                  <a:shade val="75000"/>
                </a:srgbClr>
              </a:solidFill>
            </a:endParaRPr>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826997988"/>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3/23/2024</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dirty="0">
              <a:solidFill>
                <a:prstClr val="black"/>
              </a:solidFill>
            </a:endParaRPr>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B6F15528-21DE-4FAA-801E-634DDDAF4B2B}" type="slidenum">
              <a:rPr lang="en-US" smtClean="0">
                <a:solidFill>
                  <a:srgbClr val="8CADAE">
                    <a:shade val="75000"/>
                  </a:srgbClr>
                </a:solidFill>
              </a:rPr>
              <a:pPr/>
              <a:t>‹#›</a:t>
            </a:fld>
            <a:endParaRPr lang="en-US">
              <a:solidFill>
                <a:srgbClr val="8CADAE">
                  <a:shade val="75000"/>
                </a:srgbClr>
              </a:solidFill>
            </a:endParaRPr>
          </a:p>
        </p:txBody>
      </p:sp>
      <p:sp>
        <p:nvSpPr>
          <p:cNvPr id="23" name="Title 22"/>
          <p:cNvSpPr>
            <a:spLocks noGrp="1"/>
          </p:cNvSpPr>
          <p:nvPr>
            <p:ph type="title"/>
          </p:nvPr>
        </p:nvSpPr>
        <p:spPr/>
        <p:txBody>
          <a:bodyPr rtlCol="0" anchor="b" anchorCtr="0"/>
          <a:lstStyle/>
          <a:p>
            <a:r>
              <a:rPr kumimoji="0" lang="en-US"/>
              <a:t>Click to edit Master title style</a:t>
            </a:r>
          </a:p>
        </p:txBody>
      </p:sp>
    </p:spTree>
    <p:extLst>
      <p:ext uri="{BB962C8B-B14F-4D97-AF65-F5344CB8AC3E}">
        <p14:creationId xmlns:p14="http://schemas.microsoft.com/office/powerpoint/2010/main" val="491474408"/>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B6F15528-21DE-4FAA-801E-634DDDAF4B2B}" type="slidenum">
              <a:rPr lang="en-US" smtClean="0">
                <a:solidFill>
                  <a:srgbClr val="8CADAE">
                    <a:shade val="75000"/>
                  </a:srgbClr>
                </a:solidFill>
              </a:rPr>
              <a:pPr/>
              <a:t>‹#›</a:t>
            </a:fld>
            <a:endParaRPr lang="en-US">
              <a:solidFill>
                <a:srgbClr val="8CADAE">
                  <a:shade val="75000"/>
                </a:srgbClr>
              </a:solidFill>
            </a:endParaRPr>
          </a:p>
        </p:txBody>
      </p:sp>
    </p:spTree>
    <p:extLst>
      <p:ext uri="{BB962C8B-B14F-4D97-AF65-F5344CB8AC3E}">
        <p14:creationId xmlns:p14="http://schemas.microsoft.com/office/powerpoint/2010/main" val="3596302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dirty="0">
              <a:solidFill>
                <a:prstClr val="black"/>
              </a:solidFill>
            </a:endParaRPr>
          </a:p>
        </p:txBody>
      </p:sp>
      <p:sp>
        <p:nvSpPr>
          <p:cNvPr id="2" name="Date Placeholder 1"/>
          <p:cNvSpPr>
            <a:spLocks noGrp="1"/>
          </p:cNvSpPr>
          <p:nvPr>
            <p:ph type="dt" sz="half" idx="10"/>
          </p:nvPr>
        </p:nvSpPr>
        <p:spPr/>
        <p:txBody>
          <a:bodyPr/>
          <a:lstStyle/>
          <a:p>
            <a:fld id="{1D8BD707-D9CF-40AE-B4C6-C98DA3205C09}" type="datetimeFigureOut">
              <a:rPr lang="en-US" smtClean="0"/>
              <a:pPr/>
              <a:t>3/23/2024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564798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dirty="0">
              <a:solidFill>
                <a:prstClr val="black"/>
              </a:solidFill>
            </a:endParaRPr>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B6F15528-21DE-4FAA-801E-634DDDAF4B2B}" type="slidenum">
              <a:rPr lang="en-US" smtClean="0">
                <a:solidFill>
                  <a:srgbClr val="8CADAE">
                    <a:shade val="75000"/>
                  </a:srgbClr>
                </a:solidFill>
              </a:rPr>
              <a:pPr/>
              <a:t>‹#›</a:t>
            </a:fld>
            <a:endParaRPr lang="en-US">
              <a:solidFill>
                <a:srgbClr val="8CADAE">
                  <a:shade val="75000"/>
                </a:srgb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5" name="Date Placeholder 4"/>
          <p:cNvSpPr>
            <a:spLocks noGrp="1"/>
          </p:cNvSpPr>
          <p:nvPr>
            <p:ph type="dt" sz="half" idx="10"/>
          </p:nvPr>
        </p:nvSpPr>
        <p:spPr/>
        <p:txBody>
          <a:bodyPr/>
          <a:lstStyle/>
          <a:p>
            <a:fld id="{1D8BD707-D9CF-40AE-B4C6-C98DA3205C09}" type="datetimeFigureOut">
              <a:rPr lang="en-US" smtClean="0"/>
              <a:pPr/>
              <a:t>3/23/2024</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extLst>
      <p:ext uri="{BB962C8B-B14F-4D97-AF65-F5344CB8AC3E}">
        <p14:creationId xmlns:p14="http://schemas.microsoft.com/office/powerpoint/2010/main" val="2037637728"/>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dirty="0">
              <a:solidFill>
                <a:prstClr val="black"/>
              </a:solidFill>
            </a:endParaRPr>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dirty="0">
              <a:solidFill>
                <a:prstClr val="black"/>
              </a:solidFill>
            </a:endParaRPr>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7" name="Slide Number Placeholder 6"/>
          <p:cNvSpPr>
            <a:spLocks noGrp="1"/>
          </p:cNvSpPr>
          <p:nvPr>
            <p:ph type="sldNum" sz="quarter" idx="12"/>
          </p:nvPr>
        </p:nvSpPr>
        <p:spPr>
          <a:xfrm>
            <a:off x="1371600" y="312738"/>
            <a:ext cx="457200" cy="441325"/>
          </a:xfrm>
        </p:spPr>
        <p:txBody>
          <a:bodyPr/>
          <a:lstStyle/>
          <a:p>
            <a:fld id="{B6F15528-21DE-4FAA-801E-634DDDAF4B2B}" type="slidenum">
              <a:rPr lang="en-US" smtClean="0">
                <a:solidFill>
                  <a:srgbClr val="8CADAE">
                    <a:shade val="75000"/>
                  </a:srgbClr>
                </a:solidFill>
              </a:rPr>
              <a:pPr/>
              <a:t>‹#›</a:t>
            </a:fld>
            <a:endParaRPr lang="en-US">
              <a:solidFill>
                <a:srgbClr val="8CADAE">
                  <a:shade val="75000"/>
                </a:srgbClr>
              </a:solidFill>
            </a:endParaRPr>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5" name="Date Placeholder 4"/>
          <p:cNvSpPr>
            <a:spLocks noGrp="1"/>
          </p:cNvSpPr>
          <p:nvPr>
            <p:ph type="dt" sz="half" idx="10"/>
          </p:nvPr>
        </p:nvSpPr>
        <p:spPr>
          <a:xfrm>
            <a:off x="5788152" y="6404984"/>
            <a:ext cx="3044952" cy="365760"/>
          </a:xfrm>
        </p:spPr>
        <p:txBody>
          <a:bodyPr/>
          <a:lstStyle/>
          <a:p>
            <a:fld id="{1D8BD707-D9CF-40AE-B4C6-C98DA3205C09}" type="datetimeFigureOut">
              <a:rPr lang="en-US" smtClean="0"/>
              <a:pPr/>
              <a:t>3/23/2024</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extLst>
      <p:ext uri="{BB962C8B-B14F-4D97-AF65-F5344CB8AC3E}">
        <p14:creationId xmlns:p14="http://schemas.microsoft.com/office/powerpoint/2010/main" val="3227061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solidFill>
                  <a:srgbClr val="8CADAE">
                    <a:shade val="75000"/>
                  </a:srgbClr>
                </a:solidFill>
              </a:rPr>
              <a:pPr/>
              <a:t>‹#›</a:t>
            </a:fld>
            <a:endParaRPr lang="en-US">
              <a:solidFill>
                <a:srgbClr val="8CADAE">
                  <a:shade val="75000"/>
                </a:srgbClr>
              </a:solidFill>
            </a:endParaRPr>
          </a:p>
        </p:txBody>
      </p:sp>
    </p:spTree>
    <p:extLst>
      <p:ext uri="{BB962C8B-B14F-4D97-AF65-F5344CB8AC3E}">
        <p14:creationId xmlns:p14="http://schemas.microsoft.com/office/powerpoint/2010/main" val="89232471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dirty="0">
              <a:solidFill>
                <a:prstClr val="black"/>
              </a:solidFill>
            </a:endParaRPr>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6" name="Slide Number Placeholder 5"/>
          <p:cNvSpPr>
            <a:spLocks noGrp="1"/>
          </p:cNvSpPr>
          <p:nvPr>
            <p:ph type="sldNum" sz="quarter" idx="12"/>
          </p:nvPr>
        </p:nvSpPr>
        <p:spPr>
          <a:xfrm>
            <a:off x="6915912" y="3009901"/>
            <a:ext cx="457200" cy="441325"/>
          </a:xfrm>
        </p:spPr>
        <p:txBody>
          <a:bodyPr/>
          <a:lstStyle/>
          <a:p>
            <a:fld id="{B6F15528-21DE-4FAA-801E-634DDDAF4B2B}" type="slidenum">
              <a:rPr lang="en-US" smtClean="0">
                <a:solidFill>
                  <a:srgbClr val="8CADAE">
                    <a:shade val="75000"/>
                  </a:srgbClr>
                </a:solidFill>
              </a:rPr>
              <a:pPr/>
              <a:t>‹#›</a:t>
            </a:fld>
            <a:endParaRPr lang="en-US">
              <a:solidFill>
                <a:srgbClr val="8CADAE">
                  <a:shade val="75000"/>
                </a:srgbClr>
              </a:solidFill>
            </a:endParaRPr>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3/23/2024</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a:t>Click to edit Master title style</a:t>
            </a:r>
          </a:p>
        </p:txBody>
      </p:sp>
    </p:spTree>
    <p:extLst>
      <p:ext uri="{BB962C8B-B14F-4D97-AF65-F5344CB8AC3E}">
        <p14:creationId xmlns:p14="http://schemas.microsoft.com/office/powerpoint/2010/main" val="328498060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1D8BD707-D9CF-40AE-B4C6-C98DA3205C09}" type="datetimeFigureOut">
              <a:rPr lang="en-US" smtClean="0"/>
              <a:pPr/>
              <a:t>3/23/2024</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lang="en-US" dirty="0">
              <a:solidFill>
                <a:prstClr val="black"/>
              </a:solidFill>
            </a:endParaRPr>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lang="en-US">
              <a:solidFill>
                <a:prstClr val="black"/>
              </a:solidFill>
            </a:endParaRPr>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B6F15528-21DE-4FAA-801E-634DDDAF4B2B}" type="slidenum">
              <a:rPr lang="en-US" smtClean="0">
                <a:solidFill>
                  <a:srgbClr val="8CADAE">
                    <a:shade val="75000"/>
                  </a:srgbClr>
                </a:solidFill>
              </a:rPr>
              <a:pPr/>
              <a:t>‹#›</a:t>
            </a:fld>
            <a:endParaRPr lang="en-US">
              <a:solidFill>
                <a:srgbClr val="8CADAE">
                  <a:shade val="75000"/>
                </a:srgbClr>
              </a:solidFill>
            </a:endParaRPr>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extLst>
      <p:ext uri="{BB962C8B-B14F-4D97-AF65-F5344CB8AC3E}">
        <p14:creationId xmlns:p14="http://schemas.microsoft.com/office/powerpoint/2010/main" val="16658945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Mulualem s.</a:t>
            </a:r>
          </a:p>
          <a:p>
            <a:r>
              <a:rPr lang="en-US" dirty="0"/>
              <a:t>Msc in ACA</a:t>
            </a:r>
          </a:p>
        </p:txBody>
      </p:sp>
      <p:sp>
        <p:nvSpPr>
          <p:cNvPr id="2" name="Title 1"/>
          <p:cNvSpPr>
            <a:spLocks noGrp="1"/>
          </p:cNvSpPr>
          <p:nvPr>
            <p:ph type="ctrTitle"/>
          </p:nvPr>
        </p:nvSpPr>
        <p:spPr/>
        <p:txBody>
          <a:bodyPr/>
          <a:lstStyle/>
          <a:p>
            <a:r>
              <a:rPr lang="en-US" dirty="0"/>
              <a:t>Local anesthetics</a:t>
            </a:r>
          </a:p>
        </p:txBody>
      </p:sp>
    </p:spTree>
    <p:extLst>
      <p:ext uri="{BB962C8B-B14F-4D97-AF65-F5344CB8AC3E}">
        <p14:creationId xmlns:p14="http://schemas.microsoft.com/office/powerpoint/2010/main" val="1354930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Contents</a:t>
            </a:r>
          </a:p>
        </p:txBody>
      </p:sp>
      <p:sp>
        <p:nvSpPr>
          <p:cNvPr id="3" name="Content Placeholder 2"/>
          <p:cNvSpPr>
            <a:spLocks noGrp="1"/>
          </p:cNvSpPr>
          <p:nvPr>
            <p:ph sz="quarter" idx="1"/>
          </p:nvPr>
        </p:nvSpPr>
        <p:spPr>
          <a:xfrm>
            <a:off x="301752" y="1371600"/>
            <a:ext cx="8503920" cy="4727448"/>
          </a:xfrm>
        </p:spPr>
        <p:txBody>
          <a:bodyPr>
            <a:noAutofit/>
          </a:bodyPr>
          <a:lstStyle/>
          <a:p>
            <a:r>
              <a:rPr lang="en-US" sz="2400" dirty="0">
                <a:latin typeface="Arial" panose="020B0604020202020204" pitchFamily="34" charset="0"/>
                <a:cs typeface="Arial" panose="020B0604020202020204" pitchFamily="34" charset="0"/>
              </a:rPr>
              <a:t>Introduction</a:t>
            </a:r>
          </a:p>
          <a:p>
            <a:r>
              <a:rPr lang="en-US" sz="2400" dirty="0">
                <a:latin typeface="Arial" panose="020B0604020202020204" pitchFamily="34" charset="0"/>
                <a:cs typeface="Arial" panose="020B0604020202020204" pitchFamily="34" charset="0"/>
              </a:rPr>
              <a:t>Mechanisms Of Action</a:t>
            </a:r>
          </a:p>
          <a:p>
            <a:r>
              <a:rPr lang="en-US" sz="2400" dirty="0">
                <a:latin typeface="Arial" panose="020B0604020202020204" pitchFamily="34" charset="0"/>
                <a:cs typeface="Arial" panose="020B0604020202020204" pitchFamily="34" charset="0"/>
              </a:rPr>
              <a:t>Clinical Use Of Local Anesthetics (LAs)</a:t>
            </a:r>
          </a:p>
          <a:p>
            <a:r>
              <a:rPr lang="en-US" sz="2400" dirty="0">
                <a:latin typeface="Arial" panose="020B0604020202020204" pitchFamily="34" charset="0"/>
                <a:cs typeface="Arial" panose="020B0604020202020204" pitchFamily="34" charset="0"/>
              </a:rPr>
              <a:t>Essential Characteristics Of LAs</a:t>
            </a:r>
          </a:p>
          <a:p>
            <a:r>
              <a:rPr lang="en-US" sz="2400" dirty="0">
                <a:latin typeface="Arial" panose="020B0604020202020204" pitchFamily="34" charset="0"/>
                <a:cs typeface="Arial" panose="020B0604020202020204" pitchFamily="34" charset="0"/>
              </a:rPr>
              <a:t>Classification</a:t>
            </a:r>
          </a:p>
          <a:p>
            <a:r>
              <a:rPr lang="en-US" sz="2400" dirty="0">
                <a:latin typeface="Arial" panose="020B0604020202020204" pitchFamily="34" charset="0"/>
                <a:cs typeface="Arial" panose="020B0604020202020204" pitchFamily="34" charset="0"/>
              </a:rPr>
              <a:t>Chemistry Of LAs</a:t>
            </a:r>
          </a:p>
          <a:p>
            <a:r>
              <a:rPr lang="en-US" sz="2400" dirty="0">
                <a:latin typeface="Arial" panose="020B0604020202020204" pitchFamily="34" charset="0"/>
                <a:cs typeface="Arial" panose="020B0604020202020204" pitchFamily="34" charset="0"/>
              </a:rPr>
              <a:t>Pharmacokinetics</a:t>
            </a:r>
          </a:p>
          <a:p>
            <a:r>
              <a:rPr lang="en-US" sz="2400" dirty="0">
                <a:latin typeface="Arial" panose="020B0604020202020204" pitchFamily="34" charset="0"/>
                <a:cs typeface="Arial" panose="020B0604020202020204" pitchFamily="34" charset="0"/>
              </a:rPr>
              <a:t>Systemic Toxicity</a:t>
            </a:r>
          </a:p>
          <a:p>
            <a:r>
              <a:rPr lang="en-US" sz="2400" dirty="0">
                <a:latin typeface="Arial" panose="020B0604020202020204" pitchFamily="34" charset="0"/>
                <a:cs typeface="Arial" panose="020B0604020202020204" pitchFamily="34" charset="0"/>
              </a:rPr>
              <a:t>Summary</a:t>
            </a: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7306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latin typeface="Calibri" panose="020F0502020204030204" pitchFamily="34" charset="0"/>
                <a:cs typeface="Calibri" panose="020F0502020204030204" pitchFamily="34" charset="0"/>
              </a:rPr>
              <a:t>Introduction</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p:txBody>
          <a:bodyPr/>
          <a:lstStyle/>
          <a:p>
            <a:r>
              <a:rPr lang="en-US" dirty="0">
                <a:latin typeface="Calibri" panose="020F0502020204030204" pitchFamily="34" charset="0"/>
                <a:cs typeface="Calibri" panose="020F0502020204030204" pitchFamily="34" charset="0"/>
              </a:rPr>
              <a:t>Modern local analgesia began with the introduction of cocaine in to medical practice in 1884 by Koller.</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LA used for local and regional anesthetic techniques</a:t>
            </a:r>
          </a:p>
          <a:p>
            <a:pPr lvl="1"/>
            <a:r>
              <a:rPr lang="en-US" dirty="0">
                <a:latin typeface="Calibri" panose="020F0502020204030204" pitchFamily="34" charset="0"/>
                <a:cs typeface="Calibri" panose="020F0502020204030204" pitchFamily="34" charset="0"/>
              </a:rPr>
              <a:t>produce transient loss of sensory, motor, and autonomic function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534400" cy="1298448"/>
          </a:xfrm>
        </p:spPr>
        <p:txBody>
          <a:bodyPr>
            <a:noAutofit/>
          </a:bodyPr>
          <a:lstStyle/>
          <a:p>
            <a:pPr marL="274320" lvl="0" indent="-274320">
              <a:spcBef>
                <a:spcPct val="20000"/>
              </a:spcBef>
            </a:pP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br>
              <a:rPr lang="en-US" sz="2800" b="1" dirty="0">
                <a:solidFill>
                  <a:prstClr val="black"/>
                </a:solidFill>
                <a:latin typeface="Calibri" panose="020F0502020204030204" pitchFamily="34" charset="0"/>
                <a:ea typeface="+mn-ea"/>
                <a:cs typeface="Calibri" panose="020F0502020204030204" pitchFamily="34" charset="0"/>
              </a:rPr>
            </a:br>
            <a:r>
              <a:rPr lang="en-US" sz="2800" b="1" dirty="0">
                <a:solidFill>
                  <a:prstClr val="black"/>
                </a:solidFill>
                <a:latin typeface="Calibri" panose="020F0502020204030204" pitchFamily="34" charset="0"/>
                <a:ea typeface="+mn-ea"/>
                <a:cs typeface="Calibri" panose="020F0502020204030204" pitchFamily="34" charset="0"/>
              </a:rPr>
              <a:t>Definition Of A Local Anaesthetic</a:t>
            </a:r>
            <a:br>
              <a:rPr lang="en-US" sz="2800" b="1" dirty="0">
                <a:solidFill>
                  <a:prstClr val="black"/>
                </a:solidFill>
                <a:latin typeface="Calibri" panose="020F0502020204030204" pitchFamily="34" charset="0"/>
                <a:ea typeface="+mn-ea"/>
                <a:cs typeface="Calibri" panose="020F0502020204030204" pitchFamily="34" charset="0"/>
              </a:rPr>
            </a:br>
            <a:endParaRPr lang="en-US" sz="3600"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p:txBody>
          <a:bodyPr>
            <a:normAutofit/>
          </a:bodyPr>
          <a:lstStyle/>
          <a:p>
            <a:pPr algn="just"/>
            <a:r>
              <a:rPr lang="en-US" sz="2400" dirty="0">
                <a:latin typeface="Calibri" panose="020F0502020204030204" pitchFamily="34" charset="0"/>
                <a:cs typeface="Calibri" panose="020F0502020204030204" pitchFamily="34" charset="0"/>
              </a:rPr>
              <a:t>A local anesthetic is a drug which reversibly prevents </a:t>
            </a:r>
          </a:p>
          <a:p>
            <a:pPr lvl="1" algn="just"/>
            <a:r>
              <a:rPr lang="en-US" sz="2400" dirty="0">
                <a:latin typeface="Calibri" panose="020F0502020204030204" pitchFamily="34" charset="0"/>
                <a:cs typeface="Calibri" panose="020F0502020204030204" pitchFamily="34" charset="0"/>
              </a:rPr>
              <a:t>transmission of the nerve impulse in the region to which it is applied, without affecting consciousness.</a:t>
            </a:r>
          </a:p>
          <a:p>
            <a:pPr algn="just">
              <a:lnSpc>
                <a:spcPct val="150000"/>
              </a:lnSpc>
              <a:buFont typeface="Wingdings" pitchFamily="2" charset="2"/>
              <a:buChar char="Ø"/>
            </a:pPr>
            <a:r>
              <a:rPr lang="en-US" sz="2400" dirty="0">
                <a:latin typeface="Calibri" panose="020F0502020204030204" pitchFamily="34" charset="0"/>
                <a:cs typeface="Calibri" panose="020F0502020204030204" pitchFamily="34" charset="0"/>
              </a:rPr>
              <a:t>LAs are drugs which reversibly prevent the generation and propagation of impulses in excitable tissue.</a:t>
            </a:r>
          </a:p>
          <a:p>
            <a:pPr lvl="1" algn="just">
              <a:lnSpc>
                <a:spcPct val="150000"/>
              </a:lnSpc>
              <a:buFont typeface="Wingdings" pitchFamily="2" charset="2"/>
              <a:buChar char="Ø"/>
            </a:pPr>
            <a:r>
              <a:rPr lang="en-US" dirty="0">
                <a:latin typeface="Calibri" panose="020F0502020204030204" pitchFamily="34" charset="0"/>
                <a:cs typeface="Calibri" panose="020F0502020204030204" pitchFamily="34" charset="0"/>
              </a:rPr>
              <a:t>producing a reversible loss of sensation in a portion of the body.  </a:t>
            </a:r>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24928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3200" dirty="0">
                <a:latin typeface="Calibri" panose="020F0502020204030204" pitchFamily="34" charset="0"/>
                <a:cs typeface="Calibri" panose="020F0502020204030204" pitchFamily="34" charset="0"/>
              </a:rPr>
              <a:t>Mechanism  of  action  of  LAs</a:t>
            </a:r>
          </a:p>
        </p:txBody>
      </p:sp>
      <p:sp>
        <p:nvSpPr>
          <p:cNvPr id="3" name="Content Placeholder 2"/>
          <p:cNvSpPr>
            <a:spLocks noGrp="1"/>
          </p:cNvSpPr>
          <p:nvPr>
            <p:ph sz="quarter" idx="1"/>
          </p:nvPr>
        </p:nvSpPr>
        <p:spPr>
          <a:xfrm>
            <a:off x="301752" y="1527048"/>
            <a:ext cx="8232648" cy="4572000"/>
          </a:xfrm>
        </p:spPr>
        <p:txBody>
          <a:bodyPr>
            <a:normAutofit/>
          </a:bodyPr>
          <a:lstStyle/>
          <a:p>
            <a:pPr algn="just"/>
            <a:r>
              <a:rPr lang="en-US" sz="2400" dirty="0">
                <a:latin typeface="Calibri" panose="020F0502020204030204" pitchFamily="34" charset="0"/>
                <a:cs typeface="Calibri" panose="020F0502020204030204" pitchFamily="34" charset="0"/>
              </a:rPr>
              <a:t>LAs block voltage-gated sodium channels and thereby </a:t>
            </a:r>
          </a:p>
          <a:p>
            <a:pPr lvl="1" algn="just"/>
            <a:r>
              <a:rPr lang="en-US" dirty="0">
                <a:latin typeface="Calibri" panose="020F0502020204030204" pitchFamily="34" charset="0"/>
                <a:cs typeface="Calibri" panose="020F0502020204030204" pitchFamily="34" charset="0"/>
              </a:rPr>
              <a:t>interrupt initiation and propagation of impulses in axons</a:t>
            </a:r>
            <a:r>
              <a:rPr lang="en-US" sz="1900" dirty="0">
                <a:latin typeface="Calibri" panose="020F0502020204030204" pitchFamily="34" charset="0"/>
                <a:cs typeface="Calibri" panose="020F0502020204030204" pitchFamily="34" charset="0"/>
              </a:rPr>
              <a:t>.</a:t>
            </a:r>
          </a:p>
          <a:p>
            <a:pPr marL="274320" lvl="1" algn="just">
              <a:buClr>
                <a:schemeClr val="accent1"/>
              </a:buClr>
              <a:buSzPct val="85000"/>
              <a:buFont typeface="Wingdings 2"/>
              <a:buChar char=""/>
            </a:pPr>
            <a:r>
              <a:rPr lang="en-US" sz="2400" dirty="0">
                <a:solidFill>
                  <a:schemeClr val="tx1"/>
                </a:solidFill>
                <a:latin typeface="Calibri" panose="020F0502020204030204" pitchFamily="34" charset="0"/>
                <a:cs typeface="Calibri" panose="020F0502020204030204" pitchFamily="34" charset="0"/>
              </a:rPr>
              <a:t>LAs Interrupt neural conduction by inhibiting the influx of sodium ions</a:t>
            </a:r>
          </a:p>
          <a:p>
            <a:pPr algn="just"/>
            <a:r>
              <a:rPr lang="en-US" sz="2400" dirty="0">
                <a:latin typeface="Calibri" panose="020F0502020204030204" pitchFamily="34" charset="0"/>
                <a:cs typeface="Calibri" panose="020F0502020204030204" pitchFamily="34" charset="0"/>
              </a:rPr>
              <a:t>LAs disrupt ion channel function within the neuron cell membrane </a:t>
            </a:r>
          </a:p>
          <a:p>
            <a:pPr lvl="1" algn="just"/>
            <a:r>
              <a:rPr lang="en-US" dirty="0">
                <a:latin typeface="Calibri" panose="020F0502020204030204" pitchFamily="34" charset="0"/>
                <a:cs typeface="Calibri" panose="020F0502020204030204" pitchFamily="34" charset="0"/>
              </a:rPr>
              <a:t>preventing the transmission of the neuronal action potential</a:t>
            </a:r>
          </a:p>
          <a:p>
            <a:pPr lvl="2" algn="just"/>
            <a:r>
              <a:rPr lang="en-US" sz="2200" dirty="0">
                <a:latin typeface="Calibri" panose="020F0502020204030204" pitchFamily="34" charset="0"/>
                <a:cs typeface="Calibri" panose="020F0502020204030204" pitchFamily="34" charset="0"/>
              </a:rPr>
              <a:t>via specific binding of the LAs (in their ionized form) </a:t>
            </a:r>
          </a:p>
          <a:p>
            <a:pPr lvl="3" algn="just"/>
            <a:r>
              <a:rPr lang="en-US" sz="2200" dirty="0">
                <a:latin typeface="Calibri" panose="020F0502020204030204" pitchFamily="34" charset="0"/>
                <a:cs typeface="Calibri" panose="020F0502020204030204" pitchFamily="34" charset="0"/>
              </a:rPr>
              <a:t>to sodium channels, holding them in an inactive state, thus no further depolarization  can  occur.   </a:t>
            </a:r>
          </a:p>
        </p:txBody>
      </p:sp>
    </p:spTree>
    <p:extLst>
      <p:ext uri="{BB962C8B-B14F-4D97-AF65-F5344CB8AC3E}">
        <p14:creationId xmlns:p14="http://schemas.microsoft.com/office/powerpoint/2010/main" val="734957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Mechanism of action…. </a:t>
            </a:r>
            <a:endParaRPr lang="en-US" dirty="0"/>
          </a:p>
        </p:txBody>
      </p:sp>
      <p:sp>
        <p:nvSpPr>
          <p:cNvPr id="3" name="Content Placeholder 2"/>
          <p:cNvSpPr>
            <a:spLocks noGrp="1"/>
          </p:cNvSpPr>
          <p:nvPr>
            <p:ph sz="quarter" idx="1"/>
          </p:nvPr>
        </p:nvSpPr>
        <p:spPr/>
        <p:txBody>
          <a:bodyPr>
            <a:normAutofit fontScale="85000" lnSpcReduction="10000"/>
          </a:bodyPr>
          <a:lstStyle/>
          <a:p>
            <a:pPr algn="just"/>
            <a:r>
              <a:rPr lang="en-US" sz="2400" dirty="0">
                <a:latin typeface="Calibri" panose="020F0502020204030204" pitchFamily="34" charset="0"/>
                <a:cs typeface="Calibri" panose="020F0502020204030204" pitchFamily="34" charset="0"/>
              </a:rPr>
              <a:t>Neurons (and all other living cells) maintain a resting membrane potential of (−60 to −70 Mv) by </a:t>
            </a:r>
          </a:p>
          <a:p>
            <a:pPr lvl="1" algn="just"/>
            <a:r>
              <a:rPr lang="en-US" sz="2400" dirty="0">
                <a:latin typeface="Calibri" panose="020F0502020204030204" pitchFamily="34" charset="0"/>
                <a:cs typeface="Calibri" panose="020F0502020204030204" pitchFamily="34" charset="0"/>
              </a:rPr>
              <a:t>active transport and passive diffusion of ions</a:t>
            </a:r>
            <a:r>
              <a:rPr lang="en-US" sz="1900" dirty="0">
                <a:latin typeface="Calibri" panose="020F0502020204030204" pitchFamily="34" charset="0"/>
                <a:cs typeface="Calibri" panose="020F0502020204030204" pitchFamily="34" charset="0"/>
              </a:rPr>
              <a:t>.</a:t>
            </a:r>
          </a:p>
          <a:p>
            <a:pPr algn="just"/>
            <a:r>
              <a:rPr lang="en-US" sz="2400" dirty="0">
                <a:latin typeface="Calibri" panose="020F0502020204030204" pitchFamily="34" charset="0"/>
                <a:cs typeface="Calibri" panose="020F0502020204030204" pitchFamily="34" charset="0"/>
              </a:rPr>
              <a:t>The electrogenic, energy-consuming sodium–potassium pump (Na + -K + -ATPase) couples</a:t>
            </a:r>
          </a:p>
          <a:p>
            <a:pPr lvl="1" algn="just"/>
            <a:r>
              <a:rPr lang="en-US" sz="1900" dirty="0">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the transport of three sodium (Na) ions out of the cell for every two potassium (K+) ions it moves into the cell</a:t>
            </a:r>
            <a:r>
              <a:rPr lang="en-US" sz="1900" dirty="0">
                <a:latin typeface="Calibri" panose="020F0502020204030204" pitchFamily="34" charset="0"/>
                <a:cs typeface="Calibri" panose="020F0502020204030204" pitchFamily="34" charset="0"/>
              </a:rPr>
              <a:t>.</a:t>
            </a:r>
          </a:p>
          <a:p>
            <a:pPr algn="just"/>
            <a:r>
              <a:rPr lang="en-US" sz="2400" dirty="0">
                <a:latin typeface="Calibri" panose="020F0502020204030204" pitchFamily="34" charset="0"/>
                <a:cs typeface="Calibri" panose="020F0502020204030204" pitchFamily="34" charset="0"/>
              </a:rPr>
              <a:t>This creates an ionic disequilibrium (concentration gradient) </a:t>
            </a:r>
          </a:p>
          <a:p>
            <a:pPr lvl="1" algn="just"/>
            <a:r>
              <a:rPr lang="en-US" sz="2400" dirty="0">
                <a:latin typeface="Calibri" panose="020F0502020204030204" pitchFamily="34" charset="0"/>
                <a:cs typeface="Calibri" panose="020F0502020204030204" pitchFamily="34" charset="0"/>
              </a:rPr>
              <a:t>that favors the movement of K ions from an intracellular to an extracellular location, and</a:t>
            </a:r>
          </a:p>
          <a:p>
            <a:pPr lvl="1" algn="just"/>
            <a:r>
              <a:rPr lang="en-US" sz="2400" dirty="0">
                <a:latin typeface="Calibri" panose="020F0502020204030204" pitchFamily="34" charset="0"/>
                <a:cs typeface="Calibri" panose="020F0502020204030204" pitchFamily="34" charset="0"/>
              </a:rPr>
              <a:t> the movement of Na ions in the opposite direction.</a:t>
            </a:r>
          </a:p>
          <a:p>
            <a:pPr algn="just"/>
            <a:r>
              <a:rPr lang="en-US" sz="2400" dirty="0">
                <a:latin typeface="Calibri" panose="020F0502020204030204" pitchFamily="34" charset="0"/>
                <a:cs typeface="Calibri" panose="020F0502020204030204" pitchFamily="34" charset="0"/>
              </a:rPr>
              <a:t>The cell membrane is normally much more “leaky” to K ions than to Na ions, </a:t>
            </a:r>
          </a:p>
          <a:p>
            <a:pPr lvl="1" algn="just"/>
            <a:r>
              <a:rPr lang="en-US" sz="2400" dirty="0">
                <a:latin typeface="Calibri" panose="020F0502020204030204" pitchFamily="34" charset="0"/>
                <a:cs typeface="Calibri" panose="020F0502020204030204" pitchFamily="34" charset="0"/>
              </a:rPr>
              <a:t>so a relative excess of negatively charged ions (anions) accumulates intracellularly.</a:t>
            </a:r>
            <a:endParaRPr lang="en-US" sz="2400" b="1" u="sng" dirty="0">
              <a:latin typeface="Calibri" panose="020F0502020204030204" pitchFamily="34" charset="0"/>
              <a:cs typeface="Calibri" panose="020F0502020204030204" pitchFamily="34" charset="0"/>
            </a:endParaRPr>
          </a:p>
          <a:p>
            <a:pPr algn="just"/>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48628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Calibri" panose="020F0502020204030204" pitchFamily="34" charset="0"/>
                <a:cs typeface="Calibri" panose="020F0502020204030204" pitchFamily="34" charset="0"/>
              </a:rPr>
              <a:t>Mechanism of action…. </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a:xfrm>
            <a:off x="301752" y="1527048"/>
            <a:ext cx="8613648" cy="4572000"/>
          </a:xfrm>
        </p:spPr>
        <p:txBody>
          <a:bodyPr>
            <a:normAutofit fontScale="92500" lnSpcReduction="10000"/>
          </a:bodyPr>
          <a:lstStyle/>
          <a:p>
            <a:r>
              <a:rPr lang="en-US" sz="2600" dirty="0">
                <a:latin typeface="Calibri" panose="020F0502020204030204" pitchFamily="34" charset="0"/>
                <a:cs typeface="Calibri" panose="020F0502020204030204" pitchFamily="34" charset="0"/>
              </a:rPr>
              <a:t>This accounts for the negative resting potential difference (–70 mV polarization).</a:t>
            </a:r>
          </a:p>
          <a:p>
            <a:r>
              <a:rPr lang="en-US" sz="2600" dirty="0">
                <a:latin typeface="Calibri" panose="020F0502020204030204" pitchFamily="34" charset="0"/>
                <a:cs typeface="Calibri" panose="020F0502020204030204" pitchFamily="34" charset="0"/>
              </a:rPr>
              <a:t>Unlike most other types of tissue, </a:t>
            </a:r>
          </a:p>
          <a:p>
            <a:pPr lvl="1"/>
            <a:r>
              <a:rPr lang="en-US" sz="2100" dirty="0">
                <a:latin typeface="Calibri" panose="020F0502020204030204" pitchFamily="34" charset="0"/>
                <a:cs typeface="Calibri" panose="020F0502020204030204" pitchFamily="34" charset="0"/>
              </a:rPr>
              <a:t>excitable cells (e.g., neurons or cardiac myocytes) have the capability of generating action potentials.</a:t>
            </a:r>
          </a:p>
          <a:p>
            <a:r>
              <a:rPr lang="en-US" sz="2600" dirty="0">
                <a:latin typeface="Calibri" panose="020F0502020204030204" pitchFamily="34" charset="0"/>
                <a:cs typeface="Calibri" panose="020F0502020204030204" pitchFamily="34" charset="0"/>
              </a:rPr>
              <a:t>Nerve signals are transmitted by </a:t>
            </a:r>
            <a:r>
              <a:rPr lang="en-US" sz="2600" b="1" i="1" dirty="0">
                <a:latin typeface="Calibri" panose="020F0502020204030204" pitchFamily="34" charset="0"/>
                <a:cs typeface="Calibri" panose="020F0502020204030204" pitchFamily="34" charset="0"/>
              </a:rPr>
              <a:t>action</a:t>
            </a:r>
            <a:r>
              <a:rPr lang="en-US" sz="2600" i="1" dirty="0">
                <a:latin typeface="Calibri" panose="020F0502020204030204" pitchFamily="34" charset="0"/>
                <a:cs typeface="Calibri" panose="020F0502020204030204" pitchFamily="34" charset="0"/>
              </a:rPr>
              <a:t> </a:t>
            </a:r>
            <a:r>
              <a:rPr lang="en-US" sz="2600" b="1" i="1" dirty="0">
                <a:latin typeface="Calibri" panose="020F0502020204030204" pitchFamily="34" charset="0"/>
                <a:cs typeface="Calibri" panose="020F0502020204030204" pitchFamily="34" charset="0"/>
              </a:rPr>
              <a:t>potentials</a:t>
            </a:r>
            <a:r>
              <a:rPr lang="en-US" sz="2600" i="1" dirty="0">
                <a:latin typeface="Calibri" panose="020F0502020204030204" pitchFamily="34" charset="0"/>
                <a:cs typeface="Calibri" panose="020F0502020204030204" pitchFamily="34" charset="0"/>
              </a:rPr>
              <a:t>, </a:t>
            </a:r>
          </a:p>
          <a:p>
            <a:pPr lvl="1"/>
            <a:r>
              <a:rPr lang="en-US" sz="2100" dirty="0">
                <a:latin typeface="Calibri" panose="020F0502020204030204" pitchFamily="34" charset="0"/>
                <a:cs typeface="Calibri" panose="020F0502020204030204" pitchFamily="34" charset="0"/>
              </a:rPr>
              <a:t>which are rapid changes in the membrane potential that spread rapidly along the nerve fiber membrane. </a:t>
            </a:r>
          </a:p>
          <a:p>
            <a:r>
              <a:rPr lang="en-US" sz="2400" dirty="0">
                <a:latin typeface="Calibri" panose="020F0502020204030204" pitchFamily="34" charset="0"/>
                <a:cs typeface="Calibri" panose="020F0502020204030204" pitchFamily="34" charset="0"/>
              </a:rPr>
              <a:t>Each action potential begins with a sudden change from </a:t>
            </a:r>
          </a:p>
          <a:p>
            <a:pPr lvl="1"/>
            <a:r>
              <a:rPr lang="en-US" sz="1900" dirty="0">
                <a:latin typeface="Calibri" panose="020F0502020204030204" pitchFamily="34" charset="0"/>
                <a:cs typeface="Calibri" panose="020F0502020204030204" pitchFamily="34" charset="0"/>
              </a:rPr>
              <a:t>the normal resting negative membrane potential to a positive potential </a:t>
            </a:r>
          </a:p>
          <a:p>
            <a:pPr lvl="1"/>
            <a:r>
              <a:rPr lang="en-US" sz="1900" dirty="0">
                <a:latin typeface="Calibri" panose="020F0502020204030204" pitchFamily="34" charset="0"/>
                <a:cs typeface="Calibri" panose="020F0502020204030204" pitchFamily="34" charset="0"/>
              </a:rPr>
              <a:t>and then ends with an almost equally rapid change back to the negative potential.</a:t>
            </a:r>
          </a:p>
          <a:p>
            <a:r>
              <a:rPr lang="en-US" sz="2400" dirty="0">
                <a:latin typeface="Calibri" panose="020F0502020204030204" pitchFamily="34" charset="0"/>
                <a:cs typeface="Calibri" panose="020F0502020204030204" pitchFamily="34" charset="0"/>
              </a:rPr>
              <a:t>To conduct a nerve signal, the action potential moves along the nerve fiber until it comes to the fiber’s end.</a:t>
            </a: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4188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Calibri" panose="020F0502020204030204" pitchFamily="34" charset="0"/>
                <a:cs typeface="Calibri" panose="020F0502020204030204" pitchFamily="34" charset="0"/>
              </a:rPr>
              <a:t>Mechanism of action…. </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p:txBody>
          <a:bodyPr>
            <a:normAutofit/>
          </a:bodyPr>
          <a:lstStyle/>
          <a:p>
            <a:pPr algn="just"/>
            <a:r>
              <a:rPr lang="en-US" sz="2400" dirty="0">
                <a:latin typeface="Calibri" panose="020F0502020204030204" pitchFamily="34" charset="0"/>
                <a:cs typeface="Calibri" panose="020F0502020204030204" pitchFamily="34" charset="0"/>
              </a:rPr>
              <a:t>Membrane bound, voltage-gated Na channels in peripheral nerve axons can produce and transmit </a:t>
            </a:r>
          </a:p>
          <a:p>
            <a:pPr lvl="1" algn="just"/>
            <a:r>
              <a:rPr lang="en-US" sz="1800" dirty="0">
                <a:latin typeface="Calibri" panose="020F0502020204030204" pitchFamily="34" charset="0"/>
                <a:cs typeface="Calibri" panose="020F0502020204030204" pitchFamily="34" charset="0"/>
              </a:rPr>
              <a:t>membrane depolarizations following chemical, mechanical, or electrical stimuli.</a:t>
            </a:r>
          </a:p>
          <a:p>
            <a:pPr algn="just"/>
            <a:r>
              <a:rPr lang="en-US" sz="2400" dirty="0">
                <a:latin typeface="Calibri" panose="020F0502020204030204" pitchFamily="34" charset="0"/>
                <a:cs typeface="Calibri" panose="020F0502020204030204" pitchFamily="34" charset="0"/>
              </a:rPr>
              <a:t>When a stimulus is sufficient to depolarize a patch of membrane, </a:t>
            </a:r>
          </a:p>
          <a:p>
            <a:pPr lvl="1" algn="just"/>
            <a:r>
              <a:rPr lang="en-US" dirty="0">
                <a:latin typeface="Calibri" panose="020F0502020204030204" pitchFamily="34" charset="0"/>
                <a:cs typeface="Calibri" panose="020F0502020204030204" pitchFamily="34" charset="0"/>
              </a:rPr>
              <a:t>the signal can be transmitted as a wave of depolarization along the nerve membrane (an impulse).</a:t>
            </a:r>
          </a:p>
          <a:p>
            <a:pPr algn="just"/>
            <a:r>
              <a:rPr lang="en-US" sz="2400" dirty="0">
                <a:latin typeface="Calibri" panose="020F0502020204030204" pitchFamily="34" charset="0"/>
                <a:cs typeface="Calibri" panose="020F0502020204030204" pitchFamily="34" charset="0"/>
              </a:rPr>
              <a:t>Activation of voltage-gated Na channels causes</a:t>
            </a:r>
          </a:p>
          <a:p>
            <a:pPr lvl="1" algn="just"/>
            <a:r>
              <a:rPr lang="en-US" sz="190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 very brief (1 msec) change in the conformation of the channel</a:t>
            </a:r>
            <a:r>
              <a:rPr lang="en-US" sz="1900" dirty="0">
                <a:latin typeface="Calibri" panose="020F0502020204030204" pitchFamily="34" charset="0"/>
                <a:cs typeface="Calibri" panose="020F0502020204030204" pitchFamily="34" charset="0"/>
              </a:rPr>
              <a:t>, </a:t>
            </a:r>
          </a:p>
          <a:p>
            <a:pPr lvl="2" algn="just"/>
            <a:r>
              <a:rPr lang="en-US" dirty="0">
                <a:latin typeface="Calibri" panose="020F0502020204030204" pitchFamily="34" charset="0"/>
                <a:cs typeface="Calibri" panose="020F0502020204030204" pitchFamily="34" charset="0"/>
              </a:rPr>
              <a:t>allowing an influx of Na ions and generating an action potential. </a:t>
            </a:r>
          </a:p>
          <a:p>
            <a:pPr lvl="4" algn="just"/>
            <a:r>
              <a:rPr lang="en-US" sz="2400" dirty="0">
                <a:latin typeface="Calibri" panose="020F0502020204030204" pitchFamily="34" charset="0"/>
                <a:cs typeface="Calibri" panose="020F0502020204030204" pitchFamily="34" charset="0"/>
              </a:rPr>
              <a:t>This is called </a:t>
            </a:r>
            <a:r>
              <a:rPr lang="en-US" sz="2400" b="1" i="1" dirty="0">
                <a:latin typeface="Calibri" panose="020F0502020204030204" pitchFamily="34" charset="0"/>
                <a:cs typeface="Calibri" panose="020F0502020204030204" pitchFamily="34" charset="0"/>
              </a:rPr>
              <a:t>depolarization.</a:t>
            </a:r>
            <a:endParaRPr lang="en-US" sz="2400" dirty="0">
              <a:latin typeface="Calibri" panose="020F0502020204030204" pitchFamily="34" charset="0"/>
              <a:cs typeface="Calibri" panose="020F0502020204030204" pitchFamily="34" charset="0"/>
            </a:endParaRPr>
          </a:p>
          <a:p>
            <a:pPr algn="just"/>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5528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Calibri" panose="020F0502020204030204" pitchFamily="34" charset="0"/>
                <a:cs typeface="Calibri" panose="020F0502020204030204" pitchFamily="34" charset="0"/>
              </a:rPr>
              <a:t>Mechanism of action…. </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p:txBody>
          <a:bodyPr/>
          <a:lstStyle/>
          <a:p>
            <a:r>
              <a:rPr lang="en-US" sz="2400" dirty="0">
                <a:latin typeface="Calibri" panose="020F0502020204030204" pitchFamily="34" charset="0"/>
                <a:cs typeface="Calibri" panose="020F0502020204030204" pitchFamily="34" charset="0"/>
              </a:rPr>
              <a:t>After the membrane becomes highly permeable to sodium ions, </a:t>
            </a:r>
          </a:p>
          <a:p>
            <a:pPr lvl="1"/>
            <a:r>
              <a:rPr lang="en-US" dirty="0">
                <a:latin typeface="Calibri" panose="020F0502020204030204" pitchFamily="34" charset="0"/>
                <a:cs typeface="Calibri" panose="020F0502020204030204" pitchFamily="34" charset="0"/>
              </a:rPr>
              <a:t>the sodium channels begin to close and </a:t>
            </a:r>
          </a:p>
          <a:p>
            <a:pPr lvl="1"/>
            <a:r>
              <a:rPr lang="en-US" dirty="0">
                <a:latin typeface="Calibri" panose="020F0502020204030204" pitchFamily="34" charset="0"/>
                <a:cs typeface="Calibri" panose="020F0502020204030204" pitchFamily="34" charset="0"/>
              </a:rPr>
              <a:t>the potassium channels open more than normal. </a:t>
            </a:r>
          </a:p>
          <a:p>
            <a:r>
              <a:rPr lang="en-US" sz="2400" dirty="0">
                <a:latin typeface="Calibri" panose="020F0502020204030204" pitchFamily="34" charset="0"/>
                <a:cs typeface="Calibri" panose="020F0502020204030204" pitchFamily="34" charset="0"/>
              </a:rPr>
              <a:t>Then, rapid diffusion of potassium ions to the exterior re-establishes the normal negative resting membrane potential. </a:t>
            </a:r>
          </a:p>
          <a:p>
            <a:pPr lvl="1"/>
            <a:r>
              <a:rPr lang="en-US" sz="2400" dirty="0">
                <a:latin typeface="Calibri" panose="020F0502020204030204" pitchFamily="34" charset="0"/>
                <a:cs typeface="Calibri" panose="020F0502020204030204" pitchFamily="34" charset="0"/>
              </a:rPr>
              <a:t>This is called </a:t>
            </a:r>
            <a:r>
              <a:rPr lang="en-US" sz="2400" b="1" i="1" dirty="0">
                <a:latin typeface="Calibri" panose="020F0502020204030204" pitchFamily="34" charset="0"/>
                <a:cs typeface="Calibri" panose="020F0502020204030204" pitchFamily="34" charset="0"/>
              </a:rPr>
              <a:t>repolarization </a:t>
            </a:r>
            <a:r>
              <a:rPr lang="en-US" sz="2400" i="1" dirty="0">
                <a:latin typeface="Calibri" panose="020F0502020204030204" pitchFamily="34" charset="0"/>
                <a:cs typeface="Calibri" panose="020F0502020204030204" pitchFamily="34" charset="0"/>
              </a:rPr>
              <a:t>of the </a:t>
            </a:r>
            <a:r>
              <a:rPr lang="en-US" sz="2400" dirty="0">
                <a:latin typeface="Calibri" panose="020F0502020204030204" pitchFamily="34" charset="0"/>
                <a:cs typeface="Calibri" panose="020F0502020204030204" pitchFamily="34" charset="0"/>
              </a:rPr>
              <a:t>membrane</a:t>
            </a:r>
            <a:r>
              <a:rPr lang="en-US" sz="1900" dirty="0">
                <a:latin typeface="Calibri" panose="020F0502020204030204" pitchFamily="34" charset="0"/>
                <a:cs typeface="Calibri" panose="020F0502020204030204" pitchFamily="34" charset="0"/>
              </a:rPr>
              <a:t>.</a:t>
            </a:r>
          </a:p>
          <a:p>
            <a:r>
              <a:rPr lang="en-US" sz="2400" dirty="0">
                <a:latin typeface="Calibri" panose="020F0502020204030204" pitchFamily="34" charset="0"/>
                <a:cs typeface="Calibri" panose="020F0502020204030204" pitchFamily="34" charset="0"/>
              </a:rPr>
              <a:t>Baseline concentration gradients are maintained by the sodium–potassium pump. </a:t>
            </a: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0199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Calibri" panose="020F0502020204030204" pitchFamily="34" charset="0"/>
                <a:cs typeface="Calibri" panose="020F0502020204030204" pitchFamily="34" charset="0"/>
              </a:rPr>
              <a:t>Mechanism of action…. </a:t>
            </a:r>
            <a:endParaRPr lang="en-US" sz="3200" dirty="0"/>
          </a:p>
        </p:txBody>
      </p:sp>
      <p:pic>
        <p:nvPicPr>
          <p:cNvPr id="8" name="Content Placeholder 3" descr="20161202_090904.jpg"/>
          <p:cNvPicPr>
            <a:picLocks noGrp="1" noChangeAspect="1"/>
          </p:cNvPicPr>
          <p:nvPr>
            <p:ph idx="1"/>
          </p:nvPr>
        </p:nvPicPr>
        <p:blipFill>
          <a:blip r:embed="rId2" cstate="print"/>
          <a:stretch>
            <a:fillRect/>
          </a:stretch>
        </p:blipFill>
        <p:spPr>
          <a:xfrm>
            <a:off x="304800" y="1676400"/>
            <a:ext cx="8000999" cy="4724400"/>
          </a:xfrm>
        </p:spPr>
      </p:pic>
    </p:spTree>
    <p:extLst>
      <p:ext uri="{BB962C8B-B14F-4D97-AF65-F5344CB8AC3E}">
        <p14:creationId xmlns:p14="http://schemas.microsoft.com/office/powerpoint/2010/main" val="1179298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Calibri" panose="020F0502020204030204" pitchFamily="34" charset="0"/>
                <a:cs typeface="Calibri" panose="020F0502020204030204" pitchFamily="34" charset="0"/>
              </a:rPr>
              <a:t>Mechanism of action…. </a:t>
            </a:r>
            <a:endParaRPr lang="en-US" sz="3200" dirty="0"/>
          </a:p>
        </p:txBody>
      </p:sp>
      <p:sp>
        <p:nvSpPr>
          <p:cNvPr id="3" name="Content Placeholder 2"/>
          <p:cNvSpPr>
            <a:spLocks noGrp="1"/>
          </p:cNvSpPr>
          <p:nvPr>
            <p:ph idx="1"/>
          </p:nvPr>
        </p:nvSpPr>
        <p:spPr>
          <a:xfrm>
            <a:off x="228600" y="1295400"/>
            <a:ext cx="8686800" cy="5334000"/>
          </a:xfrm>
        </p:spPr>
        <p:txBody>
          <a:bodyPr>
            <a:noAutofit/>
          </a:bodyPr>
          <a:lstStyle/>
          <a:p>
            <a:r>
              <a:rPr lang="en-US" sz="2400" dirty="0">
                <a:latin typeface="Calibri" panose="020F0502020204030204" pitchFamily="34" charset="0"/>
                <a:cs typeface="Calibri" panose="020F0502020204030204" pitchFamily="34" charset="0"/>
              </a:rPr>
              <a:t>The sodium channel itself is a specific receptor for LA molecules. </a:t>
            </a:r>
          </a:p>
          <a:p>
            <a:r>
              <a:rPr lang="en-US" sz="2400" dirty="0">
                <a:latin typeface="Calibri" panose="020F0502020204030204" pitchFamily="34" charset="0"/>
                <a:cs typeface="Calibri" panose="020F0502020204030204" pitchFamily="34" charset="0"/>
              </a:rPr>
              <a:t>Na channels are membrane-bound proteins that are composed of </a:t>
            </a:r>
          </a:p>
          <a:p>
            <a:pPr lvl="1"/>
            <a:r>
              <a:rPr lang="en-US" dirty="0">
                <a:latin typeface="Calibri" panose="020F0502020204030204" pitchFamily="34" charset="0"/>
                <a:cs typeface="Calibri" panose="020F0502020204030204" pitchFamily="34" charset="0"/>
              </a:rPr>
              <a:t>one large α subunit, through which Na ions pass, and </a:t>
            </a:r>
          </a:p>
          <a:p>
            <a:pPr lvl="1"/>
            <a:r>
              <a:rPr lang="en-US" dirty="0">
                <a:latin typeface="Calibri" panose="020F0502020204030204" pitchFamily="34" charset="0"/>
                <a:cs typeface="Calibri" panose="020F0502020204030204" pitchFamily="34" charset="0"/>
              </a:rPr>
              <a:t>one or two smaller β subunits.</a:t>
            </a:r>
          </a:p>
          <a:p>
            <a:pPr marL="274320" lvl="1" indent="0">
              <a:buNone/>
            </a:pPr>
            <a:r>
              <a:rPr lang="en-US" dirty="0">
                <a:latin typeface="Calibri" panose="020F0502020204030204" pitchFamily="34" charset="0"/>
                <a:cs typeface="Calibri" panose="020F0502020204030204" pitchFamily="34" charset="0"/>
              </a:rPr>
              <a:t> </a:t>
            </a:r>
          </a:p>
          <a:p>
            <a:r>
              <a:rPr lang="en-US" sz="2400" dirty="0">
                <a:latin typeface="Calibri" panose="020F0502020204030204" pitchFamily="34" charset="0"/>
                <a:cs typeface="Calibri" panose="020F0502020204030204" pitchFamily="34" charset="0"/>
              </a:rPr>
              <a:t>Voltage-gated Na channels exist in (at least) three states—</a:t>
            </a:r>
          </a:p>
          <a:p>
            <a:pPr lvl="1"/>
            <a:r>
              <a:rPr lang="en-US" dirty="0">
                <a:latin typeface="Calibri" panose="020F0502020204030204" pitchFamily="34" charset="0"/>
                <a:cs typeface="Calibri" panose="020F0502020204030204" pitchFamily="34" charset="0"/>
              </a:rPr>
              <a:t>resting (nonconducting), </a:t>
            </a:r>
          </a:p>
          <a:p>
            <a:pPr lvl="1"/>
            <a:r>
              <a:rPr lang="en-US" dirty="0">
                <a:latin typeface="Calibri" panose="020F0502020204030204" pitchFamily="34" charset="0"/>
                <a:cs typeface="Calibri" panose="020F0502020204030204" pitchFamily="34" charset="0"/>
              </a:rPr>
              <a:t>open (conducting), and</a:t>
            </a:r>
          </a:p>
          <a:p>
            <a:pPr lvl="1"/>
            <a:r>
              <a:rPr lang="en-US" dirty="0">
                <a:latin typeface="Calibri" panose="020F0502020204030204" pitchFamily="34" charset="0"/>
                <a:cs typeface="Calibri" panose="020F0502020204030204" pitchFamily="34" charset="0"/>
              </a:rPr>
              <a:t> inactivated (nonconducting).</a:t>
            </a:r>
            <a:endParaRPr lang="en-US" sz="2400" dirty="0">
              <a:latin typeface="Calibri" panose="020F0502020204030204" pitchFamily="34" charset="0"/>
              <a:cs typeface="Calibri" panose="020F0502020204030204" pitchFamily="34" charset="0"/>
            </a:endParaRPr>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62342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Calibri" panose="020F0502020204030204" pitchFamily="34" charset="0"/>
                <a:cs typeface="Calibri" panose="020F0502020204030204" pitchFamily="34" charset="0"/>
              </a:rPr>
              <a:t>Mechanism of action…. </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a:xfrm>
            <a:off x="301752" y="1527048"/>
            <a:ext cx="8689848" cy="4572000"/>
          </a:xfrm>
        </p:spPr>
        <p:txBody>
          <a:bodyPr/>
          <a:lstStyle/>
          <a:p>
            <a:pPr algn="just"/>
            <a:r>
              <a:rPr lang="en-US" sz="2400" dirty="0">
                <a:latin typeface="Calibri" panose="020F0502020204030204" pitchFamily="34" charset="0"/>
                <a:cs typeface="Calibri" panose="020F0502020204030204" pitchFamily="34" charset="0"/>
              </a:rPr>
              <a:t>LAs bind a specific region of the α subunit and inhibit voltage-gated Na channels, </a:t>
            </a:r>
          </a:p>
          <a:p>
            <a:pPr lvl="1" algn="just"/>
            <a:r>
              <a:rPr lang="en-US" dirty="0">
                <a:solidFill>
                  <a:schemeClr val="tx1"/>
                </a:solidFill>
                <a:latin typeface="Calibri" panose="020F0502020204030204" pitchFamily="34" charset="0"/>
                <a:cs typeface="Calibri" panose="020F0502020204030204" pitchFamily="34" charset="0"/>
              </a:rPr>
              <a:t>preventing channel activation and inhibiting the Na influx associated with membrane depolarization</a:t>
            </a:r>
            <a:r>
              <a:rPr lang="en-US" sz="1900" dirty="0">
                <a:solidFill>
                  <a:schemeClr val="tx1"/>
                </a:solidFill>
                <a:latin typeface="Calibri" panose="020F0502020204030204" pitchFamily="34" charset="0"/>
                <a:cs typeface="Calibri" panose="020F0502020204030204" pitchFamily="34" charset="0"/>
              </a:rPr>
              <a:t>.</a:t>
            </a:r>
          </a:p>
          <a:p>
            <a:pPr lvl="1" algn="just"/>
            <a:endParaRPr lang="en-US" sz="1900" dirty="0">
              <a:solidFill>
                <a:schemeClr val="tx1"/>
              </a:solidFill>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LAs have a greater affinity for the channel in the open or inactivated state than in the resting state.</a:t>
            </a:r>
          </a:p>
          <a:p>
            <a:r>
              <a:rPr lang="en-US" sz="2400" dirty="0">
                <a:latin typeface="Calibri" panose="020F0502020204030204" pitchFamily="34" charset="0"/>
                <a:cs typeface="Calibri" panose="020F0502020204030204" pitchFamily="34" charset="0"/>
              </a:rPr>
              <a:t>LAs may also bind and inhibit calcium (Ca), K and many other channels and receptors.</a:t>
            </a:r>
          </a:p>
          <a:p>
            <a:r>
              <a:rPr lang="en-US" sz="2400" dirty="0">
                <a:latin typeface="Calibri" panose="020F0502020204030204" pitchFamily="34" charset="0"/>
                <a:cs typeface="Calibri" panose="020F0502020204030204" pitchFamily="34" charset="0"/>
              </a:rPr>
              <a:t>Compared with sodium ion channels, local anesthetic exhibit a much lower affinity for potassium ion channel</a:t>
            </a:r>
          </a:p>
          <a:p>
            <a:pPr marL="0" indent="0">
              <a:buNone/>
            </a:pPr>
            <a:endParaRPr lang="en-US" sz="2400" dirty="0">
              <a:latin typeface="Calibri" panose="020F0502020204030204" pitchFamily="34" charset="0"/>
              <a:cs typeface="Calibri" panose="020F0502020204030204" pitchFamily="34" charset="0"/>
            </a:endParaRPr>
          </a:p>
          <a:p>
            <a:endParaRPr lang="en-US" sz="2400"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3472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Inhibition of nerve fibers by LAs</a:t>
            </a:r>
            <a:endParaRPr lang="en-US" dirty="0"/>
          </a:p>
        </p:txBody>
      </p:sp>
      <p:sp>
        <p:nvSpPr>
          <p:cNvPr id="3" name="Content Placeholder 2"/>
          <p:cNvSpPr>
            <a:spLocks noGrp="1"/>
          </p:cNvSpPr>
          <p:nvPr>
            <p:ph sz="quarter" idx="1"/>
          </p:nvPr>
        </p:nvSpPr>
        <p:spPr/>
        <p:txBody>
          <a:bodyPr>
            <a:normAutofit/>
          </a:bodyPr>
          <a:lstStyle/>
          <a:p>
            <a:pPr>
              <a:lnSpc>
                <a:spcPct val="150000"/>
              </a:lnSpc>
            </a:pPr>
            <a:r>
              <a:rPr lang="bg-BG" dirty="0">
                <a:latin typeface="Calibri" panose="020F0502020204030204" pitchFamily="34" charset="0"/>
                <a:cs typeface="Calibri" panose="020F0502020204030204" pitchFamily="34" charset="0"/>
              </a:rPr>
              <a:t>Not all nerve fibers are equally affected by </a:t>
            </a:r>
            <a:r>
              <a:rPr lang="en-US" dirty="0">
                <a:latin typeface="Calibri" panose="020F0502020204030204" pitchFamily="34" charset="0"/>
                <a:cs typeface="Calibri" panose="020F0502020204030204" pitchFamily="34" charset="0"/>
              </a:rPr>
              <a:t>LAs</a:t>
            </a:r>
            <a:r>
              <a:rPr lang="bg-BG" dirty="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a:p>
            <a:pPr>
              <a:lnSpc>
                <a:spcPct val="150000"/>
              </a:lnSpc>
            </a:pPr>
            <a:r>
              <a:rPr lang="bg-BG" dirty="0">
                <a:latin typeface="Calibri" panose="020F0502020204030204" pitchFamily="34" charset="0"/>
                <a:cs typeface="Calibri" panose="020F0502020204030204" pitchFamily="34" charset="0"/>
              </a:rPr>
              <a:t> Sensitivity to blockade is determined by</a:t>
            </a:r>
            <a:r>
              <a:rPr lang="en-US" dirty="0">
                <a:latin typeface="Calibri" panose="020F0502020204030204" pitchFamily="34" charset="0"/>
                <a:cs typeface="Calibri" panose="020F0502020204030204" pitchFamily="34" charset="0"/>
              </a:rPr>
              <a:t>: </a:t>
            </a:r>
          </a:p>
          <a:p>
            <a:pPr lvl="1">
              <a:lnSpc>
                <a:spcPct val="150000"/>
              </a:lnSpc>
            </a:pPr>
            <a:r>
              <a:rPr lang="bg-BG" dirty="0">
                <a:latin typeface="Calibri" panose="020F0502020204030204" pitchFamily="34" charset="0"/>
                <a:cs typeface="Calibri" panose="020F0502020204030204" pitchFamily="34" charset="0"/>
              </a:rPr>
              <a:t>axonal diameter</a:t>
            </a:r>
            <a:endParaRPr lang="en-US" dirty="0">
              <a:latin typeface="Calibri" panose="020F0502020204030204" pitchFamily="34" charset="0"/>
              <a:cs typeface="Calibri" panose="020F0502020204030204" pitchFamily="34" charset="0"/>
            </a:endParaRPr>
          </a:p>
          <a:p>
            <a:pPr lvl="2">
              <a:lnSpc>
                <a:spcPct val="150000"/>
              </a:lnSpc>
            </a:pPr>
            <a:r>
              <a:rPr lang="en-US" sz="2200" dirty="0">
                <a:latin typeface="Calibri" panose="020F0502020204030204" pitchFamily="34" charset="0"/>
                <a:cs typeface="Calibri" panose="020F0502020204030204" pitchFamily="34" charset="0"/>
              </a:rPr>
              <a:t>small diameter increases sensitivity to local anesthetics. </a:t>
            </a:r>
          </a:p>
          <a:p>
            <a:pPr lvl="3">
              <a:lnSpc>
                <a:spcPct val="150000"/>
              </a:lnSpc>
            </a:pPr>
            <a:r>
              <a:rPr lang="en-US" dirty="0">
                <a:latin typeface="Calibri" panose="020F0502020204030204" pitchFamily="34" charset="0"/>
                <a:cs typeface="Calibri" panose="020F0502020204030204" pitchFamily="34" charset="0"/>
              </a:rPr>
              <a:t>Thus, larger, faster Aα fibers are less sensitive to local anesthetics than smaller, slower-conducting </a:t>
            </a:r>
            <a:r>
              <a:rPr lang="en-US" dirty="0" err="1">
                <a:latin typeface="Calibri" panose="020F0502020204030204" pitchFamily="34" charset="0"/>
                <a:cs typeface="Calibri" panose="020F0502020204030204" pitchFamily="34" charset="0"/>
              </a:rPr>
              <a:t>Aδ</a:t>
            </a:r>
            <a:r>
              <a:rPr lang="en-US" dirty="0">
                <a:latin typeface="Calibri" panose="020F0502020204030204" pitchFamily="34" charset="0"/>
                <a:cs typeface="Calibri" panose="020F0502020204030204" pitchFamily="34" charset="0"/>
              </a:rPr>
              <a:t> fibers</a:t>
            </a:r>
          </a:p>
          <a:p>
            <a:pPr lvl="3">
              <a:lnSpc>
                <a:spcPct val="150000"/>
              </a:lnSpc>
            </a:pPr>
            <a:r>
              <a:rPr lang="en-US" dirty="0">
                <a:latin typeface="Calibri" panose="020F0502020204030204" pitchFamily="34" charset="0"/>
                <a:cs typeface="Calibri" panose="020F0502020204030204" pitchFamily="34" charset="0"/>
              </a:rPr>
              <a:t>s</a:t>
            </a:r>
            <a:r>
              <a:rPr lang="en-US" sz="2000" dirty="0">
                <a:latin typeface="Calibri" panose="020F0502020204030204" pitchFamily="34" charset="0"/>
                <a:cs typeface="Calibri" panose="020F0502020204030204" pitchFamily="34" charset="0"/>
              </a:rPr>
              <a:t>mall nerve fibers are more sensitive than large nerve fibers </a:t>
            </a:r>
          </a:p>
          <a:p>
            <a:pPr lvl="3">
              <a:lnSpc>
                <a:spcPct val="150000"/>
              </a:lnSpc>
            </a:pPr>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 </a:t>
            </a:r>
            <a:endParaRPr lang="en-US" dirty="0"/>
          </a:p>
        </p:txBody>
      </p:sp>
      <p:sp>
        <p:nvSpPr>
          <p:cNvPr id="3" name="Content Placeholder 2"/>
          <p:cNvSpPr>
            <a:spLocks noGrp="1"/>
          </p:cNvSpPr>
          <p:nvPr>
            <p:ph sz="quarter" idx="1"/>
          </p:nvPr>
        </p:nvSpPr>
        <p:spPr>
          <a:xfrm>
            <a:off x="301752" y="1143000"/>
            <a:ext cx="8503920" cy="4956048"/>
          </a:xfrm>
        </p:spPr>
        <p:txBody>
          <a:bodyPr>
            <a:normAutofit/>
          </a:bodyPr>
          <a:lstStyle/>
          <a:p>
            <a:pPr lvl="1">
              <a:lnSpc>
                <a:spcPct val="150000"/>
              </a:lnSpc>
            </a:pPr>
            <a:r>
              <a:rPr lang="bg-BG" sz="2400" dirty="0">
                <a:latin typeface="Calibri" panose="020F0502020204030204" pitchFamily="34" charset="0"/>
                <a:cs typeface="Calibri" panose="020F0502020204030204" pitchFamily="34" charset="0"/>
              </a:rPr>
              <a:t>degree of myelination</a:t>
            </a:r>
            <a:endParaRPr lang="en-US" sz="2400" dirty="0">
              <a:latin typeface="Calibri" panose="020F0502020204030204" pitchFamily="34" charset="0"/>
              <a:cs typeface="Calibri" panose="020F0502020204030204" pitchFamily="34" charset="0"/>
            </a:endParaRPr>
          </a:p>
          <a:p>
            <a:pPr lvl="2">
              <a:lnSpc>
                <a:spcPct val="150000"/>
              </a:lnSpc>
            </a:pPr>
            <a:r>
              <a:rPr lang="en-US" sz="2200" dirty="0">
                <a:latin typeface="Calibri" panose="020F0502020204030204" pitchFamily="34" charset="0"/>
                <a:cs typeface="Calibri" panose="020F0502020204030204" pitchFamily="34" charset="0"/>
              </a:rPr>
              <a:t>myelinated fibers are blocked before non-myelinated fibers of the same diameter.</a:t>
            </a:r>
          </a:p>
          <a:p>
            <a:pPr lvl="2">
              <a:lnSpc>
                <a:spcPct val="150000"/>
              </a:lnSpc>
            </a:pPr>
            <a:r>
              <a:rPr lang="en-US" sz="2200" dirty="0">
                <a:latin typeface="Calibri" panose="020F0502020204030204" pitchFamily="34" charset="0"/>
                <a:cs typeface="Calibri" panose="020F0502020204030204" pitchFamily="34" charset="0"/>
              </a:rPr>
              <a:t>small unmyelinated C fibers are relatively resistant to inhibition by local anesthetics as compared with larger myelinated fibers</a:t>
            </a:r>
          </a:p>
          <a:p>
            <a:pPr lvl="2">
              <a:lnSpc>
                <a:spcPct val="150000"/>
              </a:lnSpc>
            </a:pPr>
            <a:r>
              <a:rPr lang="en-US" sz="2200" dirty="0">
                <a:latin typeface="Calibri" panose="020F0502020204030204" pitchFamily="34" charset="0"/>
                <a:cs typeface="Calibri" panose="020F0502020204030204" pitchFamily="34" charset="0"/>
              </a:rPr>
              <a:t>larger unmyelinated fibers are less sensitive than smaller unmyelinated fibers.</a:t>
            </a:r>
          </a:p>
          <a:p>
            <a:pPr lvl="1">
              <a:lnSpc>
                <a:spcPct val="150000"/>
              </a:lnSpc>
            </a:pPr>
            <a:r>
              <a:rPr lang="en-US" dirty="0">
                <a:latin typeface="Calibri" panose="020F0502020204030204" pitchFamily="34" charset="0"/>
                <a:cs typeface="Calibri" panose="020F0502020204030204" pitchFamily="34" charset="0"/>
              </a:rPr>
              <a:t>v</a:t>
            </a:r>
            <a:r>
              <a:rPr lang="bg-BG" dirty="0">
                <a:latin typeface="Calibri" panose="020F0502020204030204" pitchFamily="34" charset="0"/>
                <a:cs typeface="Calibri" panose="020F0502020204030204" pitchFamily="34" charset="0"/>
              </a:rPr>
              <a:t>arious other anatomic and physiological factors</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0955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Calibri" panose="020F0502020204030204" pitchFamily="34" charset="0"/>
                <a:cs typeface="Calibri" panose="020F0502020204030204" pitchFamily="34" charset="0"/>
              </a:rPr>
              <a:t>Cont.…. </a:t>
            </a:r>
          </a:p>
        </p:txBody>
      </p:sp>
      <p:sp>
        <p:nvSpPr>
          <p:cNvPr id="3" name="Content Placeholder 2"/>
          <p:cNvSpPr>
            <a:spLocks noGrp="1"/>
          </p:cNvSpPr>
          <p:nvPr>
            <p:ph sz="quarter" idx="1"/>
          </p:nvPr>
        </p:nvSpPr>
        <p:spPr/>
        <p:txBody>
          <a:bodyPr/>
          <a:lstStyle/>
          <a:p>
            <a:pPr lvl="1" algn="just">
              <a:lnSpc>
                <a:spcPct val="150000"/>
              </a:lnSpc>
            </a:pPr>
            <a:r>
              <a:rPr lang="en-US" dirty="0">
                <a:latin typeface="Arial" panose="020B0604020202020204" pitchFamily="34" charset="0"/>
                <a:cs typeface="Arial" panose="020B0604020202020204" pitchFamily="34" charset="0"/>
              </a:rPr>
              <a:t>Thus, the loss of nerve function proceeds as loss of pain, temperature, touch, proprioception, and then skeletal muscle tone. </a:t>
            </a:r>
          </a:p>
          <a:p>
            <a:pPr lvl="2" algn="just">
              <a:lnSpc>
                <a:spcPct val="150000"/>
              </a:lnSpc>
            </a:pPr>
            <a:r>
              <a:rPr lang="en-US" dirty="0">
                <a:latin typeface="Arial" panose="020B0604020202020204" pitchFamily="34" charset="0"/>
                <a:cs typeface="Arial" panose="020B0604020202020204" pitchFamily="34" charset="0"/>
              </a:rPr>
              <a:t>This is why people may still feel touch but not pain when using local anaesthesia.</a:t>
            </a:r>
          </a:p>
          <a:p>
            <a:pPr>
              <a:lnSpc>
                <a:spcPct val="150000"/>
              </a:lnSpc>
              <a:buFont typeface="Wingdings" pitchFamily="2" charset="2"/>
              <a:buChar char="Ø"/>
            </a:pPr>
            <a:r>
              <a:rPr lang="en-US" dirty="0">
                <a:latin typeface="Arial" panose="020B0604020202020204" pitchFamily="34" charset="0"/>
                <a:cs typeface="Arial" panose="020B0604020202020204" pitchFamily="34" charset="0"/>
              </a:rPr>
              <a:t>I</a:t>
            </a:r>
            <a:r>
              <a:rPr lang="bg-BG" sz="2600" dirty="0">
                <a:latin typeface="Arial" panose="020B0604020202020204" pitchFamily="34" charset="0"/>
                <a:cs typeface="Arial" panose="020B0604020202020204" pitchFamily="34" charset="0"/>
              </a:rPr>
              <a:t>n spinal nerves</a:t>
            </a:r>
            <a:r>
              <a:rPr lang="en-US" sz="2600" dirty="0">
                <a:latin typeface="Arial" panose="020B0604020202020204" pitchFamily="34" charset="0"/>
                <a:cs typeface="Arial" panose="020B0604020202020204" pitchFamily="34" charset="0"/>
              </a:rPr>
              <a:t>,</a:t>
            </a:r>
            <a:r>
              <a:rPr lang="bg-BG" sz="2600" dirty="0">
                <a:latin typeface="Arial" panose="020B0604020202020204" pitchFamily="34" charset="0"/>
                <a:cs typeface="Arial" panose="020B0604020202020204" pitchFamily="34" charset="0"/>
              </a:rPr>
              <a:t> sensitivity to local anesthetics </a:t>
            </a:r>
            <a:r>
              <a:rPr lang="en-US" sz="2600" dirty="0">
                <a:latin typeface="Arial" panose="020B0604020202020204" pitchFamily="34" charset="0"/>
                <a:cs typeface="Arial" panose="020B0604020202020204" pitchFamily="34" charset="0"/>
              </a:rPr>
              <a:t>follows the sequence of :</a:t>
            </a:r>
            <a:r>
              <a:rPr lang="bg-BG" sz="2600" dirty="0">
                <a:latin typeface="Arial" panose="020B0604020202020204" pitchFamily="34" charset="0"/>
                <a:cs typeface="Arial" panose="020B0604020202020204" pitchFamily="34" charset="0"/>
              </a:rPr>
              <a:t> autonomic &gt; sensory &gt; motor</a:t>
            </a:r>
            <a:endParaRPr lang="en-US" sz="2600" dirty="0">
              <a:latin typeface="Arial" panose="020B0604020202020204" pitchFamily="34" charset="0"/>
              <a:cs typeface="Arial" panose="020B0604020202020204" pitchFamily="34" charset="0"/>
            </a:endParaRPr>
          </a:p>
          <a:p>
            <a:endParaRPr lang="en-US" sz="2600"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4431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Calibri" panose="020F0502020204030204" pitchFamily="34" charset="0"/>
                <a:cs typeface="Calibri" panose="020F0502020204030204" pitchFamily="34" charset="0"/>
              </a:rPr>
              <a:t>Essential characteristics of LAs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a:xfrm>
            <a:off x="301752" y="1600200"/>
            <a:ext cx="8503920" cy="4572000"/>
          </a:xfrm>
        </p:spPr>
        <p:txBody>
          <a:bodyPr>
            <a:normAutofit fontScale="70000" lnSpcReduction="20000"/>
          </a:bodyPr>
          <a:lstStyle/>
          <a:p>
            <a:pPr>
              <a:lnSpc>
                <a:spcPct val="150000"/>
              </a:lnSpc>
              <a:buFont typeface="Wingdings" pitchFamily="2" charset="2"/>
              <a:buChar char="v"/>
            </a:pPr>
            <a:r>
              <a:rPr lang="en-US" sz="3400" dirty="0">
                <a:latin typeface="Calibri" panose="020F0502020204030204" pitchFamily="34" charset="0"/>
                <a:cs typeface="Calibri" panose="020F0502020204030204" pitchFamily="34" charset="0"/>
              </a:rPr>
              <a:t>Low toxicity. </a:t>
            </a:r>
          </a:p>
          <a:p>
            <a:pPr>
              <a:lnSpc>
                <a:spcPct val="150000"/>
              </a:lnSpc>
              <a:buFont typeface="Wingdings" pitchFamily="2" charset="2"/>
              <a:buChar char="v"/>
            </a:pPr>
            <a:r>
              <a:rPr lang="en-US" sz="3400" dirty="0">
                <a:latin typeface="Calibri" panose="020F0502020204030204" pitchFamily="34" charset="0"/>
                <a:cs typeface="Calibri" panose="020F0502020204030204" pitchFamily="34" charset="0"/>
              </a:rPr>
              <a:t> Complete reversibility. </a:t>
            </a:r>
          </a:p>
          <a:p>
            <a:pPr>
              <a:lnSpc>
                <a:spcPct val="150000"/>
              </a:lnSpc>
              <a:buFont typeface="Wingdings" pitchFamily="2" charset="2"/>
              <a:buChar char="v"/>
            </a:pPr>
            <a:r>
              <a:rPr lang="en-US" sz="3400" dirty="0">
                <a:latin typeface="Calibri" panose="020F0502020204030204" pitchFamily="34" charset="0"/>
                <a:cs typeface="Calibri" panose="020F0502020204030204" pitchFamily="34" charset="0"/>
              </a:rPr>
              <a:t>Reasonably short latency. </a:t>
            </a:r>
          </a:p>
          <a:p>
            <a:pPr>
              <a:lnSpc>
                <a:spcPct val="150000"/>
              </a:lnSpc>
              <a:buFont typeface="Wingdings" pitchFamily="2" charset="2"/>
              <a:buChar char="v"/>
            </a:pPr>
            <a:r>
              <a:rPr lang="en-US" sz="3400" dirty="0">
                <a:latin typeface="Calibri" panose="020F0502020204030204" pitchFamily="34" charset="0"/>
                <a:cs typeface="Calibri" panose="020F0502020204030204" pitchFamily="34" charset="0"/>
              </a:rPr>
              <a:t> Utility for all types of local analgesia. </a:t>
            </a:r>
          </a:p>
          <a:p>
            <a:pPr>
              <a:lnSpc>
                <a:spcPct val="150000"/>
              </a:lnSpc>
              <a:buFont typeface="Wingdings" pitchFamily="2" charset="2"/>
              <a:buChar char="v"/>
            </a:pPr>
            <a:r>
              <a:rPr lang="en-US" sz="3400" dirty="0">
                <a:latin typeface="Calibri" panose="020F0502020204030204" pitchFamily="34" charset="0"/>
                <a:cs typeface="Calibri" panose="020F0502020204030204" pitchFamily="34" charset="0"/>
              </a:rPr>
              <a:t> Action confined to nerve tissue. </a:t>
            </a:r>
          </a:p>
          <a:p>
            <a:pPr>
              <a:lnSpc>
                <a:spcPct val="150000"/>
              </a:lnSpc>
              <a:buFont typeface="Wingdings" pitchFamily="2" charset="2"/>
              <a:buChar char="v"/>
            </a:pPr>
            <a:r>
              <a:rPr lang="en-US" sz="3400" dirty="0">
                <a:latin typeface="Calibri" panose="020F0502020204030204" pitchFamily="34" charset="0"/>
                <a:cs typeface="Calibri" panose="020F0502020204030204" pitchFamily="34" charset="0"/>
              </a:rPr>
              <a:t> Sufficient long duration of analgesia. </a:t>
            </a:r>
          </a:p>
          <a:p>
            <a:pPr>
              <a:lnSpc>
                <a:spcPct val="150000"/>
              </a:lnSpc>
              <a:buFont typeface="Wingdings" pitchFamily="2" charset="2"/>
              <a:buChar char="v"/>
            </a:pPr>
            <a:r>
              <a:rPr lang="en-US" sz="3400" dirty="0">
                <a:latin typeface="Calibri" panose="020F0502020204030204" pitchFamily="34" charset="0"/>
                <a:cs typeface="Calibri" panose="020F0502020204030204" pitchFamily="34" charset="0"/>
              </a:rPr>
              <a:t> Stability in saline &amp; water. </a:t>
            </a:r>
          </a:p>
          <a:p>
            <a:pPr>
              <a:lnSpc>
                <a:spcPct val="150000"/>
              </a:lnSpc>
              <a:buFont typeface="Wingdings" pitchFamily="2" charset="2"/>
              <a:buChar char="v"/>
            </a:pPr>
            <a:r>
              <a:rPr lang="en-US" sz="3400" dirty="0">
                <a:latin typeface="Calibri" panose="020F0502020204030204" pitchFamily="34" charset="0"/>
                <a:cs typeface="Calibri" panose="020F0502020204030204" pitchFamily="34" charset="0"/>
              </a:rPr>
              <a:t> Heat stability. </a:t>
            </a:r>
          </a:p>
          <a:p>
            <a:pPr>
              <a:buNone/>
            </a:pPr>
            <a:endParaRPr lang="en-US" dirty="0">
              <a:latin typeface="Calibri" panose="020F0502020204030204" pitchFamily="34" charset="0"/>
              <a:cs typeface="Calibri" panose="020F0502020204030204" pitchFamily="34" charset="0"/>
            </a:endParaRPr>
          </a:p>
          <a:p>
            <a:endParaRPr lang="en-US" b="1" dirty="0">
              <a:latin typeface="Calibri" panose="020F0502020204030204" pitchFamily="34" charset="0"/>
              <a:cs typeface="Calibri" panose="020F0502020204030204" pitchFamily="34" charset="0"/>
            </a:endParaRPr>
          </a:p>
          <a:p>
            <a:pPr>
              <a:buNone/>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74558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272" y="304800"/>
            <a:ext cx="8534400" cy="1063752"/>
          </a:xfrm>
        </p:spPr>
        <p:txBody>
          <a:bodyPr>
            <a:normAutofit fontScale="90000"/>
          </a:bodyPr>
          <a:lstStyle/>
          <a:p>
            <a:br>
              <a:rPr lang="en-US" sz="3100" b="1" dirty="0">
                <a:latin typeface="Calibri" panose="020F0502020204030204" pitchFamily="34" charset="0"/>
                <a:cs typeface="Calibri" panose="020F0502020204030204" pitchFamily="34" charset="0"/>
              </a:rPr>
            </a:br>
            <a:br>
              <a:rPr lang="en-US" sz="3100" b="1" dirty="0">
                <a:latin typeface="Calibri" panose="020F0502020204030204" pitchFamily="34" charset="0"/>
                <a:cs typeface="Calibri" panose="020F0502020204030204" pitchFamily="34" charset="0"/>
              </a:rPr>
            </a:br>
            <a:br>
              <a:rPr lang="en-US" sz="3100" b="1" dirty="0">
                <a:latin typeface="Calibri" panose="020F0502020204030204" pitchFamily="34" charset="0"/>
                <a:cs typeface="Calibri" panose="020F0502020204030204" pitchFamily="34" charset="0"/>
              </a:rPr>
            </a:br>
            <a:br>
              <a:rPr lang="en-US" sz="3100" b="1" dirty="0">
                <a:latin typeface="Calibri" panose="020F0502020204030204" pitchFamily="34" charset="0"/>
                <a:cs typeface="Calibri" panose="020F0502020204030204" pitchFamily="34" charset="0"/>
              </a:rPr>
            </a:br>
            <a:br>
              <a:rPr lang="en-US" sz="3100" b="1" dirty="0">
                <a:latin typeface="Calibri" panose="020F0502020204030204" pitchFamily="34" charset="0"/>
                <a:cs typeface="Calibri" panose="020F0502020204030204" pitchFamily="34" charset="0"/>
              </a:rPr>
            </a:br>
            <a:br>
              <a:rPr lang="en-US" sz="3100" b="1" dirty="0">
                <a:latin typeface="Calibri" panose="020F0502020204030204" pitchFamily="34" charset="0"/>
                <a:cs typeface="Calibri" panose="020F0502020204030204" pitchFamily="34" charset="0"/>
              </a:rPr>
            </a:br>
            <a:br>
              <a:rPr lang="en-US" sz="3100" b="1" dirty="0">
                <a:latin typeface="Calibri" panose="020F0502020204030204" pitchFamily="34" charset="0"/>
                <a:cs typeface="Calibri" panose="020F0502020204030204" pitchFamily="34" charset="0"/>
              </a:rPr>
            </a:br>
            <a:br>
              <a:rPr lang="en-US" sz="3100" b="1" dirty="0">
                <a:latin typeface="Calibri" panose="020F0502020204030204" pitchFamily="34" charset="0"/>
                <a:cs typeface="Calibri" panose="020F0502020204030204" pitchFamily="34" charset="0"/>
              </a:rPr>
            </a:br>
            <a:r>
              <a:rPr lang="en-US" sz="3100" b="1" dirty="0">
                <a:latin typeface="Calibri" panose="020F0502020204030204" pitchFamily="34" charset="0"/>
                <a:cs typeface="Calibri" panose="020F0502020204030204" pitchFamily="34" charset="0"/>
              </a:rPr>
              <a:t>Clinical Use Of Local Anesthetics</a:t>
            </a:r>
            <a:br>
              <a:rPr lang="en-US" sz="3100" b="1"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p:txBody>
          <a:bodyPr/>
          <a:lstStyle/>
          <a:p>
            <a:r>
              <a:rPr lang="en-US" sz="2400" dirty="0">
                <a:latin typeface="Calibri" panose="020F0502020204030204" pitchFamily="34" charset="0"/>
                <a:cs typeface="Calibri" panose="020F0502020204030204" pitchFamily="34" charset="0"/>
              </a:rPr>
              <a:t> Used in a variety of ways in clinical anesthesia practice.</a:t>
            </a:r>
          </a:p>
          <a:p>
            <a:pPr lvl="2"/>
            <a:r>
              <a:rPr lang="en-US" sz="2400" dirty="0">
                <a:latin typeface="Calibri" panose="020F0502020204030204" pitchFamily="34" charset="0"/>
                <a:cs typeface="Calibri" panose="020F0502020204030204" pitchFamily="34" charset="0"/>
              </a:rPr>
              <a:t> </a:t>
            </a:r>
            <a:r>
              <a:rPr lang="en-US" sz="2400" b="1" dirty="0">
                <a:latin typeface="Calibri" panose="020F0502020204030204" pitchFamily="34" charset="0"/>
                <a:cs typeface="Calibri" panose="020F0502020204030204" pitchFamily="34" charset="0"/>
              </a:rPr>
              <a:t>For infiltration </a:t>
            </a:r>
            <a:r>
              <a:rPr lang="en-US" sz="2400" dirty="0">
                <a:latin typeface="Calibri" panose="020F0502020204030204" pitchFamily="34" charset="0"/>
                <a:cs typeface="Calibri" panose="020F0502020204030204" pitchFamily="34" charset="0"/>
              </a:rPr>
              <a:t>anesthesia. </a:t>
            </a:r>
          </a:p>
          <a:p>
            <a:pPr lvl="2"/>
            <a:r>
              <a:rPr lang="en-US" sz="2400" dirty="0">
                <a:latin typeface="Calibri" panose="020F0502020204030204" pitchFamily="34" charset="0"/>
                <a:cs typeface="Calibri" panose="020F0502020204030204" pitchFamily="34" charset="0"/>
              </a:rPr>
              <a:t> For </a:t>
            </a:r>
            <a:r>
              <a:rPr lang="en-US" sz="2400" b="1" dirty="0">
                <a:latin typeface="Calibri" panose="020F0502020204030204" pitchFamily="34" charset="0"/>
                <a:cs typeface="Calibri" panose="020F0502020204030204" pitchFamily="34" charset="0"/>
              </a:rPr>
              <a:t>regional anesthesia </a:t>
            </a:r>
            <a:r>
              <a:rPr lang="en-US" sz="2400" dirty="0">
                <a:latin typeface="Calibri" panose="020F0502020204030204" pitchFamily="34" charset="0"/>
                <a:cs typeface="Calibri" panose="020F0502020204030204" pitchFamily="34" charset="0"/>
              </a:rPr>
              <a:t>and </a:t>
            </a:r>
            <a:r>
              <a:rPr lang="en-US" sz="2400" b="1" dirty="0">
                <a:latin typeface="Calibri" panose="020F0502020204030204" pitchFamily="34" charset="0"/>
                <a:cs typeface="Calibri" panose="020F0502020204030204" pitchFamily="34" charset="0"/>
              </a:rPr>
              <a:t>analgesia.</a:t>
            </a:r>
          </a:p>
          <a:p>
            <a:pPr lvl="2"/>
            <a:r>
              <a:rPr lang="en-US" sz="2400" b="1" dirty="0">
                <a:latin typeface="Calibri" panose="020F0502020204030204" pitchFamily="34" charset="0"/>
                <a:cs typeface="Calibri" panose="020F0502020204030204" pitchFamily="34" charset="0"/>
              </a:rPr>
              <a:t>Topical application </a:t>
            </a:r>
            <a:r>
              <a:rPr lang="en-US" sz="2400" dirty="0">
                <a:latin typeface="Calibri" panose="020F0502020204030204" pitchFamily="34" charset="0"/>
                <a:cs typeface="Calibri" panose="020F0502020204030204" pitchFamily="34" charset="0"/>
              </a:rPr>
              <a:t> </a:t>
            </a:r>
          </a:p>
          <a:p>
            <a:pPr lvl="2"/>
            <a:r>
              <a:rPr lang="en-US" sz="2400" dirty="0">
                <a:latin typeface="Calibri" panose="020F0502020204030204" pitchFamily="34" charset="0"/>
                <a:cs typeface="Calibri" panose="020F0502020204030204" pitchFamily="34" charset="0"/>
              </a:rPr>
              <a:t>Peripheral Nerve Blockade</a:t>
            </a:r>
            <a:r>
              <a:rPr lang="en-US" sz="2400" b="1" dirty="0">
                <a:latin typeface="Calibri" panose="020F0502020204030204" pitchFamily="34" charset="0"/>
                <a:cs typeface="Calibri" panose="020F0502020204030204" pitchFamily="34" charset="0"/>
              </a:rPr>
              <a:t> </a:t>
            </a:r>
          </a:p>
          <a:p>
            <a:endParaRPr lang="en-US" sz="2400" b="1"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0442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Amino - ester</a:t>
            </a:r>
          </a:p>
          <a:p>
            <a:endParaRPr lang="en-US" dirty="0"/>
          </a:p>
        </p:txBody>
      </p:sp>
      <p:sp>
        <p:nvSpPr>
          <p:cNvPr id="3" name="Text Placeholder 2"/>
          <p:cNvSpPr>
            <a:spLocks noGrp="1"/>
          </p:cNvSpPr>
          <p:nvPr>
            <p:ph type="body" sz="half" idx="3"/>
          </p:nvPr>
        </p:nvSpPr>
        <p:spPr/>
        <p:txBody>
          <a:bodyPr/>
          <a:lstStyle/>
          <a:p>
            <a:r>
              <a:rPr lang="en-US" dirty="0"/>
              <a:t>Amino Amide </a:t>
            </a:r>
            <a:br>
              <a:rPr lang="en-US" dirty="0"/>
            </a:br>
            <a:endParaRPr lang="en-US" dirty="0"/>
          </a:p>
          <a:p>
            <a:endParaRPr lang="en-US" dirty="0"/>
          </a:p>
        </p:txBody>
      </p:sp>
      <p:sp>
        <p:nvSpPr>
          <p:cNvPr id="4" name="Content Placeholder 3"/>
          <p:cNvSpPr>
            <a:spLocks noGrp="1"/>
          </p:cNvSpPr>
          <p:nvPr>
            <p:ph sz="quarter" idx="2"/>
          </p:nvPr>
        </p:nvSpPr>
        <p:spPr>
          <a:xfrm>
            <a:off x="301752" y="2471383"/>
            <a:ext cx="4194048" cy="3818404"/>
          </a:xfrm>
        </p:spPr>
        <p:txBody>
          <a:bodyPr>
            <a:normAutofit fontScale="92500" lnSpcReduction="20000"/>
          </a:bodyPr>
          <a:lstStyle/>
          <a:p>
            <a:r>
              <a:rPr lang="en-US" sz="2800" dirty="0">
                <a:solidFill>
                  <a:srgbClr val="FF0000"/>
                </a:solidFill>
              </a:rPr>
              <a:t>Cocaine</a:t>
            </a:r>
          </a:p>
          <a:p>
            <a:r>
              <a:rPr lang="en-US" sz="2800" dirty="0">
                <a:solidFill>
                  <a:srgbClr val="FF0000"/>
                </a:solidFill>
              </a:rPr>
              <a:t>Procaine </a:t>
            </a:r>
          </a:p>
          <a:p>
            <a:r>
              <a:rPr lang="en-US" sz="2800" dirty="0">
                <a:solidFill>
                  <a:srgbClr val="FF0000"/>
                </a:solidFill>
              </a:rPr>
              <a:t>Tetracaine (</a:t>
            </a:r>
            <a:r>
              <a:rPr lang="en-US" sz="2800" dirty="0" err="1">
                <a:solidFill>
                  <a:srgbClr val="FF0000"/>
                </a:solidFill>
              </a:rPr>
              <a:t>Pontocaine</a:t>
            </a:r>
            <a:r>
              <a:rPr lang="en-US" sz="2800" dirty="0">
                <a:solidFill>
                  <a:srgbClr val="FF0000"/>
                </a:solidFill>
              </a:rPr>
              <a:t>)</a:t>
            </a:r>
          </a:p>
          <a:p>
            <a:r>
              <a:rPr lang="en-US" sz="2800" dirty="0">
                <a:solidFill>
                  <a:srgbClr val="FF0000"/>
                </a:solidFill>
              </a:rPr>
              <a:t>Benzocaine---</a:t>
            </a:r>
            <a:r>
              <a:rPr lang="en-US" sz="2800" dirty="0">
                <a:latin typeface="Times New Roman" pitchFamily="18" charset="0"/>
                <a:cs typeface="Times New Roman" pitchFamily="18" charset="0"/>
              </a:rPr>
              <a:t>  may result in  </a:t>
            </a:r>
            <a:r>
              <a:rPr lang="en-US" sz="2800" dirty="0" err="1">
                <a:latin typeface="Times New Roman" pitchFamily="18" charset="0"/>
                <a:cs typeface="Times New Roman" pitchFamily="18" charset="0"/>
              </a:rPr>
              <a:t>methemoglobinemia</a:t>
            </a:r>
            <a:endParaRPr lang="en-US" sz="2800" dirty="0">
              <a:solidFill>
                <a:srgbClr val="FF0000"/>
              </a:solidFill>
            </a:endParaRPr>
          </a:p>
          <a:p>
            <a:r>
              <a:rPr lang="en-US" sz="2800" dirty="0">
                <a:solidFill>
                  <a:srgbClr val="FF0000"/>
                </a:solidFill>
              </a:rPr>
              <a:t>Chloroprocaine</a:t>
            </a:r>
          </a:p>
          <a:p>
            <a:r>
              <a:rPr lang="en-US" sz="2800" dirty="0"/>
              <a:t> </a:t>
            </a:r>
            <a:r>
              <a:rPr lang="en-US" sz="2800" dirty="0" err="1"/>
              <a:t>Cyclomethycaine</a:t>
            </a:r>
            <a:endParaRPr lang="en-US" sz="2800" dirty="0"/>
          </a:p>
          <a:p>
            <a:r>
              <a:rPr lang="en-US" sz="2800" dirty="0"/>
              <a:t> </a:t>
            </a:r>
            <a:r>
              <a:rPr lang="en-US" sz="2800" dirty="0" err="1"/>
              <a:t>Dimethocaine</a:t>
            </a:r>
            <a:endParaRPr lang="en-US" sz="2800" dirty="0"/>
          </a:p>
          <a:p>
            <a:r>
              <a:rPr lang="en-US" sz="2800" dirty="0"/>
              <a:t>…</a:t>
            </a:r>
          </a:p>
          <a:p>
            <a:endParaRPr lang="en-US" dirty="0"/>
          </a:p>
        </p:txBody>
      </p:sp>
      <p:sp>
        <p:nvSpPr>
          <p:cNvPr id="5" name="Content Placeholder 4"/>
          <p:cNvSpPr>
            <a:spLocks noGrp="1"/>
          </p:cNvSpPr>
          <p:nvPr>
            <p:ph sz="quarter" idx="4"/>
          </p:nvPr>
        </p:nvSpPr>
        <p:spPr/>
        <p:txBody>
          <a:bodyPr/>
          <a:lstStyle/>
          <a:p>
            <a:r>
              <a:rPr lang="en-US" sz="2400" dirty="0"/>
              <a:t>Lidocaine,</a:t>
            </a:r>
          </a:p>
          <a:p>
            <a:r>
              <a:rPr lang="en-US" sz="2400" dirty="0"/>
              <a:t>Mepivacaine</a:t>
            </a:r>
          </a:p>
          <a:p>
            <a:r>
              <a:rPr lang="en-US" sz="2400" dirty="0"/>
              <a:t> Prilocaine </a:t>
            </a:r>
          </a:p>
          <a:p>
            <a:r>
              <a:rPr lang="en-US" sz="2400" dirty="0"/>
              <a:t>Bupivacaine </a:t>
            </a:r>
          </a:p>
          <a:p>
            <a:r>
              <a:rPr lang="en-US" sz="2400" dirty="0"/>
              <a:t>Ropivacaine</a:t>
            </a:r>
          </a:p>
          <a:p>
            <a:r>
              <a:rPr lang="en-US" sz="2400" dirty="0"/>
              <a:t>Levobupivacaine</a:t>
            </a:r>
          </a:p>
          <a:p>
            <a:r>
              <a:rPr lang="en-US" sz="2400" dirty="0"/>
              <a:t>Etidocaine.</a:t>
            </a:r>
          </a:p>
          <a:p>
            <a:endParaRPr lang="en-US" dirty="0"/>
          </a:p>
        </p:txBody>
      </p:sp>
      <p:sp>
        <p:nvSpPr>
          <p:cNvPr id="6" name="Title 5"/>
          <p:cNvSpPr>
            <a:spLocks noGrp="1"/>
          </p:cNvSpPr>
          <p:nvPr>
            <p:ph type="title"/>
          </p:nvPr>
        </p:nvSpPr>
        <p:spPr/>
        <p:txBody>
          <a:bodyPr/>
          <a:lstStyle/>
          <a:p>
            <a:r>
              <a:rPr lang="en-US" dirty="0">
                <a:solidFill>
                  <a:schemeClr val="tx1"/>
                </a:solidFill>
              </a:rPr>
              <a:t>Classification of LAs</a:t>
            </a:r>
          </a:p>
        </p:txBody>
      </p:sp>
    </p:spTree>
    <p:extLst>
      <p:ext uri="{BB962C8B-B14F-4D97-AF65-F5344CB8AC3E}">
        <p14:creationId xmlns:p14="http://schemas.microsoft.com/office/powerpoint/2010/main" val="3161406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Chemistry of LAs</a:t>
            </a:r>
          </a:p>
        </p:txBody>
      </p:sp>
      <p:sp>
        <p:nvSpPr>
          <p:cNvPr id="3" name="Content Placeholder 2"/>
          <p:cNvSpPr>
            <a:spLocks noGrp="1"/>
          </p:cNvSpPr>
          <p:nvPr>
            <p:ph sz="quarter" idx="1"/>
          </p:nvPr>
        </p:nvSpPr>
        <p:spPr/>
        <p:txBody>
          <a:bodyPr>
            <a:normAutofit/>
          </a:bodyPr>
          <a:lstStyle/>
          <a:p>
            <a:pPr algn="just">
              <a:buFont typeface="Wingdings" pitchFamily="2" charset="2"/>
              <a:buChar char="Ø"/>
            </a:pPr>
            <a:r>
              <a:rPr lang="en-US" sz="2400" dirty="0">
                <a:latin typeface="Calibri" panose="020F0502020204030204" pitchFamily="34" charset="0"/>
                <a:cs typeface="Calibri" panose="020F0502020204030204" pitchFamily="34" charset="0"/>
              </a:rPr>
              <a:t>The basic chemical structure of a LA molecule consists of 3 parts: </a:t>
            </a:r>
          </a:p>
          <a:p>
            <a:pPr lvl="1" algn="just">
              <a:buFont typeface="Courier New" pitchFamily="49" charset="0"/>
              <a:buChar char="o"/>
            </a:pPr>
            <a:r>
              <a:rPr lang="en-US" sz="2400" dirty="0">
                <a:latin typeface="Calibri" panose="020F0502020204030204" pitchFamily="34" charset="0"/>
                <a:cs typeface="Calibri" panose="020F0502020204030204" pitchFamily="34" charset="0"/>
              </a:rPr>
              <a:t> </a:t>
            </a:r>
            <a:r>
              <a:rPr lang="en-US" sz="2400" dirty="0">
                <a:solidFill>
                  <a:srgbClr val="FF0000"/>
                </a:solidFill>
                <a:latin typeface="Calibri" panose="020F0502020204030204" pitchFamily="34" charset="0"/>
                <a:cs typeface="Calibri" panose="020F0502020204030204" pitchFamily="34" charset="0"/>
              </a:rPr>
              <a:t>Lipophilic </a:t>
            </a:r>
            <a:r>
              <a:rPr lang="en-US" sz="2400" dirty="0">
                <a:solidFill>
                  <a:schemeClr val="tx1"/>
                </a:solidFill>
                <a:latin typeface="Calibri" panose="020F0502020204030204" pitchFamily="34" charset="0"/>
                <a:cs typeface="Calibri" panose="020F0502020204030204" pitchFamily="34" charset="0"/>
              </a:rPr>
              <a:t>group- </a:t>
            </a:r>
          </a:p>
          <a:p>
            <a:pPr lvl="2" algn="just">
              <a:buFont typeface="Courier New" pitchFamily="49" charset="0"/>
              <a:buChar char="o"/>
            </a:pPr>
            <a:r>
              <a:rPr lang="en-US" sz="2200" dirty="0">
                <a:solidFill>
                  <a:schemeClr val="tx1"/>
                </a:solidFill>
                <a:latin typeface="Calibri" panose="020F0502020204030204" pitchFamily="34" charset="0"/>
                <a:cs typeface="Calibri" panose="020F0502020204030204" pitchFamily="34" charset="0"/>
              </a:rPr>
              <a:t>an aromatic group, usually an unsaturated benzene ring. </a:t>
            </a:r>
          </a:p>
          <a:p>
            <a:pPr lvl="1" algn="just">
              <a:buFont typeface="Courier New" pitchFamily="49" charset="0"/>
              <a:buChar char="o"/>
            </a:pPr>
            <a:r>
              <a:rPr lang="en-US" sz="2400" dirty="0">
                <a:solidFill>
                  <a:schemeClr val="tx1"/>
                </a:solidFill>
                <a:latin typeface="Calibri" panose="020F0502020204030204" pitchFamily="34" charset="0"/>
                <a:cs typeface="Calibri" panose="020F0502020204030204" pitchFamily="34" charset="0"/>
              </a:rPr>
              <a:t> </a:t>
            </a:r>
            <a:r>
              <a:rPr lang="en-US" sz="2400" dirty="0">
                <a:solidFill>
                  <a:srgbClr val="FF0000"/>
                </a:solidFill>
                <a:latin typeface="Calibri" panose="020F0502020204030204" pitchFamily="34" charset="0"/>
                <a:cs typeface="Calibri" panose="020F0502020204030204" pitchFamily="34" charset="0"/>
              </a:rPr>
              <a:t>Intermediate bond- </a:t>
            </a:r>
            <a:r>
              <a:rPr lang="en-US" sz="2400" dirty="0">
                <a:solidFill>
                  <a:schemeClr val="tx1"/>
                </a:solidFill>
                <a:latin typeface="Calibri" panose="020F0502020204030204" pitchFamily="34" charset="0"/>
                <a:cs typeface="Calibri" panose="020F0502020204030204" pitchFamily="34" charset="0"/>
              </a:rPr>
              <a:t>a hydrocarbon connecting chain,</a:t>
            </a:r>
          </a:p>
          <a:p>
            <a:pPr lvl="2" algn="just">
              <a:buFont typeface="Courier New" pitchFamily="49" charset="0"/>
              <a:buChar char="o"/>
            </a:pPr>
            <a:r>
              <a:rPr lang="en-US" sz="2200" dirty="0">
                <a:solidFill>
                  <a:schemeClr val="tx1"/>
                </a:solidFill>
                <a:latin typeface="Calibri" panose="020F0502020204030204" pitchFamily="34" charset="0"/>
                <a:cs typeface="Calibri" panose="020F0502020204030204" pitchFamily="34" charset="0"/>
              </a:rPr>
              <a:t> either an ester (-CO-) or amide (-HNC-) linkage and determines the classification of LAs</a:t>
            </a:r>
          </a:p>
          <a:p>
            <a:pPr lvl="1" algn="just">
              <a:buFont typeface="Courier New" pitchFamily="49" charset="0"/>
              <a:buChar char="o"/>
            </a:pPr>
            <a:r>
              <a:rPr lang="en-US" sz="2400" dirty="0">
                <a:solidFill>
                  <a:srgbClr val="FF0000"/>
                </a:solidFill>
                <a:latin typeface="Calibri" panose="020F0502020204030204" pitchFamily="34" charset="0"/>
                <a:cs typeface="Calibri" panose="020F0502020204030204" pitchFamily="34" charset="0"/>
              </a:rPr>
              <a:t>Hydrophilic group- </a:t>
            </a:r>
            <a:r>
              <a:rPr lang="en-US" sz="2400" dirty="0">
                <a:solidFill>
                  <a:schemeClr val="tx1"/>
                </a:solidFill>
                <a:latin typeface="Calibri" panose="020F0502020204030204" pitchFamily="34" charset="0"/>
                <a:cs typeface="Calibri" panose="020F0502020204030204" pitchFamily="34" charset="0"/>
              </a:rPr>
              <a:t>a tertiary amine and proton acceptor</a:t>
            </a:r>
            <a:r>
              <a:rPr lang="en-US" sz="2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767450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pic>
        <p:nvPicPr>
          <p:cNvPr id="4" name="Picture 2" descr="LA structure pic"/>
          <p:cNvPicPr>
            <a:picLocks noGrp="1" noChangeAspect="1" noChangeArrowheads="1"/>
          </p:cNvPicPr>
          <p:nvPr>
            <p:ph sz="quarter" idx="1"/>
          </p:nvPr>
        </p:nvPicPr>
        <p:blipFill>
          <a:blip r:embed="rId2"/>
          <a:srcRect/>
          <a:stretch>
            <a:fillRect/>
          </a:stretch>
        </p:blipFill>
        <p:spPr bwMode="auto">
          <a:xfrm>
            <a:off x="381000" y="1371600"/>
            <a:ext cx="8610600" cy="4876800"/>
          </a:xfrm>
          <a:prstGeom prst="rect">
            <a:avLst/>
          </a:prstGeom>
          <a:noFill/>
          <a:ln w="9525">
            <a:noFill/>
            <a:miter lim="800000"/>
            <a:headEnd/>
            <a:tailEnd/>
          </a:ln>
        </p:spPr>
      </p:pic>
    </p:spTree>
    <p:extLst>
      <p:ext uri="{BB962C8B-B14F-4D97-AF65-F5344CB8AC3E}">
        <p14:creationId xmlns:p14="http://schemas.microsoft.com/office/powerpoint/2010/main" val="151456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BBC4D-B450-031B-E2F9-501E7E482DED}"/>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Pharmacokinetics of LAs</a:t>
            </a:r>
          </a:p>
        </p:txBody>
      </p:sp>
      <p:sp>
        <p:nvSpPr>
          <p:cNvPr id="3" name="Content Placeholder 2">
            <a:extLst>
              <a:ext uri="{FF2B5EF4-FFF2-40B4-BE49-F238E27FC236}">
                <a16:creationId xmlns:a16="http://schemas.microsoft.com/office/drawing/2014/main" id="{A5B07D2A-F89E-8E8A-ADD4-8EBFA1FE9115}"/>
              </a:ext>
            </a:extLst>
          </p:cNvPr>
          <p:cNvSpPr>
            <a:spLocks noGrp="1"/>
          </p:cNvSpPr>
          <p:nvPr>
            <p:ph sz="quarter" idx="1"/>
          </p:nvPr>
        </p:nvSpPr>
        <p:spPr/>
        <p:txBody>
          <a:bodyPr>
            <a:normAutofit/>
          </a:bodyPr>
          <a:lstStyle/>
          <a:p>
            <a:r>
              <a:rPr lang="en-US" sz="2400" b="0" i="0" u="none" strike="noStrike" baseline="0" dirty="0">
                <a:solidFill>
                  <a:srgbClr val="000000"/>
                </a:solidFill>
                <a:latin typeface="Calibri" panose="020F0502020204030204" pitchFamily="34" charset="0"/>
                <a:cs typeface="Calibri" panose="020F0502020204030204" pitchFamily="34" charset="0"/>
              </a:rPr>
              <a:t>The concentration of LAs in blood is determined by</a:t>
            </a:r>
          </a:p>
          <a:p>
            <a:pPr lvl="2"/>
            <a:r>
              <a:rPr lang="en-US" sz="2200" b="0" i="0" u="none" strike="noStrike" baseline="0" dirty="0">
                <a:solidFill>
                  <a:srgbClr val="000000"/>
                </a:solidFill>
                <a:latin typeface="Calibri" panose="020F0502020204030204" pitchFamily="34" charset="0"/>
                <a:cs typeface="Calibri" panose="020F0502020204030204" pitchFamily="34" charset="0"/>
              </a:rPr>
              <a:t> the amount injected, </a:t>
            </a:r>
          </a:p>
          <a:p>
            <a:pPr lvl="2"/>
            <a:r>
              <a:rPr lang="en-US" sz="2200" b="0" i="0" u="none" strike="noStrike" baseline="0" dirty="0">
                <a:solidFill>
                  <a:srgbClr val="000000"/>
                </a:solidFill>
                <a:latin typeface="Calibri" panose="020F0502020204030204" pitchFamily="34" charset="0"/>
                <a:cs typeface="Calibri" panose="020F0502020204030204" pitchFamily="34" charset="0"/>
              </a:rPr>
              <a:t>the rate of absorption from the site of injection,</a:t>
            </a:r>
          </a:p>
          <a:p>
            <a:pPr lvl="2"/>
            <a:r>
              <a:rPr lang="en-US" sz="2200" b="0" i="0" u="none" strike="noStrike" baseline="0" dirty="0">
                <a:solidFill>
                  <a:srgbClr val="000000"/>
                </a:solidFill>
                <a:latin typeface="Calibri" panose="020F0502020204030204" pitchFamily="34" charset="0"/>
                <a:cs typeface="Calibri" panose="020F0502020204030204" pitchFamily="34" charset="0"/>
              </a:rPr>
              <a:t> the rate of tissue distribution, and</a:t>
            </a:r>
          </a:p>
          <a:p>
            <a:pPr lvl="2"/>
            <a:r>
              <a:rPr lang="en-US" sz="2200" b="0" i="0" u="none" strike="noStrike" baseline="0" dirty="0">
                <a:solidFill>
                  <a:srgbClr val="000000"/>
                </a:solidFill>
                <a:latin typeface="Calibri" panose="020F0502020204030204" pitchFamily="34" charset="0"/>
                <a:cs typeface="Calibri" panose="020F0502020204030204" pitchFamily="34" charset="0"/>
              </a:rPr>
              <a:t> the rate of biotransformation and excretion</a:t>
            </a:r>
          </a:p>
          <a:p>
            <a:pPr marL="274320" lvl="1">
              <a:buClr>
                <a:schemeClr val="accent1"/>
              </a:buClr>
              <a:buSzPct val="85000"/>
              <a:buFont typeface="Wingdings 2"/>
              <a:buChar char=""/>
            </a:pPr>
            <a:r>
              <a:rPr lang="en-US" sz="2400" dirty="0">
                <a:solidFill>
                  <a:srgbClr val="000000"/>
                </a:solidFill>
                <a:latin typeface="Calibri" panose="020F0502020204030204" pitchFamily="34" charset="0"/>
                <a:cs typeface="Calibri" panose="020F0502020204030204" pitchFamily="34" charset="0"/>
              </a:rPr>
              <a:t>Patient-related factors such as </a:t>
            </a:r>
          </a:p>
          <a:p>
            <a:pPr marL="548640" lvl="2">
              <a:buClr>
                <a:schemeClr val="accent1"/>
              </a:buClr>
              <a:buSzPct val="85000"/>
              <a:buFont typeface="Wingdings 2"/>
              <a:buChar char=""/>
            </a:pPr>
            <a:r>
              <a:rPr lang="en-US" sz="2200" dirty="0">
                <a:solidFill>
                  <a:srgbClr val="000000"/>
                </a:solidFill>
                <a:latin typeface="Calibri" panose="020F0502020204030204" pitchFamily="34" charset="0"/>
                <a:cs typeface="Calibri" panose="020F0502020204030204" pitchFamily="34" charset="0"/>
              </a:rPr>
              <a:t>age, cardiovascular status, and hepatic function influence the physiologic disposition and resultant blood concentration of LAs.</a:t>
            </a:r>
          </a:p>
        </p:txBody>
      </p:sp>
    </p:spTree>
    <p:extLst>
      <p:ext uri="{BB962C8B-B14F-4D97-AF65-F5344CB8AC3E}">
        <p14:creationId xmlns:p14="http://schemas.microsoft.com/office/powerpoint/2010/main" val="3507178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50838"/>
            <a:ext cx="8229600" cy="715962"/>
          </a:xfrm>
        </p:spPr>
        <p:txBody>
          <a:bodyPr>
            <a:normAutofit fontScale="90000"/>
          </a:bodyPr>
          <a:lstStyle/>
          <a:p>
            <a:r>
              <a:rPr lang="en-US" b="1" cap="all" dirty="0">
                <a:latin typeface="Calibri" panose="020F0502020204030204" pitchFamily="34" charset="0"/>
                <a:cs typeface="Calibri" panose="020F0502020204030204" pitchFamily="34" charset="0"/>
              </a:rPr>
              <a:t> </a:t>
            </a:r>
            <a:br>
              <a:rPr lang="bg-BG" b="1" cap="all" dirty="0">
                <a:latin typeface="Calibri" panose="020F0502020204030204" pitchFamily="34" charset="0"/>
                <a:cs typeface="Calibri" panose="020F0502020204030204" pitchFamily="34" charset="0"/>
              </a:rPr>
            </a:br>
            <a:r>
              <a:rPr lang="bg-BG" b="1" dirty="0">
                <a:latin typeface="Calibri" panose="020F0502020204030204" pitchFamily="34" charset="0"/>
                <a:cs typeface="Calibri" panose="020F0502020204030204" pitchFamily="34" charset="0"/>
              </a:rPr>
              <a:t>Pharmacokinetics</a:t>
            </a:r>
            <a:r>
              <a:rPr lang="en-US" b="1" dirty="0">
                <a:latin typeface="Calibri" panose="020F0502020204030204" pitchFamily="34" charset="0"/>
                <a:cs typeface="Calibri" panose="020F0502020204030204" pitchFamily="34" charset="0"/>
              </a:rPr>
              <a:t> of LAs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a:xfrm>
            <a:off x="457200" y="1066800"/>
            <a:ext cx="8229600" cy="5059363"/>
          </a:xfrm>
        </p:spPr>
        <p:txBody>
          <a:bodyPr>
            <a:normAutofit/>
          </a:bodyPr>
          <a:lstStyle/>
          <a:p>
            <a:pPr algn="ctr">
              <a:buNone/>
            </a:pPr>
            <a:endParaRPr lang="en-US" b="1" dirty="0">
              <a:latin typeface="Calibri" panose="020F0502020204030204" pitchFamily="34" charset="0"/>
              <a:cs typeface="Calibri" panose="020F0502020204030204" pitchFamily="34" charset="0"/>
            </a:endParaRPr>
          </a:p>
          <a:p>
            <a:pPr>
              <a:buFont typeface="Wingdings" panose="05000000000000000000" pitchFamily="2" charset="2"/>
              <a:buChar char="q"/>
            </a:pPr>
            <a:r>
              <a:rPr lang="en-US" b="1" dirty="0">
                <a:latin typeface="Calibri" panose="020F0502020204030204" pitchFamily="34" charset="0"/>
                <a:cs typeface="Calibri" panose="020F0502020204030204" pitchFamily="34" charset="0"/>
              </a:rPr>
              <a:t>Absorption</a:t>
            </a:r>
          </a:p>
          <a:p>
            <a:r>
              <a:rPr lang="bg-BG" sz="2400" b="1" dirty="0">
                <a:latin typeface="Calibri" panose="020F0502020204030204" pitchFamily="34" charset="0"/>
                <a:cs typeface="Calibri" panose="020F0502020204030204" pitchFamily="34" charset="0"/>
              </a:rPr>
              <a:t>Systemic absorption </a:t>
            </a:r>
            <a:r>
              <a:rPr lang="bg-BG" sz="2400" dirty="0">
                <a:latin typeface="Calibri" panose="020F0502020204030204" pitchFamily="34" charset="0"/>
                <a:cs typeface="Calibri" panose="020F0502020204030204" pitchFamily="34" charset="0"/>
              </a:rPr>
              <a:t>depends on blood flow</a:t>
            </a:r>
            <a:r>
              <a:rPr lang="en-US" sz="2400" dirty="0">
                <a:latin typeface="Calibri" panose="020F0502020204030204" pitchFamily="34" charset="0"/>
                <a:cs typeface="Calibri" panose="020F0502020204030204" pitchFamily="34" charset="0"/>
              </a:rPr>
              <a:t> to the injected area. </a:t>
            </a:r>
          </a:p>
          <a:p>
            <a:r>
              <a:rPr lang="en-US" sz="2400" dirty="0">
                <a:latin typeface="Calibri" panose="020F0502020204030204" pitchFamily="34" charset="0"/>
                <a:cs typeface="Calibri" panose="020F0502020204030204" pitchFamily="34" charset="0"/>
              </a:rPr>
              <a:t>The systemic absorption of local anesthetics is determined by:</a:t>
            </a:r>
          </a:p>
          <a:p>
            <a:pPr>
              <a:buFont typeface="Wingdings" panose="05000000000000000000" pitchFamily="2" charset="2"/>
              <a:buChar char="Ø"/>
            </a:pPr>
            <a:r>
              <a:rPr lang="bg-BG" sz="2400" b="1" dirty="0">
                <a:latin typeface="Calibri" panose="020F0502020204030204" pitchFamily="34" charset="0"/>
                <a:cs typeface="Calibri" panose="020F0502020204030204" pitchFamily="34" charset="0"/>
              </a:rPr>
              <a:t>Site of Injection</a:t>
            </a:r>
            <a:endParaRPr lang="en-US" sz="2400" b="1" dirty="0">
              <a:latin typeface="Calibri" panose="020F0502020204030204" pitchFamily="34" charset="0"/>
              <a:cs typeface="Calibri" panose="020F0502020204030204" pitchFamily="34" charset="0"/>
            </a:endParaRPr>
          </a:p>
          <a:p>
            <a:pPr lvl="2">
              <a:buFont typeface="Arial" panose="020B0604020202020204" pitchFamily="34" charset="0"/>
              <a:buChar char="•"/>
            </a:pPr>
            <a:r>
              <a:rPr lang="en-US" b="1" dirty="0">
                <a:latin typeface="Calibri" panose="020F0502020204030204" pitchFamily="34" charset="0"/>
                <a:cs typeface="Calibri" panose="020F0502020204030204" pitchFamily="34" charset="0"/>
              </a:rPr>
              <a:t> </a:t>
            </a:r>
            <a:r>
              <a:rPr lang="en-US" sz="2200" b="1" dirty="0">
                <a:latin typeface="Calibri" panose="020F0502020204030204" pitchFamily="34" charset="0"/>
                <a:cs typeface="Calibri" panose="020F0502020204030204" pitchFamily="34" charset="0"/>
              </a:rPr>
              <a:t>T</a:t>
            </a:r>
            <a:r>
              <a:rPr lang="en-US" sz="2200" dirty="0">
                <a:latin typeface="Calibri" panose="020F0502020204030204" pitchFamily="34" charset="0"/>
                <a:cs typeface="Calibri" panose="020F0502020204030204" pitchFamily="34" charset="0"/>
              </a:rPr>
              <a:t>he rate is proportional to vascularity of  the site of injection</a:t>
            </a:r>
          </a:p>
          <a:p>
            <a:pPr lvl="3">
              <a:buFont typeface="Wingdings" pitchFamily="2" charset="2"/>
              <a:buChar char="§"/>
            </a:pPr>
            <a:r>
              <a:rPr lang="bg-BG" dirty="0">
                <a:latin typeface="Calibri" panose="020F0502020204030204" pitchFamily="34" charset="0"/>
                <a:cs typeface="Calibri" panose="020F0502020204030204" pitchFamily="34" charset="0"/>
              </a:rPr>
              <a:t> </a:t>
            </a:r>
            <a:r>
              <a:rPr lang="bg-BG" sz="2200" dirty="0">
                <a:latin typeface="Calibri" panose="020F0502020204030204" pitchFamily="34" charset="0"/>
                <a:cs typeface="Calibri" panose="020F0502020204030204" pitchFamily="34" charset="0"/>
              </a:rPr>
              <a:t>intravenous &gt; tracheal &gt; intercostal &gt; caudal &gt; paracervical &gt; epidural &gt; brachial plexus &gt; sciatic &gt; subcutaneous.</a:t>
            </a:r>
            <a:endParaRPr lang="en-US" sz="2200" dirty="0">
              <a:latin typeface="Calibri" panose="020F0502020204030204" pitchFamily="34" charset="0"/>
              <a:cs typeface="Calibri" panose="020F0502020204030204" pitchFamily="34" charset="0"/>
            </a:endParaRPr>
          </a:p>
          <a:p>
            <a:pPr lvl="1">
              <a:buFont typeface="Wingdings" pitchFamily="2" charset="2"/>
              <a:buChar char="§"/>
            </a:pPr>
            <a:r>
              <a:rPr lang="en-US" b="1"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LAs </a:t>
            </a:r>
            <a:r>
              <a:rPr lang="bg-BG" dirty="0">
                <a:latin typeface="Calibri" panose="020F0502020204030204" pitchFamily="34" charset="0"/>
                <a:cs typeface="Calibri" panose="020F0502020204030204" pitchFamily="34" charset="0"/>
              </a:rPr>
              <a:t>that are highly tissue bound are more slowly absorbed</a:t>
            </a:r>
            <a:r>
              <a:rPr lang="en-US" dirty="0">
                <a:latin typeface="Calibri" panose="020F0502020204030204" pitchFamily="34" charset="0"/>
                <a:cs typeface="Calibri" panose="020F0502020204030204" pitchFamily="34"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all" dirty="0">
                <a:latin typeface="Calibri" panose="020F0502020204030204" pitchFamily="34" charset="0"/>
                <a:cs typeface="Calibri" panose="020F0502020204030204" pitchFamily="34" charset="0"/>
              </a:rPr>
              <a:t> </a:t>
            </a:r>
            <a:br>
              <a:rPr lang="bg-BG" b="1" cap="all" dirty="0">
                <a:latin typeface="Calibri" panose="020F0502020204030204" pitchFamily="34" charset="0"/>
                <a:cs typeface="Calibri" panose="020F0502020204030204" pitchFamily="34" charset="0"/>
              </a:rPr>
            </a:br>
            <a:r>
              <a:rPr lang="bg-BG" b="1" dirty="0">
                <a:latin typeface="Calibri" panose="020F0502020204030204" pitchFamily="34" charset="0"/>
                <a:cs typeface="Calibri" panose="020F0502020204030204" pitchFamily="34" charset="0"/>
              </a:rPr>
              <a:t>Pharmacokinetics</a:t>
            </a:r>
            <a:r>
              <a:rPr lang="en-US" b="1" dirty="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p:txBody>
          <a:bodyPr>
            <a:normAutofit/>
          </a:bodyPr>
          <a:lstStyle/>
          <a:p>
            <a:pPr>
              <a:buFont typeface="Wingdings" pitchFamily="2" charset="2"/>
              <a:buChar char="Ø"/>
            </a:pPr>
            <a:r>
              <a:rPr lang="en-US" sz="2400" b="1" dirty="0">
                <a:latin typeface="Calibri" panose="020F0502020204030204" pitchFamily="34" charset="0"/>
                <a:cs typeface="Calibri" panose="020F0502020204030204" pitchFamily="34" charset="0"/>
              </a:rPr>
              <a:t> </a:t>
            </a:r>
            <a:r>
              <a:rPr lang="bg-BG" sz="2400" b="1" dirty="0">
                <a:latin typeface="Calibri" panose="020F0502020204030204" pitchFamily="34" charset="0"/>
                <a:cs typeface="Calibri" panose="020F0502020204030204" pitchFamily="34" charset="0"/>
              </a:rPr>
              <a:t>Presence of Vasoconstrictors</a:t>
            </a:r>
          </a:p>
          <a:p>
            <a:pPr lvl="1">
              <a:lnSpc>
                <a:spcPct val="150000"/>
              </a:lnSpc>
            </a:pPr>
            <a:r>
              <a:rPr lang="bg-BG" dirty="0">
                <a:latin typeface="Calibri" panose="020F0502020204030204" pitchFamily="34" charset="0"/>
                <a:cs typeface="Calibri" panose="020F0502020204030204" pitchFamily="34" charset="0"/>
              </a:rPr>
              <a:t>The addition of </a:t>
            </a:r>
            <a:r>
              <a:rPr lang="en-US" dirty="0">
                <a:latin typeface="Calibri" panose="020F0502020204030204" pitchFamily="34" charset="0"/>
                <a:cs typeface="Calibri" panose="020F0502020204030204" pitchFamily="34" charset="0"/>
              </a:rPr>
              <a:t>vasoconstrictors </a:t>
            </a:r>
            <a:r>
              <a:rPr lang="bg-BG" dirty="0">
                <a:latin typeface="Calibri" panose="020F0502020204030204" pitchFamily="34" charset="0"/>
                <a:cs typeface="Calibri" panose="020F0502020204030204" pitchFamily="34" charset="0"/>
              </a:rPr>
              <a:t>causes vasoconstriction at the site of administration</a:t>
            </a:r>
            <a:r>
              <a:rPr lang="en-US" dirty="0">
                <a:latin typeface="Calibri" panose="020F0502020204030204" pitchFamily="34" charset="0"/>
                <a:cs typeface="Calibri" panose="020F0502020204030204" pitchFamily="34" charset="0"/>
              </a:rPr>
              <a:t>.</a:t>
            </a:r>
          </a:p>
          <a:p>
            <a:pPr lvl="2">
              <a:lnSpc>
                <a:spcPct val="150000"/>
              </a:lnSpc>
            </a:pPr>
            <a:r>
              <a:rPr lang="bg-BG" dirty="0">
                <a:latin typeface="Calibri" panose="020F0502020204030204" pitchFamily="34" charset="0"/>
                <a:cs typeface="Calibri" panose="020F0502020204030204" pitchFamily="34" charset="0"/>
              </a:rPr>
              <a:t>The consequent decreased absorption</a:t>
            </a:r>
            <a:r>
              <a:rPr lang="en-US" dirty="0">
                <a:latin typeface="Calibri" panose="020F0502020204030204" pitchFamily="34" charset="0"/>
                <a:cs typeface="Calibri" panose="020F0502020204030204" pitchFamily="34" charset="0"/>
              </a:rPr>
              <a:t> </a:t>
            </a:r>
            <a:r>
              <a:rPr lang="bg-BG" dirty="0">
                <a:latin typeface="Calibri" panose="020F0502020204030204" pitchFamily="34" charset="0"/>
                <a:cs typeface="Calibri" panose="020F0502020204030204" pitchFamily="34" charset="0"/>
              </a:rPr>
              <a:t>increases neuronal uptake</a:t>
            </a:r>
            <a:r>
              <a:rPr lang="en-US" dirty="0">
                <a:latin typeface="Calibri" panose="020F0502020204030204" pitchFamily="34" charset="0"/>
                <a:cs typeface="Calibri" panose="020F0502020204030204" pitchFamily="34" charset="0"/>
              </a:rPr>
              <a:t>, </a:t>
            </a:r>
          </a:p>
          <a:p>
            <a:pPr lvl="3">
              <a:lnSpc>
                <a:spcPct val="150000"/>
              </a:lnSpc>
            </a:pPr>
            <a:r>
              <a:rPr lang="en-US" dirty="0">
                <a:latin typeface="Calibri" panose="020F0502020204030204" pitchFamily="34" charset="0"/>
                <a:cs typeface="Calibri" panose="020F0502020204030204" pitchFamily="34" charset="0"/>
              </a:rPr>
              <a:t>there by:</a:t>
            </a:r>
          </a:p>
          <a:p>
            <a:pPr lvl="3">
              <a:lnSpc>
                <a:spcPct val="150000"/>
              </a:lnSpc>
              <a:buFont typeface="Arial" panose="020B0604020202020204" pitchFamily="34" charset="0"/>
              <a:buChar char="•"/>
            </a:pPr>
            <a:r>
              <a:rPr lang="bg-BG" dirty="0">
                <a:latin typeface="Calibri" panose="020F0502020204030204" pitchFamily="34" charset="0"/>
                <a:cs typeface="Calibri" panose="020F0502020204030204" pitchFamily="34" charset="0"/>
              </a:rPr>
              <a:t> enhances the quality of analgesia</a:t>
            </a:r>
            <a:r>
              <a:rPr lang="en-US" dirty="0">
                <a:latin typeface="Calibri" panose="020F0502020204030204" pitchFamily="34" charset="0"/>
                <a:cs typeface="Calibri" panose="020F0502020204030204" pitchFamily="34" charset="0"/>
              </a:rPr>
              <a:t> (</a:t>
            </a:r>
            <a:r>
              <a:rPr lang="en-US" sz="2000" b="0" i="0" u="none" strike="noStrike" baseline="0" dirty="0">
                <a:latin typeface="Calibri" panose="020F0502020204030204" pitchFamily="34" charset="0"/>
                <a:cs typeface="Calibri" panose="020F0502020204030204" pitchFamily="34" charset="0"/>
              </a:rPr>
              <a:t>increased intensity of block</a:t>
            </a:r>
            <a:r>
              <a:rPr lang="en-US" dirty="0">
                <a:latin typeface="Calibri" panose="020F0502020204030204" pitchFamily="34" charset="0"/>
                <a:cs typeface="Calibri" panose="020F0502020204030204" pitchFamily="34" charset="0"/>
              </a:rPr>
              <a:t> )</a:t>
            </a:r>
            <a:r>
              <a:rPr lang="bg-BG" dirty="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a:p>
            <a:pPr lvl="3">
              <a:lnSpc>
                <a:spcPct val="150000"/>
              </a:lnSpc>
              <a:buFont typeface="Arial" panose="020B0604020202020204" pitchFamily="34" charset="0"/>
              <a:buChar char="•"/>
            </a:pPr>
            <a:r>
              <a:rPr lang="bg-BG" dirty="0">
                <a:latin typeface="Calibri" panose="020F0502020204030204" pitchFamily="34" charset="0"/>
                <a:cs typeface="Calibri" panose="020F0502020204030204" pitchFamily="34" charset="0"/>
              </a:rPr>
              <a:t> prolongs the duration of action, and </a:t>
            </a:r>
            <a:endParaRPr lang="en-US" dirty="0">
              <a:latin typeface="Calibri" panose="020F0502020204030204" pitchFamily="34" charset="0"/>
              <a:cs typeface="Calibri" panose="020F0502020204030204" pitchFamily="34" charset="0"/>
            </a:endParaRPr>
          </a:p>
          <a:p>
            <a:pPr lvl="3">
              <a:lnSpc>
                <a:spcPct val="150000"/>
              </a:lnSpc>
              <a:buFont typeface="Arial" panose="020B0604020202020204" pitchFamily="34" charset="0"/>
              <a:buChar char="•"/>
            </a:pPr>
            <a:r>
              <a:rPr lang="bg-BG" dirty="0">
                <a:latin typeface="Calibri" panose="020F0502020204030204" pitchFamily="34" charset="0"/>
                <a:cs typeface="Calibri" panose="020F0502020204030204" pitchFamily="34" charset="0"/>
              </a:rPr>
              <a:t>limits toxic side effects</a:t>
            </a:r>
            <a:r>
              <a:rPr lang="en-US" dirty="0">
                <a:latin typeface="Calibri" panose="020F0502020204030204" pitchFamily="34" charset="0"/>
                <a:cs typeface="Calibri" panose="020F0502020204030204" pitchFamily="34" charset="0"/>
              </a:rPr>
              <a:t> by decreased systemic absorption of LA</a:t>
            </a:r>
          </a:p>
          <a:p>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all" dirty="0">
                <a:latin typeface="Calibri" panose="020F0502020204030204" pitchFamily="34" charset="0"/>
                <a:cs typeface="Calibri" panose="020F0502020204030204" pitchFamily="34" charset="0"/>
              </a:rPr>
              <a:t> </a:t>
            </a:r>
            <a:br>
              <a:rPr lang="bg-BG" b="1" cap="all" dirty="0">
                <a:latin typeface="Calibri" panose="020F0502020204030204" pitchFamily="34" charset="0"/>
                <a:cs typeface="Calibri" panose="020F0502020204030204" pitchFamily="34" charset="0"/>
              </a:rPr>
            </a:br>
            <a:r>
              <a:rPr lang="bg-BG" b="1" dirty="0">
                <a:latin typeface="Calibri" panose="020F0502020204030204" pitchFamily="34" charset="0"/>
                <a:cs typeface="Calibri" panose="020F0502020204030204" pitchFamily="34" charset="0"/>
              </a:rPr>
              <a:t>Pharmacokinetics</a:t>
            </a:r>
            <a:r>
              <a:rPr lang="en-US" b="1" dirty="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p:txBody>
          <a:bodyPr/>
          <a:lstStyle/>
          <a:p>
            <a:pPr>
              <a:buFont typeface="Wingdings" pitchFamily="2" charset="2"/>
              <a:buChar char="Ø"/>
            </a:pPr>
            <a:r>
              <a:rPr lang="en-US" sz="2400" dirty="0">
                <a:latin typeface="Calibri" panose="020F0502020204030204" pitchFamily="34" charset="0"/>
                <a:cs typeface="Calibri" panose="020F0502020204030204" pitchFamily="34" charset="0"/>
              </a:rPr>
              <a:t>Dose and volume</a:t>
            </a:r>
          </a:p>
          <a:p>
            <a:pPr lvl="2"/>
            <a:r>
              <a:rPr lang="en-US" dirty="0">
                <a:latin typeface="Calibri" panose="020F0502020204030204" pitchFamily="34" charset="0"/>
                <a:cs typeface="Calibri" panose="020F0502020204030204" pitchFamily="34" charset="0"/>
              </a:rPr>
              <a:t>For a given site of injection, the rate of systemic absorption and the peak plasma level are directly proportional to the dose of LA deposited. </a:t>
            </a:r>
          </a:p>
          <a:p>
            <a:pPr>
              <a:buFont typeface="Wingdings" pitchFamily="2" charset="2"/>
              <a:buChar char="Ø"/>
            </a:pPr>
            <a:r>
              <a:rPr lang="en-US" dirty="0">
                <a:latin typeface="Calibri" panose="020F0502020204030204" pitchFamily="34" charset="0"/>
                <a:cs typeface="Calibri" panose="020F0502020204030204" pitchFamily="34" charset="0"/>
              </a:rPr>
              <a:t> Pharmacologic profile of the local anesthetic</a:t>
            </a:r>
            <a:endParaRPr lang="bg-BG" dirty="0">
              <a:latin typeface="Calibri" panose="020F0502020204030204" pitchFamily="34" charset="0"/>
              <a:cs typeface="Calibri" panose="020F0502020204030204" pitchFamily="34" charset="0"/>
            </a:endParaRPr>
          </a:p>
          <a:p>
            <a:pPr lvl="1"/>
            <a:r>
              <a:rPr lang="en-US" dirty="0">
                <a:latin typeface="Calibri" panose="020F0502020204030204" pitchFamily="34" charset="0"/>
                <a:cs typeface="Calibri" panose="020F0502020204030204" pitchFamily="34" charset="0"/>
              </a:rPr>
              <a:t>More lipid-soluble local anesthetics that are highly tissue bound are also more slowly absorbed.</a:t>
            </a:r>
          </a:p>
        </p:txBody>
      </p:sp>
    </p:spTree>
    <p:extLst>
      <p:ext uri="{BB962C8B-B14F-4D97-AF65-F5344CB8AC3E}">
        <p14:creationId xmlns:p14="http://schemas.microsoft.com/office/powerpoint/2010/main" val="673553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524000"/>
            <a:ext cx="8458200" cy="4953000"/>
          </a:xfrm>
        </p:spPr>
        <p:txBody>
          <a:bodyPr>
            <a:normAutofit fontScale="85000" lnSpcReduction="20000"/>
          </a:bodyPr>
          <a:lstStyle/>
          <a:p>
            <a:pPr algn="just">
              <a:buFont typeface="Wingdings" panose="05000000000000000000" pitchFamily="2" charset="2"/>
              <a:buChar char="q"/>
            </a:pPr>
            <a:r>
              <a:rPr lang="en-US" b="1" cap="all" dirty="0">
                <a:latin typeface="Calibri" panose="020F0502020204030204" pitchFamily="34" charset="0"/>
                <a:cs typeface="Calibri" panose="020F0502020204030204" pitchFamily="34" charset="0"/>
              </a:rPr>
              <a:t>Distribution</a:t>
            </a:r>
          </a:p>
          <a:p>
            <a:pPr>
              <a:lnSpc>
                <a:spcPct val="150000"/>
              </a:lnSpc>
            </a:pPr>
            <a:r>
              <a:rPr lang="en-US" dirty="0">
                <a:latin typeface="Calibri" panose="020F0502020204030204" pitchFamily="34" charset="0"/>
                <a:cs typeface="Calibri" panose="020F0502020204030204" pitchFamily="34" charset="0"/>
              </a:rPr>
              <a:t>D</a:t>
            </a:r>
            <a:r>
              <a:rPr lang="bg-BG" dirty="0">
                <a:latin typeface="Calibri" panose="020F0502020204030204" pitchFamily="34" charset="0"/>
                <a:cs typeface="Calibri" panose="020F0502020204030204" pitchFamily="34" charset="0"/>
              </a:rPr>
              <a:t>epends on organ uptake, </a:t>
            </a:r>
            <a:r>
              <a:rPr lang="en-US" dirty="0">
                <a:latin typeface="Calibri" panose="020F0502020204030204" pitchFamily="34" charset="0"/>
                <a:cs typeface="Calibri" panose="020F0502020204030204" pitchFamily="34" charset="0"/>
              </a:rPr>
              <a:t>predominantly </a:t>
            </a:r>
            <a:r>
              <a:rPr lang="bg-BG" dirty="0">
                <a:latin typeface="Calibri" panose="020F0502020204030204" pitchFamily="34" charset="0"/>
                <a:cs typeface="Calibri" panose="020F0502020204030204" pitchFamily="34" charset="0"/>
              </a:rPr>
              <a:t>determined by</a:t>
            </a:r>
            <a:r>
              <a:rPr lang="en-US" dirty="0">
                <a:latin typeface="Calibri" panose="020F0502020204030204" pitchFamily="34" charset="0"/>
                <a:cs typeface="Calibri" panose="020F0502020204030204" pitchFamily="34" charset="0"/>
              </a:rPr>
              <a:t>;</a:t>
            </a:r>
          </a:p>
          <a:p>
            <a:pPr>
              <a:lnSpc>
                <a:spcPct val="150000"/>
              </a:lnSpc>
              <a:buFont typeface="Wingdings" pitchFamily="2" charset="2"/>
              <a:buChar char="Ø"/>
            </a:pPr>
            <a:r>
              <a:rPr lang="bg-BG" dirty="0">
                <a:latin typeface="Calibri" panose="020F0502020204030204" pitchFamily="34" charset="0"/>
                <a:cs typeface="Calibri" panose="020F0502020204030204" pitchFamily="34" charset="0"/>
              </a:rPr>
              <a:t>Tissue Perfusion</a:t>
            </a:r>
            <a:r>
              <a:rPr lang="en-US" dirty="0">
                <a:latin typeface="Calibri" panose="020F0502020204030204" pitchFamily="34" charset="0"/>
                <a:cs typeface="Calibri" panose="020F0502020204030204" pitchFamily="34" charset="0"/>
              </a:rPr>
              <a:t>- </a:t>
            </a:r>
          </a:p>
          <a:p>
            <a:pPr lvl="1">
              <a:lnSpc>
                <a:spcPct val="150000"/>
              </a:lnSpc>
              <a:buFont typeface="Wingdings" panose="05000000000000000000" pitchFamily="2" charset="2"/>
              <a:buChar char="ü"/>
            </a:pPr>
            <a:r>
              <a:rPr lang="bg-BG" sz="2600" dirty="0">
                <a:latin typeface="Calibri" panose="020F0502020204030204" pitchFamily="34" charset="0"/>
                <a:cs typeface="Calibri" panose="020F0502020204030204" pitchFamily="34" charset="0"/>
              </a:rPr>
              <a:t>highly perfused organs</a:t>
            </a:r>
            <a:r>
              <a:rPr lang="en-US" sz="2600" dirty="0">
                <a:latin typeface="Calibri" panose="020F0502020204030204" pitchFamily="34" charset="0"/>
                <a:cs typeface="Calibri" panose="020F0502020204030204" pitchFamily="34" charset="0"/>
              </a:rPr>
              <a:t> (</a:t>
            </a:r>
            <a:r>
              <a:rPr lang="bg-BG" sz="2600" dirty="0">
                <a:latin typeface="Calibri" panose="020F0502020204030204" pitchFamily="34" charset="0"/>
                <a:cs typeface="Calibri" panose="020F0502020204030204" pitchFamily="34" charset="0"/>
              </a:rPr>
              <a:t>brain, lung, liver, kidney, and heart) are responsible for the initial rapid uptake </a:t>
            </a:r>
            <a:r>
              <a:rPr lang="en-US" sz="2600" dirty="0">
                <a:latin typeface="Calibri" panose="020F0502020204030204" pitchFamily="34" charset="0"/>
                <a:cs typeface="Calibri" panose="020F0502020204030204" pitchFamily="34" charset="0"/>
              </a:rPr>
              <a:t> (á-phase) </a:t>
            </a:r>
          </a:p>
          <a:p>
            <a:pPr lvl="1">
              <a:lnSpc>
                <a:spcPct val="150000"/>
              </a:lnSpc>
              <a:buFont typeface="Wingdings" panose="05000000000000000000" pitchFamily="2" charset="2"/>
              <a:buChar char="ü"/>
            </a:pPr>
            <a:r>
              <a:rPr lang="en-US" sz="2600" dirty="0">
                <a:latin typeface="Calibri" panose="020F0502020204030204" pitchFamily="34" charset="0"/>
                <a:cs typeface="Calibri" panose="020F0502020204030204" pitchFamily="34" charset="0"/>
              </a:rPr>
              <a:t> </a:t>
            </a:r>
            <a:r>
              <a:rPr lang="bg-BG" sz="2600" dirty="0">
                <a:latin typeface="Calibri" panose="020F0502020204030204" pitchFamily="34" charset="0"/>
                <a:cs typeface="Calibri" panose="020F0502020204030204" pitchFamily="34" charset="0"/>
              </a:rPr>
              <a:t>followed by a slower redistribution </a:t>
            </a:r>
            <a:r>
              <a:rPr lang="en-US" sz="2600" dirty="0">
                <a:latin typeface="Calibri" panose="020F0502020204030204" pitchFamily="34" charset="0"/>
                <a:cs typeface="Calibri" panose="020F0502020204030204" pitchFamily="34" charset="0"/>
              </a:rPr>
              <a:t>(</a:t>
            </a:r>
            <a:r>
              <a:rPr lang="el-GR" sz="2600" dirty="0">
                <a:latin typeface="Calibri" panose="020F0502020204030204" pitchFamily="34" charset="0"/>
                <a:cs typeface="Calibri" panose="020F0502020204030204" pitchFamily="34" charset="0"/>
              </a:rPr>
              <a:t>β</a:t>
            </a:r>
            <a:r>
              <a:rPr lang="en-US" sz="2600" dirty="0">
                <a:latin typeface="Calibri" panose="020F0502020204030204" pitchFamily="34" charset="0"/>
                <a:cs typeface="Calibri" panose="020F0502020204030204" pitchFamily="34" charset="0"/>
              </a:rPr>
              <a:t>- phase)</a:t>
            </a:r>
            <a:r>
              <a:rPr lang="bg-BG" sz="2600" dirty="0">
                <a:latin typeface="Calibri" panose="020F0502020204030204" pitchFamily="34" charset="0"/>
                <a:cs typeface="Calibri" panose="020F0502020204030204" pitchFamily="34" charset="0"/>
              </a:rPr>
              <a:t>to moderately perfused tissues</a:t>
            </a:r>
            <a:endParaRPr lang="en-US" sz="2600" dirty="0">
              <a:latin typeface="Calibri" panose="020F0502020204030204" pitchFamily="34" charset="0"/>
              <a:cs typeface="Calibri" panose="020F0502020204030204" pitchFamily="34" charset="0"/>
            </a:endParaRPr>
          </a:p>
          <a:p>
            <a:pPr>
              <a:buFont typeface="Wingdings" pitchFamily="2" charset="2"/>
              <a:buChar char="Ø"/>
            </a:pPr>
            <a:r>
              <a:rPr lang="bg-BG" b="1" dirty="0">
                <a:latin typeface="Calibri" panose="020F0502020204030204" pitchFamily="34" charset="0"/>
                <a:cs typeface="Calibri" panose="020F0502020204030204" pitchFamily="34" charset="0"/>
              </a:rPr>
              <a:t>Tissue/Blood Partition Coefficient</a:t>
            </a:r>
            <a:endParaRPr lang="en-US" b="1" dirty="0">
              <a:latin typeface="Calibri" panose="020F0502020204030204" pitchFamily="34" charset="0"/>
              <a:cs typeface="Calibri" panose="020F0502020204030204" pitchFamily="34" charset="0"/>
            </a:endParaRPr>
          </a:p>
          <a:p>
            <a:pPr lvl="1">
              <a:buFont typeface="Wingdings" pitchFamily="2" charset="2"/>
              <a:buChar char="§"/>
            </a:pPr>
            <a:r>
              <a:rPr lang="bg-BG" dirty="0">
                <a:latin typeface="Calibri" panose="020F0502020204030204" pitchFamily="34" charset="0"/>
                <a:cs typeface="Calibri" panose="020F0502020204030204" pitchFamily="34" charset="0"/>
              </a:rPr>
              <a:t>Strong plasma protein binding tends to retain anesthetic in the blood, whereas high lipid solubility facilitates tissue uptake.</a:t>
            </a:r>
            <a:endParaRPr lang="en-US" dirty="0">
              <a:latin typeface="Calibri" panose="020F0502020204030204" pitchFamily="34" charset="0"/>
              <a:cs typeface="Calibri" panose="020F0502020204030204" pitchFamily="34" charset="0"/>
            </a:endParaRPr>
          </a:p>
          <a:p>
            <a:pPr>
              <a:buFont typeface="Wingdings" pitchFamily="2" charset="2"/>
              <a:buChar char="Ø"/>
            </a:pPr>
            <a:r>
              <a:rPr lang="bg-BG" b="1" dirty="0">
                <a:latin typeface="Calibri" panose="020F0502020204030204" pitchFamily="34" charset="0"/>
                <a:cs typeface="Calibri" panose="020F0502020204030204" pitchFamily="34" charset="0"/>
              </a:rPr>
              <a:t>Tissue Mass</a:t>
            </a:r>
          </a:p>
          <a:p>
            <a:pPr lvl="1">
              <a:buFont typeface="Wingdings" pitchFamily="2" charset="2"/>
              <a:buChar char="§"/>
            </a:pPr>
            <a:r>
              <a:rPr lang="bg-BG" dirty="0">
                <a:latin typeface="Calibri" panose="020F0502020204030204" pitchFamily="34" charset="0"/>
                <a:cs typeface="Calibri" panose="020F0502020204030204" pitchFamily="34" charset="0"/>
              </a:rPr>
              <a:t>Muscle provides the greatest reservoir for </a:t>
            </a:r>
            <a:r>
              <a:rPr lang="en-US" dirty="0">
                <a:latin typeface="Calibri" panose="020F0502020204030204" pitchFamily="34" charset="0"/>
                <a:cs typeface="Calibri" panose="020F0502020204030204" pitchFamily="34" charset="0"/>
              </a:rPr>
              <a:t>LA </a:t>
            </a:r>
            <a:r>
              <a:rPr lang="bg-BG" dirty="0">
                <a:latin typeface="Calibri" panose="020F0502020204030204" pitchFamily="34" charset="0"/>
                <a:cs typeface="Calibri" panose="020F0502020204030204" pitchFamily="34" charset="0"/>
              </a:rPr>
              <a:t>agents because of its large mass.</a:t>
            </a:r>
            <a:r>
              <a:rPr lang="en-US" b="1" cap="all" dirty="0">
                <a:latin typeface="Calibri" panose="020F0502020204030204" pitchFamily="34" charset="0"/>
                <a:cs typeface="Calibri" panose="020F0502020204030204" pitchFamily="34" charset="0"/>
              </a:rPr>
              <a:t> </a:t>
            </a:r>
            <a:endParaRPr lang="bg-BG" b="1" cap="all" dirty="0">
              <a:latin typeface="Calibri" panose="020F0502020204030204" pitchFamily="34" charset="0"/>
              <a:cs typeface="Calibri" panose="020F0502020204030204" pitchFamily="34" charset="0"/>
            </a:endParaRPr>
          </a:p>
          <a:p>
            <a:pPr>
              <a:buNone/>
            </a:pPr>
            <a:endParaRPr lang="en-US" dirty="0">
              <a:latin typeface="Calibri" panose="020F0502020204030204" pitchFamily="34" charset="0"/>
              <a:cs typeface="Calibri" panose="020F0502020204030204" pitchFamily="34" charset="0"/>
            </a:endParaRPr>
          </a:p>
          <a:p>
            <a:pPr lvl="2">
              <a:lnSpc>
                <a:spcPct val="150000"/>
              </a:lnSpc>
              <a:buFont typeface="Wingdings" pitchFamily="2" charset="2"/>
              <a:buChar char="Ø"/>
            </a:pPr>
            <a:endParaRPr lang="bg-BG" dirty="0">
              <a:latin typeface="Calibri" panose="020F0502020204030204" pitchFamily="34" charset="0"/>
              <a:cs typeface="Calibri" panose="020F0502020204030204" pitchFamily="34" charset="0"/>
            </a:endParaRPr>
          </a:p>
          <a:p>
            <a:pPr lvl="2">
              <a:buFont typeface="Wingdings" pitchFamily="2" charset="2"/>
              <a:buChar char="Ø"/>
            </a:pPr>
            <a:endParaRPr lang="bg-BG" dirty="0">
              <a:latin typeface="Calibri" panose="020F0502020204030204" pitchFamily="34" charset="0"/>
              <a:cs typeface="Calibri" panose="020F0502020204030204" pitchFamily="34" charset="0"/>
            </a:endParaRPr>
          </a:p>
          <a:p>
            <a:pPr lvl="2"/>
            <a:endParaRPr lang="en-US" b="1" cap="all" dirty="0">
              <a:latin typeface="Calibri" panose="020F0502020204030204" pitchFamily="34" charset="0"/>
              <a:cs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all" dirty="0">
                <a:latin typeface="Calibri" panose="020F0502020204030204" pitchFamily="34" charset="0"/>
                <a:cs typeface="Calibri" panose="020F0502020204030204" pitchFamily="34" charset="0"/>
              </a:rPr>
              <a:t> </a:t>
            </a:r>
            <a:br>
              <a:rPr lang="bg-BG" b="1" cap="all" dirty="0">
                <a:latin typeface="Calibri" panose="020F0502020204030204" pitchFamily="34" charset="0"/>
                <a:cs typeface="Calibri" panose="020F0502020204030204" pitchFamily="34" charset="0"/>
              </a:rPr>
            </a:br>
            <a:r>
              <a:rPr lang="bg-BG" b="1" dirty="0">
                <a:latin typeface="Calibri" panose="020F0502020204030204" pitchFamily="34" charset="0"/>
                <a:cs typeface="Calibri" panose="020F0502020204030204" pitchFamily="34" charset="0"/>
              </a:rPr>
              <a:t>Pharmacokinetics</a:t>
            </a:r>
            <a:r>
              <a:rPr lang="en-US" b="1" dirty="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p:txBody>
          <a:bodyPr>
            <a:normAutofit/>
          </a:bodyPr>
          <a:lstStyle/>
          <a:p>
            <a:pPr algn="just">
              <a:buFont typeface="Wingdings" panose="05000000000000000000" pitchFamily="2" charset="2"/>
              <a:buChar char="q"/>
            </a:pPr>
            <a:r>
              <a:rPr lang="bg-BG" sz="2400" b="1" cap="all" dirty="0">
                <a:latin typeface="Calibri" panose="020F0502020204030204" pitchFamily="34" charset="0"/>
                <a:cs typeface="Calibri" panose="020F0502020204030204" pitchFamily="34" charset="0"/>
              </a:rPr>
              <a:t>Metabolism and Excretion</a:t>
            </a:r>
          </a:p>
          <a:p>
            <a:pPr lvl="1"/>
            <a:r>
              <a:rPr lang="en-US" dirty="0">
                <a:latin typeface="Calibri" panose="020F0502020204030204" pitchFamily="34" charset="0"/>
                <a:cs typeface="Calibri" panose="020F0502020204030204" pitchFamily="34" charset="0"/>
              </a:rPr>
              <a:t>d</a:t>
            </a:r>
            <a:r>
              <a:rPr lang="bg-BG" dirty="0">
                <a:latin typeface="Calibri" panose="020F0502020204030204" pitchFamily="34" charset="0"/>
                <a:cs typeface="Calibri" panose="020F0502020204030204" pitchFamily="34" charset="0"/>
              </a:rPr>
              <a:t>iffer depending on their structure.</a:t>
            </a:r>
            <a:endParaRPr lang="en-US" dirty="0">
              <a:latin typeface="Calibri" panose="020F0502020204030204" pitchFamily="34" charset="0"/>
              <a:cs typeface="Calibri" panose="020F0502020204030204" pitchFamily="34" charset="0"/>
            </a:endParaRPr>
          </a:p>
          <a:p>
            <a:pPr>
              <a:buFont typeface="Wingdings" pitchFamily="2" charset="2"/>
              <a:buChar char="Ø"/>
            </a:pPr>
            <a:r>
              <a:rPr lang="bg-BG" b="1" dirty="0">
                <a:latin typeface="Calibri" panose="020F0502020204030204" pitchFamily="34" charset="0"/>
                <a:cs typeface="Calibri" panose="020F0502020204030204" pitchFamily="34" charset="0"/>
              </a:rPr>
              <a:t>Esters</a:t>
            </a:r>
            <a:endParaRPr lang="en-US" b="1" dirty="0">
              <a:latin typeface="Calibri" panose="020F0502020204030204" pitchFamily="34" charset="0"/>
              <a:cs typeface="Calibri" panose="020F0502020204030204" pitchFamily="34" charset="0"/>
            </a:endParaRPr>
          </a:p>
          <a:p>
            <a:pPr lvl="1">
              <a:buFont typeface="Wingdings" pitchFamily="2" charset="2"/>
              <a:buChar char="§"/>
            </a:pPr>
            <a:r>
              <a:rPr lang="bg-BG" dirty="0">
                <a:latin typeface="Calibri" panose="020F0502020204030204" pitchFamily="34" charset="0"/>
                <a:cs typeface="Calibri" panose="020F0502020204030204" pitchFamily="34" charset="0"/>
              </a:rPr>
              <a:t>predominantly metabolized by</a:t>
            </a:r>
            <a:r>
              <a:rPr lang="en-US" dirty="0">
                <a:latin typeface="Calibri" panose="020F0502020204030204" pitchFamily="34" charset="0"/>
                <a:cs typeface="Calibri" panose="020F0502020204030204" pitchFamily="34" charset="0"/>
              </a:rPr>
              <a:t> </a:t>
            </a:r>
            <a:r>
              <a:rPr lang="bg-BG" dirty="0">
                <a:latin typeface="Calibri" panose="020F0502020204030204" pitchFamily="34" charset="0"/>
                <a:cs typeface="Calibri" panose="020F0502020204030204" pitchFamily="34" charset="0"/>
              </a:rPr>
              <a:t>pseudocholinesterase</a:t>
            </a:r>
            <a:endParaRPr lang="en-US" dirty="0">
              <a:latin typeface="Calibri" panose="020F0502020204030204" pitchFamily="34" charset="0"/>
              <a:cs typeface="Calibri" panose="020F0502020204030204" pitchFamily="34" charset="0"/>
            </a:endParaRPr>
          </a:p>
          <a:p>
            <a:pPr lvl="2">
              <a:buFont typeface="Wingdings" pitchFamily="2" charset="2"/>
              <a:buChar char="§"/>
            </a:pPr>
            <a:r>
              <a:rPr lang="en-US" dirty="0">
                <a:latin typeface="Calibri" panose="020F0502020204030204" pitchFamily="34" charset="0"/>
                <a:cs typeface="Calibri" panose="020F0502020204030204" pitchFamily="34" charset="0"/>
              </a:rPr>
              <a:t>Ester hydrolysis is very rapid, and the water-soluble metabolites are excreted in the urine.</a:t>
            </a:r>
          </a:p>
          <a:p>
            <a:pPr lvl="1">
              <a:buFont typeface="Wingdings" pitchFamily="2" charset="2"/>
              <a:buChar char="§"/>
            </a:pPr>
            <a:r>
              <a:rPr lang="en-US" dirty="0">
                <a:latin typeface="Calibri" panose="020F0502020204030204" pitchFamily="34" charset="0"/>
                <a:cs typeface="Calibri" panose="020F0502020204030204" pitchFamily="34" charset="0"/>
              </a:rPr>
              <a:t>CSF </a:t>
            </a:r>
            <a:r>
              <a:rPr lang="bg-BG" dirty="0">
                <a:latin typeface="Calibri" panose="020F0502020204030204" pitchFamily="34" charset="0"/>
                <a:cs typeface="Calibri" panose="020F0502020204030204" pitchFamily="34" charset="0"/>
              </a:rPr>
              <a:t>lacks esterase enzymes</a:t>
            </a:r>
            <a:r>
              <a:rPr lang="en-US" dirty="0">
                <a:latin typeface="Calibri" panose="020F0502020204030204" pitchFamily="34" charset="0"/>
                <a:cs typeface="Calibri" panose="020F0502020204030204" pitchFamily="34" charset="0"/>
              </a:rPr>
              <a:t>, termination depends  on their absorption into the blood stream</a:t>
            </a:r>
          </a:p>
          <a:p>
            <a:pPr lvl="1">
              <a:buFont typeface="Wingdings" pitchFamily="2" charset="2"/>
              <a:buChar char="§"/>
            </a:pPr>
            <a:r>
              <a:rPr lang="en-US" dirty="0">
                <a:latin typeface="Calibri" panose="020F0502020204030204" pitchFamily="34" charset="0"/>
                <a:cs typeface="Calibri" panose="020F0502020204030204" pitchFamily="34" charset="0"/>
              </a:rPr>
              <a:t>The ester that is an exception is cocaine.</a:t>
            </a:r>
          </a:p>
          <a:p>
            <a:pPr lvl="2">
              <a:buFont typeface="Wingdings" pitchFamily="2" charset="2"/>
              <a:buChar char="§"/>
            </a:pPr>
            <a:r>
              <a:rPr lang="en-US" dirty="0">
                <a:latin typeface="Calibri" panose="020F0502020204030204" pitchFamily="34" charset="0"/>
                <a:cs typeface="Calibri" panose="020F0502020204030204" pitchFamily="34" charset="0"/>
              </a:rPr>
              <a:t> In addition to ester hydrolysis, it is partially metabolized in the liver </a:t>
            </a:r>
            <a:r>
              <a:rPr lang="en-US" sz="1800" b="0" i="0" u="none" strike="noStrike" baseline="0" dirty="0">
                <a:solidFill>
                  <a:srgbClr val="000000"/>
                </a:solidFill>
                <a:latin typeface="Calibri" panose="020F0502020204030204" pitchFamily="34" charset="0"/>
                <a:cs typeface="Calibri" panose="020F0502020204030204" pitchFamily="34" charset="0"/>
              </a:rPr>
              <a:t>by hepatic carboxylesterase </a:t>
            </a:r>
            <a:r>
              <a:rPr lang="en-US" dirty="0">
                <a:latin typeface="Calibri" panose="020F0502020204030204" pitchFamily="34" charset="0"/>
                <a:cs typeface="Calibri" panose="020F0502020204030204" pitchFamily="34" charset="0"/>
              </a:rPr>
              <a:t>.</a:t>
            </a:r>
          </a:p>
          <a:p>
            <a:pPr lvl="2">
              <a:buFont typeface="Wingdings" pitchFamily="2" charset="2"/>
              <a:buChar char="§"/>
            </a:pPr>
            <a:endParaRPr lang="en-US" dirty="0">
              <a:latin typeface="Calibri" panose="020F0502020204030204" pitchFamily="34" charset="0"/>
              <a:cs typeface="Calibri" panose="020F0502020204030204" pitchFamily="34" charset="0"/>
            </a:endParaRPr>
          </a:p>
          <a:p>
            <a:pPr lvl="1">
              <a:buFont typeface="Wingdings" pitchFamily="2" charset="2"/>
              <a:buChar char="§"/>
            </a:pPr>
            <a:endParaRPr lang="en-US" b="1" dirty="0">
              <a:latin typeface="Calibri" panose="020F0502020204030204" pitchFamily="34" charset="0"/>
              <a:cs typeface="Calibri" panose="020F0502020204030204" pitchFamily="34" charset="0"/>
            </a:endParaRPr>
          </a:p>
          <a:p>
            <a:pPr>
              <a:buFont typeface="Wingdings" pitchFamily="2" charset="2"/>
              <a:buChar char="§"/>
            </a:pPr>
            <a:endParaRPr lang="bg-BG"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all" dirty="0">
                <a:latin typeface="Calibri" panose="020F0502020204030204" pitchFamily="34" charset="0"/>
                <a:cs typeface="Calibri" panose="020F0502020204030204" pitchFamily="34" charset="0"/>
              </a:rPr>
              <a:t> </a:t>
            </a:r>
            <a:br>
              <a:rPr lang="bg-BG" b="1" cap="all" dirty="0">
                <a:latin typeface="Calibri" panose="020F0502020204030204" pitchFamily="34" charset="0"/>
                <a:cs typeface="Calibri" panose="020F0502020204030204" pitchFamily="34" charset="0"/>
              </a:rPr>
            </a:br>
            <a:r>
              <a:rPr lang="bg-BG" b="1" dirty="0">
                <a:latin typeface="Calibri" panose="020F0502020204030204" pitchFamily="34" charset="0"/>
                <a:cs typeface="Calibri" panose="020F0502020204030204" pitchFamily="34" charset="0"/>
              </a:rPr>
              <a:t>Pharmacokinetics</a:t>
            </a:r>
            <a:r>
              <a:rPr lang="en-US" b="1" dirty="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p:txBody>
          <a:bodyPr>
            <a:normAutofit/>
          </a:bodyPr>
          <a:lstStyle/>
          <a:p>
            <a:pPr>
              <a:buFont typeface="Wingdings" pitchFamily="2" charset="2"/>
              <a:buChar char="Ø"/>
            </a:pPr>
            <a:r>
              <a:rPr lang="bg-BG" b="1" dirty="0">
                <a:latin typeface="Calibri" panose="020F0502020204030204" pitchFamily="34" charset="0"/>
                <a:cs typeface="Calibri" panose="020F0502020204030204" pitchFamily="34" charset="0"/>
              </a:rPr>
              <a:t>Amides</a:t>
            </a:r>
            <a:endParaRPr lang="en-US" b="1" dirty="0">
              <a:latin typeface="Calibri" panose="020F0502020204030204" pitchFamily="34" charset="0"/>
              <a:cs typeface="Calibri" panose="020F0502020204030204" pitchFamily="34" charset="0"/>
            </a:endParaRPr>
          </a:p>
          <a:p>
            <a:pPr lvl="1">
              <a:buFont typeface="Wingdings" pitchFamily="2" charset="2"/>
              <a:buChar char="§"/>
            </a:pPr>
            <a:r>
              <a:rPr lang="en-US" dirty="0">
                <a:solidFill>
                  <a:schemeClr val="tx1"/>
                </a:solidFill>
                <a:latin typeface="Calibri" panose="020F0502020204030204" pitchFamily="34" charset="0"/>
                <a:cs typeface="Calibri" panose="020F0502020204030204" pitchFamily="34" charset="0"/>
              </a:rPr>
              <a:t>M</a:t>
            </a:r>
            <a:r>
              <a:rPr lang="bg-BG" dirty="0">
                <a:solidFill>
                  <a:schemeClr val="tx1"/>
                </a:solidFill>
                <a:latin typeface="Calibri" panose="020F0502020204030204" pitchFamily="34" charset="0"/>
                <a:cs typeface="Calibri" panose="020F0502020204030204" pitchFamily="34" charset="0"/>
              </a:rPr>
              <a:t>etabolized</a:t>
            </a:r>
            <a:r>
              <a:rPr lang="en-US" sz="2400" dirty="0">
                <a:solidFill>
                  <a:schemeClr val="tx1"/>
                </a:solidFill>
                <a:latin typeface="Calibri" panose="020F0502020204030204" pitchFamily="34" charset="0"/>
                <a:cs typeface="Calibri" panose="020F0502020204030204" pitchFamily="34" charset="0"/>
              </a:rPr>
              <a:t> (N-</a:t>
            </a:r>
            <a:r>
              <a:rPr lang="en-US" sz="2400" dirty="0" err="1">
                <a:solidFill>
                  <a:schemeClr val="tx1"/>
                </a:solidFill>
                <a:latin typeface="Calibri" panose="020F0502020204030204" pitchFamily="34" charset="0"/>
                <a:cs typeface="Calibri" panose="020F0502020204030204" pitchFamily="34" charset="0"/>
              </a:rPr>
              <a:t>dealkylation</a:t>
            </a:r>
            <a:r>
              <a:rPr lang="en-US" sz="2400" dirty="0">
                <a:solidFill>
                  <a:schemeClr val="tx1"/>
                </a:solidFill>
                <a:latin typeface="Calibri" panose="020F0502020204030204" pitchFamily="34" charset="0"/>
                <a:cs typeface="Calibri" panose="020F0502020204030204" pitchFamily="34" charset="0"/>
              </a:rPr>
              <a:t> and hydroxylation)</a:t>
            </a:r>
            <a:r>
              <a:rPr lang="en-US" dirty="0">
                <a:solidFill>
                  <a:schemeClr val="tx1"/>
                </a:solidFill>
                <a:latin typeface="Calibri" panose="020F0502020204030204" pitchFamily="34" charset="0"/>
                <a:cs typeface="Calibri" panose="020F0502020204030204" pitchFamily="34" charset="0"/>
              </a:rPr>
              <a:t> </a:t>
            </a:r>
            <a:r>
              <a:rPr lang="bg-BG" dirty="0">
                <a:solidFill>
                  <a:schemeClr val="tx1"/>
                </a:solidFill>
                <a:latin typeface="Calibri" panose="020F0502020204030204" pitchFamily="34" charset="0"/>
                <a:cs typeface="Calibri" panose="020F0502020204030204" pitchFamily="34" charset="0"/>
              </a:rPr>
              <a:t>by microsomal P-450 enzymes in the liver</a:t>
            </a:r>
            <a:r>
              <a:rPr lang="en-US" dirty="0">
                <a:solidFill>
                  <a:schemeClr val="tx1"/>
                </a:solidFill>
                <a:latin typeface="Calibri" panose="020F0502020204030204" pitchFamily="34" charset="0"/>
                <a:cs typeface="Calibri" panose="020F0502020204030204" pitchFamily="34" charset="0"/>
              </a:rPr>
              <a:t>.</a:t>
            </a:r>
          </a:p>
          <a:p>
            <a:pPr lvl="1">
              <a:buFont typeface="Wingdings" pitchFamily="2" charset="2"/>
              <a:buChar char="§"/>
            </a:pPr>
            <a:r>
              <a:rPr lang="bg-BG" dirty="0">
                <a:solidFill>
                  <a:schemeClr val="tx1"/>
                </a:solidFill>
                <a:latin typeface="Calibri" panose="020F0502020204030204" pitchFamily="34" charset="0"/>
                <a:cs typeface="Calibri" panose="020F0502020204030204" pitchFamily="34" charset="0"/>
              </a:rPr>
              <a:t>The rate of amide metabolism depends on the specific agent</a:t>
            </a:r>
            <a:r>
              <a:rPr lang="en-US" dirty="0">
                <a:solidFill>
                  <a:schemeClr val="tx1"/>
                </a:solidFill>
                <a:latin typeface="Calibri" panose="020F0502020204030204" pitchFamily="34" charset="0"/>
                <a:cs typeface="Calibri" panose="020F0502020204030204" pitchFamily="34" charset="0"/>
              </a:rPr>
              <a:t> </a:t>
            </a:r>
            <a:r>
              <a:rPr lang="en-US" sz="2400" dirty="0">
                <a:solidFill>
                  <a:schemeClr val="tx1"/>
                </a:solidFill>
                <a:latin typeface="Calibri" panose="020F0502020204030204" pitchFamily="34" charset="0"/>
                <a:cs typeface="Calibri" panose="020F0502020204030204" pitchFamily="34" charset="0"/>
              </a:rPr>
              <a:t>(</a:t>
            </a:r>
            <a:r>
              <a:rPr lang="en-US" sz="2000" dirty="0" err="1">
                <a:solidFill>
                  <a:schemeClr val="tx1"/>
                </a:solidFill>
                <a:latin typeface="Calibri" panose="020F0502020204030204" pitchFamily="34" charset="0"/>
                <a:cs typeface="Calibri" panose="020F0502020204030204" pitchFamily="34" charset="0"/>
              </a:rPr>
              <a:t>prilocaine</a:t>
            </a:r>
            <a:r>
              <a:rPr lang="en-US" sz="2000" dirty="0">
                <a:solidFill>
                  <a:schemeClr val="tx1"/>
                </a:solidFill>
                <a:latin typeface="Calibri" panose="020F0502020204030204" pitchFamily="34" charset="0"/>
                <a:cs typeface="Calibri" panose="020F0502020204030204" pitchFamily="34" charset="0"/>
              </a:rPr>
              <a:t> &gt; lidocaine &gt; mepivacaine &gt; ropivacaine &gt; bupivacaine</a:t>
            </a:r>
            <a:r>
              <a:rPr lang="en-US" sz="2400" dirty="0">
                <a:solidFill>
                  <a:schemeClr val="tx1"/>
                </a:solidFill>
                <a:latin typeface="Calibri" panose="020F0502020204030204" pitchFamily="34" charset="0"/>
                <a:cs typeface="Calibri" panose="020F0502020204030204" pitchFamily="34" charset="0"/>
              </a:rPr>
              <a:t>) </a:t>
            </a:r>
          </a:p>
          <a:p>
            <a:pPr lvl="1">
              <a:buFont typeface="Wingdings" pitchFamily="2" charset="2"/>
              <a:buChar char="ü"/>
            </a:pPr>
            <a:r>
              <a:rPr lang="bg-BG" dirty="0">
                <a:solidFill>
                  <a:schemeClr val="tx1"/>
                </a:solidFill>
                <a:latin typeface="Calibri" panose="020F0502020204030204" pitchFamily="34" charset="0"/>
                <a:cs typeface="Calibri" panose="020F0502020204030204" pitchFamily="34" charset="0"/>
              </a:rPr>
              <a:t>but overall is much slower than ester hydrolysis</a:t>
            </a:r>
            <a:endParaRPr lang="en-US" dirty="0">
              <a:solidFill>
                <a:schemeClr val="tx1"/>
              </a:solidFill>
              <a:latin typeface="Calibri" panose="020F0502020204030204" pitchFamily="34" charset="0"/>
              <a:cs typeface="Calibri" panose="020F0502020204030204" pitchFamily="34" charset="0"/>
            </a:endParaRPr>
          </a:p>
          <a:p>
            <a:pPr lvl="1">
              <a:buFont typeface="Wingdings" pitchFamily="2" charset="2"/>
              <a:buChar char="§"/>
            </a:pPr>
            <a:r>
              <a:rPr lang="bg-BG" dirty="0">
                <a:solidFill>
                  <a:schemeClr val="tx1"/>
                </a:solidFill>
                <a:latin typeface="Calibri" panose="020F0502020204030204" pitchFamily="34" charset="0"/>
                <a:cs typeface="Calibri" panose="020F0502020204030204" pitchFamily="34" charset="0"/>
              </a:rPr>
              <a:t>Decreases in hepatic function or liver blood flow</a:t>
            </a:r>
            <a:r>
              <a:rPr lang="en-US" dirty="0">
                <a:solidFill>
                  <a:schemeClr val="tx1"/>
                </a:solidFill>
                <a:latin typeface="Calibri" panose="020F0502020204030204" pitchFamily="34" charset="0"/>
                <a:cs typeface="Calibri" panose="020F0502020204030204" pitchFamily="34" charset="0"/>
              </a:rPr>
              <a:t> </a:t>
            </a:r>
            <a:r>
              <a:rPr lang="bg-BG" dirty="0">
                <a:solidFill>
                  <a:schemeClr val="tx1"/>
                </a:solidFill>
                <a:latin typeface="Calibri" panose="020F0502020204030204" pitchFamily="34" charset="0"/>
                <a:cs typeface="Calibri" panose="020F0502020204030204" pitchFamily="34" charset="0"/>
              </a:rPr>
              <a:t>will reduce the metabolic rate </a:t>
            </a:r>
            <a:r>
              <a:rPr lang="en-US" dirty="0">
                <a:solidFill>
                  <a:schemeClr val="tx1"/>
                </a:solidFill>
                <a:latin typeface="Calibri" panose="020F0502020204030204" pitchFamily="34" charset="0"/>
                <a:cs typeface="Calibri" panose="020F0502020204030204" pitchFamily="34" charset="0"/>
              </a:rPr>
              <a:t>=</a:t>
            </a:r>
            <a:r>
              <a:rPr lang="bg-BG" dirty="0">
                <a:solidFill>
                  <a:schemeClr val="tx1"/>
                </a:solidFill>
                <a:latin typeface="Calibri" panose="020F0502020204030204" pitchFamily="34" charset="0"/>
                <a:cs typeface="Calibri" panose="020F0502020204030204" pitchFamily="34" charset="0"/>
              </a:rPr>
              <a:t> systemic toxicity</a:t>
            </a:r>
            <a:r>
              <a:rPr lang="en-US" dirty="0">
                <a:solidFill>
                  <a:schemeClr val="tx1"/>
                </a:solidFill>
                <a:latin typeface="Calibri" panose="020F0502020204030204" pitchFamily="34" charset="0"/>
                <a:cs typeface="Calibri" panose="020F0502020204030204" pitchFamily="34" charset="0"/>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p>
        </p:txBody>
      </p:sp>
      <p:sp>
        <p:nvSpPr>
          <p:cNvPr id="3" name="Content Placeholder 2"/>
          <p:cNvSpPr>
            <a:spLocks noGrp="1"/>
          </p:cNvSpPr>
          <p:nvPr>
            <p:ph sz="quarter" idx="1"/>
          </p:nvPr>
        </p:nvSpPr>
        <p:spPr/>
        <p:txBody>
          <a:bodyPr/>
          <a:lstStyle/>
          <a:p>
            <a:pPr>
              <a:buFont typeface="Wingdings" pitchFamily="2" charset="2"/>
              <a:buChar char="Ø"/>
            </a:pPr>
            <a:r>
              <a:rPr lang="en-US" sz="2800" b="1" dirty="0">
                <a:latin typeface="Calibri" panose="020F0502020204030204" pitchFamily="34" charset="0"/>
                <a:cs typeface="Calibri" panose="020F0502020204030204" pitchFamily="34" charset="0"/>
              </a:rPr>
              <a:t>Esters</a:t>
            </a:r>
          </a:p>
          <a:p>
            <a:pPr algn="just"/>
            <a:r>
              <a:rPr lang="en-US" sz="2400" dirty="0">
                <a:latin typeface="Calibri" panose="020F0502020204030204" pitchFamily="34" charset="0"/>
                <a:cs typeface="Calibri" panose="020F0502020204030204" pitchFamily="34" charset="0"/>
              </a:rPr>
              <a:t>The metabolism of most esters results in the production of </a:t>
            </a:r>
          </a:p>
          <a:p>
            <a:pPr lvl="1" algn="just"/>
            <a:r>
              <a:rPr lang="en-US" sz="2000" dirty="0">
                <a:latin typeface="Calibri" panose="020F0502020204030204" pitchFamily="34" charset="0"/>
                <a:cs typeface="Calibri" panose="020F0502020204030204" pitchFamily="34" charset="0"/>
              </a:rPr>
              <a:t>para-aminobenzoate (PABA) which is associated with allergic reactions.</a:t>
            </a:r>
          </a:p>
          <a:p>
            <a:pPr lvl="1" algn="just"/>
            <a:endParaRPr lang="en-US" sz="2000" dirty="0">
              <a:latin typeface="Calibri" panose="020F0502020204030204" pitchFamily="34" charset="0"/>
              <a:cs typeface="Calibri" panose="020F0502020204030204" pitchFamily="34" charset="0"/>
            </a:endParaRPr>
          </a:p>
          <a:p>
            <a:pPr algn="just"/>
            <a:r>
              <a:rPr lang="en-US" sz="2400" dirty="0">
                <a:latin typeface="Calibri" panose="020F0502020204030204" pitchFamily="34" charset="0"/>
                <a:cs typeface="Calibri" panose="020F0502020204030204" pitchFamily="34" charset="0"/>
              </a:rPr>
              <a:t>The </a:t>
            </a:r>
            <a:r>
              <a:rPr lang="en-US" sz="2400" b="1" dirty="0">
                <a:latin typeface="Calibri" panose="020F0502020204030204" pitchFamily="34" charset="0"/>
                <a:cs typeface="Calibri" panose="020F0502020204030204" pitchFamily="34" charset="0"/>
              </a:rPr>
              <a:t>aminoamides are not metabolized to </a:t>
            </a:r>
            <a:r>
              <a:rPr lang="en-US" sz="2400" b="1" i="1" dirty="0">
                <a:latin typeface="Calibri" panose="020F0502020204030204" pitchFamily="34" charset="0"/>
                <a:cs typeface="Calibri" panose="020F0502020204030204" pitchFamily="34" charset="0"/>
              </a:rPr>
              <a:t>p</a:t>
            </a:r>
            <a:r>
              <a:rPr lang="en-US" sz="2400" b="1" dirty="0">
                <a:latin typeface="Calibri" panose="020F0502020204030204" pitchFamily="34" charset="0"/>
                <a:cs typeface="Calibri" panose="020F0502020204030204" pitchFamily="34" charset="0"/>
              </a:rPr>
              <a:t>-aminobenzoic acid,</a:t>
            </a:r>
            <a:r>
              <a:rPr lang="en-US" sz="2400" dirty="0">
                <a:latin typeface="Calibri" panose="020F0502020204030204" pitchFamily="34" charset="0"/>
                <a:cs typeface="Calibri" panose="020F0502020204030204" pitchFamily="34" charset="0"/>
              </a:rPr>
              <a:t> </a:t>
            </a:r>
          </a:p>
          <a:p>
            <a:pPr lvl="1" algn="just"/>
            <a:r>
              <a:rPr lang="en-US" dirty="0">
                <a:latin typeface="Calibri" panose="020F0502020204030204" pitchFamily="34" charset="0"/>
                <a:cs typeface="Calibri" panose="020F0502020204030204" pitchFamily="34" charset="0"/>
              </a:rPr>
              <a:t>and reports of allergic reactions to these agents are extremely </a:t>
            </a:r>
            <a:r>
              <a:rPr lang="en-US" b="1" dirty="0">
                <a:latin typeface="Calibri" panose="020F0502020204030204" pitchFamily="34" charset="0"/>
                <a:cs typeface="Calibri" panose="020F0502020204030204" pitchFamily="34" charset="0"/>
              </a:rPr>
              <a:t>rare</a:t>
            </a:r>
            <a:r>
              <a:rPr lang="en-US" dirty="0">
                <a:latin typeface="Calibri" panose="020F0502020204030204" pitchFamily="34" charset="0"/>
                <a:cs typeface="Calibri" panose="020F0502020204030204" pitchFamily="34" charset="0"/>
              </a:rPr>
              <a:t>.</a:t>
            </a:r>
          </a:p>
          <a:p>
            <a:pPr algn="just"/>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95554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3200" dirty="0">
                <a:latin typeface="Calibri" panose="020F0502020204030204" pitchFamily="34" charset="0"/>
                <a:cs typeface="Calibri" panose="020F0502020204030204" pitchFamily="34" charset="0"/>
              </a:rPr>
              <a:t>Comparison between ester and amide LAs</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3067866330"/>
              </p:ext>
            </p:extLst>
          </p:nvPr>
        </p:nvGraphicFramePr>
        <p:xfrm>
          <a:off x="301625" y="1527175"/>
          <a:ext cx="8504238" cy="4907280"/>
        </p:xfrm>
        <a:graphic>
          <a:graphicData uri="http://schemas.openxmlformats.org/drawingml/2006/table">
            <a:tbl>
              <a:tblPr firstRow="1" bandRow="1">
                <a:tableStyleId>{9D7B26C5-4107-4FEC-AEDC-1716B250A1EF}</a:tableStyleId>
              </a:tblPr>
              <a:tblGrid>
                <a:gridCol w="4252119">
                  <a:extLst>
                    <a:ext uri="{9D8B030D-6E8A-4147-A177-3AD203B41FA5}">
                      <a16:colId xmlns:a16="http://schemas.microsoft.com/office/drawing/2014/main" val="20000"/>
                    </a:ext>
                  </a:extLst>
                </a:gridCol>
                <a:gridCol w="4252119">
                  <a:extLst>
                    <a:ext uri="{9D8B030D-6E8A-4147-A177-3AD203B41FA5}">
                      <a16:colId xmlns:a16="http://schemas.microsoft.com/office/drawing/2014/main" val="20001"/>
                    </a:ext>
                  </a:extLst>
                </a:gridCol>
              </a:tblGrid>
              <a:tr h="370840">
                <a:tc>
                  <a:txBody>
                    <a:bodyPr/>
                    <a:lstStyle/>
                    <a:p>
                      <a:r>
                        <a:rPr lang="en-US" sz="2200" dirty="0">
                          <a:latin typeface="Calibri" panose="020F0502020204030204" pitchFamily="34" charset="0"/>
                          <a:cs typeface="Calibri" panose="020F0502020204030204" pitchFamily="34" charset="0"/>
                        </a:rPr>
                        <a:t>Ester LAs</a:t>
                      </a:r>
                    </a:p>
                  </a:txBody>
                  <a:tcPr marL="94492" marR="94492"/>
                </a:tc>
                <a:tc>
                  <a:txBody>
                    <a:bodyPr/>
                    <a:lstStyle/>
                    <a:p>
                      <a:r>
                        <a:rPr lang="en-US" sz="2200" dirty="0">
                          <a:latin typeface="Calibri" panose="020F0502020204030204" pitchFamily="34" charset="0"/>
                          <a:cs typeface="Calibri" panose="020F0502020204030204" pitchFamily="34" charset="0"/>
                        </a:rPr>
                        <a:t>Amide LAs</a:t>
                      </a:r>
                    </a:p>
                  </a:txBody>
                  <a:tcPr marL="94492" marR="94492"/>
                </a:tc>
                <a:extLst>
                  <a:ext uri="{0D108BD9-81ED-4DB2-BD59-A6C34878D82A}">
                    <a16:rowId xmlns:a16="http://schemas.microsoft.com/office/drawing/2014/main" val="10000"/>
                  </a:ext>
                </a:extLst>
              </a:tr>
              <a:tr h="370840">
                <a:tc>
                  <a:txBody>
                    <a:bodyPr/>
                    <a:lstStyle/>
                    <a:p>
                      <a:r>
                        <a:rPr lang="bg-BG" sz="2200" spc="-150" dirty="0">
                          <a:latin typeface="Calibri" panose="020F0502020204030204" pitchFamily="34" charset="0"/>
                          <a:cs typeface="Calibri" panose="020F0502020204030204" pitchFamily="34" charset="0"/>
                        </a:rPr>
                        <a:t>metabolized</a:t>
                      </a:r>
                      <a:r>
                        <a:rPr lang="en-US" sz="2200" spc="-150" dirty="0">
                          <a:latin typeface="Calibri" panose="020F0502020204030204" pitchFamily="34" charset="0"/>
                          <a:cs typeface="Calibri" panose="020F0502020204030204" pitchFamily="34" charset="0"/>
                        </a:rPr>
                        <a:t> </a:t>
                      </a:r>
                      <a:r>
                        <a:rPr lang="bg-BG" sz="2200" spc="-150" dirty="0">
                          <a:latin typeface="Calibri" panose="020F0502020204030204" pitchFamily="34" charset="0"/>
                          <a:cs typeface="Calibri" panose="020F0502020204030204" pitchFamily="34" charset="0"/>
                        </a:rPr>
                        <a:t>by</a:t>
                      </a:r>
                      <a:r>
                        <a:rPr lang="en-US" sz="2200" spc="-150" dirty="0">
                          <a:latin typeface="Calibri" panose="020F0502020204030204" pitchFamily="34" charset="0"/>
                          <a:cs typeface="Calibri" panose="020F0502020204030204" pitchFamily="34" charset="0"/>
                        </a:rPr>
                        <a:t> </a:t>
                      </a:r>
                      <a:r>
                        <a:rPr lang="bg-BG" sz="2200" spc="-150" dirty="0">
                          <a:latin typeface="Calibri" panose="020F0502020204030204" pitchFamily="34" charset="0"/>
                          <a:cs typeface="Calibri" panose="020F0502020204030204" pitchFamily="34" charset="0"/>
                        </a:rPr>
                        <a:t>plasma</a:t>
                      </a:r>
                      <a:r>
                        <a:rPr lang="en-US" sz="2200" spc="-150" dirty="0">
                          <a:latin typeface="Calibri" panose="020F0502020204030204" pitchFamily="34" charset="0"/>
                          <a:cs typeface="Calibri" panose="020F0502020204030204" pitchFamily="34" charset="0"/>
                        </a:rPr>
                        <a:t> </a:t>
                      </a:r>
                      <a:r>
                        <a:rPr lang="bg-BG" sz="2200" spc="-150" dirty="0">
                          <a:latin typeface="Calibri" panose="020F0502020204030204" pitchFamily="34" charset="0"/>
                          <a:cs typeface="Calibri" panose="020F0502020204030204" pitchFamily="34" charset="0"/>
                        </a:rPr>
                        <a:t>cholinesterase </a:t>
                      </a:r>
                      <a:endParaRPr lang="en-US" sz="2200" dirty="0">
                        <a:latin typeface="Calibri" panose="020F0502020204030204" pitchFamily="34" charset="0"/>
                        <a:cs typeface="Calibri" panose="020F0502020204030204" pitchFamily="34" charset="0"/>
                      </a:endParaRPr>
                    </a:p>
                  </a:txBody>
                  <a:tcPr marL="94492" marR="94492"/>
                </a:tc>
                <a:tc>
                  <a:txBody>
                    <a:bodyPr/>
                    <a:lstStyle/>
                    <a:p>
                      <a:r>
                        <a:rPr lang="en-US" sz="2200" dirty="0">
                          <a:latin typeface="Calibri" panose="020F0502020204030204" pitchFamily="34" charset="0"/>
                          <a:cs typeface="Calibri" panose="020F0502020204030204" pitchFamily="34" charset="0"/>
                        </a:rPr>
                        <a:t>metabolized primarily by </a:t>
                      </a:r>
                      <a:r>
                        <a:rPr lang="en-US" sz="2200" dirty="0" err="1">
                          <a:latin typeface="Calibri" panose="020F0502020204030204" pitchFamily="34" charset="0"/>
                          <a:cs typeface="Calibri" panose="020F0502020204030204" pitchFamily="34" charset="0"/>
                        </a:rPr>
                        <a:t>microsomal</a:t>
                      </a:r>
                      <a:r>
                        <a:rPr lang="en-US" sz="2200" dirty="0">
                          <a:latin typeface="Calibri" panose="020F0502020204030204" pitchFamily="34" charset="0"/>
                          <a:cs typeface="Calibri" panose="020F0502020204030204" pitchFamily="34" charset="0"/>
                        </a:rPr>
                        <a:t> P-450 enzymes in the liver</a:t>
                      </a:r>
                    </a:p>
                  </a:txBody>
                  <a:tcPr marL="94492" marR="94492"/>
                </a:tc>
                <a:extLst>
                  <a:ext uri="{0D108BD9-81ED-4DB2-BD59-A6C34878D82A}">
                    <a16:rowId xmlns:a16="http://schemas.microsoft.com/office/drawing/2014/main" val="10001"/>
                  </a:ext>
                </a:extLst>
              </a:tr>
              <a:tr h="370840">
                <a:tc>
                  <a:txBody>
                    <a:bodyPr/>
                    <a:lstStyle/>
                    <a:p>
                      <a:r>
                        <a:rPr lang="en-US" sz="2200" dirty="0">
                          <a:latin typeface="Calibri" panose="020F0502020204030204" pitchFamily="34" charset="0"/>
                          <a:cs typeface="Calibri" panose="020F0502020204030204" pitchFamily="34" charset="0"/>
                        </a:rPr>
                        <a:t> highly associated with allergic reactions </a:t>
                      </a:r>
                    </a:p>
                  </a:txBody>
                  <a:tcPr marL="94492" marR="94492"/>
                </a:tc>
                <a:tc>
                  <a:txBody>
                    <a:bodyPr/>
                    <a:lstStyle/>
                    <a:p>
                      <a:r>
                        <a:rPr lang="en-US" sz="2200" dirty="0">
                          <a:latin typeface="Calibri" panose="020F0502020204030204" pitchFamily="34" charset="0"/>
                          <a:cs typeface="Calibri" panose="020F0502020204030204" pitchFamily="34" charset="0"/>
                        </a:rPr>
                        <a:t>Rare to none allergic reactions </a:t>
                      </a:r>
                    </a:p>
                  </a:txBody>
                  <a:tcPr marL="94492" marR="94492"/>
                </a:tc>
                <a:extLst>
                  <a:ext uri="{0D108BD9-81ED-4DB2-BD59-A6C34878D82A}">
                    <a16:rowId xmlns:a16="http://schemas.microsoft.com/office/drawing/2014/main" val="10002"/>
                  </a:ext>
                </a:extLst>
              </a:tr>
              <a:tr h="370840">
                <a:tc>
                  <a:txBody>
                    <a:bodyPr/>
                    <a:lstStyle/>
                    <a:p>
                      <a:r>
                        <a:rPr lang="en-US" sz="2200" dirty="0">
                          <a:latin typeface="Calibri" panose="020F0502020204030204" pitchFamily="34" charset="0"/>
                          <a:cs typeface="Calibri" panose="020F0502020204030204" pitchFamily="34" charset="0"/>
                        </a:rPr>
                        <a:t> ester linkage is more easily broken than the amide bond</a:t>
                      </a:r>
                    </a:p>
                  </a:txBody>
                  <a:tcPr marL="94492" marR="94492"/>
                </a:tc>
                <a:tc>
                  <a:txBody>
                    <a:bodyPr/>
                    <a:lstStyle/>
                    <a:p>
                      <a:r>
                        <a:rPr lang="en-US" sz="2200">
                          <a:latin typeface="Calibri" panose="020F0502020204030204" pitchFamily="34" charset="0"/>
                          <a:cs typeface="Calibri" panose="020F0502020204030204" pitchFamily="34" charset="0"/>
                        </a:rPr>
                        <a:t>linkage is not  easily broken  </a:t>
                      </a:r>
                      <a:endParaRPr lang="en-US" sz="2200" dirty="0">
                        <a:latin typeface="Calibri" panose="020F0502020204030204" pitchFamily="34" charset="0"/>
                        <a:cs typeface="Calibri" panose="020F0502020204030204" pitchFamily="34" charset="0"/>
                      </a:endParaRPr>
                    </a:p>
                  </a:txBody>
                  <a:tcPr marL="94492" marR="94492"/>
                </a:tc>
                <a:extLst>
                  <a:ext uri="{0D108BD9-81ED-4DB2-BD59-A6C34878D82A}">
                    <a16:rowId xmlns:a16="http://schemas.microsoft.com/office/drawing/2014/main" val="10003"/>
                  </a:ext>
                </a:extLst>
              </a:tr>
              <a:tr h="370840">
                <a:tc>
                  <a:txBody>
                    <a:bodyPr/>
                    <a:lstStyle/>
                    <a:p>
                      <a:r>
                        <a:rPr lang="en-US" sz="2200" dirty="0">
                          <a:latin typeface="Calibri" panose="020F0502020204030204" pitchFamily="34" charset="0"/>
                          <a:cs typeface="Calibri" panose="020F0502020204030204" pitchFamily="34" charset="0"/>
                        </a:rPr>
                        <a:t> less stable in solution, hydrolyze spontaneously and cannot be stored for as long as amides, can not be autoclaved</a:t>
                      </a:r>
                    </a:p>
                  </a:txBody>
                  <a:tcPr marL="94492" marR="94492"/>
                </a:tc>
                <a:tc>
                  <a:txBody>
                    <a:bodyPr/>
                    <a:lstStyle/>
                    <a:p>
                      <a:r>
                        <a:rPr lang="en-US" sz="2200" dirty="0">
                          <a:latin typeface="Calibri" panose="020F0502020204030204" pitchFamily="34" charset="0"/>
                          <a:cs typeface="Calibri" panose="020F0502020204030204" pitchFamily="34" charset="0"/>
                        </a:rPr>
                        <a:t>heat-stable and can be autoclaved</a:t>
                      </a:r>
                    </a:p>
                  </a:txBody>
                  <a:tcPr marL="94492" marR="94492"/>
                </a:tc>
                <a:extLst>
                  <a:ext uri="{0D108BD9-81ED-4DB2-BD59-A6C34878D82A}">
                    <a16:rowId xmlns:a16="http://schemas.microsoft.com/office/drawing/2014/main" val="10004"/>
                  </a:ext>
                </a:extLst>
              </a:tr>
              <a:tr h="370840">
                <a:tc>
                  <a:txBody>
                    <a:bodyPr/>
                    <a:lstStyle/>
                    <a:p>
                      <a:r>
                        <a:rPr lang="en-US" sz="2200" dirty="0">
                          <a:latin typeface="Calibri" panose="020F0502020204030204" pitchFamily="34" charset="0"/>
                          <a:cs typeface="Calibri" panose="020F0502020204030204" pitchFamily="34" charset="0"/>
                        </a:rPr>
                        <a:t>intermediate bond</a:t>
                      </a:r>
                      <a:r>
                        <a:rPr lang="en-US" sz="2200" baseline="0" dirty="0">
                          <a:latin typeface="Calibri" panose="020F0502020204030204" pitchFamily="34" charset="0"/>
                          <a:cs typeface="Calibri" panose="020F0502020204030204" pitchFamily="34" charset="0"/>
                        </a:rPr>
                        <a:t> is </a:t>
                      </a:r>
                      <a:r>
                        <a:rPr lang="en-US" sz="2200" dirty="0">
                          <a:latin typeface="Calibri" panose="020F0502020204030204" pitchFamily="34" charset="0"/>
                          <a:cs typeface="Calibri" panose="020F0502020204030204" pitchFamily="34" charset="0"/>
                        </a:rPr>
                        <a:t>-CO-</a:t>
                      </a:r>
                    </a:p>
                  </a:txBody>
                  <a:tcPr marL="94492" marR="94492"/>
                </a:tc>
                <a:tc>
                  <a:txBody>
                    <a:bodyPr/>
                    <a:lstStyle/>
                    <a:p>
                      <a:r>
                        <a:rPr lang="en-US" sz="2200" dirty="0">
                          <a:latin typeface="Calibri" panose="020F0502020204030204" pitchFamily="34" charset="0"/>
                          <a:cs typeface="Calibri" panose="020F0502020204030204" pitchFamily="34" charset="0"/>
                        </a:rPr>
                        <a:t>intermediate bond -HNC- </a:t>
                      </a:r>
                    </a:p>
                  </a:txBody>
                  <a:tcPr marL="94492" marR="94492"/>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96249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803" y="152401"/>
            <a:ext cx="8418394" cy="1295400"/>
          </a:xfrm>
        </p:spPr>
        <p:txBody>
          <a:bodyPr>
            <a:noAutofit/>
          </a:bodyPr>
          <a:lstStyle/>
          <a:p>
            <a:pPr algn="l"/>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r>
              <a:rPr lang="en-US" sz="4000" b="1" dirty="0">
                <a:latin typeface="Calibri" panose="020F0502020204030204" pitchFamily="34" charset="0"/>
                <a:cs typeface="Calibri" panose="020F0502020204030204" pitchFamily="34" charset="0"/>
              </a:rPr>
              <a:t> </a:t>
            </a:r>
            <a:br>
              <a:rPr lang="en-US" sz="4000" b="1" dirty="0">
                <a:latin typeface="Calibri" panose="020F0502020204030204" pitchFamily="34" charset="0"/>
                <a:cs typeface="Calibri" panose="020F0502020204030204" pitchFamily="34" charset="0"/>
              </a:rPr>
            </a:br>
            <a:br>
              <a:rPr lang="en-US" sz="4000" b="1" dirty="0">
                <a:latin typeface="Calibri" panose="020F0502020204030204" pitchFamily="34" charset="0"/>
                <a:cs typeface="Calibri" panose="020F0502020204030204" pitchFamily="34" charset="0"/>
              </a:rPr>
            </a:br>
            <a:r>
              <a:rPr lang="bg-BG" sz="3200" b="1" dirty="0">
                <a:latin typeface="Calibri" panose="020F0502020204030204" pitchFamily="34" charset="0"/>
                <a:cs typeface="Calibri" panose="020F0502020204030204" pitchFamily="34" charset="0"/>
              </a:rPr>
              <a:t>Drug Interactions</a:t>
            </a:r>
            <a:br>
              <a:rPr lang="bg-BG" sz="3200" b="1" dirty="0">
                <a:latin typeface="Calibri" panose="020F0502020204030204" pitchFamily="34" charset="0"/>
                <a:cs typeface="Calibri" panose="020F0502020204030204" pitchFamily="34" charset="0"/>
              </a:rPr>
            </a:br>
            <a:endParaRPr lang="en-US" sz="4000" dirty="0">
              <a:latin typeface="Calibri" panose="020F0502020204030204" pitchFamily="34" charset="0"/>
              <a:cs typeface="Calibri" panose="020F0502020204030204" pitchFamily="34" charset="0"/>
            </a:endParaRP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2875702927"/>
              </p:ext>
            </p:extLst>
          </p:nvPr>
        </p:nvGraphicFramePr>
        <p:xfrm>
          <a:off x="362803" y="1447800"/>
          <a:ext cx="8534400" cy="4751269"/>
        </p:xfrm>
        <a:graphic>
          <a:graphicData uri="http://schemas.openxmlformats.org/drawingml/2006/table">
            <a:tbl>
              <a:tblPr/>
              <a:tblGrid>
                <a:gridCol w="1313597">
                  <a:extLst>
                    <a:ext uri="{9D8B030D-6E8A-4147-A177-3AD203B41FA5}">
                      <a16:colId xmlns:a16="http://schemas.microsoft.com/office/drawing/2014/main" val="20000"/>
                    </a:ext>
                  </a:extLst>
                </a:gridCol>
                <a:gridCol w="7220803">
                  <a:extLst>
                    <a:ext uri="{9D8B030D-6E8A-4147-A177-3AD203B41FA5}">
                      <a16:colId xmlns:a16="http://schemas.microsoft.com/office/drawing/2014/main" val="20001"/>
                    </a:ext>
                  </a:extLst>
                </a:gridCol>
              </a:tblGrid>
              <a:tr h="990600">
                <a:tc>
                  <a:txBody>
                    <a:bodyPr/>
                    <a:lstStyle/>
                    <a:p>
                      <a:r>
                        <a:rPr lang="en-US" sz="2000" b="0" i="0" dirty="0">
                          <a:solidFill>
                            <a:srgbClr val="000000"/>
                          </a:solidFill>
                          <a:effectLst/>
                          <a:latin typeface="Calibri" panose="020F0502020204030204" pitchFamily="34" charset="0"/>
                          <a:cs typeface="Calibri" panose="020F0502020204030204" pitchFamily="34" charset="0"/>
                        </a:rPr>
                        <a:t>Ester LAs</a:t>
                      </a:r>
                      <a:endParaRPr lang="en-US" sz="2000" dirty="0">
                        <a:effectLst/>
                        <a:latin typeface="Calibri" panose="020F0502020204030204" pitchFamily="34" charset="0"/>
                        <a:cs typeface="Calibri" panose="020F0502020204030204" pitchFamily="34" charset="0"/>
                      </a:endParaRPr>
                    </a:p>
                  </a:txBody>
                  <a:tcPr marL="71067" marR="71067" marT="35534" marB="3553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2000" b="0" i="0" dirty="0">
                          <a:solidFill>
                            <a:srgbClr val="000000"/>
                          </a:solidFill>
                          <a:effectLst/>
                          <a:latin typeface="Calibri" panose="020F0502020204030204" pitchFamily="34" charset="0"/>
                          <a:cs typeface="Calibri" panose="020F0502020204030204" pitchFamily="34" charset="0"/>
                        </a:rPr>
                        <a:t> Succinylcholine may potentiate the effects since both are</a:t>
                      </a:r>
                      <a:r>
                        <a:rPr lang="en-US" sz="2000" b="0" i="0" baseline="0" dirty="0">
                          <a:solidFill>
                            <a:srgbClr val="000000"/>
                          </a:solidFill>
                          <a:effectLst/>
                          <a:latin typeface="Calibri" panose="020F0502020204030204" pitchFamily="34" charset="0"/>
                          <a:cs typeface="Calibri" panose="020F0502020204030204" pitchFamily="34" charset="0"/>
                        </a:rPr>
                        <a:t> </a:t>
                      </a:r>
                      <a:r>
                        <a:rPr lang="en-US" sz="2000" b="0" i="0" dirty="0">
                          <a:solidFill>
                            <a:srgbClr val="000000"/>
                          </a:solidFill>
                          <a:effectLst/>
                          <a:latin typeface="Calibri" panose="020F0502020204030204" pitchFamily="34" charset="0"/>
                          <a:cs typeface="Calibri" panose="020F0502020204030204" pitchFamily="34" charset="0"/>
                        </a:rPr>
                        <a:t>dependent on pseudo-cholinesterase for metabolism.</a:t>
                      </a:r>
                      <a:endParaRPr lang="en-US" sz="2000" dirty="0">
                        <a:effectLst/>
                        <a:latin typeface="Calibri" panose="020F0502020204030204" pitchFamily="34" charset="0"/>
                        <a:cs typeface="Calibri" panose="020F0502020204030204" pitchFamily="34" charset="0"/>
                      </a:endParaRPr>
                    </a:p>
                  </a:txBody>
                  <a:tcPr marL="71067" marR="71067" marT="35534" marB="3553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62000">
                <a:tc>
                  <a:txBody>
                    <a:bodyPr/>
                    <a:lstStyle/>
                    <a:p>
                      <a:r>
                        <a:rPr lang="en-US" sz="2000" b="0" i="0" dirty="0">
                          <a:solidFill>
                            <a:srgbClr val="000000"/>
                          </a:solidFill>
                          <a:effectLst/>
                          <a:latin typeface="Calibri" panose="020F0502020204030204" pitchFamily="34" charset="0"/>
                          <a:cs typeface="Calibri" panose="020F0502020204030204" pitchFamily="34" charset="0"/>
                        </a:rPr>
                        <a:t>Ester LAs</a:t>
                      </a:r>
                      <a:endParaRPr lang="en-US" sz="2000" dirty="0">
                        <a:effectLst/>
                        <a:latin typeface="Calibri" panose="020F0502020204030204" pitchFamily="34" charset="0"/>
                        <a:cs typeface="Calibri" panose="020F0502020204030204" pitchFamily="34" charset="0"/>
                      </a:endParaRPr>
                    </a:p>
                  </a:txBody>
                  <a:tcPr marL="71067" marR="71067" marT="35534" marB="3553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2000" b="0" i="0" dirty="0">
                          <a:solidFill>
                            <a:srgbClr val="000000"/>
                          </a:solidFill>
                          <a:effectLst/>
                          <a:latin typeface="Calibri" panose="020F0502020204030204" pitchFamily="34" charset="0"/>
                          <a:cs typeface="Calibri" panose="020F0502020204030204" pitchFamily="34" charset="0"/>
                        </a:rPr>
                        <a:t>Cholinesterase inhibitors such as neostigmine &amp; pyridostigmine</a:t>
                      </a:r>
                      <a:r>
                        <a:rPr lang="en-US" sz="2000" b="0" i="0" baseline="0" dirty="0">
                          <a:solidFill>
                            <a:srgbClr val="000000"/>
                          </a:solidFill>
                          <a:effectLst/>
                          <a:latin typeface="Calibri" panose="020F0502020204030204" pitchFamily="34" charset="0"/>
                          <a:cs typeface="Calibri" panose="020F0502020204030204" pitchFamily="34" charset="0"/>
                        </a:rPr>
                        <a:t> </a:t>
                      </a:r>
                      <a:r>
                        <a:rPr lang="en-US" sz="2000" b="0" i="0" dirty="0">
                          <a:solidFill>
                            <a:srgbClr val="000000"/>
                          </a:solidFill>
                          <a:effectLst/>
                          <a:latin typeface="Calibri" panose="020F0502020204030204" pitchFamily="34" charset="0"/>
                          <a:cs typeface="Calibri" panose="020F0502020204030204" pitchFamily="34" charset="0"/>
                        </a:rPr>
                        <a:t>can lead to a decrease in the metabolism</a:t>
                      </a:r>
                      <a:r>
                        <a:rPr lang="en-US" sz="2000" b="0" i="0" baseline="0" dirty="0">
                          <a:solidFill>
                            <a:srgbClr val="000000"/>
                          </a:solidFill>
                          <a:effectLst/>
                          <a:latin typeface="Calibri" panose="020F0502020204030204" pitchFamily="34" charset="0"/>
                          <a:cs typeface="Calibri" panose="020F0502020204030204" pitchFamily="34" charset="0"/>
                        </a:rPr>
                        <a:t> </a:t>
                      </a:r>
                      <a:r>
                        <a:rPr lang="en-US" sz="2000" b="0" i="0" dirty="0">
                          <a:solidFill>
                            <a:srgbClr val="000000"/>
                          </a:solidFill>
                          <a:effectLst/>
                          <a:latin typeface="Calibri" panose="020F0502020204030204" pitchFamily="34" charset="0"/>
                          <a:cs typeface="Calibri" panose="020F0502020204030204" pitchFamily="34" charset="0"/>
                        </a:rPr>
                        <a:t>of ester local anesthetics.</a:t>
                      </a:r>
                      <a:endParaRPr lang="en-US" sz="2000" dirty="0">
                        <a:effectLst/>
                        <a:latin typeface="Calibri" panose="020F0502020204030204" pitchFamily="34" charset="0"/>
                        <a:cs typeface="Calibri" panose="020F0502020204030204" pitchFamily="34" charset="0"/>
                      </a:endParaRPr>
                    </a:p>
                  </a:txBody>
                  <a:tcPr marL="71067" marR="71067" marT="35534" marB="3553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5914">
                <a:tc>
                  <a:txBody>
                    <a:bodyPr/>
                    <a:lstStyle/>
                    <a:p>
                      <a:r>
                        <a:rPr lang="en-US" sz="2000" b="0" i="0" dirty="0">
                          <a:solidFill>
                            <a:srgbClr val="000000"/>
                          </a:solidFill>
                          <a:effectLst/>
                          <a:latin typeface="Calibri" panose="020F0502020204030204" pitchFamily="34" charset="0"/>
                          <a:cs typeface="Calibri" panose="020F0502020204030204" pitchFamily="34" charset="0"/>
                        </a:rPr>
                        <a:t>Ester LAs</a:t>
                      </a:r>
                      <a:endParaRPr lang="en-US" sz="2000" dirty="0">
                        <a:effectLst/>
                        <a:latin typeface="Calibri" panose="020F0502020204030204" pitchFamily="34" charset="0"/>
                        <a:cs typeface="Calibri" panose="020F0502020204030204" pitchFamily="34" charset="0"/>
                      </a:endParaRPr>
                    </a:p>
                  </a:txBody>
                  <a:tcPr marL="71067" marR="71067" marT="35534" marB="3553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2000" b="0" i="0" dirty="0">
                          <a:solidFill>
                            <a:srgbClr val="000000"/>
                          </a:solidFill>
                          <a:effectLst/>
                          <a:latin typeface="Calibri" panose="020F0502020204030204" pitchFamily="34" charset="0"/>
                          <a:cs typeface="Calibri" panose="020F0502020204030204" pitchFamily="34" charset="0"/>
                        </a:rPr>
                        <a:t>Decreased pseudo-cholinesterase activity during pregnancy and postpartum period.</a:t>
                      </a:r>
                      <a:endParaRPr lang="en-US" sz="2000" dirty="0">
                        <a:effectLst/>
                        <a:latin typeface="Calibri" panose="020F0502020204030204" pitchFamily="34" charset="0"/>
                        <a:cs typeface="Calibri" panose="020F0502020204030204" pitchFamily="34" charset="0"/>
                      </a:endParaRPr>
                    </a:p>
                  </a:txBody>
                  <a:tcPr marL="71067" marR="71067" marT="35534" marB="3553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85914">
                <a:tc rowSpan="2">
                  <a:txBody>
                    <a:bodyPr/>
                    <a:lstStyle/>
                    <a:p>
                      <a:r>
                        <a:rPr lang="en-US" sz="2000" b="0" i="0" dirty="0">
                          <a:solidFill>
                            <a:srgbClr val="000000"/>
                          </a:solidFill>
                          <a:effectLst/>
                          <a:latin typeface="Calibri" panose="020F0502020204030204" pitchFamily="34" charset="0"/>
                          <a:cs typeface="Calibri" panose="020F0502020204030204" pitchFamily="34" charset="0"/>
                        </a:rPr>
                        <a:t> LA in general</a:t>
                      </a:r>
                      <a:endParaRPr lang="en-US" sz="2000" dirty="0">
                        <a:effectLst/>
                        <a:latin typeface="Calibri" panose="020F0502020204030204" pitchFamily="34" charset="0"/>
                        <a:cs typeface="Calibri" panose="020F0502020204030204" pitchFamily="34" charset="0"/>
                      </a:endParaRPr>
                    </a:p>
                  </a:txBody>
                  <a:tcPr marL="71067" marR="71067" marT="35534" marB="3553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2000" b="0" i="0" dirty="0">
                          <a:solidFill>
                            <a:srgbClr val="000000"/>
                          </a:solidFill>
                          <a:effectLst/>
                          <a:latin typeface="Calibri" panose="020F0502020204030204" pitchFamily="34" charset="0"/>
                          <a:cs typeface="Calibri" panose="020F0502020204030204" pitchFamily="34" charset="0"/>
                        </a:rPr>
                        <a:t>Opioids and alpha adrenergic agonists potentiate the</a:t>
                      </a:r>
                      <a:r>
                        <a:rPr lang="en-US" sz="2000" b="0" i="0" baseline="0" dirty="0">
                          <a:solidFill>
                            <a:srgbClr val="000000"/>
                          </a:solidFill>
                          <a:effectLst/>
                          <a:latin typeface="Calibri" panose="020F0502020204030204" pitchFamily="34" charset="0"/>
                          <a:cs typeface="Calibri" panose="020F0502020204030204" pitchFamily="34" charset="0"/>
                        </a:rPr>
                        <a:t> </a:t>
                      </a:r>
                      <a:r>
                        <a:rPr lang="en-US" sz="2000" b="0" i="0" dirty="0">
                          <a:solidFill>
                            <a:srgbClr val="000000"/>
                          </a:solidFill>
                          <a:effectLst/>
                          <a:latin typeface="Calibri" panose="020F0502020204030204" pitchFamily="34" charset="0"/>
                          <a:cs typeface="Calibri" panose="020F0502020204030204" pitchFamily="34" charset="0"/>
                        </a:rPr>
                        <a:t>analgesic effects of local anesthetics.</a:t>
                      </a:r>
                      <a:endParaRPr lang="en-US" sz="2000" dirty="0">
                        <a:effectLst/>
                        <a:latin typeface="Calibri" panose="020F0502020204030204" pitchFamily="34" charset="0"/>
                        <a:cs typeface="Calibri" panose="020F0502020204030204" pitchFamily="34" charset="0"/>
                      </a:endParaRPr>
                    </a:p>
                  </a:txBody>
                  <a:tcPr marL="71067" marR="71067" marT="35534" marB="3553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41373">
                <a:tc vMerge="1">
                  <a:txBody>
                    <a:bodyPr/>
                    <a:lstStyle/>
                    <a:p>
                      <a:endParaRPr lang="en-US" sz="2400" dirty="0">
                        <a:effectLst/>
                        <a:latin typeface="Times New Roman" pitchFamily="18" charset="0"/>
                        <a:cs typeface="Times New Roman" pitchFamily="18" charset="0"/>
                      </a:endParaRPr>
                    </a:p>
                  </a:txBody>
                  <a:tcPr marL="71067" marR="71067" marT="35534" marB="3553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2000" b="0" i="0" dirty="0">
                          <a:solidFill>
                            <a:srgbClr val="000000"/>
                          </a:solidFill>
                          <a:effectLst/>
                          <a:latin typeface="Calibri" panose="020F0502020204030204" pitchFamily="34" charset="0"/>
                          <a:cs typeface="Calibri" panose="020F0502020204030204" pitchFamily="34" charset="0"/>
                        </a:rPr>
                        <a:t>Potentiate the effects of non-depolarizing muscle relaxant blockade.</a:t>
                      </a:r>
                      <a:endParaRPr lang="en-US" sz="2000" dirty="0">
                        <a:effectLst/>
                        <a:latin typeface="Calibri" panose="020F0502020204030204" pitchFamily="34" charset="0"/>
                        <a:cs typeface="Calibri" panose="020F0502020204030204" pitchFamily="34" charset="0"/>
                      </a:endParaRPr>
                    </a:p>
                  </a:txBody>
                  <a:tcPr marL="71067" marR="71067" marT="35534" marB="3553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28576">
                <a:tc>
                  <a:txBody>
                    <a:bodyPr/>
                    <a:lstStyle/>
                    <a:p>
                      <a:r>
                        <a:rPr lang="en-US" sz="2000" b="0" i="0" dirty="0">
                          <a:solidFill>
                            <a:srgbClr val="000000"/>
                          </a:solidFill>
                          <a:effectLst/>
                          <a:latin typeface="Calibri" panose="020F0502020204030204" pitchFamily="34" charset="0"/>
                          <a:cs typeface="Calibri" panose="020F0502020204030204" pitchFamily="34" charset="0"/>
                        </a:rPr>
                        <a:t>Lidocaine </a:t>
                      </a:r>
                      <a:endParaRPr lang="en-US" sz="2000" dirty="0">
                        <a:effectLst/>
                        <a:latin typeface="Calibri" panose="020F0502020204030204" pitchFamily="34" charset="0"/>
                        <a:cs typeface="Calibri" panose="020F0502020204030204" pitchFamily="34" charset="0"/>
                      </a:endParaRPr>
                    </a:p>
                  </a:txBody>
                  <a:tcPr marL="71067" marR="71067" marT="35534" marB="3553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2000" b="0" i="0" dirty="0">
                          <a:solidFill>
                            <a:srgbClr val="000000"/>
                          </a:solidFill>
                          <a:effectLst/>
                          <a:latin typeface="Calibri" panose="020F0502020204030204" pitchFamily="34" charset="0"/>
                          <a:cs typeface="Calibri" panose="020F0502020204030204" pitchFamily="34" charset="0"/>
                        </a:rPr>
                        <a:t>Cimetidine and propranolol decrease hepatic blood flow and</a:t>
                      </a:r>
                      <a:r>
                        <a:rPr lang="en-US" sz="2000" b="0" i="0" baseline="0" dirty="0">
                          <a:solidFill>
                            <a:srgbClr val="000000"/>
                          </a:solidFill>
                          <a:effectLst/>
                          <a:latin typeface="Calibri" panose="020F0502020204030204" pitchFamily="34" charset="0"/>
                          <a:cs typeface="Calibri" panose="020F0502020204030204" pitchFamily="34" charset="0"/>
                        </a:rPr>
                        <a:t> </a:t>
                      </a:r>
                      <a:r>
                        <a:rPr lang="en-US" sz="2000" b="0" i="0" dirty="0">
                          <a:solidFill>
                            <a:srgbClr val="000000"/>
                          </a:solidFill>
                          <a:effectLst/>
                          <a:latin typeface="Calibri" panose="020F0502020204030204" pitchFamily="34" charset="0"/>
                          <a:cs typeface="Calibri" panose="020F0502020204030204" pitchFamily="34" charset="0"/>
                        </a:rPr>
                        <a:t>Lidocaine clearance. </a:t>
                      </a:r>
                    </a:p>
                    <a:p>
                      <a:r>
                        <a:rPr lang="en-US" sz="2000" b="0" i="0" dirty="0">
                          <a:solidFill>
                            <a:srgbClr val="000000"/>
                          </a:solidFill>
                          <a:effectLst/>
                          <a:latin typeface="Calibri" panose="020F0502020204030204" pitchFamily="34" charset="0"/>
                          <a:cs typeface="Calibri" panose="020F0502020204030204" pitchFamily="34" charset="0"/>
                        </a:rPr>
                        <a:t>This acts to increase the risk of systemic</a:t>
                      </a:r>
                      <a:r>
                        <a:rPr lang="en-US" sz="2000" b="0" i="0" baseline="0" dirty="0">
                          <a:solidFill>
                            <a:srgbClr val="000000"/>
                          </a:solidFill>
                          <a:effectLst/>
                          <a:latin typeface="Calibri" panose="020F0502020204030204" pitchFamily="34" charset="0"/>
                          <a:cs typeface="Calibri" panose="020F0502020204030204" pitchFamily="34" charset="0"/>
                        </a:rPr>
                        <a:t> </a:t>
                      </a:r>
                      <a:r>
                        <a:rPr lang="en-US" sz="2000" b="0" i="0" dirty="0">
                          <a:solidFill>
                            <a:srgbClr val="000000"/>
                          </a:solidFill>
                          <a:effectLst/>
                          <a:latin typeface="Calibri" panose="020F0502020204030204" pitchFamily="34" charset="0"/>
                          <a:cs typeface="Calibri" panose="020F0502020204030204" pitchFamily="34" charset="0"/>
                        </a:rPr>
                        <a:t>toxicity.</a:t>
                      </a:r>
                      <a:endParaRPr lang="en-US" sz="2000" dirty="0">
                        <a:effectLst/>
                        <a:latin typeface="Calibri" panose="020F0502020204030204" pitchFamily="34" charset="0"/>
                        <a:cs typeface="Calibri" panose="020F0502020204030204" pitchFamily="34" charset="0"/>
                      </a:endParaRPr>
                    </a:p>
                  </a:txBody>
                  <a:tcPr marL="71067" marR="71067" marT="35534" marB="3553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721749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400" dirty="0">
                <a:latin typeface="Calibri" panose="020F0502020204030204" pitchFamily="34" charset="0"/>
                <a:cs typeface="Calibri" panose="020F0502020204030204" pitchFamily="34" charset="0"/>
              </a:rPr>
              <a:t>Effects of medical conditions &amp; drugs on LA dosing &amp; kinetics</a:t>
            </a:r>
          </a:p>
        </p:txBody>
      </p:sp>
      <p:sp>
        <p:nvSpPr>
          <p:cNvPr id="3" name="Content Placeholder 2"/>
          <p:cNvSpPr>
            <a:spLocks noGrp="1"/>
          </p:cNvSpPr>
          <p:nvPr>
            <p:ph sz="quarter" idx="1"/>
          </p:nvPr>
        </p:nvSpPr>
        <p:spPr/>
        <p:txBody>
          <a:bodyPr>
            <a:normAutofit/>
          </a:bodyPr>
          <a:lstStyle/>
          <a:p>
            <a:pPr>
              <a:lnSpc>
                <a:spcPct val="150000"/>
              </a:lnSpc>
              <a:buClr>
                <a:schemeClr val="tx2"/>
              </a:buClr>
              <a:buFont typeface="Wingdings" pitchFamily="2" charset="2"/>
              <a:buChar char="§"/>
            </a:pPr>
            <a:r>
              <a:rPr lang="en-US" sz="2600" dirty="0">
                <a:latin typeface="Calibri" panose="020F0502020204030204" pitchFamily="34" charset="0"/>
                <a:cs typeface="Calibri" panose="020F0502020204030204" pitchFamily="34" charset="0"/>
              </a:rPr>
              <a:t>Renal failure: </a:t>
            </a:r>
            <a:r>
              <a:rPr lang="en-US" sz="2600" dirty="0">
                <a:latin typeface="Calibri" panose="020F0502020204030204" pitchFamily="34" charset="0"/>
                <a:cs typeface="Calibri" panose="020F0502020204030204" pitchFamily="34" charset="0"/>
                <a:sym typeface=""/>
              </a:rPr>
              <a:t>↑</a:t>
            </a:r>
            <a:r>
              <a:rPr lang="en-US" sz="2600" dirty="0">
                <a:latin typeface="Calibri" panose="020F0502020204030204" pitchFamily="34" charset="0"/>
                <a:cs typeface="Calibri" panose="020F0502020204030204" pitchFamily="34" charset="0"/>
              </a:rPr>
              <a:t>accumulation of metabolic products</a:t>
            </a:r>
          </a:p>
          <a:p>
            <a:pPr>
              <a:lnSpc>
                <a:spcPct val="150000"/>
              </a:lnSpc>
              <a:buClr>
                <a:schemeClr val="tx2"/>
              </a:buClr>
              <a:buFont typeface="Wingdings" pitchFamily="2" charset="2"/>
              <a:buChar char="§"/>
            </a:pPr>
            <a:r>
              <a:rPr lang="en-US" sz="2600" dirty="0">
                <a:latin typeface="Calibri" panose="020F0502020204030204" pitchFamily="34" charset="0"/>
                <a:cs typeface="Calibri" panose="020F0502020204030204" pitchFamily="34" charset="0"/>
              </a:rPr>
              <a:t>Hepatic failure:</a:t>
            </a:r>
            <a:r>
              <a:rPr lang="en-US" sz="2600" dirty="0">
                <a:latin typeface="Calibri" panose="020F0502020204030204" pitchFamily="34" charset="0"/>
                <a:cs typeface="Calibri" panose="020F0502020204030204" pitchFamily="34" charset="0"/>
                <a:sym typeface=""/>
              </a:rPr>
              <a:t> ↓amide clearance</a:t>
            </a:r>
          </a:p>
          <a:p>
            <a:pPr>
              <a:lnSpc>
                <a:spcPct val="150000"/>
              </a:lnSpc>
              <a:buClr>
                <a:schemeClr val="tx2"/>
              </a:buClr>
              <a:buFont typeface="Wingdings" pitchFamily="2" charset="2"/>
              <a:buChar char="§"/>
            </a:pPr>
            <a:r>
              <a:rPr lang="en-US" sz="2600" dirty="0">
                <a:latin typeface="Calibri" panose="020F0502020204030204" pitchFamily="34" charset="0"/>
                <a:cs typeface="Calibri" panose="020F0502020204030204" pitchFamily="34" charset="0"/>
                <a:sym typeface=""/>
              </a:rPr>
              <a:t>Cardiac failure; </a:t>
            </a:r>
            <a:r>
              <a:rPr lang="el-GR" sz="2600" dirty="0">
                <a:latin typeface="Calibri" panose="020F0502020204030204" pitchFamily="34" charset="0"/>
                <a:cs typeface="Calibri" panose="020F0502020204030204" pitchFamily="34" charset="0"/>
                <a:sym typeface=""/>
              </a:rPr>
              <a:t>β</a:t>
            </a:r>
            <a:r>
              <a:rPr lang="en-US" sz="2600" dirty="0">
                <a:latin typeface="Calibri" panose="020F0502020204030204" pitchFamily="34" charset="0"/>
                <a:cs typeface="Calibri" panose="020F0502020204030204" pitchFamily="34" charset="0"/>
                <a:sym typeface=""/>
              </a:rPr>
              <a:t> and H2 blockers: ↓hepatic blood flow and ↓amide clearance</a:t>
            </a:r>
            <a:endParaRPr lang="en-US" sz="2600" u="sng" dirty="0">
              <a:latin typeface="Calibri" panose="020F0502020204030204" pitchFamily="34" charset="0"/>
              <a:cs typeface="Calibri" panose="020F0502020204030204" pitchFamily="34" charset="0"/>
              <a:sym typeface=""/>
            </a:endParaRPr>
          </a:p>
          <a:p>
            <a:pPr>
              <a:lnSpc>
                <a:spcPct val="150000"/>
              </a:lnSpc>
              <a:buClr>
                <a:schemeClr val="tx2"/>
              </a:buClr>
              <a:buFont typeface="Wingdings" pitchFamily="2" charset="2"/>
              <a:buChar char="§"/>
            </a:pPr>
            <a:r>
              <a:rPr lang="en-US" sz="2600" dirty="0">
                <a:latin typeface="Calibri" panose="020F0502020204030204" pitchFamily="34" charset="0"/>
                <a:cs typeface="Calibri" panose="020F0502020204030204" pitchFamily="34" charset="0"/>
                <a:sym typeface=""/>
              </a:rPr>
              <a:t>Cholinesterase deficiency or inhibition: ↓ester LA clearance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B1379-4C7E-8977-4DE8-0C6E86B45292}"/>
              </a:ext>
            </a:extLst>
          </p:cNvPr>
          <p:cNvSpPr>
            <a:spLocks noGrp="1"/>
          </p:cNvSpPr>
          <p:nvPr>
            <p:ph type="title"/>
          </p:nvPr>
        </p:nvSpPr>
        <p:spPr/>
        <p:txBody>
          <a:bodyPr>
            <a:normAutofit/>
          </a:bodyPr>
          <a:lstStyle/>
          <a:p>
            <a:pPr algn="just"/>
            <a:r>
              <a:rPr lang="en-US" sz="3200" b="0" i="0" u="none" strike="noStrike" baseline="0" dirty="0">
                <a:solidFill>
                  <a:srgbClr val="000000"/>
                </a:solidFill>
                <a:latin typeface="Calibri" panose="020F0502020204030204" pitchFamily="34" charset="0"/>
                <a:cs typeface="Calibri" panose="020F0502020204030204" pitchFamily="34" charset="0"/>
              </a:rPr>
              <a:t>Clinically important properties of LAs</a:t>
            </a:r>
            <a:r>
              <a:rPr lang="en-US" sz="3200" dirty="0">
                <a:latin typeface="Calibri" panose="020F0502020204030204" pitchFamily="34" charset="0"/>
                <a:cs typeface="Calibri" panose="020F0502020204030204" pitchFamily="34" charset="0"/>
              </a:rPr>
              <a:t> </a:t>
            </a:r>
          </a:p>
        </p:txBody>
      </p:sp>
      <p:sp>
        <p:nvSpPr>
          <p:cNvPr id="3" name="Content Placeholder 2">
            <a:extLst>
              <a:ext uri="{FF2B5EF4-FFF2-40B4-BE49-F238E27FC236}">
                <a16:creationId xmlns:a16="http://schemas.microsoft.com/office/drawing/2014/main" id="{A3272358-9809-C4B8-F0FF-F8CA8ED0523D}"/>
              </a:ext>
            </a:extLst>
          </p:cNvPr>
          <p:cNvSpPr>
            <a:spLocks noGrp="1"/>
          </p:cNvSpPr>
          <p:nvPr>
            <p:ph sz="quarter" idx="1"/>
          </p:nvPr>
        </p:nvSpPr>
        <p:spPr/>
        <p:txBody>
          <a:bodyPr>
            <a:normAutofit fontScale="92500"/>
          </a:bodyPr>
          <a:lstStyle/>
          <a:p>
            <a:pPr marR="3600">
              <a:buFont typeface="Wingdings" panose="05000000000000000000" pitchFamily="2" charset="2"/>
              <a:buChar char="q"/>
            </a:pPr>
            <a:r>
              <a:rPr lang="en-US" sz="2400" b="0" i="0" u="none" strike="noStrike" baseline="0" dirty="0">
                <a:solidFill>
                  <a:srgbClr val="000000"/>
                </a:solidFill>
                <a:latin typeface="Calibri" panose="020F0502020204030204" pitchFamily="34" charset="0"/>
                <a:cs typeface="Calibri" panose="020F0502020204030204" pitchFamily="34" charset="0"/>
              </a:rPr>
              <a:t> </a:t>
            </a:r>
            <a:r>
              <a:rPr lang="en-US" sz="2400" b="1" i="0" u="none" strike="noStrike" baseline="0" dirty="0">
                <a:solidFill>
                  <a:srgbClr val="000000"/>
                </a:solidFill>
                <a:latin typeface="Calibri" panose="020F0502020204030204" pitchFamily="34" charset="0"/>
                <a:cs typeface="Calibri" panose="020F0502020204030204" pitchFamily="34" charset="0"/>
              </a:rPr>
              <a:t>Anesthetic Potency </a:t>
            </a:r>
            <a:endParaRPr lang="en-US" sz="2400" b="0" i="0" u="none" strike="noStrike" baseline="0" dirty="0">
              <a:solidFill>
                <a:srgbClr val="000000"/>
              </a:solidFill>
              <a:latin typeface="Calibri" panose="020F0502020204030204" pitchFamily="34" charset="0"/>
              <a:cs typeface="Calibri" panose="020F0502020204030204" pitchFamily="34" charset="0"/>
            </a:endParaRPr>
          </a:p>
          <a:p>
            <a:pPr lvl="1" algn="just"/>
            <a:r>
              <a:rPr lang="en-US" sz="1900" b="0" i="0" u="none" strike="noStrike" baseline="0" dirty="0">
                <a:solidFill>
                  <a:srgbClr val="000000"/>
                </a:solidFill>
                <a:latin typeface="Calibri" panose="020F0502020204030204" pitchFamily="34" charset="0"/>
                <a:cs typeface="Calibri" panose="020F0502020204030204" pitchFamily="34" charset="0"/>
              </a:rPr>
              <a:t>Hydrophobicity is a primary determinant of intrinsic anesthetic potency</a:t>
            </a:r>
            <a:endParaRPr lang="en-US" sz="1900" dirty="0">
              <a:solidFill>
                <a:srgbClr val="0080AC"/>
              </a:solidFill>
              <a:latin typeface="Calibri" panose="020F0502020204030204" pitchFamily="34" charset="0"/>
              <a:cs typeface="Calibri" panose="020F0502020204030204" pitchFamily="34" charset="0"/>
            </a:endParaRPr>
          </a:p>
          <a:p>
            <a:pPr lvl="2" algn="just"/>
            <a:r>
              <a:rPr lang="en-US" sz="2200" b="0" i="0" u="none" strike="noStrike" baseline="0" dirty="0">
                <a:solidFill>
                  <a:srgbClr val="0080AC"/>
                </a:solidFill>
                <a:latin typeface="Calibri" panose="020F0502020204030204" pitchFamily="34" charset="0"/>
                <a:cs typeface="Calibri" panose="020F0502020204030204" pitchFamily="34" charset="0"/>
              </a:rPr>
              <a:t> </a:t>
            </a:r>
            <a:r>
              <a:rPr lang="en-US" sz="2200" b="0" i="0" u="none" strike="noStrike" baseline="0" dirty="0">
                <a:solidFill>
                  <a:srgbClr val="000000"/>
                </a:solidFill>
                <a:latin typeface="Calibri" panose="020F0502020204030204" pitchFamily="34" charset="0"/>
                <a:cs typeface="Calibri" panose="020F0502020204030204" pitchFamily="34" charset="0"/>
              </a:rPr>
              <a:t>because the LA must penetrate into the nerve membrane and bind at a partially hydrophobic site on the Na+ channel. </a:t>
            </a:r>
          </a:p>
          <a:p>
            <a:pPr marL="342900" marR="3600" lvl="2" indent="-342900">
              <a:buClr>
                <a:schemeClr val="accent1"/>
              </a:buClr>
              <a:buSzPct val="85000"/>
              <a:buFont typeface="Wingdings" panose="05000000000000000000" pitchFamily="2" charset="2"/>
              <a:buChar char="q"/>
            </a:pPr>
            <a:r>
              <a:rPr lang="en-US" sz="2400" dirty="0">
                <a:solidFill>
                  <a:srgbClr val="000000"/>
                </a:solidFill>
                <a:latin typeface="Calibri" panose="020F0502020204030204" pitchFamily="34" charset="0"/>
                <a:cs typeface="Calibri" panose="020F0502020204030204" pitchFamily="34" charset="0"/>
              </a:rPr>
              <a:t>Onset of Action </a:t>
            </a:r>
          </a:p>
          <a:p>
            <a:pPr marL="548640" marR="3600" lvl="3" indent="-274320">
              <a:buClr>
                <a:schemeClr val="accent1"/>
              </a:buClr>
              <a:buSzPct val="85000"/>
              <a:buFont typeface="Wingdings 2"/>
              <a:buChar char=""/>
            </a:pPr>
            <a:r>
              <a:rPr lang="en-US" sz="2200" dirty="0">
                <a:solidFill>
                  <a:srgbClr val="000000"/>
                </a:solidFill>
                <a:latin typeface="Calibri" panose="020F0502020204030204" pitchFamily="34" charset="0"/>
                <a:cs typeface="Calibri" panose="020F0502020204030204" pitchFamily="34" charset="0"/>
              </a:rPr>
              <a:t>It is related to the physicochemical properties of the individual agents.</a:t>
            </a:r>
          </a:p>
          <a:p>
            <a:pPr marL="548640" marR="3600" lvl="3" indent="-274320">
              <a:buClr>
                <a:schemeClr val="accent1"/>
              </a:buClr>
              <a:buSzPct val="85000"/>
              <a:buFont typeface="Wingdings 2"/>
              <a:buChar char=""/>
            </a:pPr>
            <a:r>
              <a:rPr lang="en-US" sz="2200" dirty="0">
                <a:solidFill>
                  <a:srgbClr val="000000"/>
                </a:solidFill>
                <a:latin typeface="Calibri" panose="020F0502020204030204" pitchFamily="34" charset="0"/>
                <a:cs typeface="Calibri" panose="020F0502020204030204" pitchFamily="34" charset="0"/>
              </a:rPr>
              <a:t> In vivo latency is also dependent on the dose or concentration of LA.</a:t>
            </a:r>
          </a:p>
          <a:p>
            <a:pPr marL="822960" marR="3600" lvl="4" indent="-274320">
              <a:buClr>
                <a:schemeClr val="accent1"/>
              </a:buClr>
              <a:buSzPct val="85000"/>
              <a:buFont typeface="Wingdings 2"/>
              <a:buChar char=""/>
            </a:pPr>
            <a:r>
              <a:rPr lang="en-US" sz="2200" dirty="0">
                <a:solidFill>
                  <a:srgbClr val="000000"/>
                </a:solidFill>
                <a:latin typeface="Calibri" panose="020F0502020204030204" pitchFamily="34" charset="0"/>
                <a:cs typeface="Calibri" panose="020F0502020204030204" pitchFamily="34" charset="0"/>
              </a:rPr>
              <a:t>For example, 0.75% bupivacaine has more rapid onset than 0.25%. </a:t>
            </a:r>
          </a:p>
          <a:p>
            <a:pPr marL="822960" marR="3600" lvl="4" indent="-274320">
              <a:buClr>
                <a:schemeClr val="accent1"/>
              </a:buClr>
              <a:buSzPct val="85000"/>
              <a:buFont typeface="Wingdings 2"/>
              <a:buChar char=""/>
            </a:pPr>
            <a:r>
              <a:rPr lang="en-US" sz="2200" dirty="0" err="1">
                <a:solidFill>
                  <a:srgbClr val="000000"/>
                </a:solidFill>
                <a:latin typeface="Calibri" panose="020F0502020204030204" pitchFamily="34" charset="0"/>
                <a:cs typeface="Calibri" panose="020F0502020204030204" pitchFamily="34" charset="0"/>
              </a:rPr>
              <a:t>Chloroprocaine</a:t>
            </a:r>
            <a:r>
              <a:rPr lang="en-US" sz="2200" dirty="0">
                <a:solidFill>
                  <a:srgbClr val="000000"/>
                </a:solidFill>
                <a:latin typeface="Calibri" panose="020F0502020204030204" pitchFamily="34" charset="0"/>
                <a:cs typeface="Calibri" panose="020F0502020204030204" pitchFamily="34" charset="0"/>
              </a:rPr>
              <a:t> demonstrates a rapid onset of action in humans because its low systemic toxicity permits its use in high concentrations (3%).</a:t>
            </a:r>
          </a:p>
        </p:txBody>
      </p:sp>
    </p:spTree>
    <p:extLst>
      <p:ext uri="{BB962C8B-B14F-4D97-AF65-F5344CB8AC3E}">
        <p14:creationId xmlns:p14="http://schemas.microsoft.com/office/powerpoint/2010/main" val="26000620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EF2D1-CB31-4FD2-1B62-DFEC15E433AD}"/>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p>
        </p:txBody>
      </p:sp>
      <p:sp>
        <p:nvSpPr>
          <p:cNvPr id="3" name="Content Placeholder 2">
            <a:extLst>
              <a:ext uri="{FF2B5EF4-FFF2-40B4-BE49-F238E27FC236}">
                <a16:creationId xmlns:a16="http://schemas.microsoft.com/office/drawing/2014/main" id="{C1CF947E-1BF2-01C4-585E-9145A3B847D4}"/>
              </a:ext>
            </a:extLst>
          </p:cNvPr>
          <p:cNvSpPr>
            <a:spLocks noGrp="1"/>
          </p:cNvSpPr>
          <p:nvPr>
            <p:ph sz="quarter" idx="1"/>
          </p:nvPr>
        </p:nvSpPr>
        <p:spPr/>
        <p:txBody>
          <a:bodyPr>
            <a:normAutofit/>
          </a:bodyPr>
          <a:lstStyle/>
          <a:p>
            <a:pPr>
              <a:buFont typeface="Wingdings" panose="05000000000000000000" pitchFamily="2" charset="2"/>
              <a:buChar char="q"/>
            </a:pPr>
            <a:r>
              <a:rPr lang="en-US" sz="2400" b="1" i="0" u="none" strike="noStrike" baseline="0" dirty="0">
                <a:solidFill>
                  <a:srgbClr val="000000"/>
                </a:solidFill>
                <a:latin typeface="Calibri" panose="020F0502020204030204" pitchFamily="34" charset="0"/>
                <a:cs typeface="Calibri" panose="020F0502020204030204" pitchFamily="34" charset="0"/>
              </a:rPr>
              <a:t>Duration of Action </a:t>
            </a:r>
          </a:p>
          <a:p>
            <a:r>
              <a:rPr lang="en-US" sz="2400" b="0" i="0" u="none" strike="noStrike" baseline="0" dirty="0">
                <a:solidFill>
                  <a:srgbClr val="000000"/>
                </a:solidFill>
                <a:latin typeface="Calibri" panose="020F0502020204030204" pitchFamily="34" charset="0"/>
                <a:cs typeface="Calibri" panose="020F0502020204030204" pitchFamily="34" charset="0"/>
              </a:rPr>
              <a:t>The duration of action of the various LAs differs markedly. </a:t>
            </a:r>
          </a:p>
          <a:p>
            <a:r>
              <a:rPr lang="en-US" sz="2400" b="0" i="0" u="none" strike="noStrike" baseline="0" dirty="0">
                <a:solidFill>
                  <a:srgbClr val="000000"/>
                </a:solidFill>
                <a:latin typeface="Calibri" panose="020F0502020204030204" pitchFamily="34" charset="0"/>
                <a:cs typeface="Calibri" panose="020F0502020204030204" pitchFamily="34" charset="0"/>
              </a:rPr>
              <a:t>The duration of anesthesia is markedly influenced by the peripheral vascular effects of the local anesthetic drugs. </a:t>
            </a:r>
          </a:p>
          <a:p>
            <a:r>
              <a:rPr lang="en-US" sz="2400" dirty="0">
                <a:latin typeface="Calibri" panose="020F0502020204030204" pitchFamily="34" charset="0"/>
                <a:cs typeface="Calibri" panose="020F0502020204030204" pitchFamily="34" charset="0"/>
              </a:rPr>
              <a:t>Many LAs have a biphasic effect on vascular smooth muscle;</a:t>
            </a:r>
          </a:p>
          <a:p>
            <a:pPr lvl="1"/>
            <a:r>
              <a:rPr lang="en-US" sz="1900" dirty="0">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at low concentrations, they cause vasoconstriction, </a:t>
            </a:r>
          </a:p>
          <a:p>
            <a:pPr lvl="1"/>
            <a:r>
              <a:rPr lang="en-US" sz="2400" dirty="0">
                <a:latin typeface="Calibri" panose="020F0502020204030204" pitchFamily="34" charset="0"/>
                <a:cs typeface="Calibri" panose="020F0502020204030204" pitchFamily="34" charset="0"/>
              </a:rPr>
              <a:t>whereas at higher concentrations, they cause vasodilation.</a:t>
            </a:r>
          </a:p>
          <a:p>
            <a:pPr lvl="2"/>
            <a:r>
              <a:rPr lang="en-US" sz="2200" dirty="0">
                <a:solidFill>
                  <a:srgbClr val="FF0000"/>
                </a:solidFill>
                <a:latin typeface="Calibri" panose="020F0502020204030204" pitchFamily="34" charset="0"/>
                <a:cs typeface="Calibri" panose="020F0502020204030204" pitchFamily="34" charset="0"/>
              </a:rPr>
              <a:t>E.g., EMLA</a:t>
            </a:r>
          </a:p>
        </p:txBody>
      </p:sp>
    </p:spTree>
    <p:extLst>
      <p:ext uri="{BB962C8B-B14F-4D97-AF65-F5344CB8AC3E}">
        <p14:creationId xmlns:p14="http://schemas.microsoft.com/office/powerpoint/2010/main" val="17998756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9828C-1EA3-8DF3-D77E-C8716185442D}"/>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endParaRPr lang="en-US" dirty="0"/>
          </a:p>
        </p:txBody>
      </p:sp>
      <p:sp>
        <p:nvSpPr>
          <p:cNvPr id="3" name="Content Placeholder 2">
            <a:extLst>
              <a:ext uri="{FF2B5EF4-FFF2-40B4-BE49-F238E27FC236}">
                <a16:creationId xmlns:a16="http://schemas.microsoft.com/office/drawing/2014/main" id="{41AAA2DC-91E2-56A7-E0A4-D082E9146173}"/>
              </a:ext>
            </a:extLst>
          </p:cNvPr>
          <p:cNvSpPr>
            <a:spLocks noGrp="1"/>
          </p:cNvSpPr>
          <p:nvPr>
            <p:ph sz="quarter" idx="1"/>
          </p:nvPr>
        </p:nvSpPr>
        <p:spPr/>
        <p:txBody>
          <a:bodyPr>
            <a:normAutofit/>
          </a:bodyPr>
          <a:lstStyle/>
          <a:p>
            <a:r>
              <a:rPr lang="en-US" sz="2400" b="1" i="0" u="none" strike="noStrike" baseline="0" dirty="0">
                <a:solidFill>
                  <a:srgbClr val="000000"/>
                </a:solidFill>
                <a:latin typeface="Calibri" panose="020F0502020204030204" pitchFamily="34" charset="0"/>
                <a:cs typeface="Calibri" panose="020F0502020204030204" pitchFamily="34" charset="0"/>
              </a:rPr>
              <a:t>Differential Sensory and Motor Blockade</a:t>
            </a:r>
          </a:p>
          <a:p>
            <a:pPr lvl="1"/>
            <a:r>
              <a:rPr lang="en-US" sz="1900" b="0" i="0" u="none" strike="noStrike" baseline="0" dirty="0">
                <a:solidFill>
                  <a:srgbClr val="000000"/>
                </a:solidFill>
                <a:latin typeface="Calibri" panose="020F0502020204030204" pitchFamily="34" charset="0"/>
                <a:cs typeface="Calibri" panose="020F0502020204030204" pitchFamily="34" charset="0"/>
              </a:rPr>
              <a:t>LAs cause differential inhibition of sensory and motor activity</a:t>
            </a:r>
          </a:p>
          <a:p>
            <a:pPr lvl="2"/>
            <a:r>
              <a:rPr lang="en-US" sz="2200" b="0" i="0" u="none" strike="noStrike" baseline="0" dirty="0">
                <a:solidFill>
                  <a:srgbClr val="000000"/>
                </a:solidFill>
                <a:latin typeface="Calibri" panose="020F0502020204030204" pitchFamily="34" charset="0"/>
                <a:cs typeface="Calibri" panose="020F0502020204030204" pitchFamily="34" charset="0"/>
              </a:rPr>
              <a:t>Bupivacaine is widely used epidurally for obstetric analgesia and postoperative pain management </a:t>
            </a:r>
          </a:p>
          <a:p>
            <a:pPr lvl="3"/>
            <a:r>
              <a:rPr lang="en-US" sz="2200" b="0" i="0" u="none" strike="noStrike" baseline="0" dirty="0">
                <a:solidFill>
                  <a:srgbClr val="000000"/>
                </a:solidFill>
                <a:latin typeface="Calibri" panose="020F0502020204030204" pitchFamily="34" charset="0"/>
                <a:cs typeface="Calibri" panose="020F0502020204030204" pitchFamily="34" charset="0"/>
              </a:rPr>
              <a:t>because it can provide acceptable analgesia with only mild muscle weakness.</a:t>
            </a:r>
            <a:endParaRPr 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57123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US" dirty="0">
                <a:latin typeface="Calibri" panose="020F0502020204030204" pitchFamily="34" charset="0"/>
                <a:cs typeface="Calibri" panose="020F0502020204030204" pitchFamily="34" charset="0"/>
              </a:rPr>
              <a:t>Specific local anesthetic agents</a:t>
            </a:r>
          </a:p>
        </p:txBody>
      </p:sp>
      <p:sp>
        <p:nvSpPr>
          <p:cNvPr id="3" name="Content Placeholder 2"/>
          <p:cNvSpPr>
            <a:spLocks noGrp="1"/>
          </p:cNvSpPr>
          <p:nvPr>
            <p:ph sz="quarter" idx="1"/>
          </p:nvPr>
        </p:nvSpPr>
        <p:spPr>
          <a:xfrm>
            <a:off x="301752" y="1219200"/>
            <a:ext cx="8613648" cy="5410200"/>
          </a:xfrm>
        </p:spPr>
        <p:txBody>
          <a:bodyPr>
            <a:noAutofit/>
          </a:bodyPr>
          <a:lstStyle/>
          <a:p>
            <a:pPr>
              <a:buFont typeface="Wingdings" panose="05000000000000000000" pitchFamily="2" charset="2"/>
              <a:buChar char="q"/>
            </a:pPr>
            <a:r>
              <a:rPr lang="en-US" sz="2800" b="1" dirty="0">
                <a:latin typeface="Calibri" panose="020F0502020204030204" pitchFamily="34" charset="0"/>
                <a:cs typeface="Calibri" panose="020F0502020204030204" pitchFamily="34" charset="0"/>
              </a:rPr>
              <a:t>A. Amino Ester Agents</a:t>
            </a:r>
          </a:p>
          <a:p>
            <a:pPr>
              <a:buFont typeface="Wingdings" panose="05000000000000000000" pitchFamily="2" charset="2"/>
              <a:buChar char="Ø"/>
            </a:pPr>
            <a:r>
              <a:rPr lang="en-US" sz="2400" b="1" dirty="0">
                <a:latin typeface="Calibri" panose="020F0502020204030204" pitchFamily="34" charset="0"/>
                <a:cs typeface="Calibri" panose="020F0502020204030204" pitchFamily="34" charset="0"/>
              </a:rPr>
              <a:t> </a:t>
            </a:r>
            <a:r>
              <a:rPr lang="en-US" sz="2800" b="1" dirty="0">
                <a:latin typeface="Calibri" panose="020F0502020204030204" pitchFamily="34" charset="0"/>
                <a:cs typeface="Calibri" panose="020F0502020204030204" pitchFamily="34" charset="0"/>
              </a:rPr>
              <a:t>Cocaine</a:t>
            </a:r>
            <a:r>
              <a:rPr lang="en-US" sz="2400" b="1" dirty="0">
                <a:latin typeface="Calibri" panose="020F0502020204030204" pitchFamily="34" charset="0"/>
                <a:cs typeface="Calibri" panose="020F0502020204030204" pitchFamily="34" charset="0"/>
              </a:rPr>
              <a:t> </a:t>
            </a:r>
          </a:p>
          <a:p>
            <a:r>
              <a:rPr lang="en-US" sz="2000" dirty="0">
                <a:latin typeface="Calibri" panose="020F0502020204030204" pitchFamily="34" charset="0"/>
                <a:cs typeface="Calibri" panose="020F0502020204030204" pitchFamily="34" charset="0"/>
              </a:rPr>
              <a:t>High potential for systemic toxicity</a:t>
            </a:r>
          </a:p>
          <a:p>
            <a:pPr lvl="1"/>
            <a:r>
              <a:rPr lang="en-US" sz="2000" dirty="0">
                <a:latin typeface="Calibri" panose="020F0502020204030204" pitchFamily="34" charset="0"/>
                <a:cs typeface="Calibri" panose="020F0502020204030204" pitchFamily="34" charset="0"/>
              </a:rPr>
              <a:t> due to reduced (block ) catecholamine uptake in both the central</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and peripheral nervous systems </a:t>
            </a:r>
          </a:p>
          <a:p>
            <a:r>
              <a:rPr lang="en-US" sz="2000" dirty="0">
                <a:latin typeface="Calibri" panose="020F0502020204030204" pitchFamily="34" charset="0"/>
                <a:cs typeface="Calibri" panose="020F0502020204030204" pitchFamily="34" charset="0"/>
              </a:rPr>
              <a:t> High addiction liabilities </a:t>
            </a:r>
          </a:p>
          <a:p>
            <a:r>
              <a:rPr lang="en-US" sz="2000" dirty="0">
                <a:latin typeface="Calibri" panose="020F0502020204030204" pitchFamily="34" charset="0"/>
                <a:cs typeface="Calibri" panose="020F0502020204030204" pitchFamily="34" charset="0"/>
              </a:rPr>
              <a:t>Excellent topical anesthesia agent and also</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produces vasoconstriction at clinically useful concentrations </a:t>
            </a:r>
          </a:p>
          <a:p>
            <a:r>
              <a:rPr lang="en-US" sz="2000" dirty="0">
                <a:latin typeface="Calibri" panose="020F0502020204030204" pitchFamily="34" charset="0"/>
                <a:cs typeface="Calibri" panose="020F0502020204030204" pitchFamily="34" charset="0"/>
              </a:rPr>
              <a:t>Euphoric</a:t>
            </a:r>
          </a:p>
          <a:p>
            <a:pPr lvl="1"/>
            <a:r>
              <a:rPr lang="en-US" sz="2000" dirty="0">
                <a:latin typeface="Calibri" panose="020F0502020204030204" pitchFamily="34" charset="0"/>
                <a:cs typeface="Calibri" panose="020F0502020204030204" pitchFamily="34" charset="0"/>
              </a:rPr>
              <a:t>due primarily to inhibition of catecholamine uptake, particularly dopamine, in the CNS </a:t>
            </a:r>
          </a:p>
          <a:p>
            <a:r>
              <a:rPr lang="en-US" sz="2000" dirty="0">
                <a:latin typeface="Calibri" panose="020F0502020204030204" pitchFamily="34" charset="0"/>
                <a:cs typeface="Calibri" panose="020F0502020204030204" pitchFamily="34" charset="0"/>
              </a:rPr>
              <a:t>sensitization to catecholamines, vasoconstriction, or mydriasis </a:t>
            </a:r>
          </a:p>
          <a:p>
            <a:r>
              <a:rPr lang="en-US" sz="2000" dirty="0">
                <a:latin typeface="Calibri" panose="020F0502020204030204" pitchFamily="34" charset="0"/>
                <a:cs typeface="Calibri" panose="020F0502020204030204" pitchFamily="34" charset="0"/>
              </a:rPr>
              <a:t>A safe dose of cocaine for surface analgesia is 2 ml of 4% solution </a:t>
            </a:r>
            <a:br>
              <a:rPr lang="en-US" sz="2000" dirty="0">
                <a:latin typeface="Calibri" panose="020F0502020204030204" pitchFamily="34" charset="0"/>
                <a:cs typeface="Calibri" panose="020F0502020204030204" pitchFamily="34" charset="0"/>
              </a:rPr>
            </a:br>
            <a:br>
              <a:rPr lang="en-US" sz="2000" dirty="0">
                <a:latin typeface="Calibri" panose="020F0502020204030204" pitchFamily="34" charset="0"/>
                <a:cs typeface="Calibri" panose="020F0502020204030204" pitchFamily="34" charset="0"/>
              </a:rPr>
            </a:br>
            <a:br>
              <a:rPr lang="en-US" sz="2000" dirty="0">
                <a:latin typeface="Calibri" panose="020F0502020204030204" pitchFamily="34" charset="0"/>
                <a:cs typeface="Calibri" panose="020F0502020204030204" pitchFamily="34" charset="0"/>
              </a:rPr>
            </a:b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690192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Cont.…</a:t>
            </a:r>
          </a:p>
        </p:txBody>
      </p:sp>
      <p:sp>
        <p:nvSpPr>
          <p:cNvPr id="3" name="Content Placeholder 2"/>
          <p:cNvSpPr>
            <a:spLocks noGrp="1"/>
          </p:cNvSpPr>
          <p:nvPr>
            <p:ph sz="quarter" idx="1"/>
          </p:nvPr>
        </p:nvSpPr>
        <p:spPr>
          <a:xfrm>
            <a:off x="301752" y="987552"/>
            <a:ext cx="8613648" cy="5641848"/>
          </a:xfrm>
        </p:spPr>
        <p:txBody>
          <a:bodyPr>
            <a:noAutofit/>
          </a:bodyPr>
          <a:lstStyle/>
          <a:p>
            <a:pPr>
              <a:buFont typeface="Wingdings" panose="05000000000000000000" pitchFamily="2" charset="2"/>
              <a:buChar char="Ø"/>
            </a:pPr>
            <a:r>
              <a:rPr lang="en-US" sz="3200" b="1" dirty="0">
                <a:latin typeface="Calibri" panose="020F0502020204030204" pitchFamily="34" charset="0"/>
                <a:cs typeface="Calibri" panose="020F0502020204030204" pitchFamily="34" charset="0"/>
              </a:rPr>
              <a:t>Procaine</a:t>
            </a:r>
            <a:r>
              <a:rPr lang="en-US" sz="2400" b="1" dirty="0">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 </a:t>
            </a:r>
          </a:p>
          <a:p>
            <a:pPr>
              <a:buFont typeface="Wingdings" panose="05000000000000000000" pitchFamily="2" charset="2"/>
              <a:buChar char="Ø"/>
            </a:pPr>
            <a:r>
              <a:rPr lang="en-US" sz="2400" dirty="0">
                <a:latin typeface="Calibri" panose="020F0502020204030204" pitchFamily="34" charset="0"/>
                <a:cs typeface="Calibri" panose="020F0502020204030204" pitchFamily="34" charset="0"/>
              </a:rPr>
              <a:t>Introduced in 1905. </a:t>
            </a:r>
          </a:p>
          <a:p>
            <a:r>
              <a:rPr lang="en-US" sz="2400" dirty="0">
                <a:latin typeface="Calibri" panose="020F0502020204030204" pitchFamily="34" charset="0"/>
                <a:cs typeface="Calibri" panose="020F0502020204030204" pitchFamily="34" charset="0"/>
              </a:rPr>
              <a:t>It is a relatively weak local anesthetic with a slow</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onset &amp; short duration of action. </a:t>
            </a:r>
          </a:p>
          <a:p>
            <a:r>
              <a:rPr lang="en-US" sz="2400" dirty="0">
                <a:latin typeface="Calibri" panose="020F0502020204030204" pitchFamily="34" charset="0"/>
                <a:cs typeface="Calibri" panose="020F0502020204030204" pitchFamily="34" charset="0"/>
              </a:rPr>
              <a:t>It has been supplanted by newer agents, and</a:t>
            </a:r>
          </a:p>
          <a:p>
            <a:pPr lvl="1"/>
            <a:r>
              <a:rPr lang="en-US" sz="2400" dirty="0">
                <a:latin typeface="Calibri" panose="020F0502020204030204" pitchFamily="34" charset="0"/>
                <a:cs typeface="Calibri" panose="020F0502020204030204" pitchFamily="34" charset="0"/>
              </a:rPr>
              <a:t> its use now is confined to</a:t>
            </a:r>
          </a:p>
          <a:p>
            <a:pPr lvl="2"/>
            <a:r>
              <a:rPr lang="en-US" sz="2400" dirty="0">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infiltration anesthesia   (0.5%),</a:t>
            </a:r>
          </a:p>
          <a:p>
            <a:pPr lvl="2"/>
            <a:r>
              <a:rPr lang="en-US" sz="2200" dirty="0">
                <a:latin typeface="Calibri" panose="020F0502020204030204" pitchFamily="34" charset="0"/>
                <a:cs typeface="Calibri" panose="020F0502020204030204" pitchFamily="34" charset="0"/>
              </a:rPr>
              <a:t>peripheral nerves 1-2% and</a:t>
            </a:r>
          </a:p>
          <a:p>
            <a:pPr lvl="2"/>
            <a:r>
              <a:rPr lang="en-US" sz="2200" dirty="0">
                <a:latin typeface="Calibri" panose="020F0502020204030204" pitchFamily="34" charset="0"/>
                <a:cs typeface="Calibri" panose="020F0502020204030204" pitchFamily="34" charset="0"/>
              </a:rPr>
              <a:t> obstetric spinal anesthesia. </a:t>
            </a:r>
          </a:p>
          <a:p>
            <a:r>
              <a:rPr lang="en-US" sz="2400" dirty="0">
                <a:latin typeface="Calibri" panose="020F0502020204030204" pitchFamily="34" charset="0"/>
                <a:cs typeface="Calibri" panose="020F0502020204030204" pitchFamily="34" charset="0"/>
              </a:rPr>
              <a:t>It is ineffective for topical application. </a:t>
            </a:r>
          </a:p>
          <a:p>
            <a:r>
              <a:rPr lang="en-US" sz="2400" dirty="0">
                <a:latin typeface="Calibri" panose="020F0502020204030204" pitchFamily="34" charset="0"/>
                <a:cs typeface="Calibri" panose="020F0502020204030204" pitchFamily="34" charset="0"/>
              </a:rPr>
              <a:t>Its relatively low potency and rapid plasma hydrolysis are responsible for procaine's low systemic toxicity. </a:t>
            </a:r>
          </a:p>
          <a:p>
            <a:r>
              <a:rPr lang="en-US" sz="2400" dirty="0">
                <a:solidFill>
                  <a:srgbClr val="FF0000"/>
                </a:solidFill>
                <a:latin typeface="Calibri" panose="020F0502020204030204" pitchFamily="34" charset="0"/>
                <a:cs typeface="Calibri" panose="020F0502020204030204" pitchFamily="34" charset="0"/>
              </a:rPr>
              <a:t>Maximal dose is 800-1000 mg. </a:t>
            </a:r>
            <a:br>
              <a:rPr lang="en-US" sz="2400" dirty="0">
                <a:solidFill>
                  <a:srgbClr val="FF0000"/>
                </a:solidFill>
                <a:latin typeface="Calibri" panose="020F0502020204030204" pitchFamily="34" charset="0"/>
                <a:cs typeface="Calibri" panose="020F0502020204030204" pitchFamily="34" charset="0"/>
              </a:rPr>
            </a:br>
            <a:endParaRPr lang="en-US" sz="2400"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73378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p>
        </p:txBody>
      </p:sp>
      <p:sp>
        <p:nvSpPr>
          <p:cNvPr id="3" name="Content Placeholder 2"/>
          <p:cNvSpPr>
            <a:spLocks noGrp="1"/>
          </p:cNvSpPr>
          <p:nvPr>
            <p:ph sz="quarter" idx="1"/>
          </p:nvPr>
        </p:nvSpPr>
        <p:spPr>
          <a:xfrm>
            <a:off x="301752" y="1066800"/>
            <a:ext cx="8613648" cy="5562600"/>
          </a:xfrm>
        </p:spPr>
        <p:txBody>
          <a:bodyPr>
            <a:normAutofit/>
          </a:bodyPr>
          <a:lstStyle/>
          <a:p>
            <a:pPr marL="0" indent="0">
              <a:buNone/>
            </a:pPr>
            <a:r>
              <a:rPr lang="en-US" sz="2400" b="1" dirty="0">
                <a:latin typeface="Calibri" panose="020F0502020204030204" pitchFamily="34" charset="0"/>
                <a:cs typeface="Calibri" panose="020F0502020204030204" pitchFamily="34" charset="0"/>
              </a:rPr>
              <a:t>3. Chloroprocaine </a:t>
            </a:r>
          </a:p>
          <a:p>
            <a:r>
              <a:rPr lang="en-US" sz="2400" dirty="0">
                <a:latin typeface="Calibri" panose="020F0502020204030204" pitchFamily="34" charset="0"/>
                <a:cs typeface="Calibri" panose="020F0502020204030204" pitchFamily="34" charset="0"/>
              </a:rPr>
              <a:t>Rapid onset of action</a:t>
            </a:r>
          </a:p>
          <a:p>
            <a:r>
              <a:rPr lang="en-US" sz="2400" dirty="0">
                <a:latin typeface="Calibri" panose="020F0502020204030204" pitchFamily="34" charset="0"/>
                <a:cs typeface="Calibri" panose="020F0502020204030204" pitchFamily="34" charset="0"/>
              </a:rPr>
              <a:t>Short duration of action :30 to 60 minutes </a:t>
            </a:r>
          </a:p>
          <a:p>
            <a:r>
              <a:rPr lang="en-US" sz="2400" dirty="0">
                <a:latin typeface="Calibri" panose="020F0502020204030204" pitchFamily="34" charset="0"/>
                <a:cs typeface="Calibri" panose="020F0502020204030204" pitchFamily="34" charset="0"/>
              </a:rPr>
              <a:t> Low systemic toxicity </a:t>
            </a:r>
          </a:p>
          <a:p>
            <a:r>
              <a:rPr lang="en-US" sz="2400" dirty="0">
                <a:latin typeface="Calibri" panose="020F0502020204030204" pitchFamily="34" charset="0"/>
                <a:cs typeface="Calibri" panose="020F0502020204030204" pitchFamily="34" charset="0"/>
              </a:rPr>
              <a:t>It is primarily employed for epidural analgesia and anesthesia in a concentration of 3 % in obstetrics </a:t>
            </a:r>
          </a:p>
          <a:p>
            <a:pPr lvl="1"/>
            <a:r>
              <a:rPr lang="en-US" sz="2000" dirty="0">
                <a:latin typeface="Calibri" panose="020F0502020204030204" pitchFamily="34" charset="0"/>
                <a:cs typeface="Calibri" panose="020F0502020204030204" pitchFamily="34" charset="0"/>
              </a:rPr>
              <a:t>because of its rapid onset and low system toxicity in the mother and fetus </a:t>
            </a:r>
          </a:p>
          <a:p>
            <a:r>
              <a:rPr lang="en-US" sz="2400" dirty="0">
                <a:latin typeface="Calibri" panose="020F0502020204030204" pitchFamily="34" charset="0"/>
                <a:cs typeface="Calibri" panose="020F0502020204030204" pitchFamily="34" charset="0"/>
              </a:rPr>
              <a:t> It is in effective for topical application. </a:t>
            </a:r>
          </a:p>
          <a:p>
            <a:r>
              <a:rPr lang="en-US" sz="2400" dirty="0">
                <a:latin typeface="Calibri" panose="020F0502020204030204" pitchFamily="34" charset="0"/>
                <a:cs typeface="Calibri" panose="020F0502020204030204" pitchFamily="34" charset="0"/>
              </a:rPr>
              <a:t>Maximal dose is 800-1000 mg </a:t>
            </a:r>
            <a:br>
              <a:rPr lang="en-US" sz="2400" dirty="0">
                <a:latin typeface="Calibri" panose="020F0502020204030204" pitchFamily="34" charset="0"/>
                <a:cs typeface="Calibri" panose="020F0502020204030204" pitchFamily="34" charset="0"/>
              </a:rPr>
            </a:b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325989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p>
        </p:txBody>
      </p:sp>
      <p:sp>
        <p:nvSpPr>
          <p:cNvPr id="3" name="Content Placeholder 2"/>
          <p:cNvSpPr>
            <a:spLocks noGrp="1"/>
          </p:cNvSpPr>
          <p:nvPr>
            <p:ph sz="quarter" idx="1"/>
          </p:nvPr>
        </p:nvSpPr>
        <p:spPr/>
        <p:txBody>
          <a:bodyPr>
            <a:normAutofit fontScale="85000" lnSpcReduction="20000"/>
          </a:bodyPr>
          <a:lstStyle/>
          <a:p>
            <a:pPr marL="0" indent="0">
              <a:buNone/>
            </a:pPr>
            <a:r>
              <a:rPr lang="en-US" sz="3300" b="1" dirty="0">
                <a:latin typeface="Calibri" panose="020F0502020204030204" pitchFamily="34" charset="0"/>
                <a:cs typeface="Calibri" panose="020F0502020204030204" pitchFamily="34" charset="0"/>
              </a:rPr>
              <a:t>4. Tetracaine </a:t>
            </a:r>
          </a:p>
          <a:p>
            <a:r>
              <a:rPr lang="en-US" dirty="0">
                <a:latin typeface="Calibri" panose="020F0502020204030204" pitchFamily="34" charset="0"/>
                <a:cs typeface="Calibri" panose="020F0502020204030204" pitchFamily="34" charset="0"/>
              </a:rPr>
              <a:t> long-acting amino ester. </a:t>
            </a:r>
          </a:p>
          <a:p>
            <a:r>
              <a:rPr lang="en-US" dirty="0">
                <a:latin typeface="Calibri" panose="020F0502020204030204" pitchFamily="34" charset="0"/>
                <a:cs typeface="Calibri" panose="020F0502020204030204" pitchFamily="34" charset="0"/>
              </a:rPr>
              <a:t>It is significantly more potent and </a:t>
            </a:r>
          </a:p>
          <a:p>
            <a:r>
              <a:rPr lang="en-US" dirty="0">
                <a:latin typeface="Calibri" panose="020F0502020204030204" pitchFamily="34" charset="0"/>
                <a:cs typeface="Calibri" panose="020F0502020204030204" pitchFamily="34" charset="0"/>
              </a:rPr>
              <a:t>It has a longer duration of action than procaine. </a:t>
            </a:r>
          </a:p>
          <a:p>
            <a:r>
              <a:rPr lang="en-US" dirty="0">
                <a:latin typeface="Calibri" panose="020F0502020204030204" pitchFamily="34" charset="0"/>
                <a:cs typeface="Calibri" panose="020F0502020204030204" pitchFamily="34" charset="0"/>
              </a:rPr>
              <a:t> increased systemic toxicity </a:t>
            </a:r>
          </a:p>
          <a:p>
            <a:pPr lvl="1"/>
            <a:r>
              <a:rPr lang="en-US" dirty="0">
                <a:latin typeface="Calibri" panose="020F0502020204030204" pitchFamily="34" charset="0"/>
                <a:cs typeface="Calibri" panose="020F0502020204030204" pitchFamily="34" charset="0"/>
              </a:rPr>
              <a:t>because it is more slowly metabolized than the other commonly used ester local anesthetics. </a:t>
            </a:r>
          </a:p>
          <a:p>
            <a:r>
              <a:rPr lang="en-US" dirty="0">
                <a:latin typeface="Calibri" panose="020F0502020204030204" pitchFamily="34" charset="0"/>
                <a:cs typeface="Calibri" panose="020F0502020204030204" pitchFamily="34" charset="0"/>
              </a:rPr>
              <a:t>Currently, it is widely used in spinal anesthesia (0.25-1%) when a drug of long duration is needed. </a:t>
            </a:r>
          </a:p>
          <a:p>
            <a:r>
              <a:rPr lang="en-US" dirty="0">
                <a:latin typeface="Calibri" panose="020F0502020204030204" pitchFamily="34" charset="0"/>
                <a:cs typeface="Calibri" panose="020F0502020204030204" pitchFamily="34" charset="0"/>
              </a:rPr>
              <a:t> Topical anesthetic (1-2%). </a:t>
            </a:r>
          </a:p>
          <a:p>
            <a:r>
              <a:rPr lang="en-US" dirty="0">
                <a:latin typeface="Calibri" panose="020F0502020204030204" pitchFamily="34" charset="0"/>
                <a:cs typeface="Calibri" panose="020F0502020204030204" pitchFamily="34" charset="0"/>
              </a:rPr>
              <a:t> It is rarely used in peripheral nerve blocks because of </a:t>
            </a:r>
          </a:p>
          <a:p>
            <a:pPr lvl="1"/>
            <a:r>
              <a:rPr lang="en-US" dirty="0">
                <a:latin typeface="Calibri" panose="020F0502020204030204" pitchFamily="34" charset="0"/>
                <a:cs typeface="Calibri" panose="020F0502020204030204" pitchFamily="34" charset="0"/>
              </a:rPr>
              <a:t>the large doses often necessary, its slow onset, and its potential for toxicity </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631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534400" cy="758952"/>
          </a:xfrm>
        </p:spPr>
        <p:txBody>
          <a:bodyPr>
            <a:noAutofit/>
          </a:bodyPr>
          <a:lstStyle/>
          <a:p>
            <a:r>
              <a:rPr lang="en-US" sz="2800" b="1" dirty="0"/>
              <a:t>Summary of Common ester Local Anesthetics</a:t>
            </a:r>
            <a:endParaRPr lang="en-US" sz="2800"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4012938485"/>
              </p:ext>
            </p:extLst>
          </p:nvPr>
        </p:nvGraphicFramePr>
        <p:xfrm>
          <a:off x="152400" y="807720"/>
          <a:ext cx="8839200" cy="603504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0000"/>
                    </a:ext>
                  </a:extLst>
                </a:gridCol>
                <a:gridCol w="743953">
                  <a:extLst>
                    <a:ext uri="{9D8B030D-6E8A-4147-A177-3AD203B41FA5}">
                      <a16:colId xmlns:a16="http://schemas.microsoft.com/office/drawing/2014/main" val="20001"/>
                    </a:ext>
                  </a:extLst>
                </a:gridCol>
                <a:gridCol w="1016668">
                  <a:extLst>
                    <a:ext uri="{9D8B030D-6E8A-4147-A177-3AD203B41FA5}">
                      <a16:colId xmlns:a16="http://schemas.microsoft.com/office/drawing/2014/main" val="20002"/>
                    </a:ext>
                  </a:extLst>
                </a:gridCol>
                <a:gridCol w="1016668">
                  <a:extLst>
                    <a:ext uri="{9D8B030D-6E8A-4147-A177-3AD203B41FA5}">
                      <a16:colId xmlns:a16="http://schemas.microsoft.com/office/drawing/2014/main" val="20003"/>
                    </a:ext>
                  </a:extLst>
                </a:gridCol>
                <a:gridCol w="1798721">
                  <a:extLst>
                    <a:ext uri="{9D8B030D-6E8A-4147-A177-3AD203B41FA5}">
                      <a16:colId xmlns:a16="http://schemas.microsoft.com/office/drawing/2014/main" val="20004"/>
                    </a:ext>
                  </a:extLst>
                </a:gridCol>
                <a:gridCol w="1251284">
                  <a:extLst>
                    <a:ext uri="{9D8B030D-6E8A-4147-A177-3AD203B41FA5}">
                      <a16:colId xmlns:a16="http://schemas.microsoft.com/office/drawing/2014/main" val="20005"/>
                    </a:ext>
                  </a:extLst>
                </a:gridCol>
                <a:gridCol w="1487906">
                  <a:extLst>
                    <a:ext uri="{9D8B030D-6E8A-4147-A177-3AD203B41FA5}">
                      <a16:colId xmlns:a16="http://schemas.microsoft.com/office/drawing/2014/main" val="20006"/>
                    </a:ext>
                  </a:extLst>
                </a:gridCol>
              </a:tblGrid>
              <a:tr h="0">
                <a:tc>
                  <a:txBody>
                    <a:bodyPr/>
                    <a:lstStyle/>
                    <a:p>
                      <a:r>
                        <a:rPr lang="en-US" dirty="0"/>
                        <a:t>Drugs</a:t>
                      </a:r>
                    </a:p>
                  </a:txBody>
                  <a:tcPr/>
                </a:tc>
                <a:tc>
                  <a:txBody>
                    <a:bodyPr/>
                    <a:lstStyle/>
                    <a:p>
                      <a:r>
                        <a:rPr lang="bg-BG" sz="1800" kern="1200" dirty="0"/>
                        <a:t>pK</a:t>
                      </a:r>
                      <a:r>
                        <a:rPr lang="bg-BG" sz="1800" kern="1200" baseline="-25000" dirty="0"/>
                        <a:t>a</a:t>
                      </a:r>
                      <a:br>
                        <a:rPr lang="bg-BG" sz="1800" kern="1200" dirty="0"/>
                      </a:br>
                      <a:endParaRPr lang="en-US" dirty="0"/>
                    </a:p>
                  </a:txBody>
                  <a:tcPr/>
                </a:tc>
                <a:tc>
                  <a:txBody>
                    <a:bodyPr/>
                    <a:lstStyle/>
                    <a:p>
                      <a:r>
                        <a:rPr lang="en-US" sz="1800" kern="1200" baseline="0" dirty="0"/>
                        <a:t>Onset of Action</a:t>
                      </a:r>
                      <a:endParaRPr lang="en-US" dirty="0"/>
                    </a:p>
                  </a:txBody>
                  <a:tcPr/>
                </a:tc>
                <a:tc>
                  <a:txBody>
                    <a:bodyPr/>
                    <a:lstStyle/>
                    <a:p>
                      <a:r>
                        <a:rPr lang="en-US" sz="1800" kern="1200" baseline="0" dirty="0"/>
                        <a:t>Duration</a:t>
                      </a:r>
                      <a:endParaRPr lang="en-US" dirty="0"/>
                    </a:p>
                  </a:txBody>
                  <a:tcPr/>
                </a:tc>
                <a:tc>
                  <a:txBody>
                    <a:bodyPr/>
                    <a:lstStyle/>
                    <a:p>
                      <a:r>
                        <a:rPr lang="en-US" sz="1800" kern="1200" baseline="0" dirty="0"/>
                        <a:t>Clinical Use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bg-BG" sz="1800" kern="1200" dirty="0"/>
                        <a:t>Maximum Dose (mg/kg)</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bg-BG" sz="1800" kern="1200" dirty="0"/>
                        <a:t>Concentrations Available</a:t>
                      </a:r>
                      <a:endParaRPr lang="en-US" sz="1800" kern="1200" dirty="0"/>
                    </a:p>
                  </a:txBody>
                  <a:tcPr/>
                </a:tc>
                <a:extLst>
                  <a:ext uri="{0D108BD9-81ED-4DB2-BD59-A6C34878D82A}">
                    <a16:rowId xmlns:a16="http://schemas.microsoft.com/office/drawing/2014/main" val="10000"/>
                  </a:ext>
                </a:extLst>
              </a:tr>
              <a:tr h="228600">
                <a:tc>
                  <a:txBody>
                    <a:bodyPr/>
                    <a:lstStyle/>
                    <a:p>
                      <a:r>
                        <a:rPr lang="bg-BG" sz="1800" kern="1200" dirty="0"/>
                        <a:t>Chloroprocaine </a:t>
                      </a:r>
                      <a:br>
                        <a:rPr lang="bg-BG" sz="1800" kern="1200" dirty="0"/>
                      </a:br>
                      <a:r>
                        <a:rPr lang="bg-BG" sz="1800" kern="1200" dirty="0"/>
                        <a:t> </a:t>
                      </a:r>
                      <a:endParaRPr lang="en-US" dirty="0"/>
                    </a:p>
                  </a:txBody>
                  <a:tcPr/>
                </a:tc>
                <a:tc>
                  <a:txBody>
                    <a:bodyPr/>
                    <a:lstStyle/>
                    <a:p>
                      <a:r>
                        <a:rPr lang="en-US" dirty="0"/>
                        <a:t>9</a:t>
                      </a:r>
                    </a:p>
                  </a:txBody>
                  <a:tcPr/>
                </a:tc>
                <a:tc>
                  <a:txBody>
                    <a:bodyPr/>
                    <a:lstStyle/>
                    <a:p>
                      <a:r>
                        <a:rPr lang="en-US" dirty="0"/>
                        <a:t>fast</a:t>
                      </a:r>
                    </a:p>
                  </a:txBody>
                  <a:tcPr/>
                </a:tc>
                <a:tc>
                  <a:txBody>
                    <a:bodyPr/>
                    <a:lstStyle/>
                    <a:p>
                      <a:r>
                        <a:rPr lang="en-US" dirty="0"/>
                        <a:t>Short  </a:t>
                      </a:r>
                    </a:p>
                  </a:txBody>
                  <a:tcPr/>
                </a:tc>
                <a:tc>
                  <a:txBody>
                    <a:bodyPr/>
                    <a:lstStyle/>
                    <a:p>
                      <a:r>
                        <a:rPr lang="en-US" sz="1800" kern="1200" baseline="0" dirty="0"/>
                        <a:t>PNBs</a:t>
                      </a:r>
                    </a:p>
                    <a:p>
                      <a:r>
                        <a:rPr lang="en-US" sz="1800" kern="1200" baseline="0" dirty="0"/>
                        <a:t>Epidural</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bg-BG" sz="1800" kern="1200" dirty="0"/>
                        <a:t>12</a:t>
                      </a:r>
                    </a:p>
                    <a:p>
                      <a:r>
                        <a:rPr lang="en-US" dirty="0"/>
                        <a:t>(0.8-1gm)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bg-BG" sz="1800" kern="1200" dirty="0"/>
                        <a:t>1%, 2%, 3%</a:t>
                      </a:r>
                    </a:p>
                    <a:p>
                      <a:endParaRPr lang="en-US" dirty="0"/>
                    </a:p>
                  </a:txBody>
                  <a:tcPr/>
                </a:tc>
                <a:extLst>
                  <a:ext uri="{0D108BD9-81ED-4DB2-BD59-A6C34878D82A}">
                    <a16:rowId xmlns:a16="http://schemas.microsoft.com/office/drawing/2014/main" val="10001"/>
                  </a:ext>
                </a:extLst>
              </a:tr>
              <a:tr h="228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bg-BG" sz="1800" kern="1200" dirty="0"/>
                        <a:t>Cocaine</a:t>
                      </a:r>
                      <a:endParaRPr lang="en-US" sz="1800" kern="1200" dirty="0"/>
                    </a:p>
                    <a:p>
                      <a:endParaRPr lang="en-US" sz="1800" kern="1200" dirty="0"/>
                    </a:p>
                    <a:p>
                      <a:endParaRPr lang="en-US" dirty="0"/>
                    </a:p>
                  </a:txBody>
                  <a:tcPr/>
                </a:tc>
                <a:tc>
                  <a:txBody>
                    <a:bodyPr/>
                    <a:lstStyle/>
                    <a:p>
                      <a:r>
                        <a:rPr lang="en-US" dirty="0"/>
                        <a:t>8.9</a:t>
                      </a:r>
                    </a:p>
                  </a:txBody>
                  <a:tcPr/>
                </a:tc>
                <a:tc>
                  <a:txBody>
                    <a:bodyPr/>
                    <a:lstStyle/>
                    <a:p>
                      <a:r>
                        <a:rPr lang="en-US" sz="1600" dirty="0"/>
                        <a:t>moderate</a:t>
                      </a:r>
                    </a:p>
                  </a:txBody>
                  <a:tcPr/>
                </a:tc>
                <a:tc>
                  <a:txBody>
                    <a:bodyPr/>
                    <a:lstStyle/>
                    <a:p>
                      <a:r>
                        <a:rPr lang="en-US" dirty="0"/>
                        <a:t>short</a:t>
                      </a:r>
                      <a:r>
                        <a:rPr lang="en-US" baseline="0" dirty="0"/>
                        <a:t>(</a:t>
                      </a:r>
                      <a:r>
                        <a:rPr lang="en-US" dirty="0"/>
                        <a:t>0.5-1 hr)</a:t>
                      </a:r>
                    </a:p>
                  </a:txBody>
                  <a:tcPr/>
                </a:tc>
                <a:tc>
                  <a:txBody>
                    <a:bodyPr/>
                    <a:lstStyle/>
                    <a:p>
                      <a:r>
                        <a:rPr lang="en-US" dirty="0"/>
                        <a:t>topical</a:t>
                      </a:r>
                    </a:p>
                  </a:txBody>
                  <a:tcPr/>
                </a:tc>
                <a:tc>
                  <a:txBody>
                    <a:bodyPr/>
                    <a:lstStyle/>
                    <a:p>
                      <a:r>
                        <a:rPr lang="en-US" dirty="0"/>
                        <a:t>3</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bg-BG" sz="1800" kern="1200" dirty="0"/>
                        <a:t>4%, 10%</a:t>
                      </a:r>
                    </a:p>
                    <a:p>
                      <a:endParaRPr lang="en-US" dirty="0"/>
                    </a:p>
                  </a:txBody>
                  <a:tcPr/>
                </a:tc>
                <a:extLst>
                  <a:ext uri="{0D108BD9-81ED-4DB2-BD59-A6C34878D82A}">
                    <a16:rowId xmlns:a16="http://schemas.microsoft.com/office/drawing/2014/main" val="10002"/>
                  </a:ext>
                </a:extLst>
              </a:tr>
              <a:tr h="116945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bg-BG" sz="1800" kern="1200" dirty="0"/>
                        <a:t>Procaine</a:t>
                      </a:r>
                      <a:endParaRPr lang="en-US" dirty="0"/>
                    </a:p>
                    <a:p>
                      <a:endParaRPr lang="en-US" dirty="0"/>
                    </a:p>
                  </a:txBody>
                  <a:tcPr/>
                </a:tc>
                <a:tc>
                  <a:txBody>
                    <a:bodyPr/>
                    <a:lstStyle/>
                    <a:p>
                      <a:r>
                        <a:rPr lang="en-US" dirty="0"/>
                        <a:t>8.7</a:t>
                      </a:r>
                    </a:p>
                  </a:txBody>
                  <a:tcPr/>
                </a:tc>
                <a:tc>
                  <a:txBody>
                    <a:bodyPr/>
                    <a:lstStyle/>
                    <a:p>
                      <a:r>
                        <a:rPr lang="en-US" dirty="0"/>
                        <a:t>slow</a:t>
                      </a:r>
                    </a:p>
                  </a:txBody>
                  <a:tcPr/>
                </a:tc>
                <a:tc>
                  <a:txBody>
                    <a:bodyPr/>
                    <a:lstStyle/>
                    <a:p>
                      <a:r>
                        <a:rPr lang="en-US" dirty="0"/>
                        <a:t>short</a:t>
                      </a:r>
                    </a:p>
                  </a:txBody>
                  <a:tcPr/>
                </a:tc>
                <a:tc>
                  <a:txBody>
                    <a:bodyPr/>
                    <a:lstStyle/>
                    <a:p>
                      <a:r>
                        <a:rPr lang="en-US" sz="1800" kern="1200" baseline="0" dirty="0"/>
                        <a:t>Spinal,</a:t>
                      </a:r>
                    </a:p>
                    <a:p>
                      <a:r>
                        <a:rPr lang="en-US" sz="1800" kern="1200" baseline="0" dirty="0"/>
                        <a:t>infiltration  (.5%), PNB(1- 2%)</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bg-BG" sz="1800" kern="1200" dirty="0"/>
                        <a:t>12</a:t>
                      </a:r>
                    </a:p>
                    <a:p>
                      <a:r>
                        <a:rPr lang="en-US" dirty="0"/>
                        <a:t>(0.8-1gm)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t>0.5%,</a:t>
                      </a:r>
                      <a:r>
                        <a:rPr lang="bg-BG" sz="1800" kern="1200" dirty="0"/>
                        <a:t>1%, 2%, 10%</a:t>
                      </a:r>
                    </a:p>
                    <a:p>
                      <a:endParaRPr lang="en-US" dirty="0"/>
                    </a:p>
                  </a:txBody>
                  <a:tcPr/>
                </a:tc>
                <a:extLst>
                  <a:ext uri="{0D108BD9-81ED-4DB2-BD59-A6C34878D82A}">
                    <a16:rowId xmlns:a16="http://schemas.microsoft.com/office/drawing/2014/main" val="10003"/>
                  </a:ext>
                </a:extLst>
              </a:tr>
              <a:tr h="842222">
                <a:tc>
                  <a:txBody>
                    <a:bodyPr/>
                    <a:lstStyle/>
                    <a:p>
                      <a:r>
                        <a:rPr lang="bg-BG" sz="1800" kern="1200" dirty="0"/>
                        <a:t>Tetracaine </a:t>
                      </a:r>
                      <a:endParaRPr lang="en-US" dirty="0"/>
                    </a:p>
                  </a:txBody>
                  <a:tcPr/>
                </a:tc>
                <a:tc>
                  <a:txBody>
                    <a:bodyPr/>
                    <a:lstStyle/>
                    <a:p>
                      <a:r>
                        <a:rPr lang="en-US" dirty="0"/>
                        <a:t>8.2</a:t>
                      </a:r>
                    </a:p>
                  </a:txBody>
                  <a:tcPr/>
                </a:tc>
                <a:tc>
                  <a:txBody>
                    <a:bodyPr/>
                    <a:lstStyle/>
                    <a:p>
                      <a:r>
                        <a:rPr lang="en-US" dirty="0"/>
                        <a:t>Slow</a:t>
                      </a:r>
                    </a:p>
                  </a:txBody>
                  <a:tcPr/>
                </a:tc>
                <a:tc>
                  <a:txBody>
                    <a:bodyPr/>
                    <a:lstStyle/>
                    <a:p>
                      <a:r>
                        <a:rPr lang="en-US" dirty="0"/>
                        <a:t>long</a:t>
                      </a:r>
                    </a:p>
                  </a:txBody>
                  <a:tcPr/>
                </a:tc>
                <a:tc>
                  <a:txBody>
                    <a:bodyPr/>
                    <a:lstStyle/>
                    <a:p>
                      <a:r>
                        <a:rPr lang="en-US" dirty="0"/>
                        <a:t>spinal (.25-1%) </a:t>
                      </a:r>
                    </a:p>
                    <a:p>
                      <a:r>
                        <a:rPr lang="en-US" dirty="0"/>
                        <a:t>topical  (1-2%)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bg-BG" sz="1800" kern="1200" dirty="0"/>
                        <a:t>3</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bg-BG" sz="1800" kern="1200" dirty="0"/>
                        <a:t>0.2, 0.3, 0.5, 1, 2</a:t>
                      </a:r>
                    </a:p>
                    <a:p>
                      <a:endParaRPr lang="en-US" dirty="0"/>
                    </a:p>
                  </a:txBody>
                  <a:tcPr/>
                </a:tc>
                <a:extLst>
                  <a:ext uri="{0D108BD9-81ED-4DB2-BD59-A6C34878D82A}">
                    <a16:rowId xmlns:a16="http://schemas.microsoft.com/office/drawing/2014/main" val="10004"/>
                  </a:ext>
                </a:extLst>
              </a:tr>
              <a:tr h="762000">
                <a:tc>
                  <a:txBody>
                    <a:bodyPr/>
                    <a:lstStyle/>
                    <a:p>
                      <a:r>
                        <a:rPr lang="en-US" dirty="0" err="1"/>
                        <a:t>Benzocaine</a:t>
                      </a:r>
                      <a:endParaRPr lang="en-US" dirty="0"/>
                    </a:p>
                  </a:txBody>
                  <a:tcPr/>
                </a:tc>
                <a:tc>
                  <a:txBody>
                    <a:bodyPr/>
                    <a:lstStyle/>
                    <a:p>
                      <a:endParaRPr lang="en-US" dirty="0"/>
                    </a:p>
                  </a:txBody>
                  <a:tcPr/>
                </a:tc>
                <a:tc>
                  <a:txBody>
                    <a:bodyPr/>
                    <a:lstStyle/>
                    <a:p>
                      <a:endParaRPr lang="en-US" dirty="0"/>
                    </a:p>
                  </a:txBody>
                  <a:tcPr/>
                </a:tc>
                <a:tc>
                  <a:txBody>
                    <a:bodyPr/>
                    <a:lstStyle/>
                    <a:p>
                      <a:r>
                        <a:rPr lang="en-US" dirty="0"/>
                        <a:t>short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topical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bg-BG" sz="1800" kern="1200" dirty="0">
                          <a:solidFill>
                            <a:schemeClr val="dk1"/>
                          </a:solidFill>
                        </a:rPr>
                        <a:t>NA</a:t>
                      </a:r>
                      <a:br>
                        <a:rPr lang="bg-BG" sz="1800" kern="1200" dirty="0">
                          <a:solidFill>
                            <a:schemeClr val="dk1"/>
                          </a:solidFill>
                        </a:rPr>
                      </a:br>
                      <a:r>
                        <a:rPr lang="bg-BG" sz="1800" kern="1200" dirty="0">
                          <a:solidFill>
                            <a:schemeClr val="dk1"/>
                          </a:solidFill>
                        </a:rPr>
                        <a:t> </a:t>
                      </a:r>
                    </a:p>
                    <a:p>
                      <a:endParaRPr lang="en-US" dirty="0"/>
                    </a:p>
                  </a:txBody>
                  <a:tcPr/>
                </a:tc>
                <a:tc>
                  <a:txBody>
                    <a:bodyPr/>
                    <a:lstStyle/>
                    <a:p>
                      <a:r>
                        <a:rPr lang="en-US" dirty="0"/>
                        <a:t>20%</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958315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B. Amino Amide agents</a:t>
            </a:r>
          </a:p>
        </p:txBody>
      </p:sp>
      <p:sp>
        <p:nvSpPr>
          <p:cNvPr id="3" name="Content Placeholder 2"/>
          <p:cNvSpPr>
            <a:spLocks noGrp="1"/>
          </p:cNvSpPr>
          <p:nvPr>
            <p:ph sz="quarter" idx="1"/>
          </p:nvPr>
        </p:nvSpPr>
        <p:spPr>
          <a:xfrm>
            <a:off x="301752" y="1527048"/>
            <a:ext cx="8613648" cy="4572000"/>
          </a:xfrm>
        </p:spPr>
        <p:txBody>
          <a:bodyPr>
            <a:normAutofit/>
          </a:bodyPr>
          <a:lstStyle/>
          <a:p>
            <a:pPr>
              <a:buFont typeface="Wingdings" panose="05000000000000000000" pitchFamily="2" charset="2"/>
              <a:buChar char="Ø"/>
            </a:pPr>
            <a:r>
              <a:rPr lang="en-US" sz="2800" b="1" dirty="0">
                <a:solidFill>
                  <a:srgbClr val="002060"/>
                </a:solidFill>
                <a:latin typeface="Calibri" panose="020F0502020204030204" pitchFamily="34" charset="0"/>
                <a:cs typeface="Calibri" panose="020F0502020204030204" pitchFamily="34" charset="0"/>
              </a:rPr>
              <a:t>Lidocaine</a:t>
            </a:r>
            <a:r>
              <a:rPr lang="en-US" sz="2800" dirty="0">
                <a:solidFill>
                  <a:srgbClr val="002060"/>
                </a:solidFill>
                <a:latin typeface="Calibri" panose="020F0502020204030204" pitchFamily="34" charset="0"/>
                <a:cs typeface="Calibri" panose="020F0502020204030204" pitchFamily="34" charset="0"/>
              </a:rPr>
              <a:t>- </a:t>
            </a:r>
          </a:p>
          <a:p>
            <a:r>
              <a:rPr lang="en-US" sz="2400" dirty="0">
                <a:latin typeface="Calibri" panose="020F0502020204030204" pitchFamily="34" charset="0"/>
                <a:cs typeface="Calibri" panose="020F0502020204030204" pitchFamily="34" charset="0"/>
              </a:rPr>
              <a:t>it was the first drug of the amino amide type to be introduced into clinical practice. </a:t>
            </a:r>
          </a:p>
          <a:p>
            <a:r>
              <a:rPr lang="en-US" sz="2400" dirty="0">
                <a:latin typeface="Calibri" panose="020F0502020204030204" pitchFamily="34" charset="0"/>
                <a:cs typeface="Calibri" panose="020F0502020204030204" pitchFamily="34" charset="0"/>
              </a:rPr>
              <a:t>It is the standard agent against which all other LAs are compared</a:t>
            </a:r>
          </a:p>
          <a:p>
            <a:r>
              <a:rPr lang="en-US" dirty="0">
                <a:latin typeface="Calibri" panose="020F0502020204030204" pitchFamily="34" charset="0"/>
                <a:cs typeface="Calibri" panose="020F0502020204030204" pitchFamily="34" charset="0"/>
              </a:rPr>
              <a:t>Most commonly used LA because of </a:t>
            </a:r>
          </a:p>
          <a:p>
            <a:pPr lvl="1"/>
            <a:r>
              <a:rPr lang="en-US" sz="2400" dirty="0">
                <a:latin typeface="Calibri" panose="020F0502020204030204" pitchFamily="34" charset="0"/>
                <a:cs typeface="Calibri" panose="020F0502020204030204" pitchFamily="34" charset="0"/>
              </a:rPr>
              <a:t>its inherent potency,</a:t>
            </a:r>
          </a:p>
          <a:p>
            <a:pPr lvl="1"/>
            <a:r>
              <a:rPr lang="en-US" sz="2400" dirty="0">
                <a:latin typeface="Calibri" panose="020F0502020204030204" pitchFamily="34" charset="0"/>
                <a:cs typeface="Calibri" panose="020F0502020204030204" pitchFamily="34" charset="0"/>
              </a:rPr>
              <a:t>rapid onset, </a:t>
            </a:r>
          </a:p>
          <a:p>
            <a:pPr lvl="1"/>
            <a:r>
              <a:rPr lang="en-US" sz="2400" dirty="0">
                <a:latin typeface="Calibri" panose="020F0502020204030204" pitchFamily="34" charset="0"/>
                <a:cs typeface="Calibri" panose="020F0502020204030204" pitchFamily="34" charset="0"/>
              </a:rPr>
              <a:t>moderate duration of action (1 to 3 hr.), and </a:t>
            </a:r>
          </a:p>
          <a:p>
            <a:pPr lvl="1"/>
            <a:r>
              <a:rPr lang="en-US" sz="2400" dirty="0">
                <a:latin typeface="Calibri" panose="020F0502020204030204" pitchFamily="34" charset="0"/>
                <a:cs typeface="Calibri" panose="020F0502020204030204" pitchFamily="34" charset="0"/>
              </a:rPr>
              <a:t>topical anesthetic activity </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57698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p>
        </p:txBody>
      </p:sp>
      <p:sp>
        <p:nvSpPr>
          <p:cNvPr id="3" name="Content Placeholder 2"/>
          <p:cNvSpPr>
            <a:spLocks noGrp="1"/>
          </p:cNvSpPr>
          <p:nvPr>
            <p:ph sz="quarter" idx="1"/>
          </p:nvPr>
        </p:nvSpPr>
        <p:spPr>
          <a:xfrm>
            <a:off x="301752" y="1295400"/>
            <a:ext cx="8689848" cy="4803648"/>
          </a:xfrm>
        </p:spPr>
        <p:txBody>
          <a:bodyPr>
            <a:normAutofit lnSpcReduction="10000"/>
          </a:bodyPr>
          <a:lstStyle/>
          <a:p>
            <a:r>
              <a:rPr lang="en-US" dirty="0">
                <a:latin typeface="Calibri" panose="020F0502020204030204" pitchFamily="34" charset="0"/>
                <a:cs typeface="Calibri" panose="020F0502020204030204" pitchFamily="34" charset="0"/>
              </a:rPr>
              <a:t>0.5%, 1%, 1.5%, and 2% lidocaine are available </a:t>
            </a:r>
          </a:p>
          <a:p>
            <a:pPr lvl="1"/>
            <a:r>
              <a:rPr lang="en-US" dirty="0">
                <a:latin typeface="Calibri" panose="020F0502020204030204" pitchFamily="34" charset="0"/>
                <a:cs typeface="Calibri" panose="020F0502020204030204" pitchFamily="34" charset="0"/>
              </a:rPr>
              <a:t>for infiltration, peripheral nerve blocks, and epidural anesthesia </a:t>
            </a:r>
          </a:p>
          <a:p>
            <a:r>
              <a:rPr lang="en-US" sz="2400" dirty="0">
                <a:solidFill>
                  <a:srgbClr val="FF0000"/>
                </a:solidFill>
                <a:latin typeface="Calibri" panose="020F0502020204030204" pitchFamily="34" charset="0"/>
                <a:cs typeface="Calibri" panose="020F0502020204030204" pitchFamily="34" charset="0"/>
              </a:rPr>
              <a:t>5% lidocaine with 7.5% glucose is widely used for spinal anesthesia of moderate duration </a:t>
            </a:r>
          </a:p>
          <a:p>
            <a:r>
              <a:rPr lang="en-US" dirty="0">
                <a:latin typeface="Calibri" panose="020F0502020204030204" pitchFamily="34" charset="0"/>
                <a:cs typeface="Calibri" panose="020F0502020204030204" pitchFamily="34" charset="0"/>
              </a:rPr>
              <a:t>non anesthetic  use of lidocaine</a:t>
            </a:r>
          </a:p>
          <a:p>
            <a:pPr lvl="1"/>
            <a:r>
              <a:rPr lang="en-US" dirty="0">
                <a:latin typeface="Calibri" panose="020F0502020204030204" pitchFamily="34" charset="0"/>
                <a:cs typeface="Calibri" panose="020F0502020204030204" pitchFamily="34" charset="0"/>
              </a:rPr>
              <a:t>intravenous antiarrhythmic </a:t>
            </a:r>
          </a:p>
          <a:p>
            <a:pPr lvl="1"/>
            <a:r>
              <a:rPr lang="en-US" dirty="0">
                <a:latin typeface="Calibri" panose="020F0502020204030204" pitchFamily="34" charset="0"/>
                <a:cs typeface="Calibri" panose="020F0502020204030204" pitchFamily="34" charset="0"/>
              </a:rPr>
              <a:t>antiepileptic and intravenous analgesic agent </a:t>
            </a:r>
          </a:p>
          <a:p>
            <a:pPr>
              <a:buFont typeface="Wingdings" pitchFamily="2" charset="2"/>
              <a:buChar char="Ø"/>
            </a:pPr>
            <a:r>
              <a:rPr lang="en-US" dirty="0">
                <a:latin typeface="Calibri" panose="020F0502020204030204" pitchFamily="34" charset="0"/>
                <a:cs typeface="Calibri" panose="020F0502020204030204" pitchFamily="34" charset="0"/>
              </a:rPr>
              <a:t>maximum safe dose of lidocaine is </a:t>
            </a:r>
          </a:p>
          <a:p>
            <a:pPr lvl="1">
              <a:buFont typeface="Wingdings" pitchFamily="2" charset="2"/>
              <a:buChar char="ü"/>
            </a:pPr>
            <a:r>
              <a:rPr lang="en-US" dirty="0">
                <a:latin typeface="Calibri" panose="020F0502020204030204" pitchFamily="34" charset="0"/>
                <a:cs typeface="Calibri" panose="020F0502020204030204" pitchFamily="34" charset="0"/>
              </a:rPr>
              <a:t>3mg/kg without epinephrine or </a:t>
            </a:r>
          </a:p>
          <a:p>
            <a:pPr lvl="1">
              <a:buFont typeface="Wingdings" pitchFamily="2" charset="2"/>
              <a:buChar char="ü"/>
            </a:pPr>
            <a:r>
              <a:rPr lang="en-US" dirty="0">
                <a:latin typeface="Calibri" panose="020F0502020204030204" pitchFamily="34" charset="0"/>
                <a:cs typeface="Calibri" panose="020F0502020204030204" pitchFamily="34" charset="0"/>
              </a:rPr>
              <a:t>7mg/kg with epinephrine. </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208792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endParaRPr lang="en-US" dirty="0"/>
          </a:p>
        </p:txBody>
      </p:sp>
      <p:sp>
        <p:nvSpPr>
          <p:cNvPr id="3" name="Content Placeholder 2"/>
          <p:cNvSpPr>
            <a:spLocks noGrp="1"/>
          </p:cNvSpPr>
          <p:nvPr>
            <p:ph sz="quarter" idx="1"/>
          </p:nvPr>
        </p:nvSpPr>
        <p:spPr/>
        <p:txBody>
          <a:bodyPr/>
          <a:lstStyle/>
          <a:p>
            <a:pPr>
              <a:buFont typeface="Wingdings" panose="05000000000000000000" pitchFamily="2" charset="2"/>
              <a:buChar char="Ø"/>
            </a:pPr>
            <a:r>
              <a:rPr lang="en-US" b="1" dirty="0">
                <a:latin typeface="Calibri" panose="020F0502020204030204" pitchFamily="34" charset="0"/>
                <a:cs typeface="Calibri" panose="020F0502020204030204" pitchFamily="34" charset="0"/>
              </a:rPr>
              <a:t>Mepivacaine</a:t>
            </a:r>
            <a:r>
              <a:rPr lang="en-US" dirty="0">
                <a:latin typeface="Calibri" panose="020F0502020204030204" pitchFamily="34" charset="0"/>
                <a:cs typeface="Calibri" panose="020F0502020204030204" pitchFamily="34" charset="0"/>
              </a:rPr>
              <a:t>    </a:t>
            </a:r>
          </a:p>
          <a:p>
            <a:pPr>
              <a:buFont typeface="Wingdings" pitchFamily="2" charset="2"/>
              <a:buChar char="§"/>
            </a:pPr>
            <a:r>
              <a:rPr lang="en-US" sz="2400" dirty="0">
                <a:latin typeface="Calibri" panose="020F0502020204030204" pitchFamily="34" charset="0"/>
                <a:cs typeface="Calibri" panose="020F0502020204030204" pitchFamily="34" charset="0"/>
              </a:rPr>
              <a:t>Similar clinical profile that of lidocaine.</a:t>
            </a:r>
          </a:p>
          <a:p>
            <a:pPr>
              <a:buFont typeface="Wingdings" pitchFamily="2" charset="2"/>
              <a:buChar char="§"/>
            </a:pPr>
            <a:r>
              <a:rPr lang="en-US" sz="2400" dirty="0">
                <a:latin typeface="Calibri" panose="020F0502020204030204" pitchFamily="34" charset="0"/>
                <a:cs typeface="Calibri" panose="020F0502020204030204" pitchFamily="34" charset="0"/>
              </a:rPr>
              <a:t>rapid onset and a moderate duration of action </a:t>
            </a:r>
          </a:p>
          <a:p>
            <a:pPr>
              <a:buFont typeface="Wingdings" pitchFamily="2" charset="2"/>
              <a:buChar char="q"/>
            </a:pPr>
            <a:r>
              <a:rPr lang="en-US" dirty="0">
                <a:latin typeface="Calibri" panose="020F0502020204030204" pitchFamily="34" charset="0"/>
                <a:cs typeface="Calibri" panose="020F0502020204030204" pitchFamily="34" charset="0"/>
              </a:rPr>
              <a:t>Uses</a:t>
            </a:r>
          </a:p>
          <a:p>
            <a:r>
              <a:rPr lang="en-US" sz="2400" dirty="0">
                <a:latin typeface="Calibri" panose="020F0502020204030204" pitchFamily="34" charset="0"/>
                <a:cs typeface="Calibri" panose="020F0502020204030204" pitchFamily="34" charset="0"/>
              </a:rPr>
              <a:t>For infiltration, peripheral nerve blocks, and epidural anesthesia in concentrations varying from 0.5% to 2%. </a:t>
            </a:r>
          </a:p>
          <a:p>
            <a:r>
              <a:rPr lang="en-US" sz="2400" dirty="0">
                <a:latin typeface="Calibri" panose="020F0502020204030204" pitchFamily="34" charset="0"/>
                <a:cs typeface="Calibri" panose="020F0502020204030204" pitchFamily="34" charset="0"/>
              </a:rPr>
              <a:t>For spinal anesthesia (4% hyperbaric mepivacaine)</a:t>
            </a:r>
          </a:p>
        </p:txBody>
      </p:sp>
    </p:spTree>
    <p:extLst>
      <p:ext uri="{BB962C8B-B14F-4D97-AF65-F5344CB8AC3E}">
        <p14:creationId xmlns:p14="http://schemas.microsoft.com/office/powerpoint/2010/main" val="32922986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endParaRPr lang="en-US" dirty="0"/>
          </a:p>
        </p:txBody>
      </p:sp>
      <p:sp>
        <p:nvSpPr>
          <p:cNvPr id="3" name="Content Placeholder 2"/>
          <p:cNvSpPr>
            <a:spLocks noGrp="1"/>
          </p:cNvSpPr>
          <p:nvPr>
            <p:ph sz="quarter" idx="1"/>
          </p:nvPr>
        </p:nvSpPr>
        <p:spPr>
          <a:xfrm>
            <a:off x="301752" y="1527048"/>
            <a:ext cx="8537448" cy="4873752"/>
          </a:xfrm>
        </p:spPr>
        <p:txBody>
          <a:bodyPr>
            <a:normAutofit/>
          </a:bodyPr>
          <a:lstStyle/>
          <a:p>
            <a:pPr marL="0" indent="0">
              <a:buNone/>
            </a:pPr>
            <a:r>
              <a:rPr lang="en-US" sz="3200" b="1" dirty="0">
                <a:latin typeface="Calibri" panose="020F0502020204030204" pitchFamily="34" charset="0"/>
                <a:cs typeface="Calibri" panose="020F0502020204030204" pitchFamily="34" charset="0"/>
              </a:rPr>
              <a:t>Mepivacaine Vs.  lidocaine </a:t>
            </a:r>
          </a:p>
          <a:p>
            <a:r>
              <a:rPr lang="en-US" sz="2400" dirty="0">
                <a:latin typeface="Calibri" panose="020F0502020204030204" pitchFamily="34" charset="0"/>
                <a:cs typeface="Calibri" panose="020F0502020204030204" pitchFamily="34" charset="0"/>
              </a:rPr>
              <a:t>Mepivacaine is not effective as a topical anesthetic agent and thus is less versatile than lidocaine </a:t>
            </a:r>
          </a:p>
          <a:p>
            <a:r>
              <a:rPr lang="en-US" sz="2400" dirty="0">
                <a:latin typeface="Calibri" panose="020F0502020204030204" pitchFamily="34" charset="0"/>
                <a:cs typeface="Calibri" panose="020F0502020204030204" pitchFamily="34" charset="0"/>
              </a:rPr>
              <a:t>The metabolism of mepivacaine is markedly prolonged in the fetus and newborn </a:t>
            </a:r>
          </a:p>
          <a:p>
            <a:pPr lvl="1"/>
            <a:r>
              <a:rPr lang="en-US" dirty="0">
                <a:latin typeface="Calibri" panose="020F0502020204030204" pitchFamily="34" charset="0"/>
                <a:cs typeface="Calibri" panose="020F0502020204030204" pitchFamily="34" charset="0"/>
              </a:rPr>
              <a:t>such that this agent is not usually used for obstetric anesthesia</a:t>
            </a:r>
          </a:p>
          <a:p>
            <a:r>
              <a:rPr lang="en-US" sz="2400" dirty="0">
                <a:latin typeface="Calibri" panose="020F0502020204030204" pitchFamily="34" charset="0"/>
                <a:cs typeface="Calibri" panose="020F0502020204030204" pitchFamily="34" charset="0"/>
              </a:rPr>
              <a:t>The vasodilator activity of mepivacaine is less than that of lidocaine </a:t>
            </a:r>
          </a:p>
          <a:p>
            <a:pPr lvl="1"/>
            <a:r>
              <a:rPr lang="en-US" sz="1900" dirty="0">
                <a:latin typeface="Calibri" panose="020F0502020204030204" pitchFamily="34" charset="0"/>
                <a:cs typeface="Calibri" panose="020F0502020204030204" pitchFamily="34" charset="0"/>
              </a:rPr>
              <a:t>Thus, mepivacaine provides a somewhat longer duration of anesthesia than lidocaine when the two agents are used without epinephrine </a:t>
            </a:r>
            <a:br>
              <a:rPr lang="en-US" sz="1900" dirty="0">
                <a:latin typeface="Calibri" panose="020F0502020204030204" pitchFamily="34" charset="0"/>
                <a:cs typeface="Calibri" panose="020F0502020204030204" pitchFamily="34" charset="0"/>
              </a:rPr>
            </a:br>
            <a:br>
              <a:rPr lang="en-US" sz="1900" dirty="0">
                <a:latin typeface="Calibri" panose="020F0502020204030204" pitchFamily="34" charset="0"/>
                <a:cs typeface="Calibri" panose="020F0502020204030204" pitchFamily="34" charset="0"/>
              </a:rPr>
            </a:br>
            <a:endParaRPr lang="en-US" sz="19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180644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endParaRPr lang="en-US" dirty="0"/>
          </a:p>
        </p:txBody>
      </p:sp>
      <p:sp>
        <p:nvSpPr>
          <p:cNvPr id="3" name="Content Placeholder 2"/>
          <p:cNvSpPr>
            <a:spLocks noGrp="1"/>
          </p:cNvSpPr>
          <p:nvPr>
            <p:ph sz="quarter" idx="1"/>
          </p:nvPr>
        </p:nvSpPr>
        <p:spPr>
          <a:xfrm>
            <a:off x="301752" y="1295400"/>
            <a:ext cx="8503920" cy="4803648"/>
          </a:xfrm>
        </p:spPr>
        <p:txBody>
          <a:bodyPr>
            <a:normAutofit fontScale="92500" lnSpcReduction="10000"/>
          </a:bodyPr>
          <a:lstStyle/>
          <a:p>
            <a:pPr marL="0" indent="0">
              <a:buNone/>
            </a:pPr>
            <a:r>
              <a:rPr lang="en-US" b="1" dirty="0" err="1">
                <a:latin typeface="Calibri" panose="020F0502020204030204" pitchFamily="34" charset="0"/>
                <a:cs typeface="Calibri" panose="020F0502020204030204" pitchFamily="34" charset="0"/>
              </a:rPr>
              <a:t>Prilocaine</a:t>
            </a: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Similar clinical profile that of lidocaine.</a:t>
            </a:r>
          </a:p>
          <a:p>
            <a:r>
              <a:rPr lang="en-US" dirty="0">
                <a:latin typeface="Calibri" panose="020F0502020204030204" pitchFamily="34" charset="0"/>
                <a:cs typeface="Calibri" panose="020F0502020204030204" pitchFamily="34" charset="0"/>
              </a:rPr>
              <a:t> relatively rapid onset of action </a:t>
            </a:r>
          </a:p>
          <a:p>
            <a:r>
              <a:rPr lang="en-US" dirty="0">
                <a:latin typeface="Calibri" panose="020F0502020204030204" pitchFamily="34" charset="0"/>
                <a:cs typeface="Calibri" panose="020F0502020204030204" pitchFamily="34" charset="0"/>
              </a:rPr>
              <a:t> providing a moderate duration of anesthesia and a profound depth of conduction blockade </a:t>
            </a:r>
          </a:p>
          <a:p>
            <a:r>
              <a:rPr lang="en-US" sz="2600" dirty="0">
                <a:latin typeface="Calibri" panose="020F0502020204030204" pitchFamily="34" charset="0"/>
                <a:cs typeface="Calibri" panose="020F0502020204030204" pitchFamily="34" charset="0"/>
              </a:rPr>
              <a:t>decreased potential for producing systemic toxic reactions </a:t>
            </a:r>
          </a:p>
          <a:p>
            <a:pPr lvl="1"/>
            <a:r>
              <a:rPr lang="en-US" sz="2600" dirty="0">
                <a:solidFill>
                  <a:srgbClr val="FF0000"/>
                </a:solidFill>
                <a:latin typeface="Calibri" panose="020F0502020204030204" pitchFamily="34" charset="0"/>
                <a:cs typeface="Calibri" panose="020F0502020204030204" pitchFamily="34" charset="0"/>
              </a:rPr>
              <a:t>least toxic of the amino amide local anesthetics </a:t>
            </a:r>
          </a:p>
          <a:p>
            <a:r>
              <a:rPr lang="en-US" dirty="0">
                <a:latin typeface="Calibri" panose="020F0502020204030204" pitchFamily="34" charset="0"/>
                <a:cs typeface="Calibri" panose="020F0502020204030204" pitchFamily="34" charset="0"/>
              </a:rPr>
              <a:t>less vasodilation than lidocaine and thus can be used without epinephrine </a:t>
            </a:r>
          </a:p>
          <a:p>
            <a:pPr lvl="1"/>
            <a:r>
              <a:rPr lang="en-US" dirty="0">
                <a:latin typeface="Calibri" panose="020F0502020204030204" pitchFamily="34" charset="0"/>
                <a:cs typeface="Calibri" panose="020F0502020204030204" pitchFamily="34" charset="0"/>
              </a:rPr>
              <a:t>The duration of </a:t>
            </a:r>
            <a:r>
              <a:rPr lang="en-US" dirty="0" err="1">
                <a:latin typeface="Calibri" panose="020F0502020204030204" pitchFamily="34" charset="0"/>
                <a:cs typeface="Calibri" panose="020F0502020204030204" pitchFamily="34" charset="0"/>
              </a:rPr>
              <a:t>prilocaine</a:t>
            </a:r>
            <a:r>
              <a:rPr lang="en-US" dirty="0">
                <a:latin typeface="Calibri" panose="020F0502020204030204" pitchFamily="34" charset="0"/>
                <a:cs typeface="Calibri" panose="020F0502020204030204" pitchFamily="34" charset="0"/>
              </a:rPr>
              <a:t> without epinephrine is similar to that of lidocaine with epinephrine </a:t>
            </a: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336116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endParaRPr lang="en-US" dirty="0"/>
          </a:p>
        </p:txBody>
      </p:sp>
      <p:sp>
        <p:nvSpPr>
          <p:cNvPr id="3" name="Content Placeholder 2"/>
          <p:cNvSpPr>
            <a:spLocks noGrp="1"/>
          </p:cNvSpPr>
          <p:nvPr>
            <p:ph sz="quarter" idx="1"/>
          </p:nvPr>
        </p:nvSpPr>
        <p:spPr/>
        <p:txBody>
          <a:bodyPr>
            <a:normAutofit fontScale="85000" lnSpcReduction="20000"/>
          </a:bodyPr>
          <a:lstStyle/>
          <a:p>
            <a:pPr marL="0" indent="0">
              <a:buNone/>
            </a:pPr>
            <a:r>
              <a:rPr lang="en-US" sz="3200" b="1" dirty="0">
                <a:latin typeface="Calibri" panose="020F0502020204030204" pitchFamily="34" charset="0"/>
                <a:cs typeface="Calibri" panose="020F0502020204030204" pitchFamily="34" charset="0"/>
              </a:rPr>
              <a:t>Uses</a:t>
            </a:r>
          </a:p>
          <a:p>
            <a:r>
              <a:rPr lang="en-US" dirty="0">
                <a:latin typeface="Calibri" panose="020F0502020204030204" pitchFamily="34" charset="0"/>
                <a:cs typeface="Calibri" panose="020F0502020204030204" pitchFamily="34" charset="0"/>
              </a:rPr>
              <a:t> for infiltration, </a:t>
            </a:r>
          </a:p>
          <a:p>
            <a:r>
              <a:rPr lang="en-US" dirty="0">
                <a:latin typeface="Calibri" panose="020F0502020204030204" pitchFamily="34" charset="0"/>
                <a:cs typeface="Calibri" panose="020F0502020204030204" pitchFamily="34" charset="0"/>
              </a:rPr>
              <a:t>peripheral nerve blockade</a:t>
            </a:r>
          </a:p>
          <a:p>
            <a:r>
              <a:rPr lang="en-US" dirty="0">
                <a:latin typeface="Calibri" panose="020F0502020204030204" pitchFamily="34" charset="0"/>
                <a:cs typeface="Calibri" panose="020F0502020204030204" pitchFamily="34" charset="0"/>
              </a:rPr>
              <a:t>epidural anesthesia </a:t>
            </a:r>
          </a:p>
          <a:p>
            <a:r>
              <a:rPr lang="en-US" dirty="0">
                <a:latin typeface="Calibri" panose="020F0502020204030204" pitchFamily="34" charset="0"/>
                <a:cs typeface="Calibri" panose="020F0502020204030204" pitchFamily="34" charset="0"/>
              </a:rPr>
              <a:t> intravenous regional anesthesia </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a:p>
            <a:pPr algn="just"/>
            <a:r>
              <a:rPr lang="en-US" sz="2400" dirty="0">
                <a:latin typeface="Calibri" panose="020F0502020204030204" pitchFamily="34" charset="0"/>
                <a:cs typeface="Calibri" panose="020F0502020204030204" pitchFamily="34" charset="0"/>
              </a:rPr>
              <a:t>Although </a:t>
            </a:r>
            <a:r>
              <a:rPr lang="en-US" sz="2400" dirty="0" err="1">
                <a:latin typeface="Calibri" panose="020F0502020204030204" pitchFamily="34" charset="0"/>
                <a:cs typeface="Calibri" panose="020F0502020204030204" pitchFamily="34" charset="0"/>
              </a:rPr>
              <a:t>prilocaine</a:t>
            </a:r>
            <a:r>
              <a:rPr lang="en-US" sz="2400" dirty="0">
                <a:latin typeface="Calibri" panose="020F0502020204030204" pitchFamily="34" charset="0"/>
                <a:cs typeface="Calibri" panose="020F0502020204030204" pitchFamily="34" charset="0"/>
              </a:rPr>
              <a:t> possesses topical anesthetic activity and can induce spinal anesthesia of short duration, </a:t>
            </a:r>
          </a:p>
          <a:p>
            <a:pPr lvl="1"/>
            <a:r>
              <a:rPr lang="en-US" dirty="0">
                <a:latin typeface="Calibri" panose="020F0502020204030204" pitchFamily="34" charset="0"/>
                <a:cs typeface="Calibri" panose="020F0502020204030204" pitchFamily="34" charset="0"/>
              </a:rPr>
              <a:t>no specific formulations of this agent are available for topical or spinal anesthesia </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a:p>
            <a:r>
              <a:rPr lang="en-US" sz="2800" dirty="0">
                <a:latin typeface="Calibri" panose="020F0502020204030204" pitchFamily="34" charset="0"/>
                <a:cs typeface="Calibri" panose="020F0502020204030204" pitchFamily="34" charset="0"/>
              </a:rPr>
              <a:t>The recommended safe dose:</a:t>
            </a:r>
          </a:p>
          <a:p>
            <a:pPr lvl="1">
              <a:buFont typeface="Wingdings" pitchFamily="2" charset="2"/>
              <a:buChar char="Ø"/>
            </a:pPr>
            <a:r>
              <a:rPr lang="en-US" sz="2800" dirty="0">
                <a:solidFill>
                  <a:srgbClr val="FF0000"/>
                </a:solidFill>
                <a:latin typeface="Calibri" panose="020F0502020204030204" pitchFamily="34" charset="0"/>
                <a:cs typeface="Calibri" panose="020F0502020204030204" pitchFamily="34" charset="0"/>
              </a:rPr>
              <a:t>6mg/kg without epinephrine or 9mg/kg with epinephrine </a:t>
            </a:r>
            <a:br>
              <a:rPr lang="en-US" sz="2800" dirty="0">
                <a:solidFill>
                  <a:srgbClr val="FF0000"/>
                </a:solidFill>
                <a:latin typeface="Calibri" panose="020F0502020204030204" pitchFamily="34" charset="0"/>
                <a:cs typeface="Calibri" panose="020F0502020204030204" pitchFamily="34" charset="0"/>
              </a:rPr>
            </a:br>
            <a:endParaRPr lang="en-US" sz="2400"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67363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p>
        </p:txBody>
      </p:sp>
      <p:sp>
        <p:nvSpPr>
          <p:cNvPr id="3" name="Content Placeholder 2"/>
          <p:cNvSpPr>
            <a:spLocks noGrp="1"/>
          </p:cNvSpPr>
          <p:nvPr>
            <p:ph sz="quarter" idx="1"/>
          </p:nvPr>
        </p:nvSpPr>
        <p:spPr/>
        <p:txBody>
          <a:bodyPr>
            <a:normAutofit/>
          </a:bodyPr>
          <a:lstStyle/>
          <a:p>
            <a:r>
              <a:rPr lang="en-US" sz="3100" dirty="0">
                <a:latin typeface="Calibri" panose="020F0502020204030204" pitchFamily="34" charset="0"/>
                <a:cs typeface="Calibri" panose="020F0502020204030204" pitchFamily="34" charset="0"/>
              </a:rPr>
              <a:t>Disadvantage</a:t>
            </a:r>
            <a:endParaRPr lang="en-US" dirty="0">
              <a:latin typeface="Calibri" panose="020F0502020204030204" pitchFamily="34" charset="0"/>
              <a:cs typeface="Calibri" panose="020F0502020204030204" pitchFamily="34" charset="0"/>
            </a:endParaRPr>
          </a:p>
          <a:p>
            <a:pPr lvl="1"/>
            <a:r>
              <a:rPr lang="en-US" sz="2400" dirty="0">
                <a:latin typeface="Calibri" panose="020F0502020204030204" pitchFamily="34" charset="0"/>
                <a:cs typeface="Calibri" panose="020F0502020204030204" pitchFamily="34" charset="0"/>
              </a:rPr>
              <a:t> </a:t>
            </a:r>
            <a:r>
              <a:rPr lang="en-US" sz="2400" dirty="0">
                <a:solidFill>
                  <a:srgbClr val="FF0000"/>
                </a:solidFill>
                <a:latin typeface="Calibri" panose="020F0502020204030204" pitchFamily="34" charset="0"/>
                <a:cs typeface="Calibri" panose="020F0502020204030204" pitchFamily="34" charset="0"/>
              </a:rPr>
              <a:t>formation of </a:t>
            </a:r>
            <a:r>
              <a:rPr lang="en-US" sz="2400" dirty="0" err="1">
                <a:solidFill>
                  <a:srgbClr val="FF0000"/>
                </a:solidFill>
                <a:latin typeface="Calibri" panose="020F0502020204030204" pitchFamily="34" charset="0"/>
                <a:cs typeface="Calibri" panose="020F0502020204030204" pitchFamily="34" charset="0"/>
              </a:rPr>
              <a:t>methemoglobinemia</a:t>
            </a:r>
            <a:r>
              <a:rPr lang="en-US" sz="2400" dirty="0">
                <a:solidFill>
                  <a:srgbClr val="FF0000"/>
                </a:solidFill>
                <a:latin typeface="Calibri" panose="020F0502020204030204" pitchFamily="34" charset="0"/>
                <a:cs typeface="Calibri" panose="020F0502020204030204" pitchFamily="34" charset="0"/>
              </a:rPr>
              <a:t>  </a:t>
            </a:r>
            <a:br>
              <a:rPr lang="en-US" sz="2400" dirty="0">
                <a:solidFill>
                  <a:srgbClr val="FF0000"/>
                </a:solidFill>
                <a:latin typeface="Calibri" panose="020F0502020204030204" pitchFamily="34" charset="0"/>
                <a:cs typeface="Calibri" panose="020F0502020204030204" pitchFamily="34" charset="0"/>
              </a:rPr>
            </a:br>
            <a:endParaRPr lang="en-US" sz="2400" dirty="0">
              <a:solidFill>
                <a:srgbClr val="FF0000"/>
              </a:solidFill>
              <a:latin typeface="Calibri" panose="020F0502020204030204" pitchFamily="34" charset="0"/>
              <a:cs typeface="Calibri" panose="020F0502020204030204" pitchFamily="34" charset="0"/>
            </a:endParaRPr>
          </a:p>
          <a:p>
            <a:pPr algn="just">
              <a:buFont typeface="Symbol" pitchFamily="18" charset="2"/>
              <a:buChar char="ª"/>
            </a:pPr>
            <a:r>
              <a:rPr lang="en-US" sz="2400" dirty="0">
                <a:latin typeface="Calibri" panose="020F0502020204030204" pitchFamily="34" charset="0"/>
                <a:cs typeface="Calibri" panose="020F0502020204030204" pitchFamily="34" charset="0"/>
              </a:rPr>
              <a:t>Doses of 600 mg. are required for the development of clinically significant levels of </a:t>
            </a:r>
            <a:r>
              <a:rPr lang="en-US" sz="2400" dirty="0" err="1">
                <a:latin typeface="Calibri" panose="020F0502020204030204" pitchFamily="34" charset="0"/>
                <a:cs typeface="Calibri" panose="020F0502020204030204" pitchFamily="34" charset="0"/>
              </a:rPr>
              <a:t>methemoglobinemia</a:t>
            </a:r>
            <a:r>
              <a:rPr lang="en-US" sz="2400" dirty="0">
                <a:latin typeface="Calibri" panose="020F0502020204030204" pitchFamily="34" charset="0"/>
                <a:cs typeface="Calibri" panose="020F0502020204030204" pitchFamily="34" charset="0"/>
              </a:rPr>
              <a:t>.</a:t>
            </a:r>
          </a:p>
          <a:p>
            <a:pPr algn="just">
              <a:buFont typeface="Symbol" pitchFamily="18" charset="2"/>
              <a:buChar char="ª"/>
            </a:pPr>
            <a:r>
              <a:rPr lang="en-US" sz="2400" dirty="0">
                <a:latin typeface="Calibri" panose="020F0502020204030204" pitchFamily="34" charset="0"/>
                <a:cs typeface="Calibri" panose="020F0502020204030204" pitchFamily="34" charset="0"/>
              </a:rPr>
              <a:t>  believed to be related to </a:t>
            </a:r>
            <a:r>
              <a:rPr lang="en-US" sz="2400" dirty="0" err="1">
                <a:latin typeface="Calibri" panose="020F0502020204030204" pitchFamily="34" charset="0"/>
                <a:cs typeface="Calibri" panose="020F0502020204030204" pitchFamily="34" charset="0"/>
              </a:rPr>
              <a:t>prilocaine</a:t>
            </a:r>
            <a:r>
              <a:rPr lang="en-US" sz="2400" dirty="0">
                <a:latin typeface="Calibri" panose="020F0502020204030204" pitchFamily="34" charset="0"/>
                <a:cs typeface="Calibri" panose="020F0502020204030204" pitchFamily="34" charset="0"/>
              </a:rPr>
              <a:t> chemical structure. </a:t>
            </a:r>
          </a:p>
          <a:p>
            <a:pPr lvl="2"/>
            <a:r>
              <a:rPr lang="en-US" dirty="0">
                <a:latin typeface="Calibri" panose="020F0502020204030204" pitchFamily="34" charset="0"/>
                <a:cs typeface="Calibri" panose="020F0502020204030204" pitchFamily="34" charset="0"/>
              </a:rPr>
              <a:t>This agent lacks a methyl group in the benzene ring. </a:t>
            </a:r>
          </a:p>
          <a:p>
            <a:r>
              <a:rPr lang="en-US" sz="2400" dirty="0">
                <a:latin typeface="Calibri" panose="020F0502020204030204" pitchFamily="34" charset="0"/>
                <a:cs typeface="Calibri" panose="020F0502020204030204" pitchFamily="34" charset="0"/>
              </a:rPr>
              <a:t>The metabolism of </a:t>
            </a:r>
            <a:r>
              <a:rPr lang="en-US" sz="2400" dirty="0" err="1">
                <a:latin typeface="Calibri" panose="020F0502020204030204" pitchFamily="34" charset="0"/>
                <a:cs typeface="Calibri" panose="020F0502020204030204" pitchFamily="34" charset="0"/>
              </a:rPr>
              <a:t>prilocaine</a:t>
            </a:r>
            <a:r>
              <a:rPr lang="en-US" sz="2400" dirty="0">
                <a:latin typeface="Calibri" panose="020F0502020204030204" pitchFamily="34" charset="0"/>
                <a:cs typeface="Calibri" panose="020F0502020204030204" pitchFamily="34" charset="0"/>
              </a:rPr>
              <a:t>, in the liver results in </a:t>
            </a:r>
          </a:p>
          <a:p>
            <a:pPr lvl="1"/>
            <a:r>
              <a:rPr lang="en-US" sz="2000" dirty="0">
                <a:latin typeface="Calibri" panose="020F0502020204030204" pitchFamily="34" charset="0"/>
                <a:cs typeface="Calibri" panose="020F0502020204030204" pitchFamily="34" charset="0"/>
              </a:rPr>
              <a:t>the formation of o- </a:t>
            </a:r>
            <a:r>
              <a:rPr lang="en-US" sz="2000" dirty="0" err="1">
                <a:latin typeface="Calibri" panose="020F0502020204030204" pitchFamily="34" charset="0"/>
                <a:cs typeface="Calibri" panose="020F0502020204030204" pitchFamily="34" charset="0"/>
              </a:rPr>
              <a:t>toludine</a:t>
            </a:r>
            <a:r>
              <a:rPr lang="en-US" sz="2000" dirty="0">
                <a:latin typeface="Calibri" panose="020F0502020204030204" pitchFamily="34" charset="0"/>
                <a:cs typeface="Calibri" panose="020F0502020204030204" pitchFamily="34" charset="0"/>
              </a:rPr>
              <a:t>, which is responsible for the oxidation of hemoglobin to </a:t>
            </a:r>
            <a:r>
              <a:rPr lang="en-US" sz="2000" dirty="0" err="1">
                <a:latin typeface="Calibri" panose="020F0502020204030204" pitchFamily="34" charset="0"/>
                <a:cs typeface="Calibri" panose="020F0502020204030204" pitchFamily="34" charset="0"/>
              </a:rPr>
              <a:t>methemoglobin</a:t>
            </a:r>
            <a:r>
              <a:rPr lang="en-US" sz="2000" dirty="0">
                <a:latin typeface="Calibri" panose="020F0502020204030204" pitchFamily="34" charset="0"/>
                <a:cs typeface="Calibri" panose="020F0502020204030204" pitchFamily="34" charset="0"/>
              </a:rPr>
              <a:t> </a:t>
            </a:r>
            <a:br>
              <a:rPr lang="en-US" sz="2000" dirty="0">
                <a:latin typeface="Calibri" panose="020F0502020204030204" pitchFamily="34" charset="0"/>
                <a:cs typeface="Calibri" panose="020F0502020204030204" pitchFamily="34" charset="0"/>
              </a:rPr>
            </a:b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508813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p>
        </p:txBody>
      </p:sp>
      <p:sp>
        <p:nvSpPr>
          <p:cNvPr id="3" name="Content Placeholder 2"/>
          <p:cNvSpPr>
            <a:spLocks noGrp="1"/>
          </p:cNvSpPr>
          <p:nvPr>
            <p:ph sz="quarter" idx="1"/>
          </p:nvPr>
        </p:nvSpPr>
        <p:spPr/>
        <p:txBody>
          <a:bodyPr>
            <a:normAutofit/>
          </a:bodyPr>
          <a:lstStyle/>
          <a:p>
            <a:pPr>
              <a:buFont typeface="Wingdings" panose="05000000000000000000" pitchFamily="2" charset="2"/>
              <a:buChar char="q"/>
            </a:pPr>
            <a:r>
              <a:rPr lang="en-US" sz="2800" b="1" dirty="0">
                <a:solidFill>
                  <a:srgbClr val="FF0000"/>
                </a:solidFill>
                <a:latin typeface="Calibri" panose="020F0502020204030204" pitchFamily="34" charset="0"/>
                <a:cs typeface="Calibri" panose="020F0502020204030204" pitchFamily="34" charset="0"/>
              </a:rPr>
              <a:t>Bupivacaine</a:t>
            </a:r>
            <a:r>
              <a:rPr lang="en-US" b="1" dirty="0">
                <a:latin typeface="Calibri" panose="020F0502020204030204" pitchFamily="34" charset="0"/>
                <a:cs typeface="Calibri" panose="020F0502020204030204" pitchFamily="34" charset="0"/>
              </a:rPr>
              <a:t> </a:t>
            </a:r>
          </a:p>
          <a:p>
            <a:r>
              <a:rPr lang="en-US" sz="2400" dirty="0">
                <a:latin typeface="Calibri" panose="020F0502020204030204" pitchFamily="34" charset="0"/>
                <a:cs typeface="Calibri" panose="020F0502020204030204" pitchFamily="34" charset="0"/>
              </a:rPr>
              <a:t>acceptable onset (e.g. within 5 minutes during SA), </a:t>
            </a:r>
          </a:p>
          <a:p>
            <a:r>
              <a:rPr lang="en-US" sz="2400" dirty="0">
                <a:latin typeface="Calibri" panose="020F0502020204030204" pitchFamily="34" charset="0"/>
                <a:cs typeface="Calibri" panose="020F0502020204030204" pitchFamily="34" charset="0"/>
              </a:rPr>
              <a:t>long duration of action (varies from about 3 to 10 hours ), </a:t>
            </a:r>
          </a:p>
          <a:p>
            <a:r>
              <a:rPr lang="en-US" sz="2400" dirty="0">
                <a:latin typeface="Calibri" panose="020F0502020204030204" pitchFamily="34" charset="0"/>
                <a:cs typeface="Calibri" panose="020F0502020204030204" pitchFamily="34" charset="0"/>
              </a:rPr>
              <a:t>Profound conduction blockade, and</a:t>
            </a:r>
          </a:p>
          <a:p>
            <a:r>
              <a:rPr lang="en-US" sz="2400" dirty="0">
                <a:latin typeface="Calibri" panose="020F0502020204030204" pitchFamily="34" charset="0"/>
                <a:cs typeface="Calibri" panose="020F0502020204030204" pitchFamily="34" charset="0"/>
              </a:rPr>
              <a:t> significant separation of sensory anesthesia and motor blockade. </a:t>
            </a:r>
          </a:p>
          <a:p>
            <a:r>
              <a:rPr lang="en-US" dirty="0">
                <a:latin typeface="Calibri" panose="020F0502020204030204" pitchFamily="34" charset="0"/>
                <a:cs typeface="Calibri" panose="020F0502020204030204" pitchFamily="34" charset="0"/>
              </a:rPr>
              <a:t>concentrations  Available</a:t>
            </a:r>
          </a:p>
          <a:p>
            <a:pPr lvl="1"/>
            <a:r>
              <a:rPr lang="en-US" dirty="0">
                <a:latin typeface="Calibri" panose="020F0502020204030204" pitchFamily="34" charset="0"/>
                <a:cs typeface="Calibri" panose="020F0502020204030204" pitchFamily="34" charset="0"/>
              </a:rPr>
              <a:t>0.</a:t>
            </a:r>
            <a:r>
              <a:rPr lang="en-US" sz="2500" dirty="0">
                <a:latin typeface="Calibri" panose="020F0502020204030204" pitchFamily="34" charset="0"/>
                <a:cs typeface="Calibri" panose="020F0502020204030204" pitchFamily="34" charset="0"/>
              </a:rPr>
              <a:t>125%, 0.25%, 0.5%, and 0.75 % </a:t>
            </a:r>
            <a:br>
              <a:rPr lang="en-US" sz="2500"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442035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p>
        </p:txBody>
      </p:sp>
      <p:sp>
        <p:nvSpPr>
          <p:cNvPr id="3" name="Content Placeholder 2"/>
          <p:cNvSpPr>
            <a:spLocks noGrp="1"/>
          </p:cNvSpPr>
          <p:nvPr>
            <p:ph sz="quarter" idx="1"/>
          </p:nvPr>
        </p:nvSpPr>
        <p:spPr/>
        <p:txBody>
          <a:bodyPr>
            <a:normAutofit fontScale="92500" lnSpcReduction="10000"/>
          </a:bodyPr>
          <a:lstStyle/>
          <a:p>
            <a:pPr>
              <a:buFont typeface="Wingdings" pitchFamily="2" charset="2"/>
              <a:buChar char="q"/>
            </a:pPr>
            <a:r>
              <a:rPr lang="en-US" sz="2800" b="1" dirty="0">
                <a:latin typeface="Calibri" panose="020F0502020204030204" pitchFamily="34" charset="0"/>
                <a:cs typeface="Calibri" panose="020F0502020204030204" pitchFamily="34" charset="0"/>
              </a:rPr>
              <a:t>Uses</a:t>
            </a:r>
          </a:p>
          <a:p>
            <a:r>
              <a:rPr lang="en-US" dirty="0">
                <a:latin typeface="Calibri" panose="020F0502020204030204" pitchFamily="34" charset="0"/>
                <a:cs typeface="Calibri" panose="020F0502020204030204" pitchFamily="34" charset="0"/>
              </a:rPr>
              <a:t> infiltration, </a:t>
            </a:r>
          </a:p>
          <a:p>
            <a:r>
              <a:rPr lang="en-US" dirty="0">
                <a:latin typeface="Calibri" panose="020F0502020204030204" pitchFamily="34" charset="0"/>
                <a:cs typeface="Calibri" panose="020F0502020204030204" pitchFamily="34" charset="0"/>
              </a:rPr>
              <a:t>peripheral nerve blocks, and</a:t>
            </a:r>
          </a:p>
          <a:p>
            <a:r>
              <a:rPr lang="en-US" dirty="0">
                <a:latin typeface="Calibri" panose="020F0502020204030204" pitchFamily="34" charset="0"/>
                <a:cs typeface="Calibri" panose="020F0502020204030204" pitchFamily="34" charset="0"/>
              </a:rPr>
              <a:t>epidural anesthesia (0.125% to 0.5% ) and </a:t>
            </a:r>
          </a:p>
          <a:p>
            <a:pPr lvl="1" algn="just"/>
            <a:r>
              <a:rPr lang="en-US" dirty="0">
                <a:latin typeface="Calibri" panose="020F0502020204030204" pitchFamily="34" charset="0"/>
                <a:cs typeface="Calibri" panose="020F0502020204030204" pitchFamily="34" charset="0"/>
              </a:rPr>
              <a:t>0.75% concentration is not recommended for epidural use in obstetrics and this agent is also not recommended for IV regional anesthesia </a:t>
            </a:r>
          </a:p>
          <a:p>
            <a:r>
              <a:rPr lang="en-US" dirty="0">
                <a:latin typeface="Calibri" panose="020F0502020204030204" pitchFamily="34" charset="0"/>
                <a:cs typeface="Calibri" panose="020F0502020204030204" pitchFamily="34" charset="0"/>
              </a:rPr>
              <a:t>spinal anesthesia (</a:t>
            </a:r>
            <a:r>
              <a:rPr lang="en-US" sz="2000" dirty="0">
                <a:latin typeface="Calibri" panose="020F0502020204030204" pitchFamily="34" charset="0"/>
                <a:cs typeface="Calibri" panose="020F0502020204030204" pitchFamily="34" charset="0"/>
              </a:rPr>
              <a:t>Isobaric and hyperbaric solutions of 0.5% to 0.75%  ). </a:t>
            </a:r>
            <a:endParaRPr lang="en-US" dirty="0">
              <a:latin typeface="Calibri" panose="020F0502020204030204" pitchFamily="34" charset="0"/>
              <a:cs typeface="Calibri" panose="020F0502020204030204" pitchFamily="34" charset="0"/>
            </a:endParaRPr>
          </a:p>
          <a:p>
            <a:r>
              <a:rPr lang="en-US" dirty="0">
                <a:solidFill>
                  <a:srgbClr val="FF0000"/>
                </a:solidFill>
                <a:latin typeface="Calibri" panose="020F0502020204030204" pitchFamily="34" charset="0"/>
                <a:cs typeface="Calibri" panose="020F0502020204030204" pitchFamily="34" charset="0"/>
              </a:rPr>
              <a:t>Bupivacaine has not been used for topical anesthesia </a:t>
            </a:r>
          </a:p>
          <a:p>
            <a:pPr>
              <a:buFont typeface="Wingdings" pitchFamily="2" charset="2"/>
              <a:buChar char="q"/>
            </a:pPr>
            <a:r>
              <a:rPr lang="en-US" sz="3300" dirty="0">
                <a:latin typeface="Calibri" panose="020F0502020204030204" pitchFamily="34" charset="0"/>
                <a:cs typeface="Calibri" panose="020F0502020204030204" pitchFamily="34" charset="0"/>
              </a:rPr>
              <a:t>The recommended safe dose of bupivacaine</a:t>
            </a:r>
          </a:p>
          <a:p>
            <a:pPr lvl="1">
              <a:buFont typeface="Wingdings" pitchFamily="2" charset="2"/>
              <a:buChar char="v"/>
            </a:pPr>
            <a:r>
              <a:rPr lang="en-US" sz="2600" dirty="0">
                <a:latin typeface="Calibri" panose="020F0502020204030204" pitchFamily="34" charset="0"/>
                <a:cs typeface="Calibri" panose="020F0502020204030204" pitchFamily="34" charset="0"/>
              </a:rPr>
              <a:t> </a:t>
            </a:r>
            <a:r>
              <a:rPr lang="en-US" sz="2600" dirty="0">
                <a:solidFill>
                  <a:srgbClr val="FF0000"/>
                </a:solidFill>
                <a:latin typeface="Calibri" panose="020F0502020204030204" pitchFamily="34" charset="0"/>
                <a:cs typeface="Calibri" panose="020F0502020204030204" pitchFamily="34" charset="0"/>
              </a:rPr>
              <a:t>2mg/kg without epinephrine or 2.5mg/kg with epinephrine </a:t>
            </a:r>
            <a:br>
              <a:rPr lang="en-US" sz="2600" dirty="0">
                <a:latin typeface="Calibri" panose="020F0502020204030204" pitchFamily="34" charset="0"/>
                <a:cs typeface="Calibri" panose="020F0502020204030204" pitchFamily="34" charset="0"/>
              </a:rPr>
            </a:br>
            <a:endParaRPr lang="en-US" sz="2600"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27879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endParaRPr lang="en-US" dirty="0"/>
          </a:p>
        </p:txBody>
      </p:sp>
      <p:sp>
        <p:nvSpPr>
          <p:cNvPr id="3" name="Content Placeholder 2"/>
          <p:cNvSpPr>
            <a:spLocks noGrp="1"/>
          </p:cNvSpPr>
          <p:nvPr>
            <p:ph sz="quarter" idx="1"/>
          </p:nvPr>
        </p:nvSpPr>
        <p:spPr/>
        <p:txBody>
          <a:bodyPr>
            <a:normAutofit fontScale="85000" lnSpcReduction="20000"/>
          </a:bodyPr>
          <a:lstStyle/>
          <a:p>
            <a:pPr marL="0" indent="0">
              <a:buNone/>
            </a:pPr>
            <a:r>
              <a:rPr lang="en-US" b="1" dirty="0"/>
              <a:t>Etidocaine (</a:t>
            </a:r>
            <a:r>
              <a:rPr lang="en-US" dirty="0"/>
              <a:t>1.5% </a:t>
            </a:r>
            <a:r>
              <a:rPr lang="en-US" b="1" dirty="0"/>
              <a:t>)</a:t>
            </a:r>
            <a:r>
              <a:rPr lang="en-US" dirty="0"/>
              <a:t>: - </a:t>
            </a:r>
          </a:p>
          <a:p>
            <a:r>
              <a:rPr lang="en-US" dirty="0"/>
              <a:t>chemically related to lidocaine.  </a:t>
            </a:r>
          </a:p>
          <a:p>
            <a:r>
              <a:rPr lang="en-US" dirty="0"/>
              <a:t>Very rapid onset, </a:t>
            </a:r>
          </a:p>
          <a:p>
            <a:r>
              <a:rPr lang="en-US" dirty="0"/>
              <a:t>prolonged duration of action, and </a:t>
            </a:r>
          </a:p>
          <a:p>
            <a:r>
              <a:rPr lang="en-US" dirty="0"/>
              <a:t>profound sensory and motor blockade.</a:t>
            </a:r>
          </a:p>
          <a:p>
            <a:pPr>
              <a:buFont typeface="Wingdings" pitchFamily="2" charset="2"/>
              <a:buChar char="q"/>
            </a:pPr>
            <a:r>
              <a:rPr lang="en-US" sz="2800" b="1" dirty="0"/>
              <a:t>uses </a:t>
            </a:r>
          </a:p>
          <a:p>
            <a:r>
              <a:rPr lang="en-US" dirty="0"/>
              <a:t>for infiltration, peripheral nerve blockade, and epidural anesthesia </a:t>
            </a:r>
          </a:p>
          <a:p>
            <a:r>
              <a:rPr lang="en-US" sz="2800" dirty="0"/>
              <a:t>limited use for obstetric epidural analgesia and for postoperative pain relief --- vs. bupivacaine</a:t>
            </a:r>
          </a:p>
          <a:p>
            <a:pPr lvl="1"/>
            <a:r>
              <a:rPr lang="en-US" dirty="0"/>
              <a:t>because it does not provide a differential blockade of sensory and motor fibers </a:t>
            </a:r>
            <a:br>
              <a:rPr lang="en-US" dirty="0"/>
            </a:br>
            <a:br>
              <a:rPr lang="en-US" dirty="0"/>
            </a:br>
            <a:endParaRPr lang="en-US" dirty="0"/>
          </a:p>
        </p:txBody>
      </p:sp>
    </p:spTree>
    <p:extLst>
      <p:ext uri="{BB962C8B-B14F-4D97-AF65-F5344CB8AC3E}">
        <p14:creationId xmlns:p14="http://schemas.microsoft.com/office/powerpoint/2010/main" val="41768187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p>
        </p:txBody>
      </p:sp>
      <p:sp>
        <p:nvSpPr>
          <p:cNvPr id="3" name="Content Placeholder 2"/>
          <p:cNvSpPr>
            <a:spLocks noGrp="1"/>
          </p:cNvSpPr>
          <p:nvPr>
            <p:ph sz="quarter" idx="1"/>
          </p:nvPr>
        </p:nvSpPr>
        <p:spPr/>
        <p:txBody>
          <a:bodyPr/>
          <a:lstStyle/>
          <a:p>
            <a:r>
              <a:rPr lang="en-US" b="1" dirty="0">
                <a:latin typeface="Calibri" panose="020F0502020204030204" pitchFamily="34" charset="0"/>
                <a:cs typeface="Calibri" panose="020F0502020204030204" pitchFamily="34" charset="0"/>
              </a:rPr>
              <a:t>Ropivacaine: </a:t>
            </a:r>
            <a:r>
              <a:rPr lang="en-US" dirty="0">
                <a:latin typeface="Calibri" panose="020F0502020204030204" pitchFamily="34" charset="0"/>
                <a:cs typeface="Calibri" panose="020F0502020204030204" pitchFamily="34" charset="0"/>
              </a:rPr>
              <a:t>- </a:t>
            </a:r>
          </a:p>
          <a:p>
            <a:r>
              <a:rPr lang="en-US" dirty="0">
                <a:latin typeface="Calibri" panose="020F0502020204030204" pitchFamily="34" charset="0"/>
                <a:cs typeface="Calibri" panose="020F0502020204030204" pitchFamily="34" charset="0"/>
              </a:rPr>
              <a:t>has intermediate chemical structure between mepivacaine and bupivacaine. </a:t>
            </a:r>
          </a:p>
          <a:p>
            <a:r>
              <a:rPr lang="en-US" dirty="0">
                <a:latin typeface="Calibri" panose="020F0502020204030204" pitchFamily="34" charset="0"/>
                <a:cs typeface="Calibri" panose="020F0502020204030204" pitchFamily="34" charset="0"/>
              </a:rPr>
              <a:t>Roughly equipotent to bupivacaine, but it has greater degree of "separation" of motor and sensory block </a:t>
            </a:r>
          </a:p>
          <a:p>
            <a:pPr lvl="1"/>
            <a:r>
              <a:rPr lang="en-US" sz="2400" dirty="0">
                <a:solidFill>
                  <a:srgbClr val="FF0000"/>
                </a:solidFill>
                <a:latin typeface="Calibri" panose="020F0502020204030204" pitchFamily="34" charset="0"/>
                <a:cs typeface="Calibri" panose="020F0502020204030204" pitchFamily="34" charset="0"/>
              </a:rPr>
              <a:t>Has profound sensory block </a:t>
            </a:r>
            <a:br>
              <a:rPr lang="en-US" sz="2400" dirty="0">
                <a:solidFill>
                  <a:srgbClr val="FF0000"/>
                </a:solidFill>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006616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endParaRPr lang="en-US" dirty="0"/>
          </a:p>
        </p:txBody>
      </p:sp>
      <p:sp>
        <p:nvSpPr>
          <p:cNvPr id="3" name="Content Placeholder 2"/>
          <p:cNvSpPr>
            <a:spLocks noGrp="1"/>
          </p:cNvSpPr>
          <p:nvPr>
            <p:ph sz="quarter" idx="1"/>
          </p:nvPr>
        </p:nvSpPr>
        <p:spPr/>
        <p:txBody>
          <a:bodyPr>
            <a:normAutofit/>
          </a:bodyPr>
          <a:lstStyle/>
          <a:p>
            <a:pPr marL="342900" lvl="1" indent="-342900">
              <a:buClr>
                <a:schemeClr val="accent1"/>
              </a:buClr>
              <a:buSzPct val="85000"/>
              <a:buFont typeface="Wingdings" pitchFamily="2" charset="2"/>
              <a:buChar char="q"/>
            </a:pPr>
            <a:r>
              <a:rPr lang="en-US" sz="2400" b="1" dirty="0"/>
              <a:t>Uses</a:t>
            </a:r>
          </a:p>
          <a:p>
            <a:pPr marL="274320" lvl="1">
              <a:buClr>
                <a:schemeClr val="accent1"/>
              </a:buClr>
              <a:buSzPct val="85000"/>
              <a:buFont typeface="Wingdings 2"/>
              <a:buChar char=""/>
            </a:pPr>
            <a:r>
              <a:rPr lang="en-US" sz="2400" dirty="0"/>
              <a:t> for infiltration,</a:t>
            </a:r>
          </a:p>
          <a:p>
            <a:pPr marL="274320" lvl="1">
              <a:buClr>
                <a:schemeClr val="accent1"/>
              </a:buClr>
              <a:buSzPct val="85000"/>
              <a:buFont typeface="Wingdings 2"/>
              <a:buChar char=""/>
            </a:pPr>
            <a:r>
              <a:rPr lang="en-US" sz="2400" dirty="0"/>
              <a:t> peripheral nerve blocks, </a:t>
            </a:r>
          </a:p>
          <a:p>
            <a:pPr marL="342900" lvl="1" indent="-342900">
              <a:buClr>
                <a:schemeClr val="accent1"/>
              </a:buClr>
              <a:buSzPct val="85000"/>
              <a:buFont typeface="Wingdings" pitchFamily="2" charset="2"/>
              <a:buChar char="q"/>
            </a:pPr>
            <a:r>
              <a:rPr lang="en-US" sz="2400" dirty="0"/>
              <a:t>epidural anesthesia (not commercially available for epidural). </a:t>
            </a:r>
            <a:br>
              <a:rPr lang="en-US" sz="2400" dirty="0"/>
            </a:br>
            <a:endParaRPr lang="en-US" sz="2400" dirty="0"/>
          </a:p>
          <a:p>
            <a:pPr marL="342900" lvl="1" indent="-342900">
              <a:buClr>
                <a:schemeClr val="accent1"/>
              </a:buClr>
              <a:buSzPct val="85000"/>
              <a:buFont typeface="Wingdings" pitchFamily="2" charset="2"/>
              <a:buChar char="q"/>
            </a:pPr>
            <a:r>
              <a:rPr lang="en-US" sz="2400" dirty="0"/>
              <a:t>The recommended safe dose of ropivacaine:</a:t>
            </a:r>
          </a:p>
          <a:p>
            <a:pPr marL="617220" lvl="2" indent="-342900">
              <a:buClr>
                <a:schemeClr val="accent1"/>
              </a:buClr>
              <a:buSzPct val="85000"/>
              <a:buFont typeface="Wingdings" pitchFamily="2" charset="2"/>
              <a:buChar char="ü"/>
            </a:pPr>
            <a:r>
              <a:rPr lang="en-US" sz="2400" dirty="0"/>
              <a:t>3-4 mg/kg with or without epinephrine. </a:t>
            </a:r>
            <a:br>
              <a:rPr lang="en-US" sz="2400" dirty="0"/>
            </a:br>
            <a:endParaRPr lang="en-US" sz="2400" dirty="0"/>
          </a:p>
          <a:p>
            <a:pPr>
              <a:buFont typeface="Wingdings" pitchFamily="2" charset="2"/>
              <a:buChar char="q"/>
            </a:pPr>
            <a:endParaRPr lang="en-US" sz="2400" dirty="0"/>
          </a:p>
        </p:txBody>
      </p:sp>
    </p:spTree>
    <p:extLst>
      <p:ext uri="{BB962C8B-B14F-4D97-AF65-F5344CB8AC3E}">
        <p14:creationId xmlns:p14="http://schemas.microsoft.com/office/powerpoint/2010/main" val="30108788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Methemoglobinemia  </a:t>
            </a:r>
            <a:endParaRPr lang="en-US" dirty="0"/>
          </a:p>
        </p:txBody>
      </p:sp>
      <p:sp>
        <p:nvSpPr>
          <p:cNvPr id="3" name="Content Placeholder 2"/>
          <p:cNvSpPr>
            <a:spLocks noGrp="1"/>
          </p:cNvSpPr>
          <p:nvPr>
            <p:ph sz="quarter" idx="1"/>
          </p:nvPr>
        </p:nvSpPr>
        <p:spPr/>
        <p:txBody>
          <a:bodyPr/>
          <a:lstStyle/>
          <a:p>
            <a:pPr algn="just">
              <a:buFont typeface="Wingdings" pitchFamily="2" charset="2"/>
              <a:buChar char="Ø"/>
            </a:pPr>
            <a:r>
              <a:rPr lang="en-US" sz="2400" dirty="0">
                <a:latin typeface="Times New Roman" pitchFamily="18" charset="0"/>
                <a:cs typeface="Times New Roman" pitchFamily="18" charset="0"/>
              </a:rPr>
              <a:t>It is a condition in which a cyanosis like state develops in the absence of cardiac or respiratory abnormalities. </a:t>
            </a:r>
          </a:p>
          <a:p>
            <a:pPr>
              <a:buFont typeface="Wingdings" pitchFamily="2" charset="2"/>
              <a:buChar char="Ø"/>
            </a:pPr>
            <a:r>
              <a:rPr lang="en-US" sz="2400" dirty="0">
                <a:latin typeface="Times New Roman" pitchFamily="18" charset="0"/>
                <a:cs typeface="Times New Roman" pitchFamily="18" charset="0"/>
              </a:rPr>
              <a:t>Benzocaine administration to the mucous membranes or </a:t>
            </a:r>
            <a:r>
              <a:rPr lang="en-US" sz="2400" dirty="0" err="1">
                <a:latin typeface="Times New Roman" pitchFamily="18" charset="0"/>
                <a:cs typeface="Times New Roman" pitchFamily="18" charset="0"/>
              </a:rPr>
              <a:t>prilocaine</a:t>
            </a:r>
            <a:r>
              <a:rPr lang="en-US" sz="2400" dirty="0">
                <a:latin typeface="Times New Roman" pitchFamily="18" charset="0"/>
                <a:cs typeface="Times New Roman" pitchFamily="18" charset="0"/>
              </a:rPr>
              <a:t> administration can result in the relatively uncommon but potentially fatal complication of Methemoglobinemia..</a:t>
            </a:r>
          </a:p>
          <a:p>
            <a:pPr>
              <a:buFont typeface="Wingdings" pitchFamily="2" charset="2"/>
              <a:buChar char="Ø"/>
            </a:pPr>
            <a:r>
              <a:rPr lang="en-US" sz="2400" dirty="0">
                <a:latin typeface="Times New Roman" pitchFamily="18" charset="0"/>
                <a:cs typeface="Times New Roman" pitchFamily="18" charset="0"/>
              </a:rPr>
              <a:t>incidence  1: 7,000  </a:t>
            </a:r>
          </a:p>
          <a:p>
            <a:endParaRPr lang="en-US" dirty="0"/>
          </a:p>
        </p:txBody>
      </p:sp>
    </p:spTree>
    <p:extLst>
      <p:ext uri="{BB962C8B-B14F-4D97-AF65-F5344CB8AC3E}">
        <p14:creationId xmlns:p14="http://schemas.microsoft.com/office/powerpoint/2010/main" val="37987657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endParaRPr lang="en-US" dirty="0"/>
          </a:p>
        </p:txBody>
      </p:sp>
      <p:sp>
        <p:nvSpPr>
          <p:cNvPr id="3" name="Content Placeholder 2"/>
          <p:cNvSpPr>
            <a:spLocks noGrp="1"/>
          </p:cNvSpPr>
          <p:nvPr>
            <p:ph sz="quarter" idx="1"/>
          </p:nvPr>
        </p:nvSpPr>
        <p:spPr/>
        <p:txBody>
          <a:bodyPr>
            <a:normAutofit fontScale="92500" lnSpcReduction="20000"/>
          </a:bodyPr>
          <a:lstStyle/>
          <a:p>
            <a:pPr algn="just">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Hgb contains 4 heme groups (Fe+2) located on the surface of the molecule. </a:t>
            </a:r>
          </a:p>
          <a:p>
            <a:pPr algn="just">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Heme has the ability to reversibly bind with oxygen. </a:t>
            </a:r>
          </a:p>
          <a:p>
            <a:pPr algn="just">
              <a:lnSpc>
                <a:spcPct val="150000"/>
              </a:lnSpc>
              <a:buFont typeface="Arial" panose="020B0604020202020204" pitchFamily="34" charset="0"/>
              <a:buChar char="•"/>
            </a:pPr>
            <a:r>
              <a:rPr lang="en-US" sz="2600" dirty="0" err="1">
                <a:latin typeface="Calibri" panose="020F0502020204030204" pitchFamily="34" charset="0"/>
                <a:cs typeface="Calibri" panose="020F0502020204030204" pitchFamily="34" charset="0"/>
              </a:rPr>
              <a:t>Methemoglobin</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MHb</a:t>
            </a:r>
            <a:r>
              <a:rPr lang="en-US" sz="2600" dirty="0">
                <a:latin typeface="Calibri" panose="020F0502020204030204" pitchFamily="34" charset="0"/>
                <a:cs typeface="Calibri" panose="020F0502020204030204" pitchFamily="34" charset="0"/>
              </a:rPr>
              <a:t>) is a form of hemoglobin that is unable to bind with oxygen. </a:t>
            </a:r>
          </a:p>
          <a:p>
            <a:pPr algn="just">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The ferrous irons (Fe+2) of the heme are oxidized to a ferric iron (Fe+3). </a:t>
            </a:r>
          </a:p>
          <a:p>
            <a:pPr lvl="1" algn="just">
              <a:lnSpc>
                <a:spcPct val="150000"/>
              </a:lnSpc>
              <a:buFont typeface="Arial" panose="020B0604020202020204" pitchFamily="34" charset="0"/>
              <a:buChar char="•"/>
            </a:pPr>
            <a:r>
              <a:rPr lang="en-US" sz="2100" dirty="0">
                <a:latin typeface="Calibri" panose="020F0502020204030204" pitchFamily="34" charset="0"/>
                <a:cs typeface="Calibri" panose="020F0502020204030204" pitchFamily="34" charset="0"/>
              </a:rPr>
              <a:t>The ferric heme is unable to bind with oxygen, resulting in a diminished ability to deliver oxygen to tissue.</a:t>
            </a: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13378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Signs and Symptoms of </a:t>
            </a:r>
            <a:r>
              <a:rPr lang="en-US" sz="3200" dirty="0" err="1"/>
              <a:t>Methemoglobinemia</a:t>
            </a:r>
            <a:endParaRPr lang="en-US" sz="3200" dirty="0"/>
          </a:p>
        </p:txBody>
      </p:sp>
      <p:sp>
        <p:nvSpPr>
          <p:cNvPr id="3" name="Content Placeholder 2"/>
          <p:cNvSpPr>
            <a:spLocks noGrp="1"/>
          </p:cNvSpPr>
          <p:nvPr>
            <p:ph sz="quarter" idx="1"/>
          </p:nvPr>
        </p:nvSpPr>
        <p:spPr/>
        <p:txBody>
          <a:bodyPr>
            <a:normAutofit/>
          </a:bodyPr>
          <a:lstStyle/>
          <a:p>
            <a:pPr>
              <a:buFont typeface="Wingdings" pitchFamily="2" charset="2"/>
              <a:buChar char="Ø"/>
            </a:pPr>
            <a:r>
              <a:rPr lang="en-US" sz="2400" dirty="0">
                <a:latin typeface="Calibri" panose="020F0502020204030204" pitchFamily="34" charset="0"/>
                <a:cs typeface="Calibri" panose="020F0502020204030204" pitchFamily="34" charset="0"/>
              </a:rPr>
              <a:t> Cyanosis (</a:t>
            </a:r>
            <a:r>
              <a:rPr lang="en-US" sz="2400" dirty="0" err="1">
                <a:latin typeface="Calibri" panose="020F0502020204030204" pitchFamily="34" charset="0"/>
                <a:cs typeface="Calibri" panose="020F0502020204030204" pitchFamily="34" charset="0"/>
              </a:rPr>
              <a:t>MHb</a:t>
            </a:r>
            <a:r>
              <a:rPr lang="en-US" sz="2400" dirty="0">
                <a:latin typeface="Calibri" panose="020F0502020204030204" pitchFamily="34" charset="0"/>
                <a:cs typeface="Calibri" panose="020F0502020204030204" pitchFamily="34" charset="0"/>
              </a:rPr>
              <a:t> 10% or &gt;) . </a:t>
            </a:r>
          </a:p>
          <a:p>
            <a:pPr>
              <a:buFont typeface="Wingdings" pitchFamily="2" charset="2"/>
              <a:buChar char="Ø"/>
            </a:pPr>
            <a:r>
              <a:rPr lang="en-US" sz="2400" dirty="0">
                <a:latin typeface="Calibri" panose="020F0502020204030204" pitchFamily="34" charset="0"/>
                <a:cs typeface="Calibri" panose="020F0502020204030204" pitchFamily="34" charset="0"/>
              </a:rPr>
              <a:t>cyanosis, headache, weakness, dizziness, lethargy, and tachycardia (</a:t>
            </a:r>
            <a:r>
              <a:rPr lang="en-US" sz="2400" dirty="0" err="1">
                <a:latin typeface="Calibri" panose="020F0502020204030204" pitchFamily="34" charset="0"/>
                <a:cs typeface="Calibri" panose="020F0502020204030204" pitchFamily="34" charset="0"/>
              </a:rPr>
              <a:t>MHb</a:t>
            </a:r>
            <a:r>
              <a:rPr lang="en-US" sz="2400" dirty="0">
                <a:latin typeface="Calibri" panose="020F0502020204030204" pitchFamily="34" charset="0"/>
                <a:cs typeface="Calibri" panose="020F0502020204030204" pitchFamily="34" charset="0"/>
              </a:rPr>
              <a:t> levels of 15% or greater)</a:t>
            </a:r>
          </a:p>
          <a:p>
            <a:pPr>
              <a:buFont typeface="Wingdings" pitchFamily="2" charset="2"/>
              <a:buChar char="Ø"/>
            </a:pP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dyspnea</a:t>
            </a:r>
            <a:r>
              <a:rPr lang="en-US" sz="2400" dirty="0">
                <a:latin typeface="Calibri" panose="020F0502020204030204" pitchFamily="34" charset="0"/>
                <a:cs typeface="Calibri" panose="020F0502020204030204" pitchFamily="34" charset="0"/>
              </a:rPr>
              <a:t>, cyanosis, seizures, coma, </a:t>
            </a:r>
            <a:r>
              <a:rPr lang="en-US" sz="2400" dirty="0" err="1">
                <a:latin typeface="Calibri" panose="020F0502020204030204" pitchFamily="34" charset="0"/>
                <a:cs typeface="Calibri" panose="020F0502020204030204" pitchFamily="34" charset="0"/>
              </a:rPr>
              <a:t>dysrhythmias</a:t>
            </a:r>
            <a:r>
              <a:rPr lang="en-US" sz="2400" dirty="0">
                <a:latin typeface="Calibri" panose="020F0502020204030204" pitchFamily="34" charset="0"/>
                <a:cs typeface="Calibri" panose="020F0502020204030204" pitchFamily="34" charset="0"/>
              </a:rPr>
              <a:t>, and heart failure at levels of 45% or greater.</a:t>
            </a:r>
          </a:p>
          <a:p>
            <a:pPr>
              <a:buFont typeface="Wingdings" pitchFamily="2" charset="2"/>
              <a:buChar char="Ø"/>
            </a:pPr>
            <a:r>
              <a:rPr lang="en-US" sz="2400" dirty="0">
                <a:latin typeface="Calibri" panose="020F0502020204030204" pitchFamily="34" charset="0"/>
                <a:cs typeface="Calibri" panose="020F0502020204030204" pitchFamily="34" charset="0"/>
              </a:rPr>
              <a:t> At levels 70% or greater, mortality can occur</a:t>
            </a:r>
          </a:p>
        </p:txBody>
      </p:sp>
    </p:spTree>
    <p:extLst>
      <p:ext uri="{BB962C8B-B14F-4D97-AF65-F5344CB8AC3E}">
        <p14:creationId xmlns:p14="http://schemas.microsoft.com/office/powerpoint/2010/main" val="21509578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sz="quarter" idx="1"/>
          </p:nvPr>
        </p:nvSpPr>
        <p:spPr>
          <a:xfrm>
            <a:off x="457200" y="1143000"/>
            <a:ext cx="8229600" cy="4983163"/>
          </a:xfrm>
        </p:spPr>
        <p:txBody>
          <a:bodyPr/>
          <a:lstStyle/>
          <a:p>
            <a:r>
              <a:rPr lang="en-US" b="1" dirty="0"/>
              <a:t>Diagnosis</a:t>
            </a:r>
          </a:p>
          <a:p>
            <a:pPr>
              <a:buFont typeface="Wingdings" pitchFamily="2" charset="2"/>
              <a:buChar char="Ø"/>
            </a:pPr>
            <a:r>
              <a:rPr lang="en-US" dirty="0"/>
              <a:t>It should be considered in any patient who develops cyanosis after the use of topical </a:t>
            </a:r>
            <a:r>
              <a:rPr lang="en-US" dirty="0" err="1"/>
              <a:t>benzocaine</a:t>
            </a:r>
            <a:r>
              <a:rPr lang="en-US" dirty="0"/>
              <a:t>. </a:t>
            </a:r>
          </a:p>
          <a:p>
            <a:pPr>
              <a:buFont typeface="Wingdings" pitchFamily="2" charset="2"/>
              <a:buChar char="Ø"/>
            </a:pPr>
            <a:r>
              <a:rPr lang="en-US" dirty="0"/>
              <a:t>Pulse </a:t>
            </a:r>
            <a:r>
              <a:rPr lang="en-US" dirty="0" err="1"/>
              <a:t>oximetry</a:t>
            </a:r>
            <a:r>
              <a:rPr lang="en-US" dirty="0"/>
              <a:t> readings will be inaccurate  </a:t>
            </a:r>
          </a:p>
        </p:txBody>
      </p:sp>
    </p:spTree>
    <p:extLst>
      <p:ext uri="{BB962C8B-B14F-4D97-AF65-F5344CB8AC3E}">
        <p14:creationId xmlns:p14="http://schemas.microsoft.com/office/powerpoint/2010/main" val="40704875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Treatment</a:t>
            </a:r>
            <a:br>
              <a:rPr lang="en-US" b="1" dirty="0"/>
            </a:br>
            <a:endParaRPr lang="en-US" dirty="0"/>
          </a:p>
        </p:txBody>
      </p:sp>
      <p:sp>
        <p:nvSpPr>
          <p:cNvPr id="3" name="Content Placeholder 2"/>
          <p:cNvSpPr>
            <a:spLocks noGrp="1"/>
          </p:cNvSpPr>
          <p:nvPr>
            <p:ph sz="quarter" idx="1"/>
          </p:nvPr>
        </p:nvSpPr>
        <p:spPr/>
        <p:txBody>
          <a:bodyPr/>
          <a:lstStyle/>
          <a:p>
            <a:pPr>
              <a:buFont typeface="Wingdings" pitchFamily="2" charset="2"/>
              <a:buChar char="Ø"/>
            </a:pPr>
            <a:r>
              <a:rPr lang="en-US" dirty="0"/>
              <a:t>supplemental oxygen</a:t>
            </a:r>
          </a:p>
          <a:p>
            <a:pPr>
              <a:buFont typeface="Wingdings" pitchFamily="2" charset="2"/>
              <a:buChar char="Ø"/>
            </a:pPr>
            <a:r>
              <a:rPr lang="en-US" dirty="0"/>
              <a:t> methylene blue (1–5 mg/kg iv) or, </a:t>
            </a:r>
          </a:p>
          <a:p>
            <a:pPr>
              <a:buFont typeface="Wingdings" pitchFamily="2" charset="2"/>
              <a:buChar char="Ø"/>
            </a:pPr>
            <a:r>
              <a:rPr lang="en-US" dirty="0"/>
              <a:t>less successfully, of ascorbic acid (2 mg/kg) to reduce </a:t>
            </a:r>
            <a:r>
              <a:rPr lang="en-US" dirty="0" err="1"/>
              <a:t>MHb</a:t>
            </a:r>
            <a:r>
              <a:rPr lang="en-US" dirty="0"/>
              <a:t> to Hgb.</a:t>
            </a:r>
          </a:p>
        </p:txBody>
      </p:sp>
    </p:spTree>
    <p:extLst>
      <p:ext uri="{BB962C8B-B14F-4D97-AF65-F5344CB8AC3E}">
        <p14:creationId xmlns:p14="http://schemas.microsoft.com/office/powerpoint/2010/main" val="27103068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1D057-CA5A-5B4D-70B9-A32AC7BB375E}"/>
              </a:ext>
            </a:extLst>
          </p:cNvPr>
          <p:cNvSpPr>
            <a:spLocks noGrp="1"/>
          </p:cNvSpPr>
          <p:nvPr>
            <p:ph type="title"/>
          </p:nvPr>
        </p:nvSpPr>
        <p:spPr/>
        <p:txBody>
          <a:bodyPr>
            <a:normAutofit/>
          </a:bodyPr>
          <a:lstStyle/>
          <a:p>
            <a:pPr algn="l"/>
            <a:r>
              <a:rPr lang="en-US" sz="2800" b="1" i="0" u="none" strike="noStrike" baseline="0" dirty="0">
                <a:solidFill>
                  <a:srgbClr val="000000"/>
                </a:solidFill>
                <a:latin typeface="Calibri" panose="020F0502020204030204" pitchFamily="34" charset="0"/>
                <a:cs typeface="Calibri" panose="020F0502020204030204" pitchFamily="34" charset="0"/>
              </a:rPr>
              <a:t>FACTORS INFLUENCING LAs ACTIVITY</a:t>
            </a:r>
            <a:endParaRPr lang="en-US" sz="440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B795825D-21CC-4611-7EC9-5FD96F0A992F}"/>
              </a:ext>
            </a:extLst>
          </p:cNvPr>
          <p:cNvSpPr>
            <a:spLocks noGrp="1"/>
          </p:cNvSpPr>
          <p:nvPr>
            <p:ph sz="quarter" idx="1"/>
          </p:nvPr>
        </p:nvSpPr>
        <p:spPr/>
        <p:txBody>
          <a:bodyPr>
            <a:normAutofit/>
          </a:bodyPr>
          <a:lstStyle/>
          <a:p>
            <a:pPr>
              <a:buFont typeface="Wingdings" panose="05000000000000000000" pitchFamily="2" charset="2"/>
              <a:buChar char="q"/>
            </a:pPr>
            <a:r>
              <a:rPr lang="en-US" sz="2400" b="1" i="0" u="none" strike="noStrike" baseline="0" dirty="0">
                <a:solidFill>
                  <a:srgbClr val="000000"/>
                </a:solidFill>
                <a:latin typeface="Calibri" panose="020F0502020204030204" pitchFamily="34" charset="0"/>
                <a:cs typeface="Calibri" panose="020F0502020204030204" pitchFamily="34" charset="0"/>
              </a:rPr>
              <a:t>Dosage of Local Anesthetic</a:t>
            </a:r>
          </a:p>
          <a:p>
            <a:r>
              <a:rPr lang="en-US" sz="2400" b="0" i="0" u="none" strike="noStrike" baseline="0" dirty="0">
                <a:solidFill>
                  <a:srgbClr val="000000"/>
                </a:solidFill>
                <a:latin typeface="Calibri" panose="020F0502020204030204" pitchFamily="34" charset="0"/>
                <a:cs typeface="Calibri" panose="020F0502020204030204" pitchFamily="34" charset="0"/>
              </a:rPr>
              <a:t>As the dosage of local anesthetic is increased,</a:t>
            </a:r>
          </a:p>
          <a:p>
            <a:pPr lvl="1"/>
            <a:r>
              <a:rPr lang="en-US" sz="2400" b="0" i="0" u="none" strike="noStrike" baseline="0" dirty="0">
                <a:solidFill>
                  <a:srgbClr val="000000"/>
                </a:solidFill>
                <a:latin typeface="Calibri" panose="020F0502020204030204" pitchFamily="34" charset="0"/>
                <a:cs typeface="Calibri" panose="020F0502020204030204" pitchFamily="34" charset="0"/>
              </a:rPr>
              <a:t> the duration of satisfactory anesthesia increases and </a:t>
            </a:r>
          </a:p>
          <a:p>
            <a:pPr lvl="1"/>
            <a:r>
              <a:rPr lang="en-US" sz="2400" b="0" i="0" u="none" strike="noStrike" baseline="0" dirty="0">
                <a:solidFill>
                  <a:srgbClr val="000000"/>
                </a:solidFill>
                <a:latin typeface="Calibri" panose="020F0502020204030204" pitchFamily="34" charset="0"/>
                <a:cs typeface="Calibri" panose="020F0502020204030204" pitchFamily="34" charset="0"/>
              </a:rPr>
              <a:t>the time to onset of block is shortened</a:t>
            </a:r>
          </a:p>
          <a:p>
            <a:r>
              <a:rPr lang="en-US" sz="2400" b="0" i="0" u="none" strike="noStrike" baseline="0" dirty="0">
                <a:solidFill>
                  <a:srgbClr val="000000"/>
                </a:solidFill>
                <a:latin typeface="Calibri" panose="020F0502020204030204" pitchFamily="34" charset="0"/>
                <a:cs typeface="Calibri" panose="020F0502020204030204" pitchFamily="34" charset="0"/>
              </a:rPr>
              <a:t>The dosage of local anesthetic can be increased by </a:t>
            </a:r>
          </a:p>
          <a:p>
            <a:pPr lvl="1"/>
            <a:r>
              <a:rPr lang="en-US" sz="2400" b="0" i="0" u="none" strike="noStrike" baseline="0" dirty="0">
                <a:solidFill>
                  <a:srgbClr val="000000"/>
                </a:solidFill>
                <a:latin typeface="Calibri" panose="020F0502020204030204" pitchFamily="34" charset="0"/>
                <a:cs typeface="Calibri" panose="020F0502020204030204" pitchFamily="34" charset="0"/>
              </a:rPr>
              <a:t>administering either a larger volume or </a:t>
            </a:r>
          </a:p>
          <a:p>
            <a:pPr lvl="1"/>
            <a:r>
              <a:rPr lang="en-US" sz="2400" b="0" i="0" u="none" strike="noStrike" baseline="0" dirty="0">
                <a:solidFill>
                  <a:srgbClr val="000000"/>
                </a:solidFill>
                <a:latin typeface="Calibri" panose="020F0502020204030204" pitchFamily="34" charset="0"/>
                <a:cs typeface="Calibri" panose="020F0502020204030204" pitchFamily="34" charset="0"/>
              </a:rPr>
              <a:t>a more concentrated solution. </a:t>
            </a:r>
          </a:p>
          <a:p>
            <a:pPr marL="0" indent="0">
              <a:buNone/>
            </a:pP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207220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66F6F-F541-A054-13BA-F7F1C07EC732}"/>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AD8F5A66-2F7C-4685-E707-F8146244CC29}"/>
              </a:ext>
            </a:extLst>
          </p:cNvPr>
          <p:cNvSpPr>
            <a:spLocks noGrp="1"/>
          </p:cNvSpPr>
          <p:nvPr>
            <p:ph sz="quarter" idx="1"/>
          </p:nvPr>
        </p:nvSpPr>
        <p:spPr>
          <a:xfrm>
            <a:off x="301752" y="1219200"/>
            <a:ext cx="8503920" cy="5410200"/>
          </a:xfrm>
        </p:spPr>
        <p:txBody>
          <a:bodyPr>
            <a:noAutofit/>
          </a:bodyPr>
          <a:lstStyle/>
          <a:p>
            <a:pPr>
              <a:buFont typeface="Wingdings" panose="05000000000000000000" pitchFamily="2" charset="2"/>
              <a:buChar char="q"/>
            </a:pPr>
            <a:r>
              <a:rPr lang="en-US" sz="2400" b="1" i="0" u="none" strike="noStrike" baseline="0" dirty="0">
                <a:solidFill>
                  <a:srgbClr val="000000"/>
                </a:solidFill>
                <a:latin typeface="Calibri" panose="020F0502020204030204" pitchFamily="34" charset="0"/>
                <a:cs typeface="Calibri" panose="020F0502020204030204" pitchFamily="34" charset="0"/>
              </a:rPr>
              <a:t>Addition of Additives</a:t>
            </a:r>
          </a:p>
          <a:p>
            <a:pPr>
              <a:buFont typeface="Wingdings" panose="05000000000000000000" pitchFamily="2" charset="2"/>
              <a:buChar char="Ø"/>
            </a:pPr>
            <a:r>
              <a:rPr lang="en-US" sz="2400" b="1" i="0" u="none" strike="noStrike" baseline="0" dirty="0">
                <a:solidFill>
                  <a:srgbClr val="000000"/>
                </a:solidFill>
                <a:latin typeface="Calibri" panose="020F0502020204030204" pitchFamily="34" charset="0"/>
                <a:cs typeface="Calibri" panose="020F0502020204030204" pitchFamily="34" charset="0"/>
              </a:rPr>
              <a:t> Epinephrine. </a:t>
            </a:r>
          </a:p>
          <a:p>
            <a:r>
              <a:rPr lang="en-US" sz="2400" b="0" i="0" u="none" strike="noStrike" baseline="0" dirty="0">
                <a:solidFill>
                  <a:srgbClr val="000000"/>
                </a:solidFill>
                <a:latin typeface="Calibri" panose="020F0502020204030204" pitchFamily="34" charset="0"/>
                <a:cs typeface="Calibri" panose="020F0502020204030204" pitchFamily="34" charset="0"/>
              </a:rPr>
              <a:t>Vasoconstrictors, usually epinephrine, are frequently included in LA solutions</a:t>
            </a:r>
          </a:p>
          <a:p>
            <a:pPr lvl="1"/>
            <a:r>
              <a:rPr lang="en-US" sz="2400" b="0" i="0" u="none" strike="noStrike" baseline="0" dirty="0">
                <a:solidFill>
                  <a:srgbClr val="000000"/>
                </a:solidFill>
                <a:latin typeface="Calibri" panose="020F0502020204030204" pitchFamily="34" charset="0"/>
                <a:cs typeface="Calibri" panose="020F0502020204030204" pitchFamily="34" charset="0"/>
              </a:rPr>
              <a:t> to decrease the rate of vascular absorption, </a:t>
            </a:r>
          </a:p>
          <a:p>
            <a:pPr lvl="2"/>
            <a:r>
              <a:rPr lang="en-US" sz="2400" b="0" i="0" u="none" strike="noStrike" baseline="0" dirty="0">
                <a:solidFill>
                  <a:srgbClr val="000000"/>
                </a:solidFill>
                <a:latin typeface="Calibri" panose="020F0502020204030204" pitchFamily="34" charset="0"/>
                <a:cs typeface="Calibri" panose="020F0502020204030204" pitchFamily="34" charset="0"/>
              </a:rPr>
              <a:t>thereby allowing more LA to reach the nerve membrane and thus improve the depth and duration of anesthesia.</a:t>
            </a:r>
          </a:p>
          <a:p>
            <a:pPr>
              <a:buFont typeface="Wingdings" panose="05000000000000000000" pitchFamily="2" charset="2"/>
              <a:buChar char="Ø"/>
            </a:pPr>
            <a:r>
              <a:rPr lang="en-US" sz="2400" b="1" dirty="0">
                <a:solidFill>
                  <a:srgbClr val="000000"/>
                </a:solidFill>
                <a:latin typeface="Calibri" panose="020F0502020204030204" pitchFamily="34" charset="0"/>
                <a:cs typeface="Calibri" panose="020F0502020204030204" pitchFamily="34" charset="0"/>
              </a:rPr>
              <a:t>Clonidine and Dexmedetomidine (α-2 agonists ). </a:t>
            </a:r>
          </a:p>
          <a:p>
            <a:pPr lvl="1">
              <a:buFont typeface="Courier New" panose="02070309020205020404" pitchFamily="49" charset="0"/>
              <a:buChar char="o"/>
            </a:pPr>
            <a:r>
              <a:rPr lang="en-US" sz="2400" b="0" i="0" u="none" strike="noStrike" baseline="0" dirty="0">
                <a:solidFill>
                  <a:srgbClr val="000000"/>
                </a:solidFill>
                <a:latin typeface="Calibri" panose="020F0502020204030204" pitchFamily="34" charset="0"/>
                <a:cs typeface="Calibri" panose="020F0502020204030204" pitchFamily="34" charset="0"/>
              </a:rPr>
              <a:t>prolongs both motor and sensory block. </a:t>
            </a:r>
          </a:p>
          <a:p>
            <a:pPr lvl="3">
              <a:buFont typeface="Courier New" panose="02070309020205020404" pitchFamily="49" charset="0"/>
              <a:buChar char="o"/>
            </a:pPr>
            <a:r>
              <a:rPr lang="en-US" sz="2200" dirty="0">
                <a:solidFill>
                  <a:srgbClr val="000000"/>
                </a:solidFill>
                <a:latin typeface="Calibri" panose="020F0502020204030204" pitchFamily="34" charset="0"/>
                <a:cs typeface="Calibri" panose="020F0502020204030204" pitchFamily="34" charset="0"/>
              </a:rPr>
              <a:t>Clonidine prolongs the action of LAs by about 2 </a:t>
            </a:r>
            <a:r>
              <a:rPr lang="en-US" sz="2200" i="0" u="none" strike="noStrike" baseline="0" dirty="0">
                <a:solidFill>
                  <a:srgbClr val="000000"/>
                </a:solidFill>
                <a:latin typeface="Calibri" panose="020F0502020204030204" pitchFamily="34" charset="0"/>
                <a:cs typeface="Calibri" panose="020F0502020204030204" pitchFamily="34" charset="0"/>
              </a:rPr>
              <a:t>hrs.</a:t>
            </a:r>
          </a:p>
          <a:p>
            <a:pPr lvl="3">
              <a:buFont typeface="Courier New" panose="02070309020205020404" pitchFamily="49" charset="0"/>
              <a:buChar char="o"/>
            </a:pPr>
            <a:r>
              <a:rPr lang="en-US" sz="2200" dirty="0">
                <a:solidFill>
                  <a:srgbClr val="000000"/>
                </a:solidFill>
                <a:latin typeface="Calibri" panose="020F0502020204030204" pitchFamily="34" charset="0"/>
                <a:cs typeface="Calibri" panose="020F0502020204030204" pitchFamily="34" charset="0"/>
              </a:rPr>
              <a:t>Dexmedetomidine prolongs the action of LAs by 4 </a:t>
            </a:r>
            <a:r>
              <a:rPr lang="en-US" sz="2200" i="0" u="none" strike="noStrike" baseline="0" dirty="0">
                <a:solidFill>
                  <a:srgbClr val="000000"/>
                </a:solidFill>
                <a:latin typeface="Calibri" panose="020F0502020204030204" pitchFamily="34" charset="0"/>
                <a:cs typeface="Calibri" panose="020F0502020204030204" pitchFamily="34" charset="0"/>
              </a:rPr>
              <a:t>hrs.</a:t>
            </a:r>
          </a:p>
          <a:p>
            <a:pPr lvl="1">
              <a:buFont typeface="Courier New" panose="02070309020205020404" pitchFamily="49" charset="0"/>
              <a:buChar char="o"/>
            </a:pPr>
            <a:r>
              <a:rPr lang="en-US" sz="2400" dirty="0">
                <a:solidFill>
                  <a:srgbClr val="000000"/>
                </a:solidFill>
                <a:latin typeface="Calibri" panose="020F0502020204030204" pitchFamily="34" charset="0"/>
                <a:cs typeface="Calibri" panose="020F0502020204030204" pitchFamily="34" charset="0"/>
              </a:rPr>
              <a:t>M</a:t>
            </a:r>
            <a:r>
              <a:rPr lang="en-US" sz="2400" b="0" i="0" u="none" strike="noStrike" baseline="0" dirty="0">
                <a:solidFill>
                  <a:srgbClr val="000000"/>
                </a:solidFill>
                <a:latin typeface="Calibri" panose="020F0502020204030204" pitchFamily="34" charset="0"/>
                <a:cs typeface="Calibri" panose="020F0502020204030204" pitchFamily="34" charset="0"/>
              </a:rPr>
              <a:t>echanisms of action: actions on α-2 receptors and block hyperpolarization-induced currents.</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158443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E8DC0-0ECF-903F-416E-4E1F3F30A8B7}"/>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D15EE275-7E03-A982-DEB4-B5CCE983B4CC}"/>
              </a:ext>
            </a:extLst>
          </p:cNvPr>
          <p:cNvSpPr>
            <a:spLocks noGrp="1"/>
          </p:cNvSpPr>
          <p:nvPr>
            <p:ph sz="quarter" idx="1"/>
          </p:nvPr>
        </p:nvSpPr>
        <p:spPr/>
        <p:txBody>
          <a:bodyPr>
            <a:normAutofit/>
          </a:bodyPr>
          <a:lstStyle/>
          <a:p>
            <a:pPr algn="l">
              <a:buFont typeface="Wingdings" panose="05000000000000000000" pitchFamily="2" charset="2"/>
              <a:buChar char="Ø"/>
            </a:pPr>
            <a:r>
              <a:rPr lang="en-US" sz="2800" b="1" i="0" u="none" strike="noStrike" baseline="0" dirty="0">
                <a:solidFill>
                  <a:srgbClr val="000000"/>
                </a:solidFill>
                <a:latin typeface="Calibri" panose="020F0502020204030204" pitchFamily="34" charset="0"/>
                <a:cs typeface="Calibri" panose="020F0502020204030204" pitchFamily="34" charset="0"/>
              </a:rPr>
              <a:t>Opioids</a:t>
            </a:r>
          </a:p>
          <a:p>
            <a:pPr algn="l"/>
            <a:r>
              <a:rPr lang="en-US" sz="2400" b="0" i="0" u="none" strike="noStrike" baseline="0" dirty="0">
                <a:latin typeface="Calibri" panose="020F0502020204030204" pitchFamily="34" charset="0"/>
                <a:cs typeface="Calibri" panose="020F0502020204030204" pitchFamily="34" charset="0"/>
              </a:rPr>
              <a:t>Central neuraxial coadministration of LAs and opioids prolongs and intensifies analgesia and anesthesia.</a:t>
            </a:r>
          </a:p>
          <a:p>
            <a:pPr algn="l"/>
            <a:r>
              <a:rPr lang="en-US" sz="2400" b="0" i="0" u="none" strike="noStrike" baseline="0" dirty="0">
                <a:solidFill>
                  <a:srgbClr val="000000"/>
                </a:solidFill>
                <a:latin typeface="Calibri" panose="020F0502020204030204" pitchFamily="34" charset="0"/>
                <a:cs typeface="Calibri" panose="020F0502020204030204" pitchFamily="34" charset="0"/>
              </a:rPr>
              <a:t>Spinal administration of opioids provides analgesia primarily by</a:t>
            </a:r>
          </a:p>
          <a:p>
            <a:pPr lvl="2"/>
            <a:r>
              <a:rPr lang="en-US" sz="1700" b="0" i="0" u="none" strike="noStrike" baseline="0" dirty="0">
                <a:solidFill>
                  <a:srgbClr val="000000"/>
                </a:solidFill>
                <a:latin typeface="Calibri" panose="020F0502020204030204" pitchFamily="34" charset="0"/>
                <a:cs typeface="Calibri" panose="020F0502020204030204" pitchFamily="34" charset="0"/>
              </a:rPr>
              <a:t> </a:t>
            </a:r>
            <a:r>
              <a:rPr lang="en-US" sz="2100" b="0" i="0" u="none" strike="noStrike" baseline="0" dirty="0">
                <a:solidFill>
                  <a:srgbClr val="000000"/>
                </a:solidFill>
                <a:latin typeface="Calibri" panose="020F0502020204030204" pitchFamily="34" charset="0"/>
                <a:cs typeface="Calibri" panose="020F0502020204030204" pitchFamily="34" charset="0"/>
              </a:rPr>
              <a:t>attenuating C-fiber nociception</a:t>
            </a:r>
            <a:r>
              <a:rPr lang="en-US" sz="2100" b="0" i="0" u="none" strike="noStrike" baseline="0" dirty="0">
                <a:solidFill>
                  <a:srgbClr val="0000EF"/>
                </a:solidFill>
                <a:latin typeface="Calibri" panose="020F0502020204030204" pitchFamily="34" charset="0"/>
                <a:cs typeface="Calibri" panose="020F0502020204030204" pitchFamily="34" charset="0"/>
              </a:rPr>
              <a:t> </a:t>
            </a:r>
            <a:r>
              <a:rPr lang="en-US" sz="2100" b="0" i="0" u="none" strike="noStrike" baseline="0" dirty="0">
                <a:solidFill>
                  <a:srgbClr val="000000"/>
                </a:solidFill>
                <a:latin typeface="Calibri" panose="020F0502020204030204" pitchFamily="34" charset="0"/>
                <a:cs typeface="Calibri" panose="020F0502020204030204" pitchFamily="34" charset="0"/>
              </a:rPr>
              <a:t>and is independent of supraspinal mechanisms.</a:t>
            </a:r>
            <a:endParaRPr lang="en-US" sz="2100" dirty="0">
              <a:solidFill>
                <a:srgbClr val="0000EF"/>
              </a:solidFill>
              <a:latin typeface="Calibri" panose="020F0502020204030204" pitchFamily="34" charset="0"/>
              <a:cs typeface="Calibri" panose="020F0502020204030204" pitchFamily="34" charset="0"/>
            </a:endParaRPr>
          </a:p>
          <a:p>
            <a:pPr algn="l"/>
            <a:r>
              <a:rPr lang="en-US" sz="2400" b="0" i="0" u="none" strike="noStrike" baseline="0" dirty="0">
                <a:solidFill>
                  <a:srgbClr val="000000"/>
                </a:solidFill>
                <a:latin typeface="Calibri" panose="020F0502020204030204" pitchFamily="34" charset="0"/>
                <a:cs typeface="Calibri" panose="020F0502020204030204" pitchFamily="34" charset="0"/>
              </a:rPr>
              <a:t>Coadministration of opioids with central neuraxial LAs results in synergistic analgesia.</a:t>
            </a:r>
          </a:p>
          <a:p>
            <a:pPr lvl="1"/>
            <a:r>
              <a:rPr lang="en-US" sz="2400" b="0" i="0" u="none" strike="noStrike" baseline="0" dirty="0">
                <a:latin typeface="Calibri" panose="020F0502020204030204" pitchFamily="34" charset="0"/>
                <a:cs typeface="Calibri" panose="020F0502020204030204" pitchFamily="34" charset="0"/>
              </a:rPr>
              <a:t>An exception to this analgesic synergy is </a:t>
            </a:r>
            <a:r>
              <a:rPr lang="en-US" sz="2400" b="0" i="0" u="none" strike="noStrike" baseline="0" dirty="0" err="1">
                <a:latin typeface="Calibri" panose="020F0502020204030204" pitchFamily="34" charset="0"/>
                <a:cs typeface="Calibri" panose="020F0502020204030204" pitchFamily="34" charset="0"/>
              </a:rPr>
              <a:t>chloroprocaine</a:t>
            </a:r>
            <a:r>
              <a:rPr lang="en-US" sz="2400" dirty="0">
                <a:latin typeface="Calibri" panose="020F0502020204030204" pitchFamily="34" charset="0"/>
                <a:cs typeface="Calibri" panose="020F0502020204030204" pitchFamily="34" charset="0"/>
              </a:rPr>
              <a:t>.</a:t>
            </a:r>
          </a:p>
          <a:p>
            <a:pPr lvl="2"/>
            <a:r>
              <a:rPr lang="en-US" sz="2400" b="0" i="0" u="none" strike="noStrike" baseline="0" dirty="0">
                <a:latin typeface="Calibri" panose="020F0502020204030204" pitchFamily="34" charset="0"/>
                <a:cs typeface="Calibri" panose="020F0502020204030204" pitchFamily="34" charset="0"/>
              </a:rPr>
              <a:t>Which decrease the effectiveness of opioids </a:t>
            </a:r>
            <a:r>
              <a:rPr lang="en-US" sz="2400" b="0" i="0" u="none" strike="noStrike" baseline="0" dirty="0" err="1">
                <a:latin typeface="Calibri" panose="020F0502020204030204" pitchFamily="34" charset="0"/>
                <a:cs typeface="Calibri" panose="020F0502020204030204" pitchFamily="34" charset="0"/>
              </a:rPr>
              <a:t>coadministered</a:t>
            </a:r>
            <a:r>
              <a:rPr lang="en-US" sz="2400" b="0" i="0" u="none" strike="noStrike" baseline="0" dirty="0">
                <a:latin typeface="Calibri" panose="020F0502020204030204" pitchFamily="34" charset="0"/>
                <a:cs typeface="Calibri" panose="020F0502020204030204" pitchFamily="34" charset="0"/>
              </a:rPr>
              <a:t> epidurally</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122279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92428-CA0F-0322-A2DC-A4DB825C43A8}"/>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A62FE6B4-A87B-FE77-6115-5EFD67493EFA}"/>
              </a:ext>
            </a:extLst>
          </p:cNvPr>
          <p:cNvSpPr>
            <a:spLocks noGrp="1"/>
          </p:cNvSpPr>
          <p:nvPr>
            <p:ph sz="quarter" idx="1"/>
          </p:nvPr>
        </p:nvSpPr>
        <p:spPr/>
        <p:txBody>
          <a:bodyPr>
            <a:normAutofit/>
          </a:bodyPr>
          <a:lstStyle/>
          <a:p>
            <a:pPr>
              <a:buFont typeface="Wingdings" panose="05000000000000000000" pitchFamily="2" charset="2"/>
              <a:buChar char="Ø"/>
            </a:pPr>
            <a:r>
              <a:rPr lang="en-US" sz="2400" dirty="0">
                <a:latin typeface="Calibri" panose="020F0502020204030204" pitchFamily="34" charset="0"/>
                <a:cs typeface="Calibri" panose="020F0502020204030204" pitchFamily="34" charset="0"/>
              </a:rPr>
              <a:t>Dexamethasone.</a:t>
            </a:r>
          </a:p>
          <a:p>
            <a:pPr>
              <a:buFont typeface="Arial" panose="020B0604020202020204" pitchFamily="34" charset="0"/>
              <a:buChar char="•"/>
            </a:pPr>
            <a:r>
              <a:rPr lang="en-US" sz="2400" dirty="0">
                <a:solidFill>
                  <a:srgbClr val="000000"/>
                </a:solidFill>
                <a:latin typeface="Calibri" panose="020F0502020204030204" pitchFamily="34" charset="0"/>
                <a:cs typeface="Calibri" panose="020F0502020204030204" pitchFamily="34" charset="0"/>
              </a:rPr>
              <a:t>P</a:t>
            </a:r>
            <a:r>
              <a:rPr lang="en-US" sz="2400" b="0" i="0" u="none" strike="noStrike" baseline="0" dirty="0">
                <a:solidFill>
                  <a:srgbClr val="000000"/>
                </a:solidFill>
                <a:latin typeface="Calibri" panose="020F0502020204030204" pitchFamily="34" charset="0"/>
                <a:cs typeface="Calibri" panose="020F0502020204030204" pitchFamily="34" charset="0"/>
              </a:rPr>
              <a:t>rolongs duration of medium-acting LAs by 2 to 3 hours, and </a:t>
            </a:r>
          </a:p>
          <a:p>
            <a:pPr>
              <a:buFont typeface="Arial" panose="020B0604020202020204" pitchFamily="34" charset="0"/>
              <a:buChar char="•"/>
            </a:pPr>
            <a:r>
              <a:rPr lang="en-US" sz="2400" b="0" i="0" u="none" strike="noStrike" baseline="0" dirty="0">
                <a:solidFill>
                  <a:srgbClr val="000000"/>
                </a:solidFill>
                <a:latin typeface="Calibri" panose="020F0502020204030204" pitchFamily="34" charset="0"/>
                <a:cs typeface="Calibri" panose="020F0502020204030204" pitchFamily="34" charset="0"/>
              </a:rPr>
              <a:t>Prolongs the block of long-acting LAs by up to 10 hours</a:t>
            </a:r>
          </a:p>
          <a:p>
            <a:pPr>
              <a:buFont typeface="Wingdings" panose="05000000000000000000" pitchFamily="2" charset="2"/>
              <a:buChar char="ü"/>
            </a:pPr>
            <a:r>
              <a:rPr lang="en-US" sz="2400" dirty="0">
                <a:solidFill>
                  <a:srgbClr val="000000"/>
                </a:solidFill>
                <a:latin typeface="Calibri" panose="020F0502020204030204" pitchFamily="34" charset="0"/>
                <a:cs typeface="Calibri" panose="020F0502020204030204" pitchFamily="34" charset="0"/>
              </a:rPr>
              <a:t>Mechanism</a:t>
            </a:r>
          </a:p>
          <a:p>
            <a:pPr lvl="1">
              <a:buFont typeface="Arial" panose="020B0604020202020204" pitchFamily="34" charset="0"/>
              <a:buChar char="•"/>
            </a:pPr>
            <a:r>
              <a:rPr lang="en-US" b="0" i="0" u="none" strike="noStrike" baseline="0" dirty="0">
                <a:solidFill>
                  <a:srgbClr val="000000"/>
                </a:solidFill>
                <a:latin typeface="Calibri" panose="020F0502020204030204" pitchFamily="34" charset="0"/>
                <a:cs typeface="Calibri" panose="020F0502020204030204" pitchFamily="34" charset="0"/>
              </a:rPr>
              <a:t>Its precise mechanism is not understood</a:t>
            </a:r>
          </a:p>
          <a:p>
            <a:pPr>
              <a:buFont typeface="Wingdings" panose="05000000000000000000" pitchFamily="2" charset="2"/>
              <a:buChar char="ü"/>
            </a:pPr>
            <a:r>
              <a:rPr lang="en-US" sz="2400" b="0" i="0" u="none" strike="noStrike" baseline="0" dirty="0">
                <a:solidFill>
                  <a:srgbClr val="000000"/>
                </a:solidFill>
                <a:latin typeface="Calibri" panose="020F0502020204030204" pitchFamily="34" charset="0"/>
                <a:cs typeface="Calibri" panose="020F0502020204030204" pitchFamily="34" charset="0"/>
              </a:rPr>
              <a:t>Route of administration</a:t>
            </a:r>
          </a:p>
          <a:p>
            <a:pPr lvl="1">
              <a:buFont typeface="Arial" panose="020B0604020202020204" pitchFamily="34" charset="0"/>
              <a:buChar char="•"/>
            </a:pPr>
            <a:r>
              <a:rPr lang="en-US" b="0" i="0" u="none" strike="noStrike" baseline="0" dirty="0">
                <a:solidFill>
                  <a:srgbClr val="000000"/>
                </a:solidFill>
                <a:latin typeface="Calibri" panose="020F0502020204030204" pitchFamily="34" charset="0"/>
                <a:cs typeface="Calibri" panose="020F0502020204030204" pitchFamily="34" charset="0"/>
              </a:rPr>
              <a:t>intravenous or perineural administration.</a:t>
            </a:r>
          </a:p>
          <a:p>
            <a:pPr marL="274320" lvl="1">
              <a:buClr>
                <a:schemeClr val="accent1"/>
              </a:buClr>
              <a:buSzPct val="85000"/>
              <a:buFont typeface="Wingdings" panose="05000000000000000000" pitchFamily="2" charset="2"/>
              <a:buChar char="ü"/>
            </a:pPr>
            <a:r>
              <a:rPr lang="en-US" sz="2400" dirty="0">
                <a:solidFill>
                  <a:srgbClr val="000000"/>
                </a:solidFill>
                <a:latin typeface="Calibri" panose="020F0502020204030204" pitchFamily="34" charset="0"/>
                <a:cs typeface="Calibri" panose="020F0502020204030204" pitchFamily="34" charset="0"/>
              </a:rPr>
              <a:t>Doses: between 4 and 10 mg in adults.</a:t>
            </a:r>
          </a:p>
        </p:txBody>
      </p:sp>
    </p:spTree>
    <p:extLst>
      <p:ext uri="{BB962C8B-B14F-4D97-AF65-F5344CB8AC3E}">
        <p14:creationId xmlns:p14="http://schemas.microsoft.com/office/powerpoint/2010/main" val="7892830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5CD5-1B50-1DB9-0457-36EF29FF91A8}"/>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982A1619-F01B-DAC5-25B2-EB82426616CC}"/>
              </a:ext>
            </a:extLst>
          </p:cNvPr>
          <p:cNvSpPr>
            <a:spLocks noGrp="1"/>
          </p:cNvSpPr>
          <p:nvPr>
            <p:ph sz="quarter" idx="1"/>
          </p:nvPr>
        </p:nvSpPr>
        <p:spPr>
          <a:xfrm>
            <a:off x="301752" y="1527048"/>
            <a:ext cx="8534400" cy="4572000"/>
          </a:xfrm>
        </p:spPr>
        <p:txBody>
          <a:bodyPr/>
          <a:lstStyle/>
          <a:p>
            <a:pPr>
              <a:buFont typeface="Wingdings" panose="05000000000000000000" pitchFamily="2" charset="2"/>
              <a:buChar char="Ø"/>
            </a:pPr>
            <a:r>
              <a:rPr lang="en-US" dirty="0">
                <a:latin typeface="Calibri" panose="020F0502020204030204" pitchFamily="34" charset="0"/>
                <a:cs typeface="Calibri" panose="020F0502020204030204" pitchFamily="34" charset="0"/>
              </a:rPr>
              <a:t>Site of Injection</a:t>
            </a:r>
          </a:p>
          <a:p>
            <a:pPr lvl="1"/>
            <a:r>
              <a:rPr lang="en-US" sz="2400" dirty="0">
                <a:latin typeface="Calibri" panose="020F0502020204030204" pitchFamily="34" charset="0"/>
                <a:cs typeface="Calibri" panose="020F0502020204030204" pitchFamily="34" charset="0"/>
              </a:rPr>
              <a:t>The most rapid onset but the shortest duration of action occurs after intrathecal or subcutaneous administration of LAs.</a:t>
            </a:r>
          </a:p>
          <a:p>
            <a:pPr lvl="1"/>
            <a:r>
              <a:rPr lang="en-US" sz="2400" dirty="0">
                <a:latin typeface="Calibri" panose="020F0502020204030204" pitchFamily="34" charset="0"/>
                <a:cs typeface="Calibri" panose="020F0502020204030204" pitchFamily="34" charset="0"/>
              </a:rPr>
              <a:t>The longest latencies and durations are observed after large-volume brachial plexus blocks.</a:t>
            </a:r>
          </a:p>
          <a:p>
            <a:pPr lvl="2"/>
            <a:r>
              <a:rPr lang="en-US" b="0" i="0" u="none" strike="noStrike" baseline="0" dirty="0">
                <a:solidFill>
                  <a:srgbClr val="000000"/>
                </a:solidFill>
                <a:latin typeface="Calibri" panose="020F0502020204030204" pitchFamily="34" charset="0"/>
                <a:cs typeface="Calibri" panose="020F0502020204030204" pitchFamily="34" charset="0"/>
              </a:rPr>
              <a:t>For example, intrathecal bupivacaine will usually produce anesthesia within 5 minutes that will persist for 3 to 4 hours. </a:t>
            </a:r>
          </a:p>
          <a:p>
            <a:pPr lvl="2"/>
            <a:r>
              <a:rPr lang="en-US" b="0" i="0" u="none" strike="noStrike" baseline="0" dirty="0">
                <a:solidFill>
                  <a:srgbClr val="000000"/>
                </a:solidFill>
                <a:latin typeface="Calibri" panose="020F0502020204030204" pitchFamily="34" charset="0"/>
                <a:cs typeface="Calibri" panose="020F0502020204030204" pitchFamily="34" charset="0"/>
              </a:rPr>
              <a:t>However, when bupivacaine is administered for brachial plexus blockade, </a:t>
            </a:r>
          </a:p>
          <a:p>
            <a:pPr lvl="3"/>
            <a:r>
              <a:rPr lang="en-US" b="0" i="0" u="none" strike="noStrike" baseline="0" dirty="0">
                <a:solidFill>
                  <a:srgbClr val="000000"/>
                </a:solidFill>
                <a:latin typeface="Calibri" panose="020F0502020204030204" pitchFamily="34" charset="0"/>
                <a:cs typeface="Calibri" panose="020F0502020204030204" pitchFamily="34" charset="0"/>
              </a:rPr>
              <a:t>the onset time is approximately 20 to 30 minutes, and </a:t>
            </a:r>
          </a:p>
          <a:p>
            <a:pPr lvl="3"/>
            <a:r>
              <a:rPr lang="en-US" b="0" i="0" u="none" strike="noStrike" baseline="0" dirty="0">
                <a:solidFill>
                  <a:srgbClr val="000000"/>
                </a:solidFill>
                <a:latin typeface="Calibri" panose="020F0502020204030204" pitchFamily="34" charset="0"/>
                <a:cs typeface="Calibri" panose="020F0502020204030204" pitchFamily="34" charset="0"/>
              </a:rPr>
              <a:t>the duration of anesthesia (or at least analgesia) averages 10 hrs..</a:t>
            </a:r>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84687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B69D9-3ACD-A06D-A26A-EB6FA8D2C915}"/>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D50D6301-A1E2-E0BC-2866-07CDC718AB6F}"/>
              </a:ext>
            </a:extLst>
          </p:cNvPr>
          <p:cNvSpPr>
            <a:spLocks noGrp="1"/>
          </p:cNvSpPr>
          <p:nvPr>
            <p:ph sz="quarter" idx="1"/>
          </p:nvPr>
        </p:nvSpPr>
        <p:spPr/>
        <p:txBody>
          <a:bodyPr>
            <a:normAutofit/>
          </a:bodyPr>
          <a:lstStyle/>
          <a:p>
            <a:pPr>
              <a:buFont typeface="Wingdings" panose="05000000000000000000" pitchFamily="2" charset="2"/>
              <a:buChar char="Ø"/>
            </a:pPr>
            <a:r>
              <a:rPr lang="en-US" sz="2800" b="1" dirty="0">
                <a:latin typeface="Calibri" panose="020F0502020204030204" pitchFamily="34" charset="0"/>
                <a:cs typeface="Calibri" panose="020F0502020204030204" pitchFamily="34" charset="0"/>
              </a:rPr>
              <a:t>Carbonation and pH Adjustment of LAs</a:t>
            </a:r>
          </a:p>
          <a:p>
            <a:r>
              <a:rPr lang="en-US" dirty="0">
                <a:latin typeface="Calibri" panose="020F0502020204030204" pitchFamily="34" charset="0"/>
                <a:cs typeface="Calibri" panose="020F0502020204030204" pitchFamily="34" charset="0"/>
              </a:rPr>
              <a:t>The addition of sodium bicarbonate to LAs.</a:t>
            </a:r>
          </a:p>
          <a:p>
            <a:pPr lvl="1"/>
            <a:r>
              <a:rPr lang="en-US" dirty="0">
                <a:latin typeface="Calibri" panose="020F0502020204030204" pitchFamily="34" charset="0"/>
                <a:cs typeface="Calibri" panose="020F0502020204030204" pitchFamily="34" charset="0"/>
              </a:rPr>
              <a:t>It accelerates the </a:t>
            </a:r>
            <a:r>
              <a:rPr lang="en-US" dirty="0" err="1">
                <a:latin typeface="Calibri" panose="020F0502020204030204" pitchFamily="34" charset="0"/>
                <a:cs typeface="Calibri" panose="020F0502020204030204" pitchFamily="34" charset="0"/>
              </a:rPr>
              <a:t>onsetof</a:t>
            </a:r>
            <a:r>
              <a:rPr lang="en-US" dirty="0">
                <a:latin typeface="Calibri" panose="020F0502020204030204" pitchFamily="34" charset="0"/>
                <a:cs typeface="Calibri" panose="020F0502020204030204" pitchFamily="34" charset="0"/>
              </a:rPr>
              <a:t> block and decreases the minimum concentration (Cm) required for conduction blockade </a:t>
            </a:r>
          </a:p>
          <a:p>
            <a:pPr lvl="2"/>
            <a:r>
              <a:rPr lang="en-US" dirty="0">
                <a:latin typeface="Calibri" panose="020F0502020204030204" pitchFamily="34" charset="0"/>
                <a:cs typeface="Calibri" panose="020F0502020204030204" pitchFamily="34" charset="0"/>
              </a:rPr>
              <a:t>by increasing pH and increasing the share of uncharged LA molecules that can more easily diffuse into the nerve cell</a:t>
            </a:r>
          </a:p>
          <a:p>
            <a:r>
              <a:rPr lang="en-US" sz="2800" b="1" i="0" u="none" strike="noStrike" baseline="0" dirty="0">
                <a:solidFill>
                  <a:srgbClr val="000000"/>
                </a:solidFill>
                <a:latin typeface="Calibri" panose="020F0502020204030204" pitchFamily="34" charset="0"/>
                <a:cs typeface="Calibri" panose="020F0502020204030204" pitchFamily="34" charset="0"/>
              </a:rPr>
              <a:t>Mixtures of Local Anesthetics </a:t>
            </a:r>
          </a:p>
          <a:p>
            <a:r>
              <a:rPr lang="en-US" sz="2200" b="0" i="0" u="none" strike="noStrike" baseline="0" dirty="0">
                <a:solidFill>
                  <a:srgbClr val="000000"/>
                </a:solidFill>
                <a:latin typeface="Calibri" panose="020F0502020204030204" pitchFamily="34" charset="0"/>
                <a:cs typeface="Calibri" panose="020F0502020204030204" pitchFamily="34" charset="0"/>
              </a:rPr>
              <a:t>Are sometimes used to compensate for the short duration of action of certain rapidly acting agents such as </a:t>
            </a:r>
            <a:r>
              <a:rPr lang="en-US" sz="2200" b="0" i="0" u="none" strike="noStrike" baseline="0" dirty="0" err="1">
                <a:solidFill>
                  <a:srgbClr val="000000"/>
                </a:solidFill>
                <a:latin typeface="Calibri" panose="020F0502020204030204" pitchFamily="34" charset="0"/>
                <a:cs typeface="Calibri" panose="020F0502020204030204" pitchFamily="34" charset="0"/>
              </a:rPr>
              <a:t>chloroprocaine</a:t>
            </a:r>
            <a:r>
              <a:rPr lang="en-US" sz="2200" b="0" i="0" u="none" strike="noStrike" baseline="0" dirty="0">
                <a:solidFill>
                  <a:srgbClr val="000000"/>
                </a:solidFill>
                <a:latin typeface="Calibri" panose="020F0502020204030204" pitchFamily="34" charset="0"/>
                <a:cs typeface="Calibri" panose="020F0502020204030204" pitchFamily="34" charset="0"/>
              </a:rPr>
              <a:t> and lidocaine, and the long latency of longer-acting agents such as tetracaine and bupivacaine.</a:t>
            </a:r>
            <a:endParaRPr 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307139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3C817-5B9E-682E-0076-8EEEF586A3DE}"/>
              </a:ext>
            </a:extLst>
          </p:cNvPr>
          <p:cNvSpPr>
            <a:spLocks noGrp="1"/>
          </p:cNvSpPr>
          <p:nvPr>
            <p:ph type="title"/>
          </p:nvPr>
        </p:nvSpPr>
        <p:spPr/>
        <p:txBody>
          <a:bodyPr>
            <a:normAutofit/>
          </a:bodyPr>
          <a:lstStyle/>
          <a:p>
            <a:r>
              <a:rPr lang="en-US" sz="3600" dirty="0">
                <a:latin typeface="Calibri" panose="020F0502020204030204" pitchFamily="34" charset="0"/>
                <a:cs typeface="Calibri" panose="020F0502020204030204" pitchFamily="34" charset="0"/>
              </a:rPr>
              <a:t>Cont.…</a:t>
            </a:r>
          </a:p>
        </p:txBody>
      </p:sp>
      <p:sp>
        <p:nvSpPr>
          <p:cNvPr id="3" name="Content Placeholder 2">
            <a:extLst>
              <a:ext uri="{FF2B5EF4-FFF2-40B4-BE49-F238E27FC236}">
                <a16:creationId xmlns:a16="http://schemas.microsoft.com/office/drawing/2014/main" id="{9946F9F6-59A9-7499-9A98-0A6B6D4ADAFE}"/>
              </a:ext>
            </a:extLst>
          </p:cNvPr>
          <p:cNvSpPr>
            <a:spLocks noGrp="1"/>
          </p:cNvSpPr>
          <p:nvPr>
            <p:ph sz="quarter" idx="1"/>
          </p:nvPr>
        </p:nvSpPr>
        <p:spPr/>
        <p:txBody>
          <a:bodyPr>
            <a:normAutofit/>
          </a:bodyPr>
          <a:lstStyle/>
          <a:p>
            <a:r>
              <a:rPr lang="en-US" sz="2400" b="1" i="0" u="none" strike="noStrike" baseline="0" dirty="0">
                <a:solidFill>
                  <a:srgbClr val="000000"/>
                </a:solidFill>
                <a:latin typeface="Calibri" panose="020F0502020204030204" pitchFamily="34" charset="0"/>
                <a:cs typeface="Calibri" panose="020F0502020204030204" pitchFamily="34" charset="0"/>
              </a:rPr>
              <a:t>Pregnancy </a:t>
            </a:r>
          </a:p>
          <a:p>
            <a:r>
              <a:rPr lang="en-US" sz="2400" b="0" i="0" u="none" strike="noStrike" baseline="0" dirty="0">
                <a:solidFill>
                  <a:srgbClr val="000000"/>
                </a:solidFill>
                <a:latin typeface="Calibri" panose="020F0502020204030204" pitchFamily="34" charset="0"/>
                <a:cs typeface="Calibri" panose="020F0502020204030204" pitchFamily="34" charset="0"/>
              </a:rPr>
              <a:t>The spread and depth of epidural and spinal anesthesia are greater in pregnant than in nonpregnant women. </a:t>
            </a:r>
          </a:p>
          <a:p>
            <a:pPr lvl="1"/>
            <a:r>
              <a:rPr lang="en-US" sz="2400" dirty="0">
                <a:solidFill>
                  <a:srgbClr val="000000"/>
                </a:solidFill>
                <a:latin typeface="Calibri" panose="020F0502020204030204" pitchFamily="34" charset="0"/>
                <a:cs typeface="Calibri" panose="020F0502020204030204" pitchFamily="34" charset="0"/>
              </a:rPr>
              <a:t>Due to </a:t>
            </a:r>
            <a:r>
              <a:rPr lang="en-US" sz="2400" b="0" i="0" u="none" strike="noStrike" baseline="0" dirty="0">
                <a:solidFill>
                  <a:srgbClr val="000000"/>
                </a:solidFill>
                <a:latin typeface="Calibri" panose="020F0502020204030204" pitchFamily="34" charset="0"/>
                <a:cs typeface="Calibri" panose="020F0502020204030204" pitchFamily="34" charset="0"/>
              </a:rPr>
              <a:t>mechanical factors associated with pregnancy</a:t>
            </a:r>
          </a:p>
          <a:p>
            <a:pPr lvl="2"/>
            <a:r>
              <a:rPr lang="en-US" sz="2400" b="0" i="0" u="none" strike="noStrike" baseline="0" dirty="0">
                <a:solidFill>
                  <a:srgbClr val="000000"/>
                </a:solidFill>
                <a:latin typeface="Calibri" panose="020F0502020204030204" pitchFamily="34" charset="0"/>
                <a:cs typeface="Calibri" panose="020F0502020204030204" pitchFamily="34" charset="0"/>
              </a:rPr>
              <a:t> </a:t>
            </a:r>
            <a:r>
              <a:rPr lang="en-US" sz="2200" b="0" i="0" u="none" strike="noStrike" baseline="0" dirty="0">
                <a:solidFill>
                  <a:srgbClr val="000000"/>
                </a:solidFill>
                <a:latin typeface="Calibri" panose="020F0502020204030204" pitchFamily="34" charset="0"/>
                <a:cs typeface="Calibri" panose="020F0502020204030204" pitchFamily="34" charset="0"/>
              </a:rPr>
              <a:t>i.e., dilated epidural veins decrease the volume of the epidural and subarachnoid spaces, and </a:t>
            </a:r>
          </a:p>
          <a:p>
            <a:pPr lvl="1"/>
            <a:r>
              <a:rPr lang="en-US" sz="2400" b="0" i="0" u="none" strike="noStrike" baseline="0" dirty="0">
                <a:solidFill>
                  <a:srgbClr val="000000"/>
                </a:solidFill>
                <a:latin typeface="Calibri" panose="020F0502020204030204" pitchFamily="34" charset="0"/>
                <a:cs typeface="Calibri" panose="020F0502020204030204" pitchFamily="34" charset="0"/>
              </a:rPr>
              <a:t>direct effects of hormones, progesterone, on the susceptibility of nerves to conduction blockade by LAs.</a:t>
            </a:r>
          </a:p>
          <a:p>
            <a:pPr lvl="1">
              <a:buFont typeface="Wingdings" panose="05000000000000000000" pitchFamily="2" charset="2"/>
              <a:buChar char="q"/>
            </a:pPr>
            <a:r>
              <a:rPr lang="en-US" sz="2400" dirty="0">
                <a:solidFill>
                  <a:srgbClr val="000000"/>
                </a:solidFill>
                <a:latin typeface="Calibri" panose="020F0502020204030204" pitchFamily="34" charset="0"/>
                <a:cs typeface="Calibri" panose="020F0502020204030204" pitchFamily="34" charset="0"/>
              </a:rPr>
              <a:t>Anesthetic implication</a:t>
            </a:r>
          </a:p>
          <a:p>
            <a:pPr lvl="2"/>
            <a:r>
              <a:rPr lang="en-US" b="0" i="0" u="none" strike="noStrike" baseline="0" dirty="0">
                <a:solidFill>
                  <a:srgbClr val="000000"/>
                </a:solidFill>
                <a:latin typeface="Calibri" panose="020F0502020204030204" pitchFamily="34" charset="0"/>
                <a:cs typeface="Calibri" panose="020F0502020204030204" pitchFamily="34" charset="0"/>
              </a:rPr>
              <a:t>The dosage of LAs should be reduced in all stages of pregnancy.</a:t>
            </a:r>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454375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fontAlgn="auto" hangingPunct="1">
              <a:spcAft>
                <a:spcPts val="0"/>
              </a:spcAft>
              <a:defRPr/>
            </a:pPr>
            <a:r>
              <a:rPr lang="en-US" sz="3200" dirty="0">
                <a:solidFill>
                  <a:schemeClr val="tx2">
                    <a:satMod val="130000"/>
                  </a:schemeClr>
                </a:solidFill>
              </a:rPr>
              <a:t>Local Anesthetic Toxicity</a:t>
            </a:r>
          </a:p>
        </p:txBody>
      </p:sp>
      <p:pic>
        <p:nvPicPr>
          <p:cNvPr id="41988" name="Picture 5" descr="D:\Briggs\anesthesia pictures\local tox.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43000"/>
            <a:ext cx="8534400" cy="527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27110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B5F3D-16AD-8B3F-80A2-163BC5943212}"/>
              </a:ext>
            </a:extLst>
          </p:cNvPr>
          <p:cNvSpPr>
            <a:spLocks noGrp="1"/>
          </p:cNvSpPr>
          <p:nvPr>
            <p:ph type="title"/>
          </p:nvPr>
        </p:nvSpPr>
        <p:spPr/>
        <p:txBody>
          <a:bodyPr/>
          <a:lstStyle/>
          <a:p>
            <a:r>
              <a:rPr lang="en-US" sz="3600" dirty="0">
                <a:solidFill>
                  <a:schemeClr val="tx2">
                    <a:satMod val="130000"/>
                  </a:schemeClr>
                </a:solidFill>
                <a:latin typeface="Calibri" panose="020F0502020204030204" pitchFamily="34" charset="0"/>
                <a:cs typeface="Calibri" panose="020F0502020204030204" pitchFamily="34" charset="0"/>
              </a:rPr>
              <a:t>Local Anesthetic Toxicity</a:t>
            </a:r>
            <a:endParaRPr lang="en-US"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0E9C16A4-FD0B-2585-4F31-C0A031A18C5B}"/>
              </a:ext>
            </a:extLst>
          </p:cNvPr>
          <p:cNvSpPr>
            <a:spLocks noGrp="1"/>
          </p:cNvSpPr>
          <p:nvPr>
            <p:ph sz="quarter" idx="1"/>
          </p:nvPr>
        </p:nvSpPr>
        <p:spPr/>
        <p:txBody>
          <a:bodyPr>
            <a:normAutofit fontScale="92500" lnSpcReduction="10000"/>
          </a:bodyPr>
          <a:lstStyle/>
          <a:p>
            <a:pPr>
              <a:buFont typeface="Wingdings" panose="05000000000000000000" pitchFamily="2" charset="2"/>
              <a:buChar char="q"/>
            </a:pPr>
            <a:r>
              <a:rPr lang="en-US" sz="3200" b="1" i="1" u="none" strike="noStrike" baseline="0" dirty="0">
                <a:solidFill>
                  <a:srgbClr val="9EC474"/>
                </a:solidFill>
                <a:latin typeface="Calibri" panose="020F0502020204030204" pitchFamily="34" charset="0"/>
                <a:cs typeface="Calibri" panose="020F0502020204030204" pitchFamily="34" charset="0"/>
              </a:rPr>
              <a:t>Local Anesthetic Systemic Toxicity (LAST)</a:t>
            </a:r>
          </a:p>
          <a:p>
            <a:r>
              <a:rPr lang="en-US" sz="2400" b="0" i="0" u="none" strike="noStrike" baseline="0" dirty="0">
                <a:solidFill>
                  <a:srgbClr val="000000"/>
                </a:solidFill>
                <a:latin typeface="Calibri" panose="020F0502020204030204" pitchFamily="34" charset="0"/>
                <a:cs typeface="Calibri" panose="020F0502020204030204" pitchFamily="34" charset="0"/>
              </a:rPr>
              <a:t>LAs are relatively safe if administered in an appropriate dosage and in the correct anatomic location.</a:t>
            </a:r>
          </a:p>
          <a:p>
            <a:r>
              <a:rPr lang="en-US" sz="2400" b="0" i="0" u="none" strike="noStrike" baseline="0" dirty="0">
                <a:solidFill>
                  <a:srgbClr val="000000"/>
                </a:solidFill>
                <a:latin typeface="Calibri" panose="020F0502020204030204" pitchFamily="34" charset="0"/>
                <a:cs typeface="Calibri" panose="020F0502020204030204" pitchFamily="34" charset="0"/>
              </a:rPr>
              <a:t> However, systemic and localized toxic reactions can occur, usually as a result of </a:t>
            </a:r>
          </a:p>
          <a:p>
            <a:pPr lvl="1"/>
            <a:r>
              <a:rPr lang="en-US" b="0" i="0" u="none" strike="noStrike" baseline="0" dirty="0">
                <a:solidFill>
                  <a:srgbClr val="000000"/>
                </a:solidFill>
                <a:latin typeface="Calibri" panose="020F0502020204030204" pitchFamily="34" charset="0"/>
                <a:cs typeface="Calibri" panose="020F0502020204030204" pitchFamily="34" charset="0"/>
              </a:rPr>
              <a:t>accidental intravascular or intrathecal injection or </a:t>
            </a:r>
          </a:p>
          <a:p>
            <a:pPr lvl="1"/>
            <a:r>
              <a:rPr lang="en-US" b="0" i="0" u="none" strike="noStrike" baseline="0" dirty="0">
                <a:solidFill>
                  <a:srgbClr val="000000"/>
                </a:solidFill>
                <a:latin typeface="Calibri" panose="020F0502020204030204" pitchFamily="34" charset="0"/>
                <a:cs typeface="Calibri" panose="020F0502020204030204" pitchFamily="34" charset="0"/>
              </a:rPr>
              <a:t>administration of an excessive dose or</a:t>
            </a:r>
          </a:p>
          <a:p>
            <a:pPr lvl="1"/>
            <a:r>
              <a:rPr lang="en-US" b="0" i="0" u="none" strike="noStrike" baseline="0" dirty="0">
                <a:solidFill>
                  <a:srgbClr val="000000"/>
                </a:solidFill>
                <a:latin typeface="Calibri" panose="020F0502020204030204" pitchFamily="34" charset="0"/>
                <a:cs typeface="Calibri" panose="020F0502020204030204" pitchFamily="34" charset="0"/>
              </a:rPr>
              <a:t>unanticipated rapid absorption into the blood stream,</a:t>
            </a:r>
          </a:p>
          <a:p>
            <a:r>
              <a:rPr lang="en-US" sz="2400" b="0" i="0" u="none" strike="noStrike" baseline="0" dirty="0">
                <a:solidFill>
                  <a:srgbClr val="000000"/>
                </a:solidFill>
                <a:latin typeface="Calibri" panose="020F0502020204030204" pitchFamily="34" charset="0"/>
                <a:cs typeface="Calibri" panose="020F0502020204030204" pitchFamily="34" charset="0"/>
              </a:rPr>
              <a:t>In addition, specific adverse effects are associated with the use of certain drugs, </a:t>
            </a:r>
          </a:p>
          <a:p>
            <a:pPr lvl="1"/>
            <a:r>
              <a:rPr lang="en-US" b="0" i="0" u="none" strike="noStrike" baseline="0" dirty="0">
                <a:solidFill>
                  <a:srgbClr val="000000"/>
                </a:solidFill>
                <a:latin typeface="Calibri" panose="020F0502020204030204" pitchFamily="34" charset="0"/>
                <a:cs typeface="Calibri" panose="020F0502020204030204" pitchFamily="34" charset="0"/>
              </a:rPr>
              <a:t>such as allergic reactions to the </a:t>
            </a:r>
            <a:r>
              <a:rPr lang="en-US" b="0" i="0" u="none" strike="noStrike" baseline="0" dirty="0" err="1">
                <a:solidFill>
                  <a:srgbClr val="000000"/>
                </a:solidFill>
                <a:latin typeface="Calibri" panose="020F0502020204030204" pitchFamily="34" charset="0"/>
                <a:cs typeface="Calibri" panose="020F0502020204030204" pitchFamily="34" charset="0"/>
              </a:rPr>
              <a:t>aminoester</a:t>
            </a:r>
            <a:r>
              <a:rPr lang="en-US" b="0" i="0" u="none" strike="noStrike" baseline="0" dirty="0">
                <a:solidFill>
                  <a:srgbClr val="000000"/>
                </a:solidFill>
                <a:latin typeface="Calibri" panose="020F0502020204030204" pitchFamily="34" charset="0"/>
                <a:cs typeface="Calibri" panose="020F0502020204030204" pitchFamily="34" charset="0"/>
              </a:rPr>
              <a:t> drugs and </a:t>
            </a:r>
          </a:p>
          <a:p>
            <a:pPr lvl="1"/>
            <a:r>
              <a:rPr lang="en-US" b="0" i="0" u="none" strike="noStrike" baseline="0" dirty="0">
                <a:solidFill>
                  <a:srgbClr val="000000"/>
                </a:solidFill>
                <a:latin typeface="Calibri" panose="020F0502020204030204" pitchFamily="34" charset="0"/>
                <a:cs typeface="Calibri" panose="020F0502020204030204" pitchFamily="34" charset="0"/>
              </a:rPr>
              <a:t>methemoglobinemia after the use of prilocaine. </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880853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4B62C-58B5-F017-1DE1-9B5F1CE628B5}"/>
              </a:ext>
            </a:extLst>
          </p:cNvPr>
          <p:cNvSpPr>
            <a:spLocks noGrp="1"/>
          </p:cNvSpPr>
          <p:nvPr>
            <p:ph type="title"/>
          </p:nvPr>
        </p:nvSpPr>
        <p:spPr/>
        <p:txBody>
          <a:bodyPr/>
          <a:lstStyle/>
          <a:p>
            <a:r>
              <a:rPr lang="en-US" dirty="0"/>
              <a:t>LAs toxicity…</a:t>
            </a:r>
          </a:p>
        </p:txBody>
      </p:sp>
      <p:sp>
        <p:nvSpPr>
          <p:cNvPr id="3" name="Content Placeholder 2">
            <a:extLst>
              <a:ext uri="{FF2B5EF4-FFF2-40B4-BE49-F238E27FC236}">
                <a16:creationId xmlns:a16="http://schemas.microsoft.com/office/drawing/2014/main" id="{14A987D9-F44E-E69F-B97B-1023C5F3B434}"/>
              </a:ext>
            </a:extLst>
          </p:cNvPr>
          <p:cNvSpPr>
            <a:spLocks noGrp="1"/>
          </p:cNvSpPr>
          <p:nvPr>
            <p:ph sz="quarter" idx="1"/>
          </p:nvPr>
        </p:nvSpPr>
        <p:spPr>
          <a:xfrm>
            <a:off x="301752" y="1527048"/>
            <a:ext cx="8534400" cy="4572000"/>
          </a:xfrm>
        </p:spPr>
        <p:txBody>
          <a:bodyPr>
            <a:normAutofit/>
          </a:bodyPr>
          <a:lstStyle/>
          <a:p>
            <a:r>
              <a:rPr lang="en-US" sz="2400" b="1" i="0" u="none" strike="noStrike" baseline="0" dirty="0">
                <a:solidFill>
                  <a:srgbClr val="000000"/>
                </a:solidFill>
                <a:latin typeface="Calibri" panose="020F0502020204030204" pitchFamily="34" charset="0"/>
                <a:cs typeface="Calibri" panose="020F0502020204030204" pitchFamily="34" charset="0"/>
              </a:rPr>
              <a:t>SYSTEMIC TOXICITY </a:t>
            </a:r>
          </a:p>
          <a:p>
            <a:r>
              <a:rPr lang="en-US" sz="2400" b="0" i="0" u="none" strike="noStrike" baseline="0" dirty="0">
                <a:solidFill>
                  <a:srgbClr val="000000"/>
                </a:solidFill>
                <a:latin typeface="Calibri" panose="020F0502020204030204" pitchFamily="34" charset="0"/>
                <a:cs typeface="Calibri" panose="020F0502020204030204" pitchFamily="34" charset="0"/>
              </a:rPr>
              <a:t>Systemic reactions to LAs primarily involve the CNS and the cardiovascular system.</a:t>
            </a:r>
          </a:p>
          <a:p>
            <a:pPr lvl="1"/>
            <a:r>
              <a:rPr lang="en-US" b="0" i="0" u="none" strike="noStrike" baseline="0" dirty="0">
                <a:solidFill>
                  <a:srgbClr val="000000"/>
                </a:solidFill>
                <a:latin typeface="Calibri" panose="020F0502020204030204" pitchFamily="34" charset="0"/>
                <a:cs typeface="Calibri" panose="020F0502020204030204" pitchFamily="34" charset="0"/>
              </a:rPr>
              <a:t>The CNS is more susceptible to the actions of systemic LAs than the cardiovascular system.</a:t>
            </a:r>
          </a:p>
          <a:p>
            <a:pPr lvl="1"/>
            <a:r>
              <a:rPr lang="en-US" sz="2000" b="0" i="0" u="none" strike="noStrike" baseline="0" dirty="0">
                <a:solidFill>
                  <a:srgbClr val="000000"/>
                </a:solidFill>
                <a:latin typeface="Calibri" panose="020F0502020204030204" pitchFamily="34" charset="0"/>
                <a:cs typeface="Calibri" panose="020F0502020204030204" pitchFamily="34" charset="0"/>
              </a:rPr>
              <a:t> Thus, the dose or blood level of local anesthetic required to produce CNS toxicity is usually lower than that resulting in circulatory collapse. </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45241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20CFC-3C59-CACA-B136-ECC3358122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09E75C-DDA4-201E-CEE0-0DB8B520A989}"/>
              </a:ext>
            </a:extLst>
          </p:cNvPr>
          <p:cNvSpPr>
            <a:spLocks noGrp="1"/>
          </p:cNvSpPr>
          <p:nvPr>
            <p:ph sz="quarter" idx="1"/>
          </p:nvPr>
        </p:nvSpPr>
        <p:spPr/>
        <p:txBody>
          <a:bodyPr>
            <a:normAutofit/>
          </a:bodyPr>
          <a:lstStyle/>
          <a:p>
            <a:r>
              <a:rPr lang="en-US" dirty="0">
                <a:latin typeface="Calibri" panose="020F0502020204030204" pitchFamily="34" charset="0"/>
                <a:cs typeface="Calibri" panose="020F0502020204030204" pitchFamily="34" charset="0"/>
              </a:rPr>
              <a:t>Clinical Presentation of LAST</a:t>
            </a:r>
          </a:p>
          <a:p>
            <a:pPr lvl="1"/>
            <a:r>
              <a:rPr lang="en-US" dirty="0">
                <a:latin typeface="Calibri" panose="020F0502020204030204" pitchFamily="34" charset="0"/>
                <a:cs typeface="Calibri" panose="020F0502020204030204" pitchFamily="34" charset="0"/>
              </a:rPr>
              <a:t>CNS disturbances are prominent in about 80% to 90% of reported cases of LAST.</a:t>
            </a:r>
          </a:p>
          <a:p>
            <a:pPr lvl="2"/>
            <a:r>
              <a:rPr lang="en-US" dirty="0">
                <a:latin typeface="Calibri" panose="020F0502020204030204" pitchFamily="34" charset="0"/>
                <a:cs typeface="Calibri" panose="020F0502020204030204" pitchFamily="34" charset="0"/>
              </a:rPr>
              <a:t>The most frequent CNS manifestations are</a:t>
            </a:r>
          </a:p>
          <a:p>
            <a:pPr lvl="3"/>
            <a:r>
              <a:rPr lang="en-US" dirty="0">
                <a:latin typeface="Calibri" panose="020F0502020204030204" pitchFamily="34" charset="0"/>
                <a:cs typeface="Calibri" panose="020F0502020204030204" pitchFamily="34" charset="0"/>
              </a:rPr>
              <a:t> seizures, agitation, and loss of consciousness.</a:t>
            </a:r>
          </a:p>
          <a:p>
            <a:pPr lvl="1"/>
            <a:r>
              <a:rPr lang="en-US" dirty="0">
                <a:latin typeface="Calibri" panose="020F0502020204030204" pitchFamily="34" charset="0"/>
                <a:cs typeface="Calibri" panose="020F0502020204030204" pitchFamily="34" charset="0"/>
              </a:rPr>
              <a:t>Concomitant CV derangements occur in about half of these </a:t>
            </a:r>
            <a:r>
              <a:rPr lang="en-US" sz="2200" dirty="0">
                <a:solidFill>
                  <a:schemeClr val="tx2"/>
                </a:solidFill>
                <a:latin typeface="Calibri" panose="020F0502020204030204" pitchFamily="34" charset="0"/>
                <a:cs typeface="Calibri" panose="020F0502020204030204" pitchFamily="34" charset="0"/>
              </a:rPr>
              <a:t>cases, </a:t>
            </a:r>
          </a:p>
          <a:p>
            <a:pPr lvl="2"/>
            <a:r>
              <a:rPr lang="en-US" dirty="0">
                <a:solidFill>
                  <a:srgbClr val="00B0F0"/>
                </a:solidFill>
                <a:latin typeface="Calibri" panose="020F0502020204030204" pitchFamily="34" charset="0"/>
                <a:cs typeface="Calibri" panose="020F0502020204030204" pitchFamily="34" charset="0"/>
              </a:rPr>
              <a:t>with refractory hypotension and bradycardia being common signs. </a:t>
            </a:r>
          </a:p>
          <a:p>
            <a:pPr lvl="2"/>
            <a:r>
              <a:rPr lang="en-US" dirty="0">
                <a:latin typeface="Calibri" panose="020F0502020204030204" pitchFamily="34" charset="0"/>
                <a:cs typeface="Calibri" panose="020F0502020204030204" pitchFamily="34" charset="0"/>
              </a:rPr>
              <a:t>Further deterioration leads to dysrhythmias, ranging from supraventricular tachyarrhythmia and wide complex dysrhythmias to complete heart block or asystole.</a:t>
            </a:r>
          </a:p>
        </p:txBody>
      </p:sp>
    </p:spTree>
    <p:extLst>
      <p:ext uri="{BB962C8B-B14F-4D97-AF65-F5344CB8AC3E}">
        <p14:creationId xmlns:p14="http://schemas.microsoft.com/office/powerpoint/2010/main" val="17550873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2400" b="1" cap="all" dirty="0">
                <a:latin typeface="Calibri" panose="020F0502020204030204" pitchFamily="34" charset="0"/>
                <a:cs typeface="Calibri" panose="020F0502020204030204" pitchFamily="34" charset="0"/>
              </a:rPr>
              <a:t>Central Nervous System (CNS) Toxicity</a:t>
            </a:r>
            <a:endParaRPr lang="en-US" sz="2400" dirty="0">
              <a:latin typeface="Calibri" panose="020F0502020204030204" pitchFamily="34" charset="0"/>
              <a:cs typeface="Calibri" panose="020F0502020204030204" pitchFamily="34" charset="0"/>
            </a:endParaRPr>
          </a:p>
        </p:txBody>
      </p:sp>
      <p:sp>
        <p:nvSpPr>
          <p:cNvPr id="3" name="Content Placeholder 2"/>
          <p:cNvSpPr>
            <a:spLocks noGrp="1"/>
          </p:cNvSpPr>
          <p:nvPr>
            <p:ph sz="quarter" idx="1"/>
          </p:nvPr>
        </p:nvSpPr>
        <p:spPr>
          <a:xfrm>
            <a:off x="301752" y="1527048"/>
            <a:ext cx="8534400" cy="4572000"/>
          </a:xfrm>
        </p:spPr>
        <p:txBody>
          <a:bodyPr>
            <a:normAutofit/>
          </a:bodyPr>
          <a:lstStyle/>
          <a:p>
            <a:r>
              <a:rPr lang="en-US" sz="2400" dirty="0">
                <a:latin typeface="Calibri" panose="020F0502020204030204" pitchFamily="34" charset="0"/>
                <a:cs typeface="Calibri" panose="020F0502020204030204" pitchFamily="34" charset="0"/>
              </a:rPr>
              <a:t>CNS is </a:t>
            </a:r>
            <a:r>
              <a:rPr lang="bg-BG" sz="2400" dirty="0">
                <a:latin typeface="Calibri" panose="020F0502020204030204" pitchFamily="34" charset="0"/>
                <a:cs typeface="Calibri" panose="020F0502020204030204" pitchFamily="34" charset="0"/>
              </a:rPr>
              <a:t>particularly vulnerable to </a:t>
            </a:r>
            <a:r>
              <a:rPr lang="en-US" sz="2400" dirty="0">
                <a:latin typeface="Calibri" panose="020F0502020204030204" pitchFamily="34" charset="0"/>
                <a:cs typeface="Calibri" panose="020F0502020204030204" pitchFamily="34" charset="0"/>
              </a:rPr>
              <a:t>LA </a:t>
            </a:r>
            <a:r>
              <a:rPr lang="bg-BG" sz="2400" dirty="0">
                <a:latin typeface="Calibri" panose="020F0502020204030204" pitchFamily="34" charset="0"/>
                <a:cs typeface="Calibri" panose="020F0502020204030204" pitchFamily="34" charset="0"/>
              </a:rPr>
              <a:t>toxicity</a:t>
            </a:r>
            <a:r>
              <a:rPr lang="en-US" sz="2400" dirty="0">
                <a:latin typeface="Calibri" panose="020F0502020204030204" pitchFamily="34" charset="0"/>
                <a:cs typeface="Calibri" panose="020F0502020204030204" pitchFamily="34" charset="0"/>
              </a:rPr>
              <a:t> and CNS toxicity can arise quickly after intravascular injections</a:t>
            </a:r>
          </a:p>
          <a:p>
            <a:pPr lvl="1"/>
            <a:r>
              <a:rPr lang="en-US" sz="2300" dirty="0">
                <a:latin typeface="Calibri" panose="020F0502020204030204" pitchFamily="34" charset="0"/>
                <a:cs typeface="Calibri" panose="020F0502020204030204" pitchFamily="34" charset="0"/>
              </a:rPr>
              <a:t>because </a:t>
            </a:r>
            <a:r>
              <a:rPr lang="en-US" sz="2300" b="0" i="0" u="none" strike="noStrike" baseline="0" dirty="0">
                <a:latin typeface="Calibri" panose="020F0502020204030204" pitchFamily="34" charset="0"/>
                <a:cs typeface="Calibri" panose="020F0502020204030204" pitchFamily="34" charset="0"/>
              </a:rPr>
              <a:t>LAs readily cross the blood–brain barrier</a:t>
            </a:r>
            <a:endParaRPr lang="en-US" sz="2300"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The effects on the CNS are determined by the plasma concentration of the LAs. </a:t>
            </a:r>
            <a:endParaRPr lang="en-US" dirty="0">
              <a:latin typeface="Calibri" panose="020F0502020204030204" pitchFamily="34" charset="0"/>
              <a:cs typeface="Calibri" panose="020F0502020204030204" pitchFamily="34" charset="0"/>
            </a:endParaRPr>
          </a:p>
          <a:p>
            <a:pPr lvl="1"/>
            <a:r>
              <a:rPr lang="en-US" dirty="0">
                <a:latin typeface="Calibri" panose="020F0502020204030204" pitchFamily="34" charset="0"/>
                <a:cs typeface="Calibri" panose="020F0502020204030204" pitchFamily="34" charset="0"/>
              </a:rPr>
              <a:t>At low plasma concentration, mild disturbances to the sensory systems appear. </a:t>
            </a:r>
          </a:p>
          <a:p>
            <a:pPr lvl="1"/>
            <a:r>
              <a:rPr lang="en-US" dirty="0">
                <a:latin typeface="Calibri" panose="020F0502020204030204" pitchFamily="34" charset="0"/>
                <a:cs typeface="Calibri" panose="020F0502020204030204" pitchFamily="34" charset="0"/>
              </a:rPr>
              <a:t>As the plasma concentration increases, CNS excitation and seizure activities predominate.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3DF6D-8B3B-CE19-B0AF-16979AB5A32A}"/>
              </a:ext>
            </a:extLst>
          </p:cNvPr>
          <p:cNvSpPr>
            <a:spLocks noGrp="1"/>
          </p:cNvSpPr>
          <p:nvPr>
            <p:ph type="title"/>
          </p:nvPr>
        </p:nvSpPr>
        <p:spPr/>
        <p:txBody>
          <a:bodyPr/>
          <a:lstStyle/>
          <a:p>
            <a:r>
              <a:rPr lang="en-US" dirty="0"/>
              <a:t>CNS toxicity…</a:t>
            </a:r>
          </a:p>
        </p:txBody>
      </p:sp>
      <p:sp>
        <p:nvSpPr>
          <p:cNvPr id="3" name="Content Placeholder 2">
            <a:extLst>
              <a:ext uri="{FF2B5EF4-FFF2-40B4-BE49-F238E27FC236}">
                <a16:creationId xmlns:a16="http://schemas.microsoft.com/office/drawing/2014/main" id="{59303E38-022A-CB71-D04E-F90F49CA6213}"/>
              </a:ext>
            </a:extLst>
          </p:cNvPr>
          <p:cNvSpPr>
            <a:spLocks noGrp="1"/>
          </p:cNvSpPr>
          <p:nvPr>
            <p:ph sz="quarter" idx="1"/>
          </p:nvPr>
        </p:nvSpPr>
        <p:spPr/>
        <p:txBody>
          <a:bodyPr>
            <a:normAutofit fontScale="92500" lnSpcReduction="10000"/>
          </a:bodyPr>
          <a:lstStyle/>
          <a:p>
            <a:r>
              <a:rPr lang="en-US" dirty="0">
                <a:latin typeface="Calibri" panose="020F0502020204030204" pitchFamily="34" charset="0"/>
                <a:cs typeface="Calibri" panose="020F0502020204030204" pitchFamily="34" charset="0"/>
              </a:rPr>
              <a:t>Symptoms of local anesthetic-induced CNS toxicity </a:t>
            </a:r>
          </a:p>
          <a:p>
            <a:pPr>
              <a:buFont typeface="Wingdings" panose="05000000000000000000" pitchFamily="2" charset="2"/>
              <a:buChar char="ü"/>
            </a:pPr>
            <a:r>
              <a:rPr lang="en-US" dirty="0">
                <a:latin typeface="Calibri" panose="020F0502020204030204" pitchFamily="34" charset="0"/>
                <a:cs typeface="Calibri" panose="020F0502020204030204" pitchFamily="34" charset="0"/>
              </a:rPr>
              <a:t>Subjective symptoms </a:t>
            </a:r>
          </a:p>
          <a:p>
            <a:pPr lvl="1"/>
            <a:r>
              <a:rPr lang="en-US" sz="2300" dirty="0">
                <a:latin typeface="Calibri" panose="020F0502020204030204" pitchFamily="34" charset="0"/>
                <a:cs typeface="Calibri" panose="020F0502020204030204" pitchFamily="34" charset="0"/>
              </a:rPr>
              <a:t>Initial (</a:t>
            </a:r>
            <a:r>
              <a:rPr lang="bg-BG" sz="2300" dirty="0">
                <a:latin typeface="Calibri" panose="020F0502020204030204" pitchFamily="34" charset="0"/>
                <a:cs typeface="Calibri" panose="020F0502020204030204" pitchFamily="34" charset="0"/>
              </a:rPr>
              <a:t>Early</a:t>
            </a:r>
            <a:r>
              <a:rPr lang="en-US" sz="2300" dirty="0">
                <a:latin typeface="Calibri" panose="020F0502020204030204" pitchFamily="34" charset="0"/>
                <a:cs typeface="Calibri" panose="020F0502020204030204" pitchFamily="34" charset="0"/>
              </a:rPr>
              <a:t>)</a:t>
            </a:r>
            <a:r>
              <a:rPr lang="bg-BG" sz="2300" dirty="0">
                <a:latin typeface="Calibri" panose="020F0502020204030204" pitchFamily="34" charset="0"/>
                <a:cs typeface="Calibri" panose="020F0502020204030204" pitchFamily="34" charset="0"/>
              </a:rPr>
              <a:t> </a:t>
            </a:r>
            <a:r>
              <a:rPr lang="en-US" sz="2300" dirty="0">
                <a:latin typeface="Calibri" panose="020F0502020204030204" pitchFamily="34" charset="0"/>
                <a:cs typeface="Calibri" panose="020F0502020204030204" pitchFamily="34" charset="0"/>
              </a:rPr>
              <a:t>:</a:t>
            </a:r>
            <a:r>
              <a:rPr lang="bg-BG" sz="2300" dirty="0">
                <a:latin typeface="Calibri" panose="020F0502020204030204" pitchFamily="34" charset="0"/>
                <a:cs typeface="Calibri" panose="020F0502020204030204" pitchFamily="34" charset="0"/>
              </a:rPr>
              <a:t> circumoral numbness, tongue paresthesia, </a:t>
            </a:r>
            <a:r>
              <a:rPr lang="en-US" sz="2300" dirty="0">
                <a:latin typeface="Calibri" panose="020F0502020204030204" pitchFamily="34" charset="0"/>
                <a:cs typeface="Calibri" panose="020F0502020204030204" pitchFamily="34" charset="0"/>
              </a:rPr>
              <a:t>lightheadedness and dizziness.</a:t>
            </a:r>
          </a:p>
          <a:p>
            <a:pPr lvl="1"/>
            <a:r>
              <a:rPr lang="en-US" sz="2300" dirty="0">
                <a:latin typeface="Calibri" panose="020F0502020204030204" pitchFamily="34" charset="0"/>
                <a:cs typeface="Calibri" panose="020F0502020204030204" pitchFamily="34" charset="0"/>
              </a:rPr>
              <a:t>followed frequently by</a:t>
            </a:r>
            <a:r>
              <a:rPr lang="bg-BG" sz="2300" dirty="0">
                <a:latin typeface="Calibri" panose="020F0502020204030204" pitchFamily="34" charset="0"/>
                <a:cs typeface="Calibri" panose="020F0502020204030204" pitchFamily="34" charset="0"/>
              </a:rPr>
              <a:t> Sensory complaints</a:t>
            </a:r>
            <a:r>
              <a:rPr lang="en-US" sz="2300" dirty="0">
                <a:latin typeface="Calibri" panose="020F0502020204030204" pitchFamily="34" charset="0"/>
                <a:cs typeface="Calibri" panose="020F0502020204030204" pitchFamily="34" charset="0"/>
              </a:rPr>
              <a:t> (visual and auditory disturbances)</a:t>
            </a:r>
          </a:p>
          <a:p>
            <a:pPr lvl="2"/>
            <a:r>
              <a:rPr lang="en-US" sz="2100" dirty="0">
                <a:latin typeface="Calibri" panose="020F0502020204030204" pitchFamily="34" charset="0"/>
                <a:cs typeface="Calibri" panose="020F0502020204030204" pitchFamily="34" charset="0"/>
              </a:rPr>
              <a:t>such as difficulty focusing, </a:t>
            </a:r>
            <a:r>
              <a:rPr lang="bg-BG" sz="2100" dirty="0">
                <a:latin typeface="Calibri" panose="020F0502020204030204" pitchFamily="34" charset="0"/>
                <a:cs typeface="Calibri" panose="020F0502020204030204" pitchFamily="34" charset="0"/>
              </a:rPr>
              <a:t>blurred vision</a:t>
            </a:r>
            <a:r>
              <a:rPr lang="en-US" sz="2100" dirty="0">
                <a:latin typeface="Calibri" panose="020F0502020204030204" pitchFamily="34" charset="0"/>
                <a:cs typeface="Calibri" panose="020F0502020204030204" pitchFamily="34" charset="0"/>
              </a:rPr>
              <a:t> and tinnitus.   </a:t>
            </a:r>
          </a:p>
          <a:p>
            <a:pPr marL="274320" lvl="2" indent="-274320">
              <a:buClr>
                <a:schemeClr val="accent1"/>
              </a:buClr>
              <a:buSzPct val="85000"/>
              <a:buFont typeface="Wingdings" panose="05000000000000000000" pitchFamily="2" charset="2"/>
              <a:buChar char="ü"/>
            </a:pPr>
            <a:r>
              <a:rPr lang="en-US" sz="2700" dirty="0">
                <a:latin typeface="Calibri" panose="020F0502020204030204" pitchFamily="34" charset="0"/>
                <a:cs typeface="Calibri" panose="020F0502020204030204" pitchFamily="34" charset="0"/>
              </a:rPr>
              <a:t>Objective signs of initial CNS toxicity </a:t>
            </a:r>
          </a:p>
          <a:p>
            <a:pPr lvl="1"/>
            <a:r>
              <a:rPr lang="en-US" sz="2600" b="0" i="0" u="none" strike="noStrike" baseline="0" dirty="0">
                <a:solidFill>
                  <a:srgbClr val="000000"/>
                </a:solidFill>
                <a:latin typeface="Calibri" panose="020F0502020204030204" pitchFamily="34" charset="0"/>
                <a:cs typeface="Calibri" panose="020F0502020204030204" pitchFamily="34" charset="0"/>
              </a:rPr>
              <a:t> usually excitatory in nature </a:t>
            </a:r>
            <a:endParaRPr lang="en-US" sz="2600" dirty="0">
              <a:solidFill>
                <a:srgbClr val="000000"/>
              </a:solidFill>
              <a:latin typeface="Calibri" panose="020F0502020204030204" pitchFamily="34" charset="0"/>
              <a:cs typeface="Calibri" panose="020F0502020204030204" pitchFamily="34" charset="0"/>
            </a:endParaRPr>
          </a:p>
          <a:p>
            <a:pPr lvl="2"/>
            <a:r>
              <a:rPr lang="en-US" sz="2400" b="0" i="0" u="none" strike="noStrike" baseline="0" dirty="0">
                <a:solidFill>
                  <a:srgbClr val="000000"/>
                </a:solidFill>
                <a:latin typeface="Calibri" panose="020F0502020204030204" pitchFamily="34" charset="0"/>
                <a:cs typeface="Calibri" panose="020F0502020204030204" pitchFamily="34" charset="0"/>
              </a:rPr>
              <a:t>shivering, muscular twitching, and tremors initially involving muscles of the face and distal parts of the extremities. </a:t>
            </a:r>
          </a:p>
          <a:p>
            <a:pPr lvl="2"/>
            <a:r>
              <a:rPr lang="en-US" sz="2400" b="0" i="0" u="none" strike="noStrike" baseline="0" dirty="0">
                <a:solidFill>
                  <a:srgbClr val="000000"/>
                </a:solidFill>
                <a:latin typeface="Calibri" panose="020F0502020204030204" pitchFamily="34" charset="0"/>
                <a:cs typeface="Calibri" panose="020F0502020204030204" pitchFamily="34" charset="0"/>
              </a:rPr>
              <a:t>Ultimately, generalized convulsions of a tonic-</a:t>
            </a:r>
            <a:r>
              <a:rPr lang="en-US" sz="2400" b="0" i="0" u="none" strike="noStrike" baseline="0" dirty="0" err="1">
                <a:solidFill>
                  <a:srgbClr val="000000"/>
                </a:solidFill>
                <a:latin typeface="Calibri" panose="020F0502020204030204" pitchFamily="34" charset="0"/>
                <a:cs typeface="Calibri" panose="020F0502020204030204" pitchFamily="34" charset="0"/>
              </a:rPr>
              <a:t>clonic</a:t>
            </a:r>
            <a:r>
              <a:rPr lang="en-US" sz="2400" b="0" i="0" u="none" strike="noStrike" baseline="0" dirty="0">
                <a:solidFill>
                  <a:srgbClr val="000000"/>
                </a:solidFill>
                <a:latin typeface="Calibri" panose="020F0502020204030204" pitchFamily="34" charset="0"/>
                <a:cs typeface="Calibri" panose="020F0502020204030204" pitchFamily="34" charset="0"/>
              </a:rPr>
              <a:t> nature occur.</a:t>
            </a:r>
            <a:endParaRPr lang="en-US" sz="2400"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56047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DEEAC-916F-372F-7FCB-FEA606ED07F0}"/>
              </a:ext>
            </a:extLst>
          </p:cNvPr>
          <p:cNvSpPr>
            <a:spLocks noGrp="1"/>
          </p:cNvSpPr>
          <p:nvPr>
            <p:ph type="title"/>
          </p:nvPr>
        </p:nvSpPr>
        <p:spPr/>
        <p:txBody>
          <a:bodyPr/>
          <a:lstStyle/>
          <a:p>
            <a:r>
              <a:rPr lang="en-US" dirty="0"/>
              <a:t>CNS toxicity…</a:t>
            </a:r>
          </a:p>
        </p:txBody>
      </p:sp>
      <p:sp>
        <p:nvSpPr>
          <p:cNvPr id="3" name="Content Placeholder 2">
            <a:extLst>
              <a:ext uri="{FF2B5EF4-FFF2-40B4-BE49-F238E27FC236}">
                <a16:creationId xmlns:a16="http://schemas.microsoft.com/office/drawing/2014/main" id="{603AC961-CF9F-EF61-DCEF-10A628F74408}"/>
              </a:ext>
            </a:extLst>
          </p:cNvPr>
          <p:cNvSpPr>
            <a:spLocks noGrp="1"/>
          </p:cNvSpPr>
          <p:nvPr>
            <p:ph sz="quarter" idx="1"/>
          </p:nvPr>
        </p:nvSpPr>
        <p:spPr>
          <a:xfrm>
            <a:off x="301752" y="1527048"/>
            <a:ext cx="8534400" cy="4572000"/>
          </a:xfrm>
        </p:spPr>
        <p:txBody>
          <a:bodyPr/>
          <a:lstStyle/>
          <a:p>
            <a:r>
              <a:rPr lang="en-US" sz="2400" dirty="0">
                <a:latin typeface="Calibri" panose="020F0502020204030204" pitchFamily="34" charset="0"/>
                <a:cs typeface="Calibri" panose="020F0502020204030204" pitchFamily="34" charset="0"/>
              </a:rPr>
              <a:t>If a sufficiently large dose or rapid IV injection of a LA</a:t>
            </a:r>
          </a:p>
          <a:p>
            <a:pPr lvl="2"/>
            <a:r>
              <a:rPr lang="en-US" sz="2300" dirty="0">
                <a:latin typeface="Calibri" panose="020F0502020204030204" pitchFamily="34" charset="0"/>
                <a:cs typeface="Calibri" panose="020F0502020204030204" pitchFamily="34" charset="0"/>
              </a:rPr>
              <a:t>the initial signs of CNS excitation are rapidly</a:t>
            </a:r>
          </a:p>
          <a:p>
            <a:pPr lvl="2"/>
            <a:r>
              <a:rPr lang="en-US" sz="2300" dirty="0">
                <a:latin typeface="Calibri" panose="020F0502020204030204" pitchFamily="34" charset="0"/>
                <a:cs typeface="Calibri" panose="020F0502020204030204" pitchFamily="34" charset="0"/>
              </a:rPr>
              <a:t>followed by a state of generalized CNS depression.</a:t>
            </a:r>
          </a:p>
          <a:p>
            <a:r>
              <a:rPr lang="en-US" sz="2500" dirty="0">
                <a:solidFill>
                  <a:srgbClr val="000000"/>
                </a:solidFill>
                <a:latin typeface="Calibri" panose="020F0502020204030204" pitchFamily="34" charset="0"/>
                <a:cs typeface="Calibri" panose="020F0502020204030204" pitchFamily="34" charset="0"/>
              </a:rPr>
              <a:t>G</a:t>
            </a:r>
            <a:r>
              <a:rPr lang="en-US" sz="2500" b="0" i="0" u="none" strike="noStrike" baseline="0" dirty="0">
                <a:solidFill>
                  <a:srgbClr val="000000"/>
                </a:solidFill>
                <a:latin typeface="Calibri" panose="020F0502020204030204" pitchFamily="34" charset="0"/>
                <a:cs typeface="Calibri" panose="020F0502020204030204" pitchFamily="34" charset="0"/>
              </a:rPr>
              <a:t>eneralized state of CNS depression </a:t>
            </a:r>
          </a:p>
          <a:p>
            <a:pPr lvl="2"/>
            <a:r>
              <a:rPr lang="en-US" sz="2300" b="0" i="0" u="none" strike="noStrike" baseline="0" dirty="0">
                <a:solidFill>
                  <a:srgbClr val="000000"/>
                </a:solidFill>
                <a:latin typeface="Calibri" panose="020F0502020204030204" pitchFamily="34" charset="0"/>
                <a:cs typeface="Calibri" panose="020F0502020204030204" pitchFamily="34" charset="0"/>
              </a:rPr>
              <a:t>when inhibition of activity of both the inhibitory and facilitatory circuits occur</a:t>
            </a:r>
            <a:endParaRPr lang="en-US"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406023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CNS toxicity…</a:t>
            </a:r>
          </a:p>
        </p:txBody>
      </p:sp>
      <p:sp>
        <p:nvSpPr>
          <p:cNvPr id="3" name="Content Placeholder 2"/>
          <p:cNvSpPr>
            <a:spLocks noGrp="1"/>
          </p:cNvSpPr>
          <p:nvPr>
            <p:ph sz="quarter" idx="1"/>
          </p:nvPr>
        </p:nvSpPr>
        <p:spPr/>
        <p:txBody>
          <a:bodyPr>
            <a:normAutofit/>
          </a:bodyPr>
          <a:lstStyle/>
          <a:p>
            <a:r>
              <a:rPr lang="bg-BG" sz="2400" dirty="0">
                <a:latin typeface="Calibri" panose="020F0502020204030204" pitchFamily="34" charset="0"/>
                <a:cs typeface="Calibri" panose="020F0502020204030204" pitchFamily="34" charset="0"/>
              </a:rPr>
              <a:t>Excitatory signs often precede central nervous system depression (eg, slurred speech, drowsiness, unconsciousness). </a:t>
            </a:r>
            <a:endParaRPr lang="en-US" sz="2400" dirty="0">
              <a:latin typeface="Calibri" panose="020F0502020204030204" pitchFamily="34" charset="0"/>
              <a:cs typeface="Calibri" panose="020F0502020204030204" pitchFamily="34" charset="0"/>
            </a:endParaRPr>
          </a:p>
          <a:p>
            <a:r>
              <a:rPr lang="bg-BG" sz="2400" dirty="0">
                <a:latin typeface="Calibri" panose="020F0502020204030204" pitchFamily="34" charset="0"/>
                <a:cs typeface="Calibri" panose="020F0502020204030204" pitchFamily="34" charset="0"/>
              </a:rPr>
              <a:t>Potent, highly lipid-soluble, </a:t>
            </a:r>
            <a:r>
              <a:rPr lang="en-US" sz="2400" dirty="0">
                <a:latin typeface="Calibri" panose="020F0502020204030204" pitchFamily="34" charset="0"/>
                <a:cs typeface="Calibri" panose="020F0502020204030204" pitchFamily="34" charset="0"/>
              </a:rPr>
              <a:t>LA </a:t>
            </a:r>
            <a:r>
              <a:rPr lang="bg-BG" sz="2400" dirty="0">
                <a:latin typeface="Calibri" panose="020F0502020204030204" pitchFamily="34" charset="0"/>
                <a:cs typeface="Calibri" panose="020F0502020204030204" pitchFamily="34" charset="0"/>
              </a:rPr>
              <a:t>produce seizures at lower blood concentrations than less potent agents</a:t>
            </a:r>
            <a:endParaRPr lang="en-US" sz="2400" dirty="0">
              <a:latin typeface="Calibri" panose="020F0502020204030204" pitchFamily="34" charset="0"/>
              <a:cs typeface="Calibri" panose="020F0502020204030204" pitchFamily="34" charset="0"/>
            </a:endParaRPr>
          </a:p>
          <a:p>
            <a:r>
              <a:rPr lang="bg-BG" sz="2400" dirty="0">
                <a:latin typeface="Calibri" panose="020F0502020204030204" pitchFamily="34" charset="0"/>
                <a:cs typeface="Calibri" panose="020F0502020204030204" pitchFamily="34" charset="0"/>
              </a:rPr>
              <a:t>Respiratory arrest often follows</a:t>
            </a:r>
            <a:endParaRPr lang="en-US" sz="2400" dirty="0">
              <a:latin typeface="Calibri" panose="020F0502020204030204" pitchFamily="34" charset="0"/>
              <a:cs typeface="Calibri" panose="020F0502020204030204" pitchFamily="34" charset="0"/>
            </a:endParaRPr>
          </a:p>
          <a:p>
            <a:pPr lvl="1"/>
            <a:r>
              <a:rPr lang="en-US" dirty="0">
                <a:solidFill>
                  <a:srgbClr val="FF0000"/>
                </a:solidFill>
                <a:latin typeface="Calibri" panose="020F0502020204030204" pitchFamily="34" charset="0"/>
                <a:cs typeface="Calibri" panose="020F0502020204030204" pitchFamily="34" charset="0"/>
              </a:rPr>
              <a:t>initially-- lightheadedness, </a:t>
            </a:r>
            <a:r>
              <a:rPr lang="en-US" dirty="0" err="1">
                <a:solidFill>
                  <a:srgbClr val="FF0000"/>
                </a:solidFill>
                <a:latin typeface="Calibri" panose="020F0502020204030204" pitchFamily="34" charset="0"/>
                <a:cs typeface="Calibri" panose="020F0502020204030204" pitchFamily="34" charset="0"/>
              </a:rPr>
              <a:t>circumoral</a:t>
            </a:r>
            <a:r>
              <a:rPr lang="en-US" dirty="0">
                <a:solidFill>
                  <a:srgbClr val="FF0000"/>
                </a:solidFill>
                <a:latin typeface="Calibri" panose="020F0502020204030204" pitchFamily="34" charset="0"/>
                <a:cs typeface="Calibri" panose="020F0502020204030204" pitchFamily="34" charset="0"/>
              </a:rPr>
              <a:t> numbness, dizziness, tinnitus, visual change</a:t>
            </a:r>
          </a:p>
          <a:p>
            <a:pPr lvl="1"/>
            <a:r>
              <a:rPr lang="en-US" dirty="0">
                <a:solidFill>
                  <a:srgbClr val="FF0000"/>
                </a:solidFill>
                <a:latin typeface="Calibri" panose="020F0502020204030204" pitchFamily="34" charset="0"/>
                <a:cs typeface="Calibri" panose="020F0502020204030204" pitchFamily="34" charset="0"/>
              </a:rPr>
              <a:t>later-- drowsiness, disorientation, slurred speech, loss of consciousness, convulsions</a:t>
            </a:r>
          </a:p>
          <a:p>
            <a:pPr lvl="1"/>
            <a:r>
              <a:rPr lang="en-US" dirty="0">
                <a:solidFill>
                  <a:srgbClr val="FF0000"/>
                </a:solidFill>
                <a:latin typeface="Calibri" panose="020F0502020204030204" pitchFamily="34" charset="0"/>
                <a:cs typeface="Calibri" panose="020F0502020204030204" pitchFamily="34" charset="0"/>
              </a:rPr>
              <a:t>finally-- respiratory depression</a:t>
            </a: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CNS toxicity…</a:t>
            </a:r>
          </a:p>
        </p:txBody>
      </p:sp>
      <p:sp>
        <p:nvSpPr>
          <p:cNvPr id="3" name="Content Placeholder 2"/>
          <p:cNvSpPr>
            <a:spLocks noGrp="1"/>
          </p:cNvSpPr>
          <p:nvPr>
            <p:ph sz="quarter" idx="1"/>
          </p:nvPr>
        </p:nvSpPr>
        <p:spPr>
          <a:xfrm>
            <a:off x="301752" y="1295400"/>
            <a:ext cx="8534400" cy="4803648"/>
          </a:xfrm>
        </p:spPr>
        <p:txBody>
          <a:bodyPr>
            <a:noAutofit/>
          </a:bodyPr>
          <a:lstStyle/>
          <a:p>
            <a:pPr algn="just">
              <a:buFont typeface="Wingdings" panose="05000000000000000000" pitchFamily="2" charset="2"/>
              <a:buChar char="q"/>
            </a:pPr>
            <a:r>
              <a:rPr lang="en-US" sz="2400" dirty="0">
                <a:latin typeface="Calibri" panose="020F0502020204030204" pitchFamily="34" charset="0"/>
                <a:cs typeface="Calibri" panose="020F0502020204030204" pitchFamily="34" charset="0"/>
              </a:rPr>
              <a:t>Management</a:t>
            </a:r>
          </a:p>
          <a:p>
            <a:r>
              <a:rPr lang="en-US" sz="2400" dirty="0">
                <a:latin typeface="Calibri" panose="020F0502020204030204" pitchFamily="34" charset="0"/>
                <a:cs typeface="Calibri" panose="020F0502020204030204" pitchFamily="34" charset="0"/>
              </a:rPr>
              <a:t>Administer B</a:t>
            </a:r>
            <a:r>
              <a:rPr lang="bg-BG" sz="2400" dirty="0">
                <a:latin typeface="Calibri" panose="020F0502020204030204" pitchFamily="34" charset="0"/>
                <a:cs typeface="Calibri" panose="020F0502020204030204" pitchFamily="34" charset="0"/>
              </a:rPr>
              <a:t>enzodiazepines </a:t>
            </a:r>
            <a:endParaRPr lang="en-US" sz="2400" dirty="0">
              <a:latin typeface="Calibri" panose="020F0502020204030204" pitchFamily="34" charset="0"/>
              <a:cs typeface="Calibri" panose="020F0502020204030204" pitchFamily="34" charset="0"/>
            </a:endParaRPr>
          </a:p>
          <a:p>
            <a:pPr lvl="1"/>
            <a:r>
              <a:rPr lang="en-US" b="0" i="0" u="none" strike="noStrike" baseline="0" dirty="0">
                <a:solidFill>
                  <a:srgbClr val="000000"/>
                </a:solidFill>
                <a:latin typeface="Calibri" panose="020F0502020204030204" pitchFamily="34" charset="0"/>
                <a:cs typeface="Calibri" panose="020F0502020204030204" pitchFamily="34" charset="0"/>
              </a:rPr>
              <a:t>Convulsions caused by an inadvertent IV LA can be terminated by </a:t>
            </a:r>
          </a:p>
          <a:p>
            <a:pPr lvl="2"/>
            <a:r>
              <a:rPr lang="en-US" sz="2300" b="0" i="0" u="none" strike="noStrike" baseline="0" dirty="0">
                <a:solidFill>
                  <a:srgbClr val="000000"/>
                </a:solidFill>
                <a:latin typeface="Calibri" panose="020F0502020204030204" pitchFamily="34" charset="0"/>
                <a:cs typeface="Calibri" panose="020F0502020204030204" pitchFamily="34" charset="0"/>
              </a:rPr>
              <a:t>small IV  doses of a benzodiazepine, such as midazolam, or </a:t>
            </a:r>
          </a:p>
          <a:p>
            <a:pPr lvl="2"/>
            <a:r>
              <a:rPr lang="en-US" sz="2300" b="0" i="0" u="none" strike="noStrike" baseline="0" dirty="0">
                <a:solidFill>
                  <a:srgbClr val="000000"/>
                </a:solidFill>
                <a:latin typeface="Calibri" panose="020F0502020204030204" pitchFamily="34" charset="0"/>
                <a:cs typeface="Calibri" panose="020F0502020204030204" pitchFamily="34" charset="0"/>
              </a:rPr>
              <a:t>by small intravenous doses of propofol</a:t>
            </a:r>
            <a:r>
              <a:rPr lang="en-US" sz="2400" b="0" i="0" u="none" strike="noStrike" baseline="0" dirty="0">
                <a:solidFill>
                  <a:srgbClr val="000000"/>
                </a:solidFill>
                <a:latin typeface="Calibri" panose="020F0502020204030204" pitchFamily="34" charset="0"/>
                <a:cs typeface="Calibri" panose="020F0502020204030204" pitchFamily="34" charset="0"/>
              </a:rPr>
              <a:t>.</a:t>
            </a:r>
            <a:r>
              <a:rPr lang="bg-BG" sz="2400" dirty="0">
                <a:latin typeface="Calibri" panose="020F0502020204030204" pitchFamily="34" charset="0"/>
                <a:cs typeface="Calibri" panose="020F0502020204030204" pitchFamily="34" charset="0"/>
              </a:rPr>
              <a:t> </a:t>
            </a:r>
            <a:endParaRPr lang="en-US" sz="2400" dirty="0">
              <a:latin typeface="Calibri" panose="020F0502020204030204" pitchFamily="34" charset="0"/>
              <a:cs typeface="Calibri" panose="020F0502020204030204" pitchFamily="34" charset="0"/>
            </a:endParaRPr>
          </a:p>
          <a:p>
            <a:pPr lvl="3"/>
            <a:r>
              <a:rPr lang="en-US" b="0" i="0" u="none" strike="noStrike" baseline="0" dirty="0">
                <a:solidFill>
                  <a:srgbClr val="000000"/>
                </a:solidFill>
                <a:latin typeface="Calibri" panose="020F0502020204030204" pitchFamily="34" charset="0"/>
                <a:cs typeface="Calibri" panose="020F0502020204030204" pitchFamily="34" charset="0"/>
              </a:rPr>
              <a:t>Because seizures produce hypoventilation and a combined respiratory and metabolic acidosis, which further exacerbates the CNS toxicity. </a:t>
            </a:r>
            <a:endParaRPr lang="en-US"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H</a:t>
            </a:r>
            <a:r>
              <a:rPr lang="bg-BG" sz="2400" dirty="0">
                <a:latin typeface="Calibri" panose="020F0502020204030204" pitchFamily="34" charset="0"/>
                <a:cs typeface="Calibri" panose="020F0502020204030204" pitchFamily="34" charset="0"/>
              </a:rPr>
              <a:t>yperventilation </a:t>
            </a:r>
            <a:r>
              <a:rPr lang="en-US" sz="2400" dirty="0">
                <a:latin typeface="Calibri" panose="020F0502020204030204" pitchFamily="34" charset="0"/>
                <a:cs typeface="Calibri" panose="020F0502020204030204" pitchFamily="34" charset="0"/>
              </a:rPr>
              <a:t>- </a:t>
            </a:r>
            <a:r>
              <a:rPr lang="bg-BG" sz="2400" dirty="0">
                <a:latin typeface="Calibri" panose="020F0502020204030204" pitchFamily="34" charset="0"/>
                <a:cs typeface="Calibri" panose="020F0502020204030204" pitchFamily="34" charset="0"/>
              </a:rPr>
              <a:t>raise the threshold of </a:t>
            </a:r>
            <a:r>
              <a:rPr lang="en-US" sz="2400" dirty="0">
                <a:latin typeface="Calibri" panose="020F0502020204030204" pitchFamily="34" charset="0"/>
                <a:cs typeface="Calibri" panose="020F0502020204030204" pitchFamily="34" charset="0"/>
              </a:rPr>
              <a:t>LA</a:t>
            </a:r>
            <a:r>
              <a:rPr lang="bg-BG" sz="2400" dirty="0">
                <a:latin typeface="Calibri" panose="020F0502020204030204" pitchFamily="34" charset="0"/>
                <a:cs typeface="Calibri" panose="020F0502020204030204" pitchFamily="34" charset="0"/>
              </a:rPr>
              <a:t>-induced seizures.</a:t>
            </a:r>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Maintain normocapnia</a:t>
            </a:r>
          </a:p>
          <a:p>
            <a:pPr lvl="1"/>
            <a:r>
              <a:rPr lang="en-US" dirty="0">
                <a:latin typeface="Calibri" panose="020F0502020204030204" pitchFamily="34" charset="0"/>
                <a:cs typeface="Calibri" panose="020F0502020204030204" pitchFamily="34" charset="0"/>
              </a:rPr>
              <a:t>Because if PaCO2 is elevated, it enhances cerebral blood flow and thus, the anesthetic is delivered more rapidly to the brain and </a:t>
            </a:r>
          </a:p>
          <a:p>
            <a:pPr lvl="1"/>
            <a:r>
              <a:rPr lang="en-US" dirty="0">
                <a:latin typeface="Calibri" panose="020F0502020204030204" pitchFamily="34" charset="0"/>
                <a:cs typeface="Calibri" panose="020F0502020204030204" pitchFamily="34" charset="0"/>
              </a:rPr>
              <a:t>hypercapnia and acidosis also ↓ the plasma protein binding of LAs.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2A942-1568-A2E2-A4A4-8F1D042663B6}"/>
              </a:ext>
            </a:extLst>
          </p:cNvPr>
          <p:cNvSpPr>
            <a:spLocks noGrp="1"/>
          </p:cNvSpPr>
          <p:nvPr>
            <p:ph type="title"/>
          </p:nvPr>
        </p:nvSpPr>
        <p:spPr/>
        <p:txBody>
          <a:bodyPr/>
          <a:lstStyle/>
          <a:p>
            <a:r>
              <a:rPr lang="en-US" dirty="0"/>
              <a:t>CNS toxicity…</a:t>
            </a:r>
          </a:p>
        </p:txBody>
      </p:sp>
      <p:sp>
        <p:nvSpPr>
          <p:cNvPr id="3" name="Content Placeholder 2">
            <a:extLst>
              <a:ext uri="{FF2B5EF4-FFF2-40B4-BE49-F238E27FC236}">
                <a16:creationId xmlns:a16="http://schemas.microsoft.com/office/drawing/2014/main" id="{FEC06A96-7D4A-D7A9-63AB-96666AD394C5}"/>
              </a:ext>
            </a:extLst>
          </p:cNvPr>
          <p:cNvSpPr>
            <a:spLocks noGrp="1"/>
          </p:cNvSpPr>
          <p:nvPr>
            <p:ph sz="quarter" idx="1"/>
          </p:nvPr>
        </p:nvSpPr>
        <p:spPr/>
        <p:txBody>
          <a:bodyPr/>
          <a:lstStyle/>
          <a:p>
            <a:r>
              <a:rPr lang="bg-BG" sz="2400" dirty="0">
                <a:latin typeface="Calibri" panose="020F0502020204030204" pitchFamily="34" charset="0"/>
                <a:cs typeface="Calibri" panose="020F0502020204030204" pitchFamily="34" charset="0"/>
              </a:rPr>
              <a:t>Thiopental (1–2 mg/kg)</a:t>
            </a:r>
            <a:endParaRPr lang="en-US" sz="2400" dirty="0">
              <a:latin typeface="Calibri" panose="020F0502020204030204" pitchFamily="34" charset="0"/>
              <a:cs typeface="Calibri" panose="020F0502020204030204" pitchFamily="34" charset="0"/>
            </a:endParaRPr>
          </a:p>
          <a:p>
            <a:r>
              <a:rPr lang="bg-BG" sz="2400" dirty="0">
                <a:latin typeface="Calibri" panose="020F0502020204030204" pitchFamily="34" charset="0"/>
                <a:cs typeface="Calibri" panose="020F0502020204030204" pitchFamily="34" charset="0"/>
              </a:rPr>
              <a:t>Adequate ventilation and oxygenation </a:t>
            </a:r>
            <a:endParaRPr lang="en-US" sz="2400" dirty="0">
              <a:latin typeface="Calibri" panose="020F0502020204030204" pitchFamily="34" charset="0"/>
              <a:cs typeface="Calibri" panose="020F0502020204030204" pitchFamily="34" charset="0"/>
            </a:endParaRPr>
          </a:p>
          <a:p>
            <a:pPr lvl="1"/>
            <a:r>
              <a:rPr lang="en-US" sz="2400" dirty="0">
                <a:latin typeface="Calibri" panose="020F0502020204030204" pitchFamily="34" charset="0"/>
                <a:cs typeface="Calibri" panose="020F0502020204030204" pitchFamily="34" charset="0"/>
              </a:rPr>
              <a:t>provide prompt assisted ventilation and circulatory support as needed </a:t>
            </a:r>
          </a:p>
          <a:p>
            <a:pPr lvl="2"/>
            <a:r>
              <a:rPr lang="en-US" sz="2200" dirty="0">
                <a:latin typeface="Calibri" panose="020F0502020204030204" pitchFamily="34" charset="0"/>
                <a:cs typeface="Calibri" panose="020F0502020204030204" pitchFamily="34" charset="0"/>
              </a:rPr>
              <a:t>to prevent or correct hypercapnia and acidosis and </a:t>
            </a:r>
          </a:p>
          <a:p>
            <a:pPr lvl="2"/>
            <a:r>
              <a:rPr lang="en-US" sz="2200" dirty="0">
                <a:latin typeface="Calibri" panose="020F0502020204030204" pitchFamily="34" charset="0"/>
                <a:cs typeface="Calibri" panose="020F0502020204030204" pitchFamily="34" charset="0"/>
              </a:rPr>
              <a:t>to prevent or correct hypoxemia, which also exacerbates CNS toxicity.</a:t>
            </a:r>
          </a:p>
          <a:p>
            <a:endParaRPr lang="en-US" dirty="0"/>
          </a:p>
        </p:txBody>
      </p:sp>
    </p:spTree>
    <p:extLst>
      <p:ext uri="{BB962C8B-B14F-4D97-AF65-F5344CB8AC3E}">
        <p14:creationId xmlns:p14="http://schemas.microsoft.com/office/powerpoint/2010/main" val="36003372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533400"/>
            <a:ext cx="8534400" cy="454152"/>
          </a:xfrm>
        </p:spPr>
        <p:txBody>
          <a:bodyPr>
            <a:normAutofit fontScale="90000"/>
          </a:bodyPr>
          <a:lstStyle/>
          <a:p>
            <a:pPr algn="just"/>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Cardiovascular system toxicity</a:t>
            </a:r>
          </a:p>
        </p:txBody>
      </p:sp>
      <p:sp>
        <p:nvSpPr>
          <p:cNvPr id="3" name="Content Placeholder 2"/>
          <p:cNvSpPr>
            <a:spLocks noGrp="1"/>
          </p:cNvSpPr>
          <p:nvPr>
            <p:ph sz="quarter" idx="1"/>
          </p:nvPr>
        </p:nvSpPr>
        <p:spPr/>
        <p:txBody>
          <a:bodyPr>
            <a:normAutofit/>
          </a:bodyPr>
          <a:lstStyle/>
          <a:p>
            <a:r>
              <a:rPr lang="en-US" sz="2400" dirty="0">
                <a:latin typeface="Calibri" panose="020F0502020204030204" pitchFamily="34" charset="0"/>
                <a:cs typeface="Calibri" panose="020F0502020204030204" pitchFamily="34" charset="0"/>
              </a:rPr>
              <a:t>Cardiovascular toxicity is seen at a plasma concentration far greater than that for CNS toxicity.</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CVS toxicity, like that for CNS toxicity, correlates closely with the potency, or lipid solubility, of local anesthetics.</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LAs can exert direct actions on </a:t>
            </a:r>
          </a:p>
          <a:p>
            <a:pPr lvl="1"/>
            <a:r>
              <a:rPr lang="en-US" dirty="0">
                <a:latin typeface="Calibri" panose="020F0502020204030204" pitchFamily="34" charset="0"/>
                <a:cs typeface="Calibri" panose="020F0502020204030204" pitchFamily="34" charset="0"/>
              </a:rPr>
              <a:t>both the heart and peripheral blood vessels, </a:t>
            </a:r>
          </a:p>
          <a:p>
            <a:pPr lvl="1"/>
            <a:r>
              <a:rPr lang="en-US" dirty="0">
                <a:latin typeface="Calibri" panose="020F0502020204030204" pitchFamily="34" charset="0"/>
                <a:cs typeface="Calibri" panose="020F0502020204030204" pitchFamily="34" charset="0"/>
              </a:rPr>
              <a:t>indirect actions on the circulation by blockade of sympathetic or parasympathetic efferent activity.</a:t>
            </a:r>
          </a:p>
          <a:p>
            <a:pPr marL="0" indent="0">
              <a:buNone/>
            </a:pP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528524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70871-92BF-F0BF-F5EF-2DA52C1EEE72}"/>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DD3BFCC4-73D1-166F-4B85-C8289EE66043}"/>
              </a:ext>
            </a:extLst>
          </p:cNvPr>
          <p:cNvSpPr>
            <a:spLocks noGrp="1"/>
          </p:cNvSpPr>
          <p:nvPr>
            <p:ph sz="quarter" idx="1"/>
          </p:nvPr>
        </p:nvSpPr>
        <p:spPr/>
        <p:txBody>
          <a:bodyPr>
            <a:normAutofit/>
          </a:bodyPr>
          <a:lstStyle/>
          <a:p>
            <a:pPr marL="342900" lvl="1" indent="-342900">
              <a:buClr>
                <a:schemeClr val="accent1"/>
              </a:buClr>
              <a:buSzPct val="85000"/>
              <a:buFont typeface="Wingdings" panose="05000000000000000000" pitchFamily="2" charset="2"/>
              <a:buChar char="q"/>
            </a:pPr>
            <a:r>
              <a:rPr lang="en-US" sz="2400" dirty="0">
                <a:solidFill>
                  <a:schemeClr val="tx1"/>
                </a:solidFill>
                <a:latin typeface="Calibri" panose="020F0502020204030204" pitchFamily="34" charset="0"/>
                <a:cs typeface="Calibri" panose="020F0502020204030204" pitchFamily="34" charset="0"/>
              </a:rPr>
              <a:t>Direct Cardiac Effects. </a:t>
            </a:r>
          </a:p>
          <a:p>
            <a:pPr marL="388620" lvl="1" indent="-342900">
              <a:buClr>
                <a:schemeClr val="accent1"/>
              </a:buClr>
              <a:buSzPct val="85000"/>
              <a:buFont typeface="Arial" panose="020B0604020202020204" pitchFamily="34" charset="0"/>
              <a:buChar char="•"/>
            </a:pPr>
            <a:r>
              <a:rPr lang="en-US" dirty="0">
                <a:latin typeface="Calibri" panose="020F0502020204030204" pitchFamily="34" charset="0"/>
                <a:cs typeface="Calibri" panose="020F0502020204030204" pitchFamily="34" charset="0"/>
              </a:rPr>
              <a:t>blockades of cardiac Na channels leading to negative inotropy and arrhythmia.</a:t>
            </a:r>
          </a:p>
          <a:p>
            <a:pPr>
              <a:buFont typeface="Wingdings" panose="05000000000000000000" pitchFamily="2" charset="2"/>
              <a:buChar char="q"/>
            </a:pPr>
            <a:r>
              <a:rPr lang="en-US" sz="2400" dirty="0">
                <a:latin typeface="Calibri" panose="020F0502020204030204" pitchFamily="34" charset="0"/>
                <a:cs typeface="Calibri" panose="020F0502020204030204" pitchFamily="34" charset="0"/>
              </a:rPr>
              <a:t>Direct Peripheral Vascular Effects. </a:t>
            </a:r>
          </a:p>
          <a:p>
            <a:pPr>
              <a:buFont typeface="Arial" panose="020B0604020202020204" pitchFamily="34" charset="0"/>
              <a:buChar char="•"/>
            </a:pPr>
            <a:r>
              <a:rPr lang="en-US" sz="2400" dirty="0">
                <a:latin typeface="Calibri" panose="020F0502020204030204" pitchFamily="34" charset="0"/>
                <a:cs typeface="Calibri" panose="020F0502020204030204" pitchFamily="34" charset="0"/>
              </a:rPr>
              <a:t>LAs exert biphasic effects on peripheral vascular smooth muscle.</a:t>
            </a:r>
          </a:p>
          <a:p>
            <a:pPr lvl="1">
              <a:buFont typeface="Arial" panose="020B0604020202020204" pitchFamily="34" charset="0"/>
              <a:buChar char="•"/>
            </a:pPr>
            <a:r>
              <a:rPr lang="en-US" sz="190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Low concentrations……produce vasoconstriction  </a:t>
            </a:r>
          </a:p>
          <a:p>
            <a:pPr lvl="1">
              <a:buFont typeface="Arial" panose="020B0604020202020204" pitchFamily="34" charset="0"/>
              <a:buChar char="•"/>
            </a:pPr>
            <a:r>
              <a:rPr lang="en-US" dirty="0">
                <a:latin typeface="Calibri" panose="020F0502020204030204" pitchFamily="34" charset="0"/>
                <a:cs typeface="Calibri" panose="020F0502020204030204" pitchFamily="34" charset="0"/>
              </a:rPr>
              <a:t>  High concentrations…… produce vasodilation</a:t>
            </a:r>
          </a:p>
          <a:p>
            <a:pPr lvl="1">
              <a:buFont typeface="Arial" panose="020B0604020202020204" pitchFamily="34" charset="0"/>
              <a:buChar char="•"/>
            </a:pPr>
            <a:r>
              <a:rPr lang="en-US" b="0" i="0" u="none" strike="noStrike" baseline="0" dirty="0">
                <a:solidFill>
                  <a:srgbClr val="00B0F0"/>
                </a:solidFill>
                <a:latin typeface="Calibri" panose="020F0502020204030204" pitchFamily="34" charset="0"/>
                <a:cs typeface="Calibri" panose="020F0502020204030204" pitchFamily="34" charset="0"/>
              </a:rPr>
              <a:t>In the pulmonary vasculature, however, increasing LA</a:t>
            </a:r>
            <a:r>
              <a:rPr lang="en-US" dirty="0">
                <a:solidFill>
                  <a:srgbClr val="00B0F0"/>
                </a:solidFill>
                <a:latin typeface="Calibri" panose="020F0502020204030204" pitchFamily="34" charset="0"/>
                <a:cs typeface="Calibri" panose="020F0502020204030204" pitchFamily="34" charset="0"/>
              </a:rPr>
              <a:t> </a:t>
            </a:r>
            <a:r>
              <a:rPr lang="en-US" b="0" i="0" u="none" strike="noStrike" baseline="0" dirty="0">
                <a:solidFill>
                  <a:srgbClr val="00B0F0"/>
                </a:solidFill>
                <a:latin typeface="Calibri" panose="020F0502020204030204" pitchFamily="34" charset="0"/>
                <a:cs typeface="Calibri" panose="020F0502020204030204" pitchFamily="34" charset="0"/>
              </a:rPr>
              <a:t>concentrations produce marked pulmonary artery hypertension .</a:t>
            </a:r>
            <a:endParaRPr lang="en-US" dirty="0">
              <a:latin typeface="Calibri" panose="020F0502020204030204" pitchFamily="34" charset="0"/>
              <a:cs typeface="Calibri" panose="020F0502020204030204" pitchFamily="34" charset="0"/>
            </a:endParaRPr>
          </a:p>
          <a:p>
            <a:pPr lvl="1"/>
            <a:r>
              <a:rPr lang="en-US" sz="2400" dirty="0">
                <a:latin typeface="Calibri" panose="020F0502020204030204" pitchFamily="34" charset="0"/>
                <a:cs typeface="Calibri" panose="020F0502020204030204" pitchFamily="34" charset="0"/>
              </a:rPr>
              <a:t>Exception: </a:t>
            </a:r>
            <a:r>
              <a:rPr lang="en-US" b="0" i="0" u="none" strike="noStrike" baseline="0" dirty="0">
                <a:solidFill>
                  <a:srgbClr val="000000"/>
                </a:solidFill>
                <a:latin typeface="Calibri" panose="020F0502020204030204" pitchFamily="34" charset="0"/>
                <a:cs typeface="Calibri" panose="020F0502020204030204" pitchFamily="34" charset="0"/>
              </a:rPr>
              <a:t>Cocaine causes vasoconstriction at all concentrations </a:t>
            </a:r>
          </a:p>
          <a:p>
            <a:pPr lvl="2"/>
            <a:r>
              <a:rPr lang="en-US" b="0" i="0" u="none" strike="noStrike" baseline="0" dirty="0">
                <a:solidFill>
                  <a:srgbClr val="00B0F0"/>
                </a:solidFill>
                <a:latin typeface="Calibri" panose="020F0502020204030204" pitchFamily="34" charset="0"/>
                <a:cs typeface="Calibri" panose="020F0502020204030204" pitchFamily="34" charset="0"/>
              </a:rPr>
              <a:t>because of its ability to inhibit the uptake of norepinephrine</a:t>
            </a:r>
          </a:p>
        </p:txBody>
      </p:sp>
    </p:spTree>
    <p:extLst>
      <p:ext uri="{BB962C8B-B14F-4D97-AF65-F5344CB8AC3E}">
        <p14:creationId xmlns:p14="http://schemas.microsoft.com/office/powerpoint/2010/main" val="31272374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1E37-2324-86E0-7954-352486E75025}"/>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D334C4D7-DFE2-4DAC-1E98-F6C28CFDF53E}"/>
              </a:ext>
            </a:extLst>
          </p:cNvPr>
          <p:cNvSpPr>
            <a:spLocks noGrp="1"/>
          </p:cNvSpPr>
          <p:nvPr>
            <p:ph sz="quarter" idx="1"/>
          </p:nvPr>
        </p:nvSpPr>
        <p:spPr/>
        <p:txBody>
          <a:bodyPr>
            <a:normAutofit fontScale="92500" lnSpcReduction="20000"/>
          </a:bodyPr>
          <a:lstStyle/>
          <a:p>
            <a:pPr>
              <a:buFont typeface="Wingdings" panose="05000000000000000000" pitchFamily="2" charset="2"/>
              <a:buChar char="q"/>
            </a:pPr>
            <a:r>
              <a:rPr lang="en-US" sz="2600" dirty="0">
                <a:latin typeface="Calibri" panose="020F0502020204030204" pitchFamily="34" charset="0"/>
                <a:cs typeface="Calibri" panose="020F0502020204030204" pitchFamily="34" charset="0"/>
              </a:rPr>
              <a:t>Signs of cardiovascular toxicity</a:t>
            </a:r>
          </a:p>
          <a:p>
            <a:r>
              <a:rPr lang="en-US" sz="2600" dirty="0">
                <a:latin typeface="Calibri" panose="020F0502020204030204" pitchFamily="34" charset="0"/>
                <a:cs typeface="Calibri" panose="020F0502020204030204" pitchFamily="34" charset="0"/>
              </a:rPr>
              <a:t>Sinus Bradycardia and sinus arrest, Asystole…..27%</a:t>
            </a:r>
          </a:p>
          <a:p>
            <a:pPr lvl="1"/>
            <a:r>
              <a:rPr lang="en-US" sz="2600" b="0" i="0" u="none" strike="noStrike" baseline="0" dirty="0">
                <a:solidFill>
                  <a:srgbClr val="000000"/>
                </a:solidFill>
                <a:latin typeface="Calibri" panose="020F0502020204030204" pitchFamily="34" charset="0"/>
                <a:cs typeface="Calibri" panose="020F0502020204030204" pitchFamily="34" charset="0"/>
              </a:rPr>
              <a:t>By depressing spontaneous pacemaker activity in the sinus node </a:t>
            </a:r>
            <a:endParaRPr lang="en-US" sz="2600" dirty="0">
              <a:latin typeface="Calibri" panose="020F0502020204030204" pitchFamily="34" charset="0"/>
              <a:cs typeface="Calibri" panose="020F0502020204030204" pitchFamily="34" charset="0"/>
            </a:endParaRPr>
          </a:p>
          <a:p>
            <a:r>
              <a:rPr lang="en-US" sz="2600" dirty="0">
                <a:latin typeface="Calibri" panose="020F0502020204030204" pitchFamily="34" charset="0"/>
                <a:cs typeface="Calibri" panose="020F0502020204030204" pitchFamily="34" charset="0"/>
              </a:rPr>
              <a:t>Tachycardia…..16%</a:t>
            </a:r>
          </a:p>
          <a:p>
            <a:r>
              <a:rPr lang="en-US" sz="2600" dirty="0">
                <a:latin typeface="Calibri" panose="020F0502020204030204" pitchFamily="34" charset="0"/>
                <a:cs typeface="Calibri" panose="020F0502020204030204" pitchFamily="34" charset="0"/>
              </a:rPr>
              <a:t>Hypotension….18%</a:t>
            </a:r>
          </a:p>
          <a:p>
            <a:r>
              <a:rPr lang="en-US" sz="2600" dirty="0">
                <a:latin typeface="Calibri" panose="020F0502020204030204" pitchFamily="34" charset="0"/>
                <a:cs typeface="Calibri" panose="020F0502020204030204" pitchFamily="34" charset="0"/>
              </a:rPr>
              <a:t>Cardiovascular collapse and complete heart block</a:t>
            </a:r>
          </a:p>
          <a:p>
            <a:pPr lvl="1"/>
            <a:r>
              <a:rPr lang="en-US" sz="2400" dirty="0">
                <a:latin typeface="Calibri" panose="020F0502020204030204" pitchFamily="34" charset="0"/>
                <a:cs typeface="Calibri" panose="020F0502020204030204" pitchFamily="34" charset="0"/>
              </a:rPr>
              <a:t>Bupivacaine, ropivacaine, and levobupivacaine</a:t>
            </a:r>
          </a:p>
          <a:p>
            <a:pPr lvl="2"/>
            <a:r>
              <a:rPr lang="en-US" sz="2400" dirty="0">
                <a:latin typeface="Calibri" panose="020F0502020204030204" pitchFamily="34" charset="0"/>
                <a:cs typeface="Calibri" panose="020F0502020204030204" pitchFamily="34" charset="0"/>
              </a:rPr>
              <a:t>Ropivacaine and levobupivacaine may offer a safer cardiovascular toxicity profile than bupivacaine</a:t>
            </a:r>
          </a:p>
          <a:p>
            <a:r>
              <a:rPr lang="en-US" sz="2600" dirty="0">
                <a:latin typeface="Calibri" panose="020F0502020204030204" pitchFamily="34" charset="0"/>
                <a:cs typeface="Calibri" panose="020F0502020204030204" pitchFamily="34" charset="0"/>
              </a:rPr>
              <a:t>Increase in the PR interval and duration of the QRS complex (wide complex dysrhythmias)….12%</a:t>
            </a:r>
          </a:p>
          <a:p>
            <a:r>
              <a:rPr lang="en-US" sz="2600" dirty="0">
                <a:latin typeface="Calibri" panose="020F0502020204030204" pitchFamily="34" charset="0"/>
                <a:cs typeface="Calibri" panose="020F0502020204030204" pitchFamily="34" charset="0"/>
              </a:rPr>
              <a:t>VT/VF…..13%</a:t>
            </a:r>
          </a:p>
          <a:p>
            <a:endParaRPr lang="en-US" sz="29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01005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fontAlgn="auto" hangingPunct="1">
              <a:spcAft>
                <a:spcPts val="0"/>
              </a:spcAft>
              <a:defRPr/>
            </a:pPr>
            <a:r>
              <a:rPr lang="en-US" sz="2800" dirty="0">
                <a:solidFill>
                  <a:schemeClr val="tx2">
                    <a:satMod val="130000"/>
                  </a:schemeClr>
                </a:solidFill>
                <a:latin typeface="Calibri" panose="020F0502020204030204" pitchFamily="34" charset="0"/>
                <a:cs typeface="Calibri" panose="020F0502020204030204" pitchFamily="34" charset="0"/>
              </a:rPr>
              <a:t>Prevention and Treatment of LAST</a:t>
            </a:r>
            <a:endParaRPr lang="en-US" sz="3200" dirty="0">
              <a:solidFill>
                <a:schemeClr val="tx2">
                  <a:satMod val="130000"/>
                </a:schemeClr>
              </a:solidFill>
              <a:latin typeface="Calibri" panose="020F0502020204030204" pitchFamily="34" charset="0"/>
              <a:cs typeface="Calibri" panose="020F0502020204030204" pitchFamily="34" charset="0"/>
            </a:endParaRPr>
          </a:p>
        </p:txBody>
      </p:sp>
      <p:sp>
        <p:nvSpPr>
          <p:cNvPr id="46083" name="Rectangle 3"/>
          <p:cNvSpPr>
            <a:spLocks noGrp="1" noChangeArrowheads="1"/>
          </p:cNvSpPr>
          <p:nvPr>
            <p:ph idx="1"/>
          </p:nvPr>
        </p:nvSpPr>
        <p:spPr/>
        <p:txBody>
          <a:bodyPr>
            <a:normAutofit/>
          </a:bodyPr>
          <a:lstStyle/>
          <a:p>
            <a:pPr eaLnBrk="1" hangingPunct="1">
              <a:buFont typeface="Wingdings" panose="05000000000000000000" pitchFamily="2" charset="2"/>
              <a:buChar char="q"/>
            </a:pPr>
            <a:r>
              <a:rPr lang="en-US" sz="3000" dirty="0">
                <a:latin typeface="Calibri" panose="020F0502020204030204" pitchFamily="34" charset="0"/>
                <a:cs typeface="Calibri" panose="020F0502020204030204" pitchFamily="34" charset="0"/>
              </a:rPr>
              <a:t>Prevention of LAST</a:t>
            </a:r>
          </a:p>
          <a:p>
            <a:pPr eaLnBrk="1" hangingPunct="1"/>
            <a:r>
              <a:rPr lang="en-US" dirty="0">
                <a:latin typeface="Calibri" panose="020F0502020204030204" pitchFamily="34" charset="0"/>
                <a:cs typeface="Calibri" panose="020F0502020204030204" pitchFamily="34" charset="0"/>
              </a:rPr>
              <a:t>Understand the pharmacokinetics of LAs and</a:t>
            </a:r>
          </a:p>
          <a:p>
            <a:pPr eaLnBrk="1" hangingPunct="1"/>
            <a:r>
              <a:rPr lang="en-US" dirty="0">
                <a:latin typeface="Calibri" panose="020F0502020204030204" pitchFamily="34" charset="0"/>
                <a:cs typeface="Calibri" panose="020F0502020204030204" pitchFamily="34" charset="0"/>
              </a:rPr>
              <a:t>Understand the various factors that influence their systemic spread, </a:t>
            </a:r>
          </a:p>
          <a:p>
            <a:pPr lvl="2"/>
            <a:r>
              <a:rPr lang="en-US" sz="2600" dirty="0">
                <a:latin typeface="Calibri" panose="020F0502020204030204" pitchFamily="34" charset="0"/>
                <a:cs typeface="Calibri" panose="020F0502020204030204" pitchFamily="34" charset="0"/>
              </a:rPr>
              <a:t>such as absorption, distribution, metabolism and elimination</a:t>
            </a:r>
          </a:p>
          <a:p>
            <a:pPr eaLnBrk="1" hangingPunct="1"/>
            <a:r>
              <a:rPr lang="en-US" dirty="0">
                <a:latin typeface="Calibri" panose="020F0502020204030204" pitchFamily="34" charset="0"/>
                <a:cs typeface="Calibri" panose="020F0502020204030204" pitchFamily="34" charset="0"/>
              </a:rPr>
              <a:t>Judicious dosing in individuals at extremes of age.</a:t>
            </a:r>
          </a:p>
        </p:txBody>
      </p:sp>
      <p:sp>
        <p:nvSpPr>
          <p:cNvPr id="4" name="Slide Number Placeholder 3"/>
          <p:cNvSpPr>
            <a:spLocks noGrp="1"/>
          </p:cNvSpPr>
          <p:nvPr>
            <p:ph type="sldNum" sz="quarter" idx="12"/>
          </p:nvPr>
        </p:nvSpPr>
        <p:spPr/>
        <p:txBody>
          <a:bodyPr/>
          <a:lstStyle/>
          <a:p>
            <a:pPr>
              <a:defRPr/>
            </a:pPr>
            <a:fld id="{E490EF2E-21B6-46DA-B14B-44AF62B31A11}" type="slidenum">
              <a:rPr lang="en-US">
                <a:latin typeface="Calibri" panose="020F0502020204030204" pitchFamily="34" charset="0"/>
                <a:cs typeface="Calibri" panose="020F0502020204030204" pitchFamily="34" charset="0"/>
              </a:rPr>
              <a:pPr>
                <a:defRPr/>
              </a:pPr>
              <a:t>77</a:t>
            </a:fld>
            <a:endParaRPr lang="en-US">
              <a:latin typeface="Calibri" panose="020F0502020204030204" pitchFamily="34" charset="0"/>
              <a:cs typeface="Calibri" panose="020F0502020204030204" pitchFamily="34" charset="0"/>
            </a:endParaRPr>
          </a:p>
        </p:txBody>
      </p:sp>
      <p:sp>
        <p:nvSpPr>
          <p:cNvPr id="5" name="Footer Placeholder 4"/>
          <p:cNvSpPr>
            <a:spLocks noGrp="1"/>
          </p:cNvSpPr>
          <p:nvPr>
            <p:ph type="ftr" sz="quarter" idx="11"/>
          </p:nvPr>
        </p:nvSpPr>
        <p:spPr/>
        <p:txBody>
          <a:bodyPr/>
          <a:lstStyle/>
          <a:p>
            <a:pPr>
              <a:defRPr/>
            </a:pPr>
            <a:r>
              <a:rPr lang="en-US" dirty="0">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2652446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F705F-D38A-50D4-8E48-6541648DAC22}"/>
              </a:ext>
            </a:extLst>
          </p:cNvPr>
          <p:cNvSpPr>
            <a:spLocks noGrp="1"/>
          </p:cNvSpPr>
          <p:nvPr>
            <p:ph type="title"/>
          </p:nvPr>
        </p:nvSpPr>
        <p:spPr/>
        <p:txBody>
          <a:bodyPr>
            <a:normAutofit fontScale="90000"/>
          </a:bodyPr>
          <a:lstStyle/>
          <a:p>
            <a:pPr algn="just"/>
            <a:br>
              <a:rPr lang="en-US" sz="3600" dirty="0">
                <a:latin typeface="Calibri" panose="020F0502020204030204" pitchFamily="34" charset="0"/>
                <a:cs typeface="Calibri" panose="020F0502020204030204" pitchFamily="34" charset="0"/>
              </a:rPr>
            </a:br>
            <a:r>
              <a:rPr lang="en-US" sz="3600" dirty="0">
                <a:latin typeface="Calibri" panose="020F0502020204030204" pitchFamily="34" charset="0"/>
                <a:cs typeface="Calibri" panose="020F0502020204030204" pitchFamily="34" charset="0"/>
              </a:rPr>
              <a:t>Prevention of LAST…</a:t>
            </a:r>
            <a:endParaRPr lang="en-US" dirty="0"/>
          </a:p>
        </p:txBody>
      </p:sp>
      <p:sp>
        <p:nvSpPr>
          <p:cNvPr id="3" name="Content Placeholder 2">
            <a:extLst>
              <a:ext uri="{FF2B5EF4-FFF2-40B4-BE49-F238E27FC236}">
                <a16:creationId xmlns:a16="http://schemas.microsoft.com/office/drawing/2014/main" id="{E3511DF5-5B5C-0B48-DA14-940D8A37BD6C}"/>
              </a:ext>
            </a:extLst>
          </p:cNvPr>
          <p:cNvSpPr>
            <a:spLocks noGrp="1"/>
          </p:cNvSpPr>
          <p:nvPr>
            <p:ph sz="quarter" idx="1"/>
          </p:nvPr>
        </p:nvSpPr>
        <p:spPr/>
        <p:txBody>
          <a:bodyPr/>
          <a:lstStyle/>
          <a:p>
            <a:pPr eaLnBrk="1" hangingPunct="1"/>
            <a:r>
              <a:rPr lang="en-US" sz="2400" dirty="0">
                <a:latin typeface="Calibri" panose="020F0502020204030204" pitchFamily="34" charset="0"/>
                <a:cs typeface="Calibri" panose="020F0502020204030204" pitchFamily="34" charset="0"/>
              </a:rPr>
              <a:t>Minimize the risk of direct intravascular injection and decrease systemic absorption.</a:t>
            </a:r>
          </a:p>
          <a:p>
            <a:pPr lvl="1"/>
            <a:r>
              <a:rPr lang="en-US" dirty="0">
                <a:latin typeface="Calibri" panose="020F0502020204030204" pitchFamily="34" charset="0"/>
                <a:cs typeface="Calibri" panose="020F0502020204030204" pitchFamily="34" charset="0"/>
              </a:rPr>
              <a:t>Careful aspirate often with slow injection</a:t>
            </a:r>
          </a:p>
          <a:p>
            <a:pPr lvl="1"/>
            <a:r>
              <a:rPr lang="en-US" dirty="0">
                <a:latin typeface="Calibri" panose="020F0502020204030204" pitchFamily="34" charset="0"/>
                <a:cs typeface="Calibri" panose="020F0502020204030204" pitchFamily="34" charset="0"/>
              </a:rPr>
              <a:t>small, incremental administration (3 to 5 mL) with continuous heart rate monitoring</a:t>
            </a:r>
          </a:p>
          <a:p>
            <a:pPr lvl="1"/>
            <a:r>
              <a:rPr lang="en-US" dirty="0">
                <a:latin typeface="Calibri" panose="020F0502020204030204" pitchFamily="34" charset="0"/>
                <a:cs typeface="Calibri" panose="020F0502020204030204" pitchFamily="34" charset="0"/>
              </a:rPr>
              <a:t>Incorporation of a vasoactive agent such as epinephrine</a:t>
            </a:r>
          </a:p>
          <a:p>
            <a:pPr lvl="1" eaLnBrk="1" hangingPunct="1"/>
            <a:r>
              <a:rPr lang="en-US" dirty="0">
                <a:latin typeface="Calibri" panose="020F0502020204030204" pitchFamily="34" charset="0"/>
                <a:cs typeface="Calibri" panose="020F0502020204030204" pitchFamily="34" charset="0"/>
              </a:rPr>
              <a:t>Ask about CNS toxicity</a:t>
            </a:r>
          </a:p>
          <a:p>
            <a:pPr lvl="1" eaLnBrk="1" hangingPunct="1"/>
            <a:r>
              <a:rPr lang="en-US" dirty="0">
                <a:latin typeface="Calibri" panose="020F0502020204030204" pitchFamily="34" charset="0"/>
                <a:cs typeface="Calibri" panose="020F0502020204030204" pitchFamily="34" charset="0"/>
              </a:rPr>
              <a:t>Have monitoring available</a:t>
            </a:r>
          </a:p>
          <a:p>
            <a:pPr lvl="1" eaLnBrk="1" hangingPunct="1"/>
            <a:r>
              <a:rPr lang="en-US" dirty="0">
                <a:latin typeface="Calibri" panose="020F0502020204030204" pitchFamily="34" charset="0"/>
                <a:cs typeface="Calibri" panose="020F0502020204030204" pitchFamily="34" charset="0"/>
              </a:rPr>
              <a:t>Prepare with resuscitative equipment, CNS-depressant drugs, cardiovascular drugs</a:t>
            </a:r>
          </a:p>
          <a:p>
            <a:pPr lvl="1" eaLnBrk="1" hangingPunct="1"/>
            <a:r>
              <a:rPr lang="en-US" dirty="0">
                <a:latin typeface="Calibri" panose="020F0502020204030204" pitchFamily="34" charset="0"/>
                <a:cs typeface="Calibri" panose="020F0502020204030204" pitchFamily="34" charset="0"/>
              </a:rPr>
              <a:t>ABCD</a:t>
            </a:r>
          </a:p>
          <a:p>
            <a:endParaRPr lang="en-US" dirty="0"/>
          </a:p>
        </p:txBody>
      </p:sp>
    </p:spTree>
    <p:extLst>
      <p:ext uri="{BB962C8B-B14F-4D97-AF65-F5344CB8AC3E}">
        <p14:creationId xmlns:p14="http://schemas.microsoft.com/office/powerpoint/2010/main" val="39577367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E15D0-F965-CBE3-8E3D-7A0DBF884898}"/>
              </a:ext>
            </a:extLst>
          </p:cNvPr>
          <p:cNvSpPr>
            <a:spLocks noGrp="1"/>
          </p:cNvSpPr>
          <p:nvPr>
            <p:ph type="title"/>
          </p:nvPr>
        </p:nvSpPr>
        <p:spPr/>
        <p:txBody>
          <a:bodyPr>
            <a:noAutofit/>
          </a:bodyPr>
          <a:lstStyle/>
          <a:p>
            <a:pPr algn="just"/>
            <a:r>
              <a:rPr lang="en-US" sz="2800" dirty="0">
                <a:latin typeface="Calibri" panose="020F0502020204030204" pitchFamily="34" charset="0"/>
                <a:cs typeface="Calibri" panose="020F0502020204030204" pitchFamily="34" charset="0"/>
              </a:rPr>
              <a:t>Treatment of Systemic Toxicity from LAs</a:t>
            </a:r>
          </a:p>
        </p:txBody>
      </p:sp>
      <p:sp>
        <p:nvSpPr>
          <p:cNvPr id="3" name="Content Placeholder 2">
            <a:extLst>
              <a:ext uri="{FF2B5EF4-FFF2-40B4-BE49-F238E27FC236}">
                <a16:creationId xmlns:a16="http://schemas.microsoft.com/office/drawing/2014/main" id="{C2A7C098-7465-94C0-79E4-4055EC8E9895}"/>
              </a:ext>
            </a:extLst>
          </p:cNvPr>
          <p:cNvSpPr>
            <a:spLocks noGrp="1"/>
          </p:cNvSpPr>
          <p:nvPr>
            <p:ph sz="quarter" idx="1"/>
          </p:nvPr>
        </p:nvSpPr>
        <p:spPr/>
        <p:txBody>
          <a:bodyPr/>
          <a:lstStyle/>
          <a:p>
            <a:r>
              <a:rPr lang="en-US" sz="2400" dirty="0">
                <a:latin typeface="Calibri" panose="020F0502020204030204" pitchFamily="34" charset="0"/>
                <a:cs typeface="Calibri" panose="020F0502020204030204" pitchFamily="34" charset="0"/>
              </a:rPr>
              <a:t>Early recognition and rapid intervention to prevent worsening outcomes.</a:t>
            </a:r>
          </a:p>
          <a:p>
            <a:r>
              <a:rPr lang="en-US" sz="2600" dirty="0">
                <a:latin typeface="Calibri" panose="020F0502020204030204" pitchFamily="34" charset="0"/>
                <a:cs typeface="Calibri" panose="020F0502020204030204" pitchFamily="34" charset="0"/>
              </a:rPr>
              <a:t>At the first sign of toxicity</a:t>
            </a:r>
          </a:p>
          <a:p>
            <a:pPr lvl="1"/>
            <a:r>
              <a:rPr lang="en-US" dirty="0">
                <a:latin typeface="Calibri" panose="020F0502020204030204" pitchFamily="34" charset="0"/>
                <a:cs typeface="Calibri" panose="020F0502020204030204" pitchFamily="34" charset="0"/>
              </a:rPr>
              <a:t>Administration of LA should cease and assistance be alerted.</a:t>
            </a:r>
          </a:p>
          <a:p>
            <a:r>
              <a:rPr lang="en-US" sz="2600" dirty="0">
                <a:latin typeface="Calibri" panose="020F0502020204030204" pitchFamily="34" charset="0"/>
                <a:cs typeface="Calibri" panose="020F0502020204030204" pitchFamily="34" charset="0"/>
              </a:rPr>
              <a:t>With impending loss of sensorium and possible development of epileptic activity, </a:t>
            </a:r>
          </a:p>
          <a:p>
            <a:pPr lvl="1"/>
            <a:r>
              <a:rPr lang="en-US" dirty="0">
                <a:latin typeface="Calibri" panose="020F0502020204030204" pitchFamily="34" charset="0"/>
                <a:cs typeface="Calibri" panose="020F0502020204030204" pitchFamily="34" charset="0"/>
              </a:rPr>
              <a:t>airway, and ventilation should be secured and supported </a:t>
            </a:r>
          </a:p>
          <a:p>
            <a:pPr lvl="2"/>
            <a:r>
              <a:rPr lang="en-US" dirty="0">
                <a:latin typeface="Calibri" panose="020F0502020204030204" pitchFamily="34" charset="0"/>
                <a:cs typeface="Calibri" panose="020F0502020204030204" pitchFamily="34" charset="0"/>
              </a:rPr>
              <a:t>in order to prevent exacerbation of LAST due to hypoxia, hypercapnia, and acidosis</a:t>
            </a: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609544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sz="quarter" idx="1"/>
          </p:nvPr>
        </p:nvSpPr>
        <p:spPr>
          <a:xfrm>
            <a:off x="301752" y="1066800"/>
            <a:ext cx="8689848" cy="5032248"/>
          </a:xfrm>
        </p:spPr>
        <p:txBody>
          <a:bodyPr>
            <a:noAutofit/>
          </a:bodyPr>
          <a:lstStyle/>
          <a:p>
            <a:pPr marL="0" indent="0">
              <a:buNone/>
            </a:pPr>
            <a:r>
              <a:rPr lang="en-US" sz="3200" b="1" dirty="0">
                <a:latin typeface="Times New Roman" pitchFamily="18" charset="0"/>
                <a:cs typeface="Times New Roman" pitchFamily="18" charset="0"/>
              </a:rPr>
              <a:t>Airway</a:t>
            </a:r>
          </a:p>
          <a:p>
            <a:r>
              <a:rPr lang="en-US" sz="2400" dirty="0">
                <a:latin typeface="Times New Roman" pitchFamily="18" charset="0"/>
                <a:cs typeface="Times New Roman" pitchFamily="18" charset="0"/>
              </a:rPr>
              <a:t> Establish clear airway; suction, if required</a:t>
            </a:r>
          </a:p>
          <a:p>
            <a:pPr marL="0" indent="0">
              <a:buNone/>
            </a:pPr>
            <a:r>
              <a:rPr lang="en-US" sz="2800" b="1" dirty="0">
                <a:latin typeface="Times New Roman" pitchFamily="18" charset="0"/>
                <a:cs typeface="Times New Roman" pitchFamily="18" charset="0"/>
              </a:rPr>
              <a:t>Breathing</a:t>
            </a:r>
            <a:endParaRPr lang="en-US" sz="2400" b="1" dirty="0">
              <a:latin typeface="Times New Roman" pitchFamily="18" charset="0"/>
              <a:cs typeface="Times New Roman" pitchFamily="18" charset="0"/>
            </a:endParaRPr>
          </a:p>
          <a:p>
            <a:r>
              <a:rPr lang="en-US" sz="2400" dirty="0">
                <a:latin typeface="Times New Roman" pitchFamily="18" charset="0"/>
                <a:cs typeface="Times New Roman" pitchFamily="18" charset="0"/>
              </a:rPr>
              <a:t>Oxygen with face mask</a:t>
            </a:r>
          </a:p>
          <a:p>
            <a:r>
              <a:rPr lang="en-US" sz="2400" dirty="0">
                <a:latin typeface="Times New Roman" pitchFamily="18" charset="0"/>
                <a:cs typeface="Times New Roman" pitchFamily="18" charset="0"/>
              </a:rPr>
              <a:t> Encourage adequate ventilation (prevent cycle of acidosis: increased uptake of LA into CNS, and lowered seizure threshold)</a:t>
            </a:r>
          </a:p>
          <a:p>
            <a:r>
              <a:rPr lang="en-US" sz="2400" dirty="0">
                <a:latin typeface="Times New Roman" pitchFamily="18" charset="0"/>
                <a:cs typeface="Times New Roman" pitchFamily="18" charset="0"/>
              </a:rPr>
              <a:t> Artificial ventilation, if required</a:t>
            </a:r>
          </a:p>
        </p:txBody>
      </p:sp>
    </p:spTree>
    <p:extLst>
      <p:ext uri="{BB962C8B-B14F-4D97-AF65-F5344CB8AC3E}">
        <p14:creationId xmlns:p14="http://schemas.microsoft.com/office/powerpoint/2010/main" val="33296482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sz="quarter" idx="1"/>
          </p:nvPr>
        </p:nvSpPr>
        <p:spPr>
          <a:xfrm>
            <a:off x="304800" y="1143000"/>
            <a:ext cx="8610600" cy="5257800"/>
          </a:xfrm>
        </p:spPr>
        <p:txBody>
          <a:bodyPr>
            <a:normAutofit fontScale="70000" lnSpcReduction="20000"/>
          </a:bodyPr>
          <a:lstStyle/>
          <a:p>
            <a:pPr marL="0" indent="0">
              <a:buNone/>
            </a:pPr>
            <a:r>
              <a:rPr lang="en-US" sz="4500" b="1" dirty="0">
                <a:latin typeface="Calibri" panose="020F0502020204030204" pitchFamily="34" charset="0"/>
                <a:cs typeface="Calibri" panose="020F0502020204030204" pitchFamily="34" charset="0"/>
              </a:rPr>
              <a:t>Circulation</a:t>
            </a:r>
            <a:endParaRPr lang="en-US" sz="2800" b="1" dirty="0">
              <a:latin typeface="Calibri" panose="020F0502020204030204" pitchFamily="34" charset="0"/>
              <a:cs typeface="Calibri" panose="020F0502020204030204" pitchFamily="34" charset="0"/>
            </a:endParaRPr>
          </a:p>
          <a:p>
            <a:r>
              <a:rPr lang="en-US" sz="2800" dirty="0">
                <a:latin typeface="Calibri" panose="020F0502020204030204" pitchFamily="34" charset="0"/>
                <a:cs typeface="Calibri" panose="020F0502020204030204" pitchFamily="34" charset="0"/>
              </a:rPr>
              <a:t>Elevate legs, Increase I.V. fluids if blood pressure is decreased.</a:t>
            </a:r>
          </a:p>
          <a:p>
            <a:r>
              <a:rPr lang="en-US" sz="2800" dirty="0">
                <a:latin typeface="Calibri" panose="020F0502020204030204" pitchFamily="34" charset="0"/>
                <a:cs typeface="Calibri" panose="020F0502020204030204" pitchFamily="34" charset="0"/>
              </a:rPr>
              <a:t>CVS support drug if decreased blood pressure persists or decreased heart rate</a:t>
            </a:r>
          </a:p>
          <a:p>
            <a:r>
              <a:rPr lang="en-US" sz="2800" dirty="0" err="1">
                <a:latin typeface="Calibri" panose="020F0502020204030204" pitchFamily="34" charset="0"/>
                <a:cs typeface="Calibri" panose="020F0502020204030204" pitchFamily="34" charset="0"/>
              </a:rPr>
              <a:t>Cardioversion</a:t>
            </a:r>
            <a:r>
              <a:rPr lang="en-US" sz="2800" dirty="0">
                <a:latin typeface="Calibri" panose="020F0502020204030204" pitchFamily="34" charset="0"/>
                <a:cs typeface="Calibri" panose="020F0502020204030204" pitchFamily="34" charset="0"/>
              </a:rPr>
              <a:t> if ventricular arrhythmias occur</a:t>
            </a:r>
          </a:p>
          <a:p>
            <a:pPr marL="0" indent="0">
              <a:buNone/>
            </a:pPr>
            <a:r>
              <a:rPr lang="en-US" sz="5100" b="1" dirty="0">
                <a:latin typeface="Calibri" panose="020F0502020204030204" pitchFamily="34" charset="0"/>
                <a:cs typeface="Calibri" panose="020F0502020204030204" pitchFamily="34" charset="0"/>
              </a:rPr>
              <a:t>Drugs</a:t>
            </a:r>
          </a:p>
          <a:p>
            <a:pPr>
              <a:buFont typeface="Wingdings" pitchFamily="2" charset="2"/>
              <a:buChar char="Ø"/>
            </a:pPr>
            <a:r>
              <a:rPr lang="en-US" sz="2800" dirty="0">
                <a:latin typeface="Calibri" panose="020F0502020204030204" pitchFamily="34" charset="0"/>
                <a:cs typeface="Calibri" panose="020F0502020204030204" pitchFamily="34" charset="0"/>
              </a:rPr>
              <a:t>CNS depressant</a:t>
            </a:r>
          </a:p>
          <a:p>
            <a:pPr lvl="1"/>
            <a:r>
              <a:rPr lang="en-US" sz="2300" dirty="0">
                <a:latin typeface="Calibri" panose="020F0502020204030204" pitchFamily="34" charset="0"/>
                <a:cs typeface="Calibri" panose="020F0502020204030204" pitchFamily="34" charset="0"/>
              </a:rPr>
              <a:t> </a:t>
            </a:r>
            <a:r>
              <a:rPr lang="en-US" sz="3100" dirty="0">
                <a:latin typeface="Calibri" panose="020F0502020204030204" pitchFamily="34" charset="0"/>
                <a:cs typeface="Calibri" panose="020F0502020204030204" pitchFamily="34" charset="0"/>
              </a:rPr>
              <a:t>Diazepam 5-10mg I.V. Thiopental 50 mg I.V until seizures cease</a:t>
            </a:r>
          </a:p>
          <a:p>
            <a:pPr>
              <a:buFont typeface="Wingdings" pitchFamily="2" charset="2"/>
              <a:buChar char="Ø"/>
            </a:pPr>
            <a:r>
              <a:rPr lang="en-US" sz="2800" dirty="0">
                <a:latin typeface="Calibri" panose="020F0502020204030204" pitchFamily="34" charset="0"/>
                <a:cs typeface="Calibri" panose="020F0502020204030204" pitchFamily="34" charset="0"/>
              </a:rPr>
              <a:t>Muscle relaxant</a:t>
            </a:r>
          </a:p>
          <a:p>
            <a:pPr lvl="1"/>
            <a:r>
              <a:rPr lang="en-US" sz="2900" dirty="0">
                <a:latin typeface="Calibri" panose="020F0502020204030204" pitchFamily="34" charset="0"/>
                <a:cs typeface="Calibri" panose="020F0502020204030204" pitchFamily="34" charset="0"/>
              </a:rPr>
              <a:t>Succinylcholine 1 mg/kg, if inadequate control of ventilation with above  measures (requires artificial ventilation and may necessitate intubation)</a:t>
            </a:r>
          </a:p>
          <a:p>
            <a:pPr>
              <a:buFont typeface="Wingdings" pitchFamily="2" charset="2"/>
              <a:buChar char="Ø"/>
            </a:pPr>
            <a:r>
              <a:rPr lang="en-US" sz="2800" dirty="0">
                <a:latin typeface="Calibri" panose="020F0502020204030204" pitchFamily="34" charset="0"/>
                <a:cs typeface="Calibri" panose="020F0502020204030204" pitchFamily="34" charset="0"/>
              </a:rPr>
              <a:t>CVS support</a:t>
            </a:r>
          </a:p>
          <a:p>
            <a:pPr lvl="1">
              <a:buFont typeface="Courier New" pitchFamily="49" charset="0"/>
              <a:buChar char="o"/>
            </a:pPr>
            <a:r>
              <a:rPr lang="en-US" sz="2300" dirty="0">
                <a:latin typeface="Calibri" panose="020F0502020204030204" pitchFamily="34" charset="0"/>
                <a:cs typeface="Calibri" panose="020F0502020204030204" pitchFamily="34" charset="0"/>
              </a:rPr>
              <a:t> </a:t>
            </a:r>
            <a:r>
              <a:rPr lang="en-US" sz="3400" dirty="0">
                <a:latin typeface="Calibri" panose="020F0502020204030204" pitchFamily="34" charset="0"/>
                <a:cs typeface="Calibri" panose="020F0502020204030204" pitchFamily="34" charset="0"/>
              </a:rPr>
              <a:t>Atropine 0.6 mg, I.V., if heart rate is decreased</a:t>
            </a:r>
          </a:p>
          <a:p>
            <a:pPr lvl="1">
              <a:buFont typeface="Courier New" pitchFamily="49" charset="0"/>
              <a:buChar char="o"/>
            </a:pPr>
            <a:r>
              <a:rPr lang="en-US" sz="3400" dirty="0">
                <a:latin typeface="Calibri" panose="020F0502020204030204" pitchFamily="34" charset="0"/>
                <a:cs typeface="Calibri" panose="020F0502020204030204" pitchFamily="34" charset="0"/>
              </a:rPr>
              <a:t> Ephedrine, 12.5-25 mg, I.V, to restore adequate blood pressure</a:t>
            </a:r>
          </a:p>
          <a:p>
            <a:pPr lvl="1">
              <a:buFont typeface="Courier New" pitchFamily="49" charset="0"/>
              <a:buChar char="o"/>
            </a:pPr>
            <a:r>
              <a:rPr lang="en-US" sz="3400" dirty="0">
                <a:latin typeface="Calibri" panose="020F0502020204030204" pitchFamily="34" charset="0"/>
                <a:cs typeface="Calibri" panose="020F0502020204030204" pitchFamily="34" charset="0"/>
              </a:rPr>
              <a:t>  Epinephrine for profound cardiovascular collapse</a:t>
            </a: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31468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sz="quarter" idx="1"/>
          </p:nvPr>
        </p:nvSpPr>
        <p:spPr/>
        <p:txBody>
          <a:bodyPr>
            <a:normAutofit/>
          </a:bodyPr>
          <a:lstStyle/>
          <a:p>
            <a:pPr algn="ctr">
              <a:buNone/>
            </a:pPr>
            <a:r>
              <a:rPr lang="en-US" sz="4000" dirty="0"/>
              <a:t>If Cardiac toxicity…Treatment</a:t>
            </a:r>
            <a:endParaRPr lang="en-US" dirty="0"/>
          </a:p>
          <a:p>
            <a:pPr>
              <a:lnSpc>
                <a:spcPct val="150000"/>
              </a:lnSpc>
              <a:buClr>
                <a:schemeClr val="tx2"/>
              </a:buClr>
              <a:buFont typeface="Wingdings" pitchFamily="2" charset="2"/>
              <a:buChar char="§"/>
            </a:pPr>
            <a:r>
              <a:rPr lang="en-US" sz="2800" dirty="0">
                <a:latin typeface="Arial" pitchFamily="34" charset="0"/>
              </a:rPr>
              <a:t>Follow </a:t>
            </a:r>
            <a:r>
              <a:rPr lang="en-US" sz="2800" dirty="0" err="1">
                <a:latin typeface="Arial" pitchFamily="34" charset="0"/>
              </a:rPr>
              <a:t>ACLS</a:t>
            </a:r>
            <a:r>
              <a:rPr lang="en-US" sz="2800" dirty="0">
                <a:latin typeface="Arial" pitchFamily="34" charset="0"/>
              </a:rPr>
              <a:t> guidelines</a:t>
            </a:r>
          </a:p>
          <a:p>
            <a:pPr lvl="1">
              <a:lnSpc>
                <a:spcPct val="150000"/>
              </a:lnSpc>
              <a:buClr>
                <a:schemeClr val="tx2"/>
              </a:buClr>
              <a:buFont typeface="Wingdings" pitchFamily="2" charset="2"/>
              <a:buChar char="§"/>
            </a:pPr>
            <a:r>
              <a:rPr lang="en-US" sz="2400" dirty="0">
                <a:latin typeface="Arial" pitchFamily="34" charset="0"/>
              </a:rPr>
              <a:t>Substitute amiodarone for lidocaine</a:t>
            </a:r>
          </a:p>
          <a:p>
            <a:pPr lvl="1">
              <a:lnSpc>
                <a:spcPct val="150000"/>
              </a:lnSpc>
              <a:buClr>
                <a:schemeClr val="tx2"/>
              </a:buClr>
              <a:buFont typeface="Wingdings" pitchFamily="2" charset="2"/>
              <a:buChar char="§"/>
            </a:pPr>
            <a:r>
              <a:rPr lang="en-US" sz="2400" dirty="0">
                <a:latin typeface="Arial" pitchFamily="34" charset="0"/>
              </a:rPr>
              <a:t>Substitute vasopressin for epinephrine</a:t>
            </a:r>
          </a:p>
          <a:p>
            <a:pPr>
              <a:lnSpc>
                <a:spcPct val="150000"/>
              </a:lnSpc>
              <a:buClr>
                <a:schemeClr val="tx2"/>
              </a:buClr>
              <a:buFont typeface="Wingdings" pitchFamily="2" charset="2"/>
              <a:buChar char="§"/>
            </a:pPr>
            <a:r>
              <a:rPr lang="en-US" sz="2800" dirty="0">
                <a:latin typeface="Arial" pitchFamily="34" charset="0"/>
              </a:rPr>
              <a:t>Consider lipid infusion if standard drugs fail</a:t>
            </a:r>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38721-B3CF-B771-5820-297D1BABE67B}"/>
              </a:ext>
            </a:extLst>
          </p:cNvPr>
          <p:cNvSpPr>
            <a:spLocks noGrp="1"/>
          </p:cNvSpPr>
          <p:nvPr>
            <p:ph type="title"/>
          </p:nvPr>
        </p:nvSpPr>
        <p:spPr/>
        <p:txBody>
          <a:bodyPr>
            <a:noAutofit/>
          </a:bodyPr>
          <a:lstStyle/>
          <a:p>
            <a:pPr marL="274320" marR="0" lvl="0" indent="-274320" algn="just" defTabSz="914400" rtl="0" eaLnBrk="1" fontAlgn="auto" latinLnBrk="0" hangingPunct="1">
              <a:lnSpc>
                <a:spcPct val="100000"/>
              </a:lnSpc>
              <a:spcBef>
                <a:spcPct val="20000"/>
              </a:spcBef>
              <a:spcAft>
                <a:spcPts val="0"/>
              </a:spcAft>
              <a:tabLst/>
              <a:defRPr/>
            </a:pPr>
            <a:b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b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b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Practice Advisory on Treatment of LAST</a:t>
            </a:r>
            <a:endParaRPr lang="en-US" sz="280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F1DCEA39-22CA-E90D-922F-3581706FCB26}"/>
              </a:ext>
            </a:extLst>
          </p:cNvPr>
          <p:cNvSpPr>
            <a:spLocks noGrp="1"/>
          </p:cNvSpPr>
          <p:nvPr>
            <p:ph sz="quarter" idx="1"/>
          </p:nvPr>
        </p:nvSpPr>
        <p:spPr/>
        <p:txBody>
          <a:bodyPr>
            <a:normAutofit fontScale="62500" lnSpcReduction="20000"/>
          </a:bodyPr>
          <a:lstStyle/>
          <a:p>
            <a:pPr>
              <a:buFont typeface="Wingdings" panose="05000000000000000000" pitchFamily="2" charset="2"/>
              <a:buChar char="q"/>
            </a:pPr>
            <a:r>
              <a:rPr lang="en-US" sz="3700" dirty="0">
                <a:latin typeface="Calibri" panose="020F0502020204030204" pitchFamily="34" charset="0"/>
                <a:cs typeface="Calibri" panose="020F0502020204030204" pitchFamily="34" charset="0"/>
              </a:rPr>
              <a:t>For Patients Experiencing Signs or Symptoms of LAST</a:t>
            </a:r>
          </a:p>
          <a:p>
            <a:pPr marL="0" indent="0">
              <a:buNone/>
            </a:pPr>
            <a:r>
              <a:rPr lang="en-US" dirty="0">
                <a:latin typeface="Calibri" panose="020F0502020204030204" pitchFamily="34" charset="0"/>
                <a:cs typeface="Calibri" panose="020F0502020204030204" pitchFamily="34" charset="0"/>
              </a:rPr>
              <a:t>1. </a:t>
            </a:r>
            <a:r>
              <a:rPr lang="en-US" sz="3400" dirty="0">
                <a:latin typeface="Calibri" panose="020F0502020204030204" pitchFamily="34" charset="0"/>
                <a:cs typeface="Calibri" panose="020F0502020204030204" pitchFamily="34" charset="0"/>
              </a:rPr>
              <a:t>Get help at the first signs of LAST</a:t>
            </a:r>
          </a:p>
          <a:p>
            <a:pPr marL="0" indent="0">
              <a:buNone/>
            </a:pPr>
            <a:r>
              <a:rPr lang="en-US" sz="3400" dirty="0">
                <a:latin typeface="Calibri" panose="020F0502020204030204" pitchFamily="34" charset="0"/>
                <a:cs typeface="Calibri" panose="020F0502020204030204" pitchFamily="34" charset="0"/>
              </a:rPr>
              <a:t>2. Airway management</a:t>
            </a:r>
          </a:p>
          <a:p>
            <a:pPr lvl="1"/>
            <a:r>
              <a:rPr lang="en-US" sz="3400" dirty="0">
                <a:latin typeface="Calibri" panose="020F0502020204030204" pitchFamily="34" charset="0"/>
                <a:cs typeface="Calibri" panose="020F0502020204030204" pitchFamily="34" charset="0"/>
              </a:rPr>
              <a:t>Secure airway and ventilate with 100% oxygen</a:t>
            </a:r>
          </a:p>
          <a:p>
            <a:pPr lvl="1"/>
            <a:r>
              <a:rPr lang="en-US" sz="3400" dirty="0">
                <a:latin typeface="Calibri" panose="020F0502020204030204" pitchFamily="34" charset="0"/>
                <a:cs typeface="Calibri" panose="020F0502020204030204" pitchFamily="34" charset="0"/>
              </a:rPr>
              <a:t>Prevent further exacerbation by avoiding hypoxia, hypercapnia, and acidosis</a:t>
            </a:r>
          </a:p>
          <a:p>
            <a:pPr marL="0" indent="0">
              <a:buNone/>
            </a:pPr>
            <a:r>
              <a:rPr lang="en-US" sz="3400" dirty="0">
                <a:latin typeface="Calibri" panose="020F0502020204030204" pitchFamily="34" charset="0"/>
                <a:cs typeface="Calibri" panose="020F0502020204030204" pitchFamily="34" charset="0"/>
              </a:rPr>
              <a:t>3. Administer 20% Lipid Emulsion</a:t>
            </a:r>
          </a:p>
          <a:p>
            <a:pPr lvl="1"/>
            <a:r>
              <a:rPr lang="en-US" sz="2900" dirty="0">
                <a:latin typeface="Calibri" panose="020F0502020204030204" pitchFamily="34" charset="0"/>
                <a:cs typeface="Calibri" panose="020F0502020204030204" pitchFamily="34" charset="0"/>
              </a:rPr>
              <a:t>Bolus over 2–3 min 100 mL for patients over 70 kg or 12 mL/kg for less than 70 kg</a:t>
            </a:r>
          </a:p>
          <a:p>
            <a:pPr lvl="1"/>
            <a:r>
              <a:rPr lang="en-US" sz="2900" dirty="0">
                <a:latin typeface="Calibri" panose="020F0502020204030204" pitchFamily="34" charset="0"/>
                <a:cs typeface="Calibri" panose="020F0502020204030204" pitchFamily="34" charset="0"/>
              </a:rPr>
              <a:t>Follow by infusion over 15–20 min 200–250 mL for patients over 70 kg or 0.25 mL/kg/min for patients less than 70 kg</a:t>
            </a:r>
          </a:p>
          <a:p>
            <a:pPr lvl="1"/>
            <a:r>
              <a:rPr lang="en-US" sz="2900" dirty="0">
                <a:latin typeface="Calibri" panose="020F0502020204030204" pitchFamily="34" charset="0"/>
                <a:cs typeface="Calibri" panose="020F0502020204030204" pitchFamily="34" charset="0"/>
              </a:rPr>
              <a:t>Consider repeating bolus and increasing the infusion to 0.5 mL/kg/min if cardiovascular instability continuous</a:t>
            </a:r>
          </a:p>
          <a:p>
            <a:pPr lvl="1"/>
            <a:r>
              <a:rPr lang="en-US" sz="2900" dirty="0">
                <a:latin typeface="Calibri" panose="020F0502020204030204" pitchFamily="34" charset="0"/>
                <a:cs typeface="Calibri" panose="020F0502020204030204" pitchFamily="34" charset="0"/>
              </a:rPr>
              <a:t>Maintain infusion for at least 10 min after restoration of circulatory stability</a:t>
            </a:r>
          </a:p>
          <a:p>
            <a:pPr lvl="1"/>
            <a:r>
              <a:rPr lang="en-US" sz="2900" dirty="0">
                <a:latin typeface="Calibri" panose="020F0502020204030204" pitchFamily="34" charset="0"/>
                <a:cs typeface="Calibri" panose="020F0502020204030204" pitchFamily="34" charset="0"/>
              </a:rPr>
              <a:t>Recommend 12 mL/kg lipid emulsion as the upper limit for initial dosing</a:t>
            </a:r>
          </a:p>
        </p:txBody>
      </p:sp>
    </p:spTree>
    <p:extLst>
      <p:ext uri="{BB962C8B-B14F-4D97-AF65-F5344CB8AC3E}">
        <p14:creationId xmlns:p14="http://schemas.microsoft.com/office/powerpoint/2010/main" val="11960251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D9E25-0F15-54A5-BE2C-9F180E2E479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Cont..</a:t>
            </a:r>
          </a:p>
        </p:txBody>
      </p:sp>
      <p:sp>
        <p:nvSpPr>
          <p:cNvPr id="3" name="Content Placeholder 2">
            <a:extLst>
              <a:ext uri="{FF2B5EF4-FFF2-40B4-BE49-F238E27FC236}">
                <a16:creationId xmlns:a16="http://schemas.microsoft.com/office/drawing/2014/main" id="{AC4F9880-641C-80E2-778E-843FC411DD60}"/>
              </a:ext>
            </a:extLst>
          </p:cNvPr>
          <p:cNvSpPr>
            <a:spLocks noGrp="1"/>
          </p:cNvSpPr>
          <p:nvPr>
            <p:ph sz="quarter" idx="1"/>
          </p:nvPr>
        </p:nvSpPr>
        <p:spPr/>
        <p:txBody>
          <a:bodyPr>
            <a:normAutofit fontScale="85000" lnSpcReduction="20000"/>
          </a:bodyPr>
          <a:lstStyle/>
          <a:p>
            <a:pPr marL="0" indent="0">
              <a:buNone/>
            </a:pPr>
            <a:r>
              <a:rPr lang="en-US" dirty="0">
                <a:latin typeface="Calibri" panose="020F0502020204030204" pitchFamily="34" charset="0"/>
                <a:cs typeface="Calibri" panose="020F0502020204030204" pitchFamily="34" charset="0"/>
              </a:rPr>
              <a:t>4. Seizure management</a:t>
            </a:r>
          </a:p>
          <a:p>
            <a:pPr lvl="1"/>
            <a:r>
              <a:rPr lang="en-US" dirty="0">
                <a:latin typeface="Calibri" panose="020F0502020204030204" pitchFamily="34" charset="0"/>
                <a:cs typeface="Calibri" panose="020F0502020204030204" pitchFamily="34" charset="0"/>
              </a:rPr>
              <a:t>Halt seizures with benzodiazepines</a:t>
            </a:r>
          </a:p>
          <a:p>
            <a:pPr lvl="1"/>
            <a:r>
              <a:rPr lang="en-US" dirty="0">
                <a:latin typeface="Calibri" panose="020F0502020204030204" pitchFamily="34" charset="0"/>
                <a:cs typeface="Calibri" panose="020F0502020204030204" pitchFamily="34" charset="0"/>
              </a:rPr>
              <a:t>Consider small dose of succinylcholine for intractable seizures to minimize acidosis and hypoxemia</a:t>
            </a:r>
          </a:p>
          <a:p>
            <a:r>
              <a:rPr lang="en-US" dirty="0">
                <a:latin typeface="Calibri" panose="020F0502020204030204" pitchFamily="34" charset="0"/>
                <a:cs typeface="Calibri" panose="020F0502020204030204" pitchFamily="34" charset="0"/>
              </a:rPr>
              <a:t>5. Cardiovascular resuscitations with modified advanced cardiac life support (ACLS) algorithm</a:t>
            </a:r>
          </a:p>
          <a:p>
            <a:pPr lvl="1"/>
            <a:r>
              <a:rPr lang="en-US" dirty="0">
                <a:latin typeface="Calibri" panose="020F0502020204030204" pitchFamily="34" charset="0"/>
                <a:cs typeface="Calibri" panose="020F0502020204030204" pitchFamily="34" charset="0"/>
              </a:rPr>
              <a:t>Administer small initial doses of epinephrine (less than 1 </a:t>
            </a:r>
            <a:r>
              <a:rPr lang="el-GR" dirty="0">
                <a:latin typeface="Calibri" panose="020F0502020204030204" pitchFamily="34" charset="0"/>
                <a:cs typeface="Calibri" panose="020F0502020204030204" pitchFamily="34" charset="0"/>
              </a:rPr>
              <a:t>μ</a:t>
            </a:r>
            <a:r>
              <a:rPr lang="en-US" dirty="0">
                <a:latin typeface="Calibri" panose="020F0502020204030204" pitchFamily="34" charset="0"/>
                <a:cs typeface="Calibri" panose="020F0502020204030204" pitchFamily="34" charset="0"/>
              </a:rPr>
              <a:t>g/kg)</a:t>
            </a:r>
          </a:p>
          <a:p>
            <a:pPr lvl="1"/>
            <a:r>
              <a:rPr lang="en-US" dirty="0">
                <a:latin typeface="Calibri" panose="020F0502020204030204" pitchFamily="34" charset="0"/>
                <a:cs typeface="Calibri" panose="020F0502020204030204" pitchFamily="34" charset="0"/>
              </a:rPr>
              <a:t>Recommend amiodarone for ventricular arrhythmias</a:t>
            </a:r>
          </a:p>
          <a:p>
            <a:pPr lvl="1"/>
            <a:r>
              <a:rPr lang="en-US" dirty="0">
                <a:latin typeface="Calibri" panose="020F0502020204030204" pitchFamily="34" charset="0"/>
                <a:cs typeface="Calibri" panose="020F0502020204030204" pitchFamily="34" charset="0"/>
              </a:rPr>
              <a:t>Avoid vasopressin, calcium channel blockers, beta blockers, or local anesthetics</a:t>
            </a:r>
          </a:p>
          <a:p>
            <a:r>
              <a:rPr lang="en-US" dirty="0">
                <a:latin typeface="Calibri" panose="020F0502020204030204" pitchFamily="34" charset="0"/>
                <a:cs typeface="Calibri" panose="020F0502020204030204" pitchFamily="34" charset="0"/>
              </a:rPr>
              <a:t>6. Alert the nearest facility having cardiopulmonary bypass capability if cardiac instability persists</a:t>
            </a:r>
          </a:p>
          <a:p>
            <a:r>
              <a:rPr lang="en-US" dirty="0">
                <a:latin typeface="Calibri" panose="020F0502020204030204" pitchFamily="34" charset="0"/>
                <a:cs typeface="Calibri" panose="020F0502020204030204" pitchFamily="34" charset="0"/>
              </a:rPr>
              <a:t>7. Continue to monitor for at least 2–6 h after the resolution of symptoms, </a:t>
            </a:r>
          </a:p>
          <a:p>
            <a:pPr lvl="1"/>
            <a:r>
              <a:rPr lang="en-US" sz="2400" dirty="0">
                <a:latin typeface="Calibri" panose="020F0502020204030204" pitchFamily="34" charset="0"/>
                <a:cs typeface="Calibri" panose="020F0502020204030204" pitchFamily="34" charset="0"/>
              </a:rPr>
              <a:t>especially for patients with significant cardiovascular morbidities</a:t>
            </a:r>
          </a:p>
          <a:p>
            <a:endParaRPr lang="en-US"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6A94B94-091C-E58A-675C-1F4438ECC9A2}"/>
              </a:ext>
            </a:extLst>
          </p:cNvPr>
          <p:cNvSpPr txBox="1"/>
          <p:nvPr/>
        </p:nvSpPr>
        <p:spPr>
          <a:xfrm>
            <a:off x="227076" y="6099048"/>
            <a:ext cx="8653272" cy="73866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r>
              <a:rPr lang="en-US" sz="1400" b="0" i="0" u="none" strike="noStrike" baseline="0" dirty="0">
                <a:solidFill>
                  <a:srgbClr val="002060"/>
                </a:solidFill>
                <a:latin typeface="Calibri" panose="020F0502020204030204" pitchFamily="34" charset="0"/>
                <a:cs typeface="Calibri" panose="020F0502020204030204" pitchFamily="34" charset="0"/>
              </a:rPr>
              <a:t>Adapted from Neal JM, Barrington MJ, </a:t>
            </a:r>
            <a:r>
              <a:rPr lang="en-US" sz="1400" b="0" i="0" u="none" strike="noStrike" baseline="0" dirty="0" err="1">
                <a:solidFill>
                  <a:srgbClr val="002060"/>
                </a:solidFill>
                <a:latin typeface="Calibri" panose="020F0502020204030204" pitchFamily="34" charset="0"/>
                <a:cs typeface="Calibri" panose="020F0502020204030204" pitchFamily="34" charset="0"/>
              </a:rPr>
              <a:t>Fettiplace</a:t>
            </a:r>
            <a:r>
              <a:rPr lang="en-US" sz="1400" b="0" i="0" u="none" strike="noStrike" baseline="0" dirty="0">
                <a:solidFill>
                  <a:srgbClr val="002060"/>
                </a:solidFill>
                <a:latin typeface="Calibri" panose="020F0502020204030204" pitchFamily="34" charset="0"/>
                <a:cs typeface="Calibri" panose="020F0502020204030204" pitchFamily="34" charset="0"/>
              </a:rPr>
              <a:t> MR, et al. The Third American Society of Regional Anesthesia and Pain Medicine practice advisory on local anesthetic systemic toxicity: Executive summary 2017. </a:t>
            </a:r>
            <a:r>
              <a:rPr lang="en-US" sz="1400" b="0" i="1" u="none" strike="noStrike" baseline="0" dirty="0">
                <a:solidFill>
                  <a:srgbClr val="002060"/>
                </a:solidFill>
                <a:latin typeface="Calibri" panose="020F0502020204030204" pitchFamily="34" charset="0"/>
                <a:cs typeface="Calibri" panose="020F0502020204030204" pitchFamily="34" charset="0"/>
              </a:rPr>
              <a:t>Reg </a:t>
            </a:r>
            <a:r>
              <a:rPr lang="en-US" sz="1400" b="0" i="1" u="none" strike="noStrike" baseline="0" dirty="0" err="1">
                <a:solidFill>
                  <a:srgbClr val="002060"/>
                </a:solidFill>
                <a:latin typeface="Calibri" panose="020F0502020204030204" pitchFamily="34" charset="0"/>
                <a:cs typeface="Calibri" panose="020F0502020204030204" pitchFamily="34" charset="0"/>
              </a:rPr>
              <a:t>Anesth</a:t>
            </a:r>
            <a:r>
              <a:rPr lang="en-US" sz="1400" b="0" i="1" u="none" strike="noStrike" baseline="0" dirty="0">
                <a:solidFill>
                  <a:srgbClr val="002060"/>
                </a:solidFill>
                <a:latin typeface="Calibri" panose="020F0502020204030204" pitchFamily="34" charset="0"/>
                <a:cs typeface="Calibri" panose="020F0502020204030204" pitchFamily="34" charset="0"/>
              </a:rPr>
              <a:t> Pain Med</a:t>
            </a:r>
            <a:r>
              <a:rPr lang="en-US" sz="1400" b="0" i="0" u="none" strike="noStrike" baseline="0" dirty="0">
                <a:solidFill>
                  <a:srgbClr val="002060"/>
                </a:solidFill>
                <a:latin typeface="Calibri" panose="020F0502020204030204" pitchFamily="34" charset="0"/>
                <a:cs typeface="Calibri" panose="020F0502020204030204" pitchFamily="34" charset="0"/>
              </a:rPr>
              <a:t>. 2018;43:113–123.</a:t>
            </a:r>
            <a:endParaRPr lang="en-US" sz="2400" dirty="0">
              <a:solidFill>
                <a:srgbClr val="00206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233263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EBF5D-E5D9-DEA3-9835-DC9F80173D64}"/>
              </a:ext>
            </a:extLst>
          </p:cNvPr>
          <p:cNvSpPr>
            <a:spLocks noGrp="1"/>
          </p:cNvSpPr>
          <p:nvPr>
            <p:ph type="title"/>
          </p:nvPr>
        </p:nvSpPr>
        <p:spPr/>
        <p:txBody>
          <a:bodyPr/>
          <a:lstStyle/>
          <a:p>
            <a:r>
              <a:rPr lang="en-US" dirty="0"/>
              <a:t>Summary </a:t>
            </a:r>
          </a:p>
        </p:txBody>
      </p:sp>
      <p:sp>
        <p:nvSpPr>
          <p:cNvPr id="3" name="Content Placeholder 2">
            <a:extLst>
              <a:ext uri="{FF2B5EF4-FFF2-40B4-BE49-F238E27FC236}">
                <a16:creationId xmlns:a16="http://schemas.microsoft.com/office/drawing/2014/main" id="{A5728078-4CC9-1C92-7E40-E0B5FC7E7D07}"/>
              </a:ext>
            </a:extLst>
          </p:cNvPr>
          <p:cNvSpPr>
            <a:spLocks noGrp="1"/>
          </p:cNvSpPr>
          <p:nvPr>
            <p:ph sz="quarter" idx="1"/>
          </p:nvPr>
        </p:nvSpPr>
        <p:spPr/>
        <p:txBody>
          <a:bodyPr>
            <a:normAutofit/>
          </a:bodyPr>
          <a:lstStyle/>
          <a:p>
            <a:r>
              <a:rPr lang="en-US" sz="2400" dirty="0">
                <a:latin typeface="Calibri" panose="020F0502020204030204" pitchFamily="34" charset="0"/>
                <a:cs typeface="Calibri" panose="020F0502020204030204" pitchFamily="34" charset="0"/>
              </a:rPr>
              <a:t>Optimal use of local anesthetics in regional anesthesia requires an understanding of </a:t>
            </a:r>
          </a:p>
          <a:p>
            <a:pPr marL="834390" lvl="2" indent="-285750">
              <a:buFont typeface="Wingdings" panose="05000000000000000000" pitchFamily="2" charset="2"/>
              <a:buChar char="ü"/>
            </a:pPr>
            <a:r>
              <a:rPr lang="en-US" sz="1700" dirty="0">
                <a:latin typeface="Calibri" panose="020F0502020204030204" pitchFamily="34" charset="0"/>
                <a:cs typeface="Calibri" panose="020F0502020204030204" pitchFamily="34" charset="0"/>
              </a:rPr>
              <a:t>(1) </a:t>
            </a:r>
            <a:r>
              <a:rPr lang="en-US" sz="2200" dirty="0">
                <a:latin typeface="Calibri" panose="020F0502020204030204" pitchFamily="34" charset="0"/>
                <a:cs typeface="Calibri" panose="020F0502020204030204" pitchFamily="34" charset="0"/>
              </a:rPr>
              <a:t>the individual patient’s clinical situation; </a:t>
            </a:r>
          </a:p>
          <a:p>
            <a:pPr marL="834390" lvl="2" indent="-285750">
              <a:buFont typeface="Wingdings" panose="05000000000000000000" pitchFamily="2" charset="2"/>
              <a:buChar char="ü"/>
            </a:pPr>
            <a:r>
              <a:rPr lang="en-US" sz="2200" dirty="0">
                <a:latin typeface="Calibri" panose="020F0502020204030204" pitchFamily="34" charset="0"/>
                <a:cs typeface="Calibri" panose="020F0502020204030204" pitchFamily="34" charset="0"/>
              </a:rPr>
              <a:t>(2) the location, intensity, and duration of regional anesthesia and analgesia required;</a:t>
            </a:r>
          </a:p>
          <a:p>
            <a:pPr marL="834390" lvl="2" indent="-285750">
              <a:buFont typeface="Wingdings" panose="05000000000000000000" pitchFamily="2" charset="2"/>
              <a:buChar char="ü"/>
            </a:pPr>
            <a:r>
              <a:rPr lang="en-US" sz="2200" dirty="0">
                <a:latin typeface="Calibri" panose="020F0502020204030204" pitchFamily="34" charset="0"/>
                <a:cs typeface="Calibri" panose="020F0502020204030204" pitchFamily="34" charset="0"/>
              </a:rPr>
              <a:t> (3) anatomic factors affecting deposition of drug near nerves;</a:t>
            </a:r>
          </a:p>
          <a:p>
            <a:pPr marL="834390" lvl="2" indent="-285750">
              <a:buFont typeface="Wingdings" panose="05000000000000000000" pitchFamily="2" charset="2"/>
              <a:buChar char="ü"/>
            </a:pPr>
            <a:r>
              <a:rPr lang="en-US" sz="2200" dirty="0">
                <a:latin typeface="Calibri" panose="020F0502020204030204" pitchFamily="34" charset="0"/>
                <a:cs typeface="Calibri" panose="020F0502020204030204" pitchFamily="34" charset="0"/>
              </a:rPr>
              <a:t> (4) proper drug selection and dosing; and</a:t>
            </a:r>
          </a:p>
          <a:p>
            <a:pPr marL="834390" lvl="2" indent="-285750">
              <a:buFont typeface="Wingdings" panose="05000000000000000000" pitchFamily="2" charset="2"/>
              <a:buChar char="ü"/>
            </a:pPr>
            <a:r>
              <a:rPr lang="en-US" sz="2200" dirty="0">
                <a:latin typeface="Calibri" panose="020F0502020204030204" pitchFamily="34" charset="0"/>
                <a:cs typeface="Calibri" panose="020F0502020204030204" pitchFamily="34" charset="0"/>
              </a:rPr>
              <a:t> (5) ongoing assessment of clinical effects after administration  </a:t>
            </a:r>
          </a:p>
        </p:txBody>
      </p:sp>
    </p:spTree>
    <p:extLst>
      <p:ext uri="{BB962C8B-B14F-4D97-AF65-F5344CB8AC3E}">
        <p14:creationId xmlns:p14="http://schemas.microsoft.com/office/powerpoint/2010/main" val="36820441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p>
        </p:txBody>
      </p:sp>
      <p:pic>
        <p:nvPicPr>
          <p:cNvPr id="2050" name="Picture 2" descr="C:\Users\dv6920-$849\Desktop\canstock9885190.jpg"/>
          <p:cNvPicPr>
            <a:picLocks noGrp="1" noChangeAspect="1" noChangeArrowheads="1"/>
          </p:cNvPicPr>
          <p:nvPr>
            <p:ph sz="quarter" idx="1"/>
          </p:nvPr>
        </p:nvPicPr>
        <p:blipFill>
          <a:blip r:embed="rId2" cstate="print"/>
          <a:srcRect/>
          <a:stretch>
            <a:fillRect/>
          </a:stretch>
        </p:blipFill>
        <p:spPr bwMode="auto">
          <a:xfrm>
            <a:off x="1295400" y="1717160"/>
            <a:ext cx="6477000" cy="3997840"/>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13189</TotalTime>
  <Words>7123</Words>
  <Application>Microsoft Office PowerPoint</Application>
  <PresentationFormat>On-screen Show (4:3)</PresentationFormat>
  <Paragraphs>781</Paragraphs>
  <Slides>86</Slides>
  <Notes>30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86</vt:i4>
      </vt:variant>
    </vt:vector>
  </HeadingPairs>
  <TitlesOfParts>
    <vt:vector size="98" baseType="lpstr">
      <vt:lpstr>Arial</vt:lpstr>
      <vt:lpstr>Calibri</vt:lpstr>
      <vt:lpstr>Courier New</vt:lpstr>
      <vt:lpstr>Georgia</vt:lpstr>
      <vt:lpstr>Photina MT</vt:lpstr>
      <vt:lpstr>Symbol</vt:lpstr>
      <vt:lpstr>Times New Roman</vt:lpstr>
      <vt:lpstr>TimesNewRomanPSMT</vt:lpstr>
      <vt:lpstr>TnQ</vt:lpstr>
      <vt:lpstr>Wingdings</vt:lpstr>
      <vt:lpstr>Wingdings 2</vt:lpstr>
      <vt:lpstr>Civic</vt:lpstr>
      <vt:lpstr>Local anesthetics</vt:lpstr>
      <vt:lpstr>Contents</vt:lpstr>
      <vt:lpstr>Introduction</vt:lpstr>
      <vt:lpstr>                Definition Of A Local Anaesthetic </vt:lpstr>
      <vt:lpstr>Mechanism  of  action  of  LAs</vt:lpstr>
      <vt:lpstr>Mechanism of action…. </vt:lpstr>
      <vt:lpstr>Mechanism of action…. </vt:lpstr>
      <vt:lpstr>Mechanism of action…. </vt:lpstr>
      <vt:lpstr>Mechanism of action…. </vt:lpstr>
      <vt:lpstr>Mechanism of action…. </vt:lpstr>
      <vt:lpstr>Mechanism of action…. </vt:lpstr>
      <vt:lpstr>Mechanism of action…. </vt:lpstr>
      <vt:lpstr>Inhibition of nerve fibers by LAs</vt:lpstr>
      <vt:lpstr>Cont.…. </vt:lpstr>
      <vt:lpstr>Cont.…. </vt:lpstr>
      <vt:lpstr>Essential characteristics of LAs</vt:lpstr>
      <vt:lpstr>        Clinical Use Of Local Anesthetics </vt:lpstr>
      <vt:lpstr>Classification of LAs</vt:lpstr>
      <vt:lpstr>Chemistry of LAs</vt:lpstr>
      <vt:lpstr>Cont.…</vt:lpstr>
      <vt:lpstr>Pharmacokinetics of LAs</vt:lpstr>
      <vt:lpstr>  Pharmacokinetics of LAs</vt:lpstr>
      <vt:lpstr>  Pharmacokinetics…</vt:lpstr>
      <vt:lpstr>  Pharmacokinetics…</vt:lpstr>
      <vt:lpstr>PowerPoint Presentation</vt:lpstr>
      <vt:lpstr>  Pharmacokinetics…</vt:lpstr>
      <vt:lpstr>  Pharmacokinetics…</vt:lpstr>
      <vt:lpstr>Cont..</vt:lpstr>
      <vt:lpstr>Comparison between ester and amide LAs</vt:lpstr>
      <vt:lpstr>                                     Drug Interactions </vt:lpstr>
      <vt:lpstr>Effects of medical conditions &amp; drugs on LA dosing &amp; kinetics</vt:lpstr>
      <vt:lpstr>Clinically important properties of LAs </vt:lpstr>
      <vt:lpstr>Cont.…</vt:lpstr>
      <vt:lpstr>Cont.…</vt:lpstr>
      <vt:lpstr>Specific local anesthetic agents</vt:lpstr>
      <vt:lpstr>Cont.…</vt:lpstr>
      <vt:lpstr>Cont.…</vt:lpstr>
      <vt:lpstr>Cont.…</vt:lpstr>
      <vt:lpstr>Summary of Common ester Local Anesthetics</vt:lpstr>
      <vt:lpstr>B. Amino Amide agents</vt:lpstr>
      <vt:lpstr>Cont.…</vt:lpstr>
      <vt:lpstr>Cont.…</vt:lpstr>
      <vt:lpstr>Cont.…</vt:lpstr>
      <vt:lpstr>Cont.…</vt:lpstr>
      <vt:lpstr>Cont.…</vt:lpstr>
      <vt:lpstr>Cont.…</vt:lpstr>
      <vt:lpstr>Cont.…</vt:lpstr>
      <vt:lpstr>Cont.…</vt:lpstr>
      <vt:lpstr>Cont.…</vt:lpstr>
      <vt:lpstr>Cont.…</vt:lpstr>
      <vt:lpstr>Cont.…</vt:lpstr>
      <vt:lpstr>Methemoglobinemia  </vt:lpstr>
      <vt:lpstr>Cont.…</vt:lpstr>
      <vt:lpstr>Signs and Symptoms of Methemoglobinemia</vt:lpstr>
      <vt:lpstr> </vt:lpstr>
      <vt:lpstr> Treatment </vt:lpstr>
      <vt:lpstr>FACTORS INFLUENCING LAs ACTIVITY</vt:lpstr>
      <vt:lpstr>Cont..</vt:lpstr>
      <vt:lpstr>Cont..</vt:lpstr>
      <vt:lpstr>Cont..</vt:lpstr>
      <vt:lpstr>Cont..</vt:lpstr>
      <vt:lpstr>Cont..</vt:lpstr>
      <vt:lpstr>Cont.…</vt:lpstr>
      <vt:lpstr>Local Anesthetic Toxicity</vt:lpstr>
      <vt:lpstr>Local Anesthetic Toxicity</vt:lpstr>
      <vt:lpstr>LAs toxicity…</vt:lpstr>
      <vt:lpstr>PowerPoint Presentation</vt:lpstr>
      <vt:lpstr>Central Nervous System (CNS) Toxicity</vt:lpstr>
      <vt:lpstr>CNS toxicity…</vt:lpstr>
      <vt:lpstr>CNS toxicity…</vt:lpstr>
      <vt:lpstr>CNS toxicity…</vt:lpstr>
      <vt:lpstr>CNS toxicity…</vt:lpstr>
      <vt:lpstr>CNS toxicity…</vt:lpstr>
      <vt:lpstr>   Cardiovascular system toxicity</vt:lpstr>
      <vt:lpstr>Cont.…</vt:lpstr>
      <vt:lpstr>Cont.…</vt:lpstr>
      <vt:lpstr>Prevention and Treatment of LAST</vt:lpstr>
      <vt:lpstr> Prevention of LAST…</vt:lpstr>
      <vt:lpstr>Treatment of Systemic Toxicity from LAs</vt:lpstr>
      <vt:lpstr>Cont.…</vt:lpstr>
      <vt:lpstr>Cont.…</vt:lpstr>
      <vt:lpstr>Cont.…</vt:lpstr>
      <vt:lpstr>   Practice Advisory on Treatment of LAST</vt:lpstr>
      <vt:lpstr>Cont..</vt:lpstr>
      <vt:lpstr>Summary </vt:lpstr>
      <vt:lpstr>`</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 anesthetics</dc:title>
  <dc:creator>dv6920-$849</dc:creator>
  <cp:lastModifiedBy>Mulualem Sitot</cp:lastModifiedBy>
  <cp:revision>351</cp:revision>
  <dcterms:created xsi:type="dcterms:W3CDTF">2012-10-30T12:23:20Z</dcterms:created>
  <dcterms:modified xsi:type="dcterms:W3CDTF">2024-03-24T09:17:28Z</dcterms:modified>
</cp:coreProperties>
</file>