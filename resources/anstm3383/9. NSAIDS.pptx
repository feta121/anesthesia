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45"/>
  </p:notesMasterIdLst>
  <p:sldIdLst>
    <p:sldId id="263" r:id="rId2"/>
    <p:sldId id="262" r:id="rId3"/>
    <p:sldId id="261" r:id="rId4"/>
    <p:sldId id="319" r:id="rId5"/>
    <p:sldId id="413" r:id="rId6"/>
    <p:sldId id="318" r:id="rId7"/>
    <p:sldId id="316" r:id="rId8"/>
    <p:sldId id="315" r:id="rId9"/>
    <p:sldId id="317" r:id="rId10"/>
    <p:sldId id="372" r:id="rId11"/>
    <p:sldId id="310" r:id="rId12"/>
    <p:sldId id="308" r:id="rId13"/>
    <p:sldId id="307" r:id="rId14"/>
    <p:sldId id="306" r:id="rId15"/>
    <p:sldId id="305" r:id="rId16"/>
    <p:sldId id="304" r:id="rId17"/>
    <p:sldId id="303" r:id="rId18"/>
    <p:sldId id="302" r:id="rId19"/>
    <p:sldId id="301" r:id="rId20"/>
    <p:sldId id="300" r:id="rId21"/>
    <p:sldId id="408" r:id="rId22"/>
    <p:sldId id="299" r:id="rId23"/>
    <p:sldId id="298" r:id="rId24"/>
    <p:sldId id="297" r:id="rId25"/>
    <p:sldId id="296" r:id="rId26"/>
    <p:sldId id="409" r:id="rId27"/>
    <p:sldId id="295" r:id="rId28"/>
    <p:sldId id="294" r:id="rId29"/>
    <p:sldId id="414" r:id="rId30"/>
    <p:sldId id="415" r:id="rId31"/>
    <p:sldId id="293" r:id="rId32"/>
    <p:sldId id="400" r:id="rId33"/>
    <p:sldId id="401" r:id="rId34"/>
    <p:sldId id="407" r:id="rId35"/>
    <p:sldId id="410" r:id="rId36"/>
    <p:sldId id="411" r:id="rId37"/>
    <p:sldId id="412" r:id="rId38"/>
    <p:sldId id="402" r:id="rId39"/>
    <p:sldId id="418" r:id="rId40"/>
    <p:sldId id="404" r:id="rId41"/>
    <p:sldId id="405" r:id="rId42"/>
    <p:sldId id="373" r:id="rId43"/>
    <p:sldId id="417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24" autoAdjust="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3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B21E1-3236-4B71-AB30-9AA3BF92E464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0AED0-68E6-472B-81B2-4A9ED5CD55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44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MinionPro-Regular"/>
              </a:rPr>
              <a:t>COX-1 inhibition decreases thrombosis, selective COX-2 inhibition increases the risk of heart attack, thrombosis, and stroke.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0AED0-68E6-472B-81B2-4A9ED5CD552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35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5FFF7A-6070-4C8F-9F0F-A8D9EAD017F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615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MinionPro-Regular"/>
              </a:rPr>
              <a:t>Agents that inhibit COX non-selectively (e.g., aspirin) will control fever, inflammation, pain, and thrombosis.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0AED0-68E6-472B-81B2-4A9ED5CD552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4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</a:t>
            </a:r>
            <a:r>
              <a:rPr lang="en-US" b="1" dirty="0"/>
              <a:t>half</a:t>
            </a:r>
            <a:r>
              <a:rPr lang="en-US" dirty="0"/>
              <a:t>-</a:t>
            </a:r>
            <a:r>
              <a:rPr lang="en-US" b="1" dirty="0"/>
              <a:t>life</a:t>
            </a:r>
            <a:r>
              <a:rPr lang="en-US" dirty="0"/>
              <a:t> of a drug </a:t>
            </a:r>
            <a:r>
              <a:rPr lang="en-US" b="1" dirty="0"/>
              <a:t>is the</a:t>
            </a:r>
            <a:r>
              <a:rPr lang="en-US" dirty="0"/>
              <a:t> time it takes for the amount of a drug's active substance in your body to reduce by </a:t>
            </a:r>
            <a:r>
              <a:rPr lang="en-US" b="1" dirty="0"/>
              <a:t>half</a:t>
            </a:r>
            <a:r>
              <a:rPr lang="en-US" dirty="0"/>
              <a:t>. </a:t>
            </a:r>
            <a:r>
              <a:rPr lang="en-US" i="1" dirty="0"/>
              <a:t>Half</a:t>
            </a:r>
            <a:r>
              <a:rPr lang="en-US" dirty="0"/>
              <a:t>-</a:t>
            </a:r>
            <a:r>
              <a:rPr lang="en-US" i="1" dirty="0"/>
              <a:t>life</a:t>
            </a:r>
            <a:r>
              <a:rPr lang="en-US" dirty="0"/>
              <a:t> (symbol t1⁄2) is the time required for a quantity to reduce to half of its initial value. No matter what dosage of a drug you're on, or how long you've been taking it for, its </a:t>
            </a:r>
            <a:r>
              <a:rPr lang="en-US" b="1" dirty="0"/>
              <a:t>half</a:t>
            </a:r>
            <a:r>
              <a:rPr lang="en-US" dirty="0"/>
              <a:t>-</a:t>
            </a:r>
            <a:r>
              <a:rPr lang="en-US" b="1" dirty="0"/>
              <a:t>life</a:t>
            </a:r>
            <a:r>
              <a:rPr lang="en-US" dirty="0"/>
              <a:t> is always the same.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0AED0-68E6-472B-81B2-4A9ED5CD552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16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80F0B9E-DF9B-40C1-8A3B-727EDB798B82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A24A77-5E7E-4AFE-AC50-42328A6EFB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0B9E-DF9B-40C1-8A3B-727EDB798B82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0A24A77-5E7E-4AFE-AC50-42328A6EFB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0B9E-DF9B-40C1-8A3B-727EDB798B82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50A24A77-5E7E-4AFE-AC50-42328A6EFB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80F0B9E-DF9B-40C1-8A3B-727EDB798B82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0A24A77-5E7E-4AFE-AC50-42328A6EFB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80F0B9E-DF9B-40C1-8A3B-727EDB798B82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0A24A77-5E7E-4AFE-AC50-42328A6EFB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0B9E-DF9B-40C1-8A3B-727EDB798B82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0A24A77-5E7E-4AFE-AC50-42328A6EFB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0B9E-DF9B-40C1-8A3B-727EDB798B82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A24A77-5E7E-4AFE-AC50-42328A6EFB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0B9E-DF9B-40C1-8A3B-727EDB798B82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0A24A77-5E7E-4AFE-AC50-42328A6EFB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80F0B9E-DF9B-40C1-8A3B-727EDB798B82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50A24A77-5E7E-4AFE-AC50-42328A6EFB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0B9E-DF9B-40C1-8A3B-727EDB798B82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4A77-5E7E-4AFE-AC50-42328A6EFB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80F0B9E-DF9B-40C1-8A3B-727EDB798B82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50A24A77-5E7E-4AFE-AC50-42328A6EFB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80F0B9E-DF9B-40C1-8A3B-727EDB798B82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0A24A77-5E7E-4AFE-AC50-42328A6EFB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86800" cy="5029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Non-steroidal anti-inflammatory drugs</a:t>
            </a:r>
          </a:p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Cyclooxygenase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Inhibitors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5138738"/>
            <a:ext cx="8596313" cy="1109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461248" cy="4876800"/>
          </a:xfrm>
        </p:spPr>
        <p:txBody>
          <a:bodyPr>
            <a:normAutofit/>
          </a:bodyPr>
          <a:lstStyle/>
          <a:p>
            <a:pPr>
              <a:buClrTx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NSAIDs are among the most commonly used drugs because of their</a:t>
            </a:r>
          </a:p>
          <a:p>
            <a:pPr lvl="1">
              <a:buClrTx/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anti-inflammatory, </a:t>
            </a:r>
          </a:p>
          <a:p>
            <a:pPr lvl="1">
              <a:buClrTx/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analgesic, and antipyretic effects. </a:t>
            </a:r>
          </a:p>
          <a:p>
            <a:pPr>
              <a:buClrTx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They are used widely to treat mild to moderate perioperative pain.</a:t>
            </a:r>
          </a:p>
          <a:p>
            <a:pPr>
              <a:buClrTx/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They also reduce opioid consumption in the perioperative period.</a:t>
            </a:r>
          </a:p>
          <a:p>
            <a:pPr>
              <a:buClrTx/>
              <a:buFont typeface="Arial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addition, they are opioid-sparing and can significantly decrease the incidence of opioid-related side effects </a:t>
            </a:r>
          </a:p>
          <a:p>
            <a:pPr lvl="1">
              <a:buClrTx/>
              <a:buFont typeface="Arial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such as postoperative nausea and vomiting and sedation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Cont.…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610600" cy="5029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Inflammatory Process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 normal, beneficial process that begins immediately after injury 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facilitate repair and return the tissue to normal function.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Initiated by stimulus including 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physical trauma, radiation, chemicals, heat, infection, and hypersensitivity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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</a:t>
            </a:r>
            <a:r>
              <a:rPr lang="en-US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auses the release of chemical mediators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cont…..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86800" cy="5029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Chemical mediators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Definition:  are compounds released by one cell type that attach to the receptor of a second cell type to affect the response by that second cell Contained in mast cells and basophils.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Histamine- increases vascular permeability, increases blood flow to injured area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prostaglandins- pain response and vascular permeability.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Phagocytes- neutrophils and macrophages remove debris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Serotonin- increases capillary blood flow and vascular permeability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70A0-4FE0-15A7-E537-1E579DB96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Cont.…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F568C-BEF5-0D05-0A28-C35C4114E4C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Peripherally, prostaglandins do not directly mediate pain; rather, they contribute to hyperalgesia </a:t>
            </a:r>
          </a:p>
          <a:p>
            <a:pPr lvl="1"/>
            <a:r>
              <a:rPr lang="en-US" dirty="0"/>
              <a:t>by sensitizing nociceptors to other mediators of pain sensation such as histamine and bradykinin.</a:t>
            </a:r>
          </a:p>
          <a:p>
            <a:r>
              <a:rPr lang="en-US" dirty="0"/>
              <a:t> Centrally, prostaglandins enhance pain transmission at the level of the dorsal horn by</a:t>
            </a:r>
          </a:p>
          <a:p>
            <a:pPr lvl="1"/>
            <a:r>
              <a:rPr lang="en-US" dirty="0"/>
              <a:t> (1) increasing the release of substance P and glutamate from first-order pain neurons,</a:t>
            </a:r>
          </a:p>
          <a:p>
            <a:pPr lvl="1"/>
            <a:r>
              <a:rPr lang="en-US" dirty="0"/>
              <a:t> (2) increasing the sensitivity of second-order pain neurons, and </a:t>
            </a:r>
          </a:p>
          <a:p>
            <a:pPr lvl="1"/>
            <a:r>
              <a:rPr lang="en-US" dirty="0"/>
              <a:t>by inhibiting the release of neurotransmitters from the descending pain-modulating pathways.</a:t>
            </a:r>
          </a:p>
        </p:txBody>
      </p:sp>
    </p:spTree>
    <p:extLst>
      <p:ext uri="{BB962C8B-B14F-4D97-AF65-F5344CB8AC3E}">
        <p14:creationId xmlns:p14="http://schemas.microsoft.com/office/powerpoint/2010/main" val="317288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Mechanism of action of NSAIDS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228600" y="1524000"/>
            <a:ext cx="8686800" cy="51054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NSAIDS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inhibit the enzyme cyclooxygenase (COX)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types 1 and 2, which convert arachidonic acid to prostaglandins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thereby preventing the production of both prostaglandins (including prostacyclin) and thromboxanes from membrane phospholipids.</a:t>
            </a:r>
          </a:p>
          <a:p>
            <a:pPr marL="0" indent="0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763000" cy="5029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Arachidonic acid is an unsaturated fatty acid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that is the substrate for the production of compounds (metabolites) that contribute to the inflammatory response.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Arachidonic acid contributes to symptoms of inflammation, including redness, swelling, and pain.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461248" cy="5029200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COX-1- produced in most tissues at a stable rate.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COX-1 receptors are widely distributed throughout the body, including the gut and platelets.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 has general "house-keeping" functions such as gastric protection and hemostasis.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COX-2 is produced in response to pain, inflammation, fever, and carcinogenesis 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Thus, NSAIDs primarily inhibit COX-2 rather than both isoforms.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Non-selective NSAIDs inhibits both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COX-1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COX-2 reversibly.</a:t>
            </a:r>
          </a:p>
          <a:p>
            <a:pPr lvl="1"/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Agents that inhibit COX non-selectively (e.g., aspirin) will control fever, inflammation, pain, and thrombosis.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Selective NSAIDs inhibits only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COX-2 reversibly.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COX pathway leads to the production of TX, PG.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Cont…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2" descr="http://www.australianprescriber.com/upload/issue_files/2302_360_1.gif"/>
          <p:cNvPicPr>
            <a:picLocks noChangeAspect="1" noChangeArrowheads="1"/>
          </p:cNvPicPr>
          <p:nvPr/>
        </p:nvPicPr>
        <p:blipFill>
          <a:blip r:embed="rId2" cstate="print"/>
          <a:srcRect b="16931"/>
          <a:stretch>
            <a:fillRect/>
          </a:stretch>
        </p:blipFill>
        <p:spPr bwMode="auto">
          <a:xfrm>
            <a:off x="380999" y="1752600"/>
            <a:ext cx="8610601" cy="4876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8EE32BA-889C-4753-BCF4-869772F302D4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635300" y="591222"/>
            <a:ext cx="37264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 dirty="0">
                <a:latin typeface="Agency FB" panose="020B0503020202020204" pitchFamily="34" charset="0"/>
              </a:rPr>
              <a:t>Cell Membrane Phospholipids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275856" y="2472410"/>
            <a:ext cx="2143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800" dirty="0" err="1">
                <a:latin typeface="Agency FB" panose="020B0503020202020204" pitchFamily="34" charset="0"/>
              </a:rPr>
              <a:t>Arachidonic</a:t>
            </a:r>
            <a:r>
              <a:rPr lang="en-US" sz="2800" dirty="0">
                <a:latin typeface="Agency FB" panose="020B0503020202020204" pitchFamily="34" charset="0"/>
              </a:rPr>
              <a:t> Acid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844851" y="4359390"/>
            <a:ext cx="31157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800" dirty="0">
                <a:latin typeface="Agency FB" panose="020B0503020202020204" pitchFamily="34" charset="0"/>
              </a:rPr>
              <a:t>Prostaglandin H2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533973" y="5173044"/>
            <a:ext cx="18041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800" dirty="0">
                <a:latin typeface="Agency FB" panose="020B0503020202020204" pitchFamily="34" charset="0"/>
              </a:rPr>
              <a:t>Thromboxane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2609447" y="5744544"/>
            <a:ext cx="18890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800" dirty="0">
                <a:latin typeface="Agency FB" panose="020B0503020202020204" pitchFamily="34" charset="0"/>
              </a:rPr>
              <a:t>Prostaglandins</a:t>
            </a: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731396" y="5760210"/>
            <a:ext cx="18218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800" dirty="0">
                <a:latin typeface="Agency FB" panose="020B0503020202020204" pitchFamily="34" charset="0"/>
              </a:rPr>
              <a:t>Prostacyclin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5668126" y="5063342"/>
            <a:ext cx="29809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800" dirty="0">
                <a:latin typeface="Agency FB" panose="020B0503020202020204" pitchFamily="34" charset="0"/>
              </a:rPr>
              <a:t>Toxic Oxygen Radicals</a:t>
            </a:r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>
            <a:off x="4096196" y="1099223"/>
            <a:ext cx="0" cy="1452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Agency FB" panose="020B0503020202020204" pitchFamily="34" charset="0"/>
            </a:endParaRPr>
          </a:p>
        </p:txBody>
      </p:sp>
      <p:sp>
        <p:nvSpPr>
          <p:cNvPr id="16" name="Line 10"/>
          <p:cNvSpPr>
            <a:spLocks noChangeShapeType="1"/>
          </p:cNvSpPr>
          <p:nvPr/>
        </p:nvSpPr>
        <p:spPr bwMode="auto">
          <a:xfrm>
            <a:off x="4085481" y="3131222"/>
            <a:ext cx="0" cy="132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Agency FB" panose="020B0503020202020204" pitchFamily="34" charset="0"/>
            </a:endParaRPr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 flipH="1" flipV="1">
            <a:off x="4390280" y="3742409"/>
            <a:ext cx="1112346" cy="517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Agency FB" panose="020B0503020202020204" pitchFamily="34" charset="0"/>
            </a:endParaRPr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5459618" y="3443151"/>
            <a:ext cx="3115703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800" dirty="0">
                <a:latin typeface="Agency FB" panose="020B0503020202020204" pitchFamily="34" charset="0"/>
              </a:rPr>
              <a:t>Cyclooxygenase (COX) or </a:t>
            </a:r>
          </a:p>
          <a:p>
            <a:r>
              <a:rPr lang="en-US" sz="2800" dirty="0">
                <a:latin typeface="Agency FB" panose="020B0503020202020204" pitchFamily="34" charset="0"/>
              </a:rPr>
              <a:t> prostaglandin H2</a:t>
            </a:r>
          </a:p>
          <a:p>
            <a:r>
              <a:rPr lang="en-US" sz="2800" dirty="0">
                <a:latin typeface="Agency FB" panose="020B0503020202020204" pitchFamily="34" charset="0"/>
              </a:rPr>
              <a:t>[PGH2] synthetases)</a:t>
            </a:r>
          </a:p>
        </p:txBody>
      </p:sp>
      <p:sp>
        <p:nvSpPr>
          <p:cNvPr id="20" name="Line 14"/>
          <p:cNvSpPr>
            <a:spLocks noChangeShapeType="1"/>
          </p:cNvSpPr>
          <p:nvPr/>
        </p:nvSpPr>
        <p:spPr bwMode="auto">
          <a:xfrm flipH="1">
            <a:off x="4216451" y="1767560"/>
            <a:ext cx="124316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Agency FB" panose="020B0503020202020204" pitchFamily="34" charset="0"/>
            </a:endParaRPr>
          </a:p>
        </p:txBody>
      </p:sp>
      <p:sp>
        <p:nvSpPr>
          <p:cNvPr id="21" name="Text Box 15"/>
          <p:cNvSpPr txBox="1">
            <a:spLocks noChangeArrowheads="1"/>
          </p:cNvSpPr>
          <p:nvPr/>
        </p:nvSpPr>
        <p:spPr bwMode="auto">
          <a:xfrm>
            <a:off x="5502628" y="1446768"/>
            <a:ext cx="24983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800" dirty="0">
                <a:latin typeface="Agency FB" panose="020B0503020202020204" pitchFamily="34" charset="0"/>
              </a:rPr>
              <a:t>Phospholipase A2</a:t>
            </a:r>
          </a:p>
        </p:txBody>
      </p:sp>
      <p:sp>
        <p:nvSpPr>
          <p:cNvPr id="22" name="Text Box 16"/>
          <p:cNvSpPr txBox="1">
            <a:spLocks noChangeArrowheads="1"/>
          </p:cNvSpPr>
          <p:nvPr/>
        </p:nvSpPr>
        <p:spPr bwMode="auto">
          <a:xfrm>
            <a:off x="3399663" y="76411"/>
            <a:ext cx="23717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3200" dirty="0">
                <a:solidFill>
                  <a:srgbClr val="FF0000"/>
                </a:solidFill>
                <a:latin typeface="Agency FB" panose="020B0503020202020204" pitchFamily="34" charset="0"/>
              </a:rPr>
              <a:t>Tissue Trauma</a:t>
            </a:r>
          </a:p>
        </p:txBody>
      </p:sp>
      <p:sp>
        <p:nvSpPr>
          <p:cNvPr id="23" name="Line 17"/>
          <p:cNvSpPr>
            <a:spLocks noChangeShapeType="1"/>
          </p:cNvSpPr>
          <p:nvPr/>
        </p:nvSpPr>
        <p:spPr bwMode="auto">
          <a:xfrm flipH="1">
            <a:off x="2844850" y="4815859"/>
            <a:ext cx="447457" cy="434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Agency FB" panose="020B0503020202020204" pitchFamily="34" charset="0"/>
            </a:endParaRPr>
          </a:p>
        </p:txBody>
      </p:sp>
      <p:sp>
        <p:nvSpPr>
          <p:cNvPr id="24" name="Line 18"/>
          <p:cNvSpPr>
            <a:spLocks noChangeShapeType="1"/>
          </p:cNvSpPr>
          <p:nvPr/>
        </p:nvSpPr>
        <p:spPr bwMode="auto">
          <a:xfrm flipH="1">
            <a:off x="3486597" y="4946032"/>
            <a:ext cx="262508" cy="79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Agency FB" panose="020B0503020202020204" pitchFamily="34" charset="0"/>
            </a:endParaRPr>
          </a:p>
        </p:txBody>
      </p:sp>
      <p:sp>
        <p:nvSpPr>
          <p:cNvPr id="25" name="Line 19"/>
          <p:cNvSpPr>
            <a:spLocks noChangeShapeType="1"/>
          </p:cNvSpPr>
          <p:nvPr/>
        </p:nvSpPr>
        <p:spPr bwMode="auto">
          <a:xfrm>
            <a:off x="4216451" y="4917457"/>
            <a:ext cx="566778" cy="768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Agency FB" panose="020B0503020202020204" pitchFamily="34" charset="0"/>
            </a:endParaRPr>
          </a:p>
        </p:txBody>
      </p:sp>
      <p:sp>
        <p:nvSpPr>
          <p:cNvPr id="26" name="Line 20"/>
          <p:cNvSpPr>
            <a:spLocks noChangeShapeType="1"/>
          </p:cNvSpPr>
          <p:nvPr/>
        </p:nvSpPr>
        <p:spPr bwMode="auto">
          <a:xfrm>
            <a:off x="4815335" y="4801569"/>
            <a:ext cx="687293" cy="319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186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Effects of NSAIDS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610600" cy="50292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Gastrointestinal tract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Gastric irritation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Prostaglandins have a ‘gastro-protective effect’ in that</a:t>
            </a:r>
          </a:p>
          <a:p>
            <a:pPr lvl="1">
              <a:buFont typeface="Wingdings" pitchFamily="2" charset="2"/>
              <a:buChar char="ü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they decrease gastric acid production, 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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production of the protective gastric mucosal barrier and 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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local gastric mucosal blood flow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Thus, NSAIDS by decreasing prostaglandin production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therefore, results in damage to the gastric mucosa.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Cont…</a:t>
            </a:r>
            <a:br>
              <a:rPr lang="en-US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81000" y="1600200"/>
            <a:ext cx="8610600" cy="49530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Intestinal erosions not limited to the stomach are commonly encountered during prolonged administration of NSAIDs.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COX-2 selective NSAIDs have been shown to be associated with a lower incidence of upper GI side effects.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610600" cy="510540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Arial" panose="020B0604020202020204" pitchFamily="34" charset="0"/>
                <a:cs typeface="Arial" panose="020B0604020202020204" pitchFamily="34" charset="0"/>
              </a:rPr>
              <a:t>Renal</a:t>
            </a:r>
            <a:endParaRPr lang="en-US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Renally produced prostaglandins (PGE2 and PGI2) are essential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maintaining adequate renal perfusion when the level of circulating vasoconstrictors (rennin, angiotensin, noradrenaline) is high.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patients with heart failure, chronic renal failure and/or hypovolemia,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renal blood flow is much more dependent on prostaglandin-induced vasodilatation than it would be in a healthy person.</a:t>
            </a:r>
          </a:p>
          <a:p>
            <a:pPr lvl="2"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a result of this, NSAID induced reduction in prostaglandin levels can precipitate acute renal failure.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10600" cy="5029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inhibition of the prostaglandins normally inhibiting anti-diuretic hormone production leads to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increased sodium and water retention with the risk of oedema and/or hypertension.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Aspirin and other NSAIDs may alter this delicate balance by inhibiting prostaglandins production, reducing renal perfusion and potentially leading to acute renal failure.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Consequently, all NSAIDs are contraindicated in patients with heart failure.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461248" cy="4953000"/>
          </a:xfrm>
        </p:spPr>
        <p:txBody>
          <a:bodyPr>
            <a:normAutofit/>
          </a:bodyPr>
          <a:lstStyle/>
          <a:p>
            <a:r>
              <a:rPr 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Platelets</a:t>
            </a:r>
            <a:endParaRPr lang="en-US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Impaired platelet function (reduced aggregation).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as a result of decreased thromboxane A2 (TXA2) production.</a:t>
            </a:r>
          </a:p>
          <a:p>
            <a:pPr lvl="2" algn="just">
              <a:buFont typeface="Wingdings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TXA2 is present in large amounts in activated platelets and acts locally as a chemo-attractant for other platelets, leads to the formation of a platelet plug and induces localized vasoconstriction.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reduced production of thromboxanes  A2 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prevents platelet aggregation and vasoconstriction and, therefore, inhibits the haemostatic process.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461248" cy="49530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While altered platelet function may be advantageous in certain circumstances 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acute myocardial infarction and prevention of stroke, during the peri-operative period it may cause increased blood loss.</a:t>
            </a:r>
          </a:p>
          <a:p>
            <a:pPr marL="0" indent="0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461248" cy="5029200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effects of aspirin on platelets last for the life span of the platelet for two reasons: </a:t>
            </a:r>
          </a:p>
          <a:p>
            <a:pPr marL="834390" lvl="1" indent="-514350" algn="just">
              <a:buFont typeface="+mj-lt"/>
              <a:buAutoNum type="romanU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platelets are unable to generate new cyclooxygenase and</a:t>
            </a:r>
          </a:p>
          <a:p>
            <a:pPr marL="834390" lvl="1" indent="-514350" algn="just">
              <a:buFont typeface="+mj-lt"/>
              <a:buAutoNum type="romanU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the enzyme inhibition is irreversible. 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Up to 14 days are required to generate new platelets.</a:t>
            </a:r>
          </a:p>
          <a:p>
            <a:pPr lvl="1" algn="just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It is for this reason that aspirin must be discontinued for a week prior to elective surgery.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COX-2 inhibition has no effect on platelet function even at high doses.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86800" cy="5029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Cardiovascular system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COX inhibitors do not act directly on the cardiovascular system.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Any cardiovascular effects result from the actions of these agents on coagulation.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Prostaglandins maintain the patency of the ductus arteriosus,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thus, prostaglandin inhibitors have been administered to neonates to promote closure of a persistently patent ductus arteriosus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Respiratory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At appropriate clinical doses, none of the COX inhibitors have effects on respiration or lung function.</a:t>
            </a:r>
          </a:p>
          <a:p>
            <a:pPr>
              <a:buFont typeface="Arial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610600" cy="5029200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Obstetrics</a:t>
            </a:r>
          </a:p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Prostaglandins are important for initiating labour.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Thus, NSAID usage can lead to prolonged labour and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NSAID (commonly rectal indomethacin) is sometimes used as a tocolytic in premature labour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Foetal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oliguria, and premature closure of the ductus arteriosus.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Normally patency of the ductus arteriosus is maintained by PGE2 and </a:t>
            </a:r>
          </a:p>
          <a:p>
            <a:pPr lvl="2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NSAID-induced closure in utero can lead to pulmonary hypertension and myocardial 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infarction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610600" cy="50292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Hepatotoxicity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This is normally observed following prolonged or excessive use of NSAIDs.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Up to 15% of patients may experience a rise in serum transaminase levels, even following short courses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E43AC-A852-B42C-3390-9969987DA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76020-C620-0F4D-0651-4D1C8118EA5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Potential adverse effect produced by NSAIDs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Inhibition of platelet aggregation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Asthma exacerbation 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Gastric ulceration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Allergic  reaction        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Renal dysfunction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Tinnitus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Hepatocelular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injury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756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Classification of NSAIDs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908759"/>
              </p:ext>
            </p:extLst>
          </p:nvPr>
        </p:nvGraphicFramePr>
        <p:xfrm>
          <a:off x="457200" y="1447800"/>
          <a:ext cx="8610600" cy="499102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387"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 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Class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Drug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613">
                <a:tc>
                  <a:txBody>
                    <a:bodyPr/>
                    <a:lstStyle/>
                    <a:p>
                      <a:r>
                        <a:rPr kumimoji="0" lang="en-US" sz="2000" kern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Non-specific COX inhibitors</a:t>
                      </a:r>
                    </a:p>
                    <a:p>
                      <a:endParaRPr kumimoji="0" lang="en-US" sz="2000" kern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kumimoji="0" lang="en-US" sz="2000" kern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kumimoji="0" lang="en-US" sz="2000" kern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kumimoji="0" lang="en-US" sz="2000" kern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kumimoji="0" lang="en-US" sz="2000" kern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kumimoji="0" lang="en-US" sz="2000" kern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kumimoji="0" lang="en-US" sz="2000" kern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Relatively selective COX-2 inhibitors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kumimoji="0" lang="en-US" sz="2000" kern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ü"/>
                      </a:pPr>
                      <a:r>
                        <a:rPr kumimoji="0" lang="en-US" sz="2000" kern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salicylates</a:t>
                      </a:r>
                    </a:p>
                    <a:p>
                      <a:pPr>
                        <a:buFont typeface="Wingdings" pitchFamily="2" charset="2"/>
                        <a:buChar char="Ø"/>
                      </a:pP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buFont typeface="Wingdings" pitchFamily="2" charset="2"/>
                        <a:buChar char="Ø"/>
                      </a:pPr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Acetic acid derivatives</a:t>
                      </a:r>
                    </a:p>
                    <a:p>
                      <a:pPr>
                        <a:buFont typeface="Wingdings" pitchFamily="2" charset="2"/>
                        <a:buChar char="Ø"/>
                      </a:pP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buFont typeface="Wingdings" pitchFamily="2" charset="2"/>
                        <a:buChar char="Ø"/>
                      </a:pP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buFont typeface="Wingdings" pitchFamily="2" charset="2"/>
                        <a:buNone/>
                      </a:pP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buFont typeface="Wingdings" pitchFamily="2" charset="2"/>
                        <a:buChar char="v"/>
                      </a:pPr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Proprionic acids</a:t>
                      </a:r>
                    </a:p>
                    <a:p>
                      <a:pPr>
                        <a:buFont typeface="Wingdings" pitchFamily="2" charset="2"/>
                        <a:buNone/>
                      </a:pP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buFont typeface="Wingdings" pitchFamily="2" charset="2"/>
                        <a:buNone/>
                      </a:pP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buFont typeface="Wingdings" pitchFamily="2" charset="2"/>
                        <a:buChar char="q"/>
                      </a:pPr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Para-</a:t>
                      </a:r>
                      <a:r>
                        <a:rPr kumimoji="0" lang="en-US" sz="2000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aminophenols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ü"/>
                      </a:pPr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Aspirin</a:t>
                      </a:r>
                    </a:p>
                    <a:p>
                      <a:pPr>
                        <a:buFont typeface="Wingdings" pitchFamily="2" charset="2"/>
                        <a:buNone/>
                      </a:pP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l">
                        <a:buFont typeface="Wingdings" pitchFamily="2" charset="2"/>
                        <a:buChar char="Ø"/>
                      </a:pPr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Diclofenac</a:t>
                      </a:r>
                    </a:p>
                    <a:p>
                      <a:pPr algn="l">
                        <a:buFont typeface="Wingdings" pitchFamily="2" charset="2"/>
                        <a:buChar char="Ø"/>
                      </a:pPr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ketorolac </a:t>
                      </a:r>
                    </a:p>
                    <a:p>
                      <a:pPr algn="l">
                        <a:buFont typeface="Wingdings" pitchFamily="2" charset="2"/>
                        <a:buChar char="Ø"/>
                      </a:pPr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Indomethacin</a:t>
                      </a:r>
                    </a:p>
                    <a:p>
                      <a:pPr algn="just">
                        <a:buFont typeface="Wingdings" pitchFamily="2" charset="2"/>
                        <a:buNone/>
                      </a:pP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>
                        <a:buFont typeface="Wingdings" pitchFamily="2" charset="2"/>
                        <a:buChar char="v"/>
                      </a:pPr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Ibuprofen </a:t>
                      </a:r>
                    </a:p>
                    <a:p>
                      <a:pPr algn="just">
                        <a:buFont typeface="Wingdings" pitchFamily="2" charset="2"/>
                        <a:buChar char="v"/>
                      </a:pPr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Naproxen</a:t>
                      </a:r>
                    </a:p>
                    <a:p>
                      <a:pPr>
                        <a:buFont typeface="Wingdings" pitchFamily="2" charset="2"/>
                        <a:buNone/>
                      </a:pP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buFont typeface="Wingdings" pitchFamily="2" charset="2"/>
                        <a:buChar char="q"/>
                      </a:pPr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Acetaminophen (Paracetamol)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Cont…</a:t>
            </a:r>
            <a:br>
              <a:rPr lang="en-US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763000" cy="5029200"/>
          </a:xfrm>
        </p:spPr>
        <p:txBody>
          <a:bodyPr/>
          <a:lstStyle/>
          <a:p>
            <a:r>
              <a:rPr lang="en-US" dirty="0"/>
              <a:t>  </a:t>
            </a:r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1119307"/>
              </p:ext>
            </p:extLst>
          </p:nvPr>
        </p:nvGraphicFramePr>
        <p:xfrm>
          <a:off x="609600" y="1752600"/>
          <a:ext cx="8001000" cy="410893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kumimoji="0" lang="pt-BR" sz="2000" b="1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Preferential COX-2 inhibitors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sz="2000" b="1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Oxicams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000" b="1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Meloxicam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738">
                <a:tc>
                  <a:txBody>
                    <a:bodyPr/>
                    <a:lstStyle/>
                    <a:p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Specific COX-2 inhibitors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</a:t>
                      </a:r>
                      <a:r>
                        <a:rPr kumimoji="0" lang="en-US" sz="2000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pyrazole</a:t>
                      </a: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  <a:r>
                        <a:rPr kumimoji="0" lang="en-US" sz="2000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methylsulphone</a:t>
                      </a: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</a:t>
                      </a:r>
                      <a:r>
                        <a:rPr kumimoji="0" lang="en-US" sz="2000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phenylacetic</a:t>
                      </a:r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acid</a:t>
                      </a:r>
                    </a:p>
                    <a:p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Derivative</a:t>
                      </a:r>
                    </a:p>
                    <a:p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</a:t>
                      </a:r>
                      <a:r>
                        <a:rPr kumimoji="0" lang="en-US" sz="2000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Parecoxib</a:t>
                      </a:r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*</a:t>
                      </a:r>
                      <a:r>
                        <a:rPr kumimoji="0" lang="en-US" sz="2000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Celecoxib</a:t>
                      </a:r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*</a:t>
                      </a:r>
                      <a:r>
                        <a:rPr kumimoji="0" lang="en-US" sz="2000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Rofecoxib</a:t>
                      </a: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0" lang="en-US" sz="2000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Etoricoxib</a:t>
                      </a:r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endParaRPr kumimoji="0" lang="en-US" sz="20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</a:t>
                      </a:r>
                      <a:r>
                        <a:rPr kumimoji="0" lang="en-US" sz="2000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lumaricoxib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Non-specific COX inhibitors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81000" y="1600200"/>
            <a:ext cx="8534400" cy="5029200"/>
          </a:xfrm>
        </p:spPr>
        <p:txBody>
          <a:bodyPr>
            <a:normAutofit/>
          </a:bodyPr>
          <a:lstStyle/>
          <a:p>
            <a:r>
              <a:rPr 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Salicylates</a:t>
            </a:r>
          </a:p>
          <a:p>
            <a:pPr>
              <a:buFont typeface="Wingdings" pitchFamily="2" charset="2"/>
              <a:buChar char="§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Aspirin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(acetylsalicylic acid)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 is used for its analgesic, antiplatelet and anti-inflammatory effects. 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 is also used for its effects on platelet function in acute myocardial infarction and the prevention of stroke.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Now it is used exclusively for prevention of thrombosis in susceptible individuals or for treatment of acute myocardial infarction.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04800" y="1676400"/>
            <a:ext cx="8686800" cy="51054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Mechanism of action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At low dose, aspirin selectively inhibits platelet cyclo-oxygenase while preserving vessel wall cyclooxygenase. </a:t>
            </a:r>
          </a:p>
          <a:p>
            <a:pPr lvl="1">
              <a:buFont typeface="Wingdings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This has the effect of reducing TXA2-induced vasoconstriction and platelet aggregation while leaving vessel wall synthesis of prostaglandins unaltered and, therefore, dilated.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Aspirin is unique in that it irreversibly inhibits COX-1 </a:t>
            </a:r>
          </a:p>
          <a:p>
            <a:pPr lvl="1">
              <a:buFont typeface="Wingdings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by acetylating a serine residue in the enzyme.</a:t>
            </a:r>
          </a:p>
          <a:p>
            <a:pPr lvl="2">
              <a:buFont typeface="Wingdings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irreversible nature of its inhibition underlies the nearly 1-week duration of its clinical effects (e.g., return of platelet aggregation to normal) after drug discontinuation.</a:t>
            </a:r>
          </a:p>
          <a:p>
            <a:endParaRPr lang="en-US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0BF13-6B1E-D750-9A13-D84CE4D9E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34031-9F27-E94E-D9A3-3CAA412ACAE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Adult dosing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Tab 81 mg, 325 mg, 500mg, 1000 mg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pain/fever: 500-1000 mg q4-6h; maximum daily dose (MDD)= 4g/day in healthy adults.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 prevention. </a:t>
            </a:r>
          </a:p>
          <a:p>
            <a:pPr lvl="2">
              <a:buFont typeface="Wingdings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81-325 mg po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qd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N.B</a:t>
            </a:r>
          </a:p>
          <a:p>
            <a:pPr lvl="1">
              <a:buFont typeface="Wingdings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Because of the risk of Reye's syndrome, avoid the use of  aspirin in children &lt;12 years old.</a:t>
            </a:r>
          </a:p>
          <a:p>
            <a:pPr>
              <a:buFont typeface="Wingdings" pitchFamily="2" charset="2"/>
              <a:buChar char="§"/>
            </a:pP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763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461248" cy="50292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Aspirin induced asthma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Occurs in 8-20% all asthmatic adults</a:t>
            </a:r>
          </a:p>
          <a:p>
            <a:pPr lvl="2">
              <a:buFont typeface="Wingdings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Bronchoconstriction is associated with  derangement  of arachidonic acid metabolism.</a:t>
            </a:r>
          </a:p>
          <a:p>
            <a:pPr lvl="1">
              <a:buFont typeface="Wingdings" pitchFamily="2" charset="2"/>
              <a:buChar char="§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Cont…</a:t>
            </a:r>
            <a:br>
              <a:rPr lang="en-US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610600" cy="5029200"/>
          </a:xfrm>
        </p:spPr>
        <p:txBody>
          <a:bodyPr>
            <a:normAutofit/>
          </a:bodyPr>
          <a:lstStyle/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Acetaminophen (paracetamol)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 is relatively selective COX-2 agent.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Acetaminophen is available in an intravenous form for perioperative use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Route: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PO, PR (rectal) and IV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Presentation and uses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Paracetamol is presented as 500 mg tablets alone and in combination with weak opioids. 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Suppositories contain 125 mg and 1 gm.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pediatrics elixir contains 120 mg in 5 ml.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adult dose is 4 gm/day in divided doses every 6 hrs.</a:t>
            </a:r>
          </a:p>
          <a:p>
            <a:pPr lvl="2">
              <a:buFont typeface="Wingdings" pitchFamily="2" charset="2"/>
              <a:buChar char="§"/>
            </a:pPr>
            <a:endParaRPr lang="en-US" sz="2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7544-4139-67FA-4F6A-E84EF7626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Cont.…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B01CD-685F-55B4-2529-6E028276075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Dosage</a:t>
            </a:r>
          </a:p>
          <a:p>
            <a:pPr lvl="1"/>
            <a:r>
              <a:rPr lang="en-US" dirty="0"/>
              <a:t>500-1000 mg q4-6hr; MDD in healthy adults =4 gram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initial pediatric &amp; under 50kg dose </a:t>
            </a:r>
          </a:p>
          <a:p>
            <a:pPr lvl="2">
              <a:buFont typeface="Wingdings" pitchFamily="2" charset="2"/>
              <a:buChar char="§"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PO/IV-------- 15–30 mg/kg</a:t>
            </a:r>
          </a:p>
          <a:p>
            <a:pPr lvl="3">
              <a:buFont typeface="Wingdings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which is then reduced to 10–15 mg/kg every 4 hours with a maximum dose of 75 mg/ kg./day</a:t>
            </a:r>
          </a:p>
          <a:p>
            <a:pPr lvl="2">
              <a:buFont typeface="Wingdings" pitchFamily="2" charset="2"/>
              <a:buChar char="§"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PR: 25-40mg/kg loading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 t is  also available as  1 g/100 ml infusion that does not require reconstitution and can be infused  IV over 15 minutes. 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Wingdings" pitchFamily="2" charset="2"/>
              <a:buChar char="§"/>
            </a:pPr>
            <a:endParaRPr lang="en-US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2776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4AA29-0242-B0C1-F402-E1E8F7F6D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Acetaminophen…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4F84F-9E23-559B-4A01-4121AAFE8F7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Intravenous dosing guidelines for Acetaminophen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Adult &gt;50 kg: 1 gm q4-6hr not to exceed 4 gm/day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Adult &lt;50 kg: 15 mg/kg q4-6hr not to exceed 3 gm/day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Pedi &gt;33 kg: 15 mg/kg q4-6hr not to exceed 3 gm/day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Pedi 10-33 kg: 15 mg/kg q4-6hr not to exceed 2 gm/day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4714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610600" cy="5029200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Pharmacokinetics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Paracetamol is well absorbed from the small bowel and has an oral bioavailability of 80%.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Unlike the other NSAIDs </a:t>
            </a:r>
          </a:p>
          <a:p>
            <a:pPr lvl="2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it does not cause gastric irritation, is less protein bound (10%) and has a larger volume of distribution.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Paracetamol is metabolized by the liver.</a:t>
            </a:r>
          </a:p>
          <a:p>
            <a:pPr lvl="2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These are actively excreted in the urine, only a small fraction being excreted unchanged.</a:t>
            </a:r>
          </a:p>
          <a:p>
            <a:pPr marL="365760" lvl="1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r>
              <a:rPr lang="en-US" b="1" dirty="0"/>
              <a:t>Acetic acid derivatives</a:t>
            </a:r>
            <a:br>
              <a:rPr lang="en-US" b="1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763000" cy="5029200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r>
              <a:rPr lang="en-US" sz="3900" b="1" u="sng" dirty="0">
                <a:latin typeface="Arial" panose="020B0604020202020204" pitchFamily="34" charset="0"/>
                <a:cs typeface="Arial" panose="020B0604020202020204" pitchFamily="34" charset="0"/>
              </a:rPr>
              <a:t>Diclofenac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non-specific (nonselective) COX inhibitor.</a:t>
            </a:r>
          </a:p>
          <a:p>
            <a:pPr marL="342900" lvl="0" indent="-3429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Routes of Administration: PO, Rectal, IM,  IV</a:t>
            </a:r>
          </a:p>
          <a:p>
            <a:pPr marL="342900" lvl="0" indent="-342900" algn="just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7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Dosing:   </a:t>
            </a:r>
          </a:p>
          <a:p>
            <a:pPr marL="937260" lvl="2" indent="-3429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doses of 1-2 mg/kg for IV/IM</a:t>
            </a: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37260" lvl="2" indent="-3429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 mg/kg for suppositories, and </a:t>
            </a:r>
          </a:p>
          <a:p>
            <a:pPr marL="937260" lvl="2" indent="-3429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mg/kg PO every 8-12 hours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 is also available in combination with misoprostil, which provides prophylaxis against gastric and duodenal ulceration.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Generally more effective than ibuprofen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maximum adult dose is 150 mg/day in divided doses. </a:t>
            </a:r>
          </a:p>
          <a:p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3796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33362" y="1551039"/>
            <a:ext cx="8477275" cy="5029200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pediatric dose of Diclofenac  is 1 mg/kg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pain associated with minor surgery (tonsillectomy, inguinal herniotomy).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Owing to its effects on cyclo-oxygenase, it may also precipitate </a:t>
            </a:r>
          </a:p>
          <a:p>
            <a:pPr lvl="1" algn="just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gastric irritation, acute renal impairment and reduced platelet function, which often prevents it from being used in major surgery.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Pharmacokinetics</a:t>
            </a:r>
            <a:endParaRPr lang="en-US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It undergoes hepatic hydroxylation and conjugation to inactive metabolites that are excreted in the urine (60%) and bile (40%).</a:t>
            </a:r>
            <a:endParaRPr lang="en-US" sz="21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3796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537448" cy="50292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Ketorolac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a parenteral NSAID that provides analgesia by inhibiting prostaglandin synthesis </a:t>
            </a:r>
          </a:p>
          <a:p>
            <a:pPr lvl="2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potent analgesic </a:t>
            </a:r>
          </a:p>
          <a:p>
            <a:pPr lvl="2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potent antipyretic. </a:t>
            </a:r>
          </a:p>
          <a:p>
            <a:pPr lvl="2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but limited anti-inflammatory activity or it is devoid of any anti-inflammatory effects.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buClrTx/>
              <a:buFont typeface="Symbol" pitchFamily="18" charset="2"/>
              <a:buChar char="ª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may be given orally or parenterally.</a:t>
            </a:r>
          </a:p>
          <a:p>
            <a:pPr>
              <a:buClrTx/>
              <a:buFont typeface="Symbol" pitchFamily="18" charset="2"/>
              <a:buChar char="ª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has a duration of action of up to 6 hours. </a:t>
            </a:r>
          </a:p>
          <a:p>
            <a:pPr>
              <a:buClrTx/>
              <a:buFont typeface="Symbol" pitchFamily="18" charset="2"/>
              <a:buChar char="ª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shares the side-effect profile common to all NSAIDs.</a:t>
            </a:r>
          </a:p>
        </p:txBody>
      </p:sp>
    </p:spTree>
    <p:extLst>
      <p:ext uri="{BB962C8B-B14F-4D97-AF65-F5344CB8AC3E}">
        <p14:creationId xmlns:p14="http://schemas.microsoft.com/office/powerpoint/2010/main" val="11130593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CFAB0-906C-1CC7-9431-6D67905C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BF5F7-4458-5CD7-B4B5-1C60828645B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ClrTx/>
              <a:buFont typeface="Symbol" pitchFamily="18" charset="2"/>
              <a:buChar char="ª"/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 dose Ketorolac 40 mg.</a:t>
            </a:r>
          </a:p>
          <a:p>
            <a:pPr>
              <a:buClrTx/>
              <a:buFont typeface="Symbol" pitchFamily="18" charset="2"/>
              <a:buChar char="ª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Ketorolac 30 mg IM produces analgesia that equivalent to 10 mg of morphine or 100mg of meperidine.</a:t>
            </a:r>
          </a:p>
          <a:p>
            <a:pPr>
              <a:buClrTx/>
              <a:buFont typeface="Symbol" pitchFamily="18" charset="2"/>
              <a:buChar char="ª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Drug useful when patient have spasm of the biliary tract.</a:t>
            </a:r>
          </a:p>
          <a:p>
            <a:pPr>
              <a:buClrTx/>
              <a:buFont typeface="Symbol" pitchFamily="18" charset="2"/>
              <a:buChar char="ª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standard dose of ketorolac provides analgesia equivalent to 6–12 mg of morphine administered by the same route.</a:t>
            </a:r>
          </a:p>
          <a:p>
            <a:pPr>
              <a:buClrTx/>
              <a:buFont typeface="Symbol" pitchFamily="18" charset="2"/>
              <a:buChar char="ª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Its time to onset is also similar to morphine, but ketorolac has a longer duration of action (6–8 h).</a:t>
            </a:r>
          </a:p>
        </p:txBody>
      </p:sp>
    </p:spTree>
    <p:extLst>
      <p:ext uri="{BB962C8B-B14F-4D97-AF65-F5344CB8AC3E}">
        <p14:creationId xmlns:p14="http://schemas.microsoft.com/office/powerpoint/2010/main" val="21543715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8348C-4EED-8E29-7489-2921B6E25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Cont.…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A5D40-F9FF-295D-A52A-24EE9E99543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1" i="0" u="none" strike="noStrike" baseline="0" dirty="0">
                <a:solidFill>
                  <a:srgbClr val="0081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Dosage of Ketorolac</a:t>
            </a: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Loading dose: 60 mg IM or 30 mg IV; followed by a maintenance dose of :15–30 mg every 6-8 hr. not to exceed 5 day.</a:t>
            </a: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MDD: 120 mg.</a:t>
            </a: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Elderly patients (&gt;65 years of age) clear ketorolac more slowly and should receive reduced doses.</a:t>
            </a: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addition, reduce the dose in renal failure.</a:t>
            </a:r>
          </a:p>
          <a:p>
            <a:pPr algn="l"/>
            <a:endParaRPr lang="en-US" sz="20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endParaRPr lang="en-US" sz="20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91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BD15C-1FB7-867D-28F5-FF2ADB4A0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7B9F4-FBA8-5B59-DCB4-479528646D6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/>
            <a:r>
              <a:rPr lang="en-US" sz="2400" b="1" i="0" u="none" strike="noStrike" baseline="0" dirty="0">
                <a:solidFill>
                  <a:srgbClr val="0081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Drug Interactions</a:t>
            </a: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Aspirin decreases the protein binding of ketorolac, increasing the amount of active unbound drug. </a:t>
            </a: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Ketorolac does not affect MAC of IAA, and its administration does not alter the hemodynamics of anesthetized patients.</a:t>
            </a: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 decreases the postoperative requirement for opioid analgesics</a:t>
            </a:r>
            <a:r>
              <a:rPr lang="en-US" sz="17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6922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Proprionic acids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613648" cy="51054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Ibuprofen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Ibuprofen is prepared as 200–600 mg tablets and as a pediatric elixir containing 20 mg/ml.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Routes of Administration: Oral and IV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Dosing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10 mg/kg every 8 hours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It is not recommended for children below 1 year of age.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pediatric dose is 20 mg/kg/day in divided doses. </a:t>
            </a:r>
          </a:p>
        </p:txBody>
      </p:sp>
    </p:spTree>
    <p:extLst>
      <p:ext uri="{BB962C8B-B14F-4D97-AF65-F5344CB8AC3E}">
        <p14:creationId xmlns:p14="http://schemas.microsoft.com/office/powerpoint/2010/main" val="19387728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DC5CE-A669-4AE4-41AA-BBA5FB71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Cont.…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56DA3-D0DE-3344-C070-4E422668238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Decreases narcotic requirement by 20%, non-sedating.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has mild anti-inflammatory and analgesic effects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But it has the lowest incidence of side effects of the most commonly used NSAIDs.</a:t>
            </a:r>
          </a:p>
          <a:p>
            <a:r>
              <a:rPr lang="en-US" dirty="0"/>
              <a:t>IV ibuprofen:</a:t>
            </a:r>
          </a:p>
          <a:p>
            <a:pPr lvl="1"/>
            <a:r>
              <a:rPr lang="en-US" dirty="0"/>
              <a:t>Infuse over 30 minute to avoid phlebitis</a:t>
            </a:r>
          </a:p>
          <a:p>
            <a:pPr lvl="1"/>
            <a:r>
              <a:rPr lang="en-US" dirty="0"/>
              <a:t>Limit adult dose to 3200 mg/day.</a:t>
            </a:r>
          </a:p>
        </p:txBody>
      </p:sp>
    </p:spTree>
    <p:extLst>
      <p:ext uri="{BB962C8B-B14F-4D97-AF65-F5344CB8AC3E}">
        <p14:creationId xmlns:p14="http://schemas.microsoft.com/office/powerpoint/2010/main" val="26470390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Specific COX-2 inhibitors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537448" cy="5029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Further COX-2 inhibitors will have been withdrawn from the market 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 to concerns about myocardial infarction (MI) and stroke.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currently unclear if these concerns revolve around individual drugs or the entire class of COX-2 inhibitors. 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Initially, large studies suggested that there was a significantly reduced incidence of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GI side effects associated with COX-2 inhibitors compared with standard NSAIDs.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7726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Cont…</a:t>
            </a:r>
            <a:br>
              <a:rPr lang="en-US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537448" cy="5029200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However, the Food and Drug Administration (FDA) later presented further data that exposed the increased MI and stroke rates but also a gastrointestinal side-effect rate equal to </a:t>
            </a:r>
          </a:p>
          <a:p>
            <a:pPr lvl="1"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standard NSAIDs after 12 months therapy as well as a number of other side-effects hypertension, heart failure, Hepatotoxicity and edema.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582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30489" y="813304"/>
          <a:ext cx="8484911" cy="3830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6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836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Drug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Route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Half-life 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Dose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96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Acetaminophen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Po and 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500-1000 mg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 q4-6 Hrs.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Maximum daily dose(MDD) 4gm</a:t>
                      </a:r>
                      <a:r>
                        <a:rPr lang="en-CA" dirty="0">
                          <a:latin typeface="Times New Roman" pitchFamily="18" charset="0"/>
                          <a:cs typeface="Times New Roman" pitchFamily="18" charset="0"/>
                        </a:rPr>
                        <a:t>/ 24 hrs. 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Ibuprofen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Po and IV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400 mg q4-6/8hrs.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07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Ketorolac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30 mg initially followed by 15-30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 mg q6-8 hr. not to exceed 5 days. MDD=120 mg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284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Diclofenac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PO, IV, 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37260" lvl="2" indent="-342900"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PO 50mg q8 hr.</a:t>
                      </a:r>
                    </a:p>
                    <a:p>
                      <a:pPr marL="937260" lvl="2" indent="-342900"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1-2 mg/kg for IV/IM</a:t>
                      </a:r>
                      <a:r>
                        <a:rPr lang="en-US" dirty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937260" lvl="2" indent="-342900"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0.5 mg/kg for suppositories. MDD=150 mg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34" y="4643623"/>
            <a:ext cx="8361418" cy="1312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956083"/>
            <a:ext cx="8153400" cy="425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530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?</a:t>
            </a:r>
          </a:p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4" name="Rectangle 3"/>
          <p:cNvSpPr/>
          <p:nvPr/>
        </p:nvSpPr>
        <p:spPr>
          <a:xfrm>
            <a:off x="2286000" y="4343400"/>
            <a:ext cx="38448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Thank you!!!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43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4206</TotalTime>
  <Words>2750</Words>
  <Application>Microsoft Office PowerPoint</Application>
  <PresentationFormat>On-screen Show (4:3)</PresentationFormat>
  <Paragraphs>347</Paragraphs>
  <Slides>43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Agency FB</vt:lpstr>
      <vt:lpstr>Arial</vt:lpstr>
      <vt:lpstr>Calibri</vt:lpstr>
      <vt:lpstr>MinionPro-Regular</vt:lpstr>
      <vt:lpstr>Symbol</vt:lpstr>
      <vt:lpstr>Times New Roman</vt:lpstr>
      <vt:lpstr>Tw Cen MT</vt:lpstr>
      <vt:lpstr>Wingdings</vt:lpstr>
      <vt:lpstr>Wingdings 2</vt:lpstr>
      <vt:lpstr>Median</vt:lpstr>
      <vt:lpstr> </vt:lpstr>
      <vt:lpstr> Introduction</vt:lpstr>
      <vt:lpstr>  Cont.…</vt:lpstr>
      <vt:lpstr> cont…..</vt:lpstr>
      <vt:lpstr>Cont.…</vt:lpstr>
      <vt:lpstr>Mechanism of action of NSAIDS</vt:lpstr>
      <vt:lpstr>  Cont… </vt:lpstr>
      <vt:lpstr>  Cont… </vt:lpstr>
      <vt:lpstr>  Cont… </vt:lpstr>
      <vt:lpstr>PowerPoint Presentation</vt:lpstr>
      <vt:lpstr>  Effects of NSAIDS </vt:lpstr>
      <vt:lpstr>  Cont… </vt:lpstr>
      <vt:lpstr>  Cont… </vt:lpstr>
      <vt:lpstr>  Cont… </vt:lpstr>
      <vt:lpstr>  Cont… </vt:lpstr>
      <vt:lpstr>  Cont… </vt:lpstr>
      <vt:lpstr>  Cont… </vt:lpstr>
      <vt:lpstr>  Cont… </vt:lpstr>
      <vt:lpstr>  Cont… </vt:lpstr>
      <vt:lpstr>  Cont… </vt:lpstr>
      <vt:lpstr>Cont..</vt:lpstr>
      <vt:lpstr>Classification of NSAIDs </vt:lpstr>
      <vt:lpstr>  Cont… </vt:lpstr>
      <vt:lpstr>Non-specific COX inhibitors</vt:lpstr>
      <vt:lpstr>  Cont… </vt:lpstr>
      <vt:lpstr>Cont..</vt:lpstr>
      <vt:lpstr>  Cont… </vt:lpstr>
      <vt:lpstr>  Cont… </vt:lpstr>
      <vt:lpstr>Cont.…</vt:lpstr>
      <vt:lpstr>Acetaminophen…</vt:lpstr>
      <vt:lpstr>  Cont… </vt:lpstr>
      <vt:lpstr> Acetic acid derivatives </vt:lpstr>
      <vt:lpstr>  Cont… </vt:lpstr>
      <vt:lpstr>  Cont… </vt:lpstr>
      <vt:lpstr>Cont.…</vt:lpstr>
      <vt:lpstr>Cont.…</vt:lpstr>
      <vt:lpstr>Cont.…</vt:lpstr>
      <vt:lpstr> Proprionic acids</vt:lpstr>
      <vt:lpstr>Cont.…</vt:lpstr>
      <vt:lpstr>Specific COX-2 inhibitors</vt:lpstr>
      <vt:lpstr> Cont…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Analgesic Agents</dc:title>
  <dc:creator>Admin</dc:creator>
  <cp:lastModifiedBy>Mulualem Sitot</cp:lastModifiedBy>
  <cp:revision>384</cp:revision>
  <dcterms:created xsi:type="dcterms:W3CDTF">2017-10-08T13:31:39Z</dcterms:created>
  <dcterms:modified xsi:type="dcterms:W3CDTF">2024-03-19T03:47:50Z</dcterms:modified>
</cp:coreProperties>
</file>