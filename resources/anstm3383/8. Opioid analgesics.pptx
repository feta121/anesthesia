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8"/>
  </p:notesMasterIdLst>
  <p:sldIdLst>
    <p:sldId id="256" r:id="rId2"/>
    <p:sldId id="312" r:id="rId3"/>
    <p:sldId id="293" r:id="rId4"/>
    <p:sldId id="257" r:id="rId5"/>
    <p:sldId id="315" r:id="rId6"/>
    <p:sldId id="258" r:id="rId7"/>
    <p:sldId id="259" r:id="rId8"/>
    <p:sldId id="314" r:id="rId9"/>
    <p:sldId id="316" r:id="rId10"/>
    <p:sldId id="317" r:id="rId11"/>
    <p:sldId id="412" r:id="rId12"/>
    <p:sldId id="260" r:id="rId13"/>
    <p:sldId id="291" r:id="rId14"/>
    <p:sldId id="261" r:id="rId15"/>
    <p:sldId id="294" r:id="rId16"/>
    <p:sldId id="290" r:id="rId17"/>
    <p:sldId id="269" r:id="rId18"/>
    <p:sldId id="262" r:id="rId19"/>
    <p:sldId id="263" r:id="rId20"/>
    <p:sldId id="264" r:id="rId21"/>
    <p:sldId id="295" r:id="rId22"/>
    <p:sldId id="265" r:id="rId23"/>
    <p:sldId id="313" r:id="rId24"/>
    <p:sldId id="270" r:id="rId25"/>
    <p:sldId id="385" r:id="rId26"/>
    <p:sldId id="271" r:id="rId27"/>
    <p:sldId id="279" r:id="rId28"/>
    <p:sldId id="272" r:id="rId29"/>
    <p:sldId id="273" r:id="rId30"/>
    <p:sldId id="297" r:id="rId31"/>
    <p:sldId id="274" r:id="rId32"/>
    <p:sldId id="275" r:id="rId33"/>
    <p:sldId id="276" r:id="rId34"/>
    <p:sldId id="277" r:id="rId35"/>
    <p:sldId id="289" r:id="rId36"/>
    <p:sldId id="282" r:id="rId37"/>
    <p:sldId id="278" r:id="rId38"/>
    <p:sldId id="300" r:id="rId39"/>
    <p:sldId id="283" r:id="rId40"/>
    <p:sldId id="284" r:id="rId41"/>
    <p:sldId id="304" r:id="rId42"/>
    <p:sldId id="287" r:id="rId43"/>
    <p:sldId id="285" r:id="rId44"/>
    <p:sldId id="302" r:id="rId45"/>
    <p:sldId id="307" r:id="rId46"/>
    <p:sldId id="308" r:id="rId47"/>
    <p:sldId id="310" r:id="rId48"/>
    <p:sldId id="286" r:id="rId49"/>
    <p:sldId id="288" r:id="rId50"/>
    <p:sldId id="303" r:id="rId51"/>
    <p:sldId id="266" r:id="rId52"/>
    <p:sldId id="267" r:id="rId53"/>
    <p:sldId id="292" r:id="rId54"/>
    <p:sldId id="413" r:id="rId55"/>
    <p:sldId id="268" r:id="rId56"/>
    <p:sldId id="305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91" autoAdjust="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B5B1A7-F52C-4DD0-9F7C-490159D1C2D0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01621-6CDF-4B38-B472-7A1E8D633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5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MinionPro-Regular"/>
              </a:rPr>
              <a:t>Biliary colic may result from opioid-induced contraction of the sphincter of Oddi. 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Biliary spasm, which can mimic a common bile duct stone on cholangiography, is reversed with the opioid antagonist naloxone or glucagon.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01621-6CDF-4B38-B472-7A1E8D6336F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691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Morphine undergoes hepatic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glucuronidation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morphine-6-glucuronide and morphine-3-glucuronide, both of which are cleared by the kidney. Morphine-6-glucuronide is an active metabolite of morphine and is thought to be responsible for most of the analgesia associated with chronic dosing of the drug.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4658CC-E1A8-479F-85CA-5BE894CA0F2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59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MinionPro-Regular"/>
              </a:rPr>
              <a:t>Morphine in doses between 0.1 and 0.5 mg and hydromorphone in doses between 0.05 and 0.2 mg provide 12–18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hours of analgesia after intrathecal administration.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01621-6CDF-4B38-B472-7A1E8D6336F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60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MinionPro-Regular"/>
              </a:rPr>
              <a:t>Meperidine is </a:t>
            </a:r>
            <a:r>
              <a:rPr lang="en-US" sz="1800" b="0" i="1" u="none" strike="noStrike" baseline="0" dirty="0">
                <a:latin typeface="MinionPro-It"/>
              </a:rPr>
              <a:t>N </a:t>
            </a:r>
            <a:r>
              <a:rPr lang="en-US" sz="1800" b="0" i="0" u="none" strike="noStrike" baseline="0" dirty="0">
                <a:latin typeface="MinionPro-Regular"/>
              </a:rPr>
              <a:t>-demethylated to normeperidine, an active metabolite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associated with seizure activity, particularly after very large meperidine doses.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01621-6CDF-4B38-B472-7A1E8D6336F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48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Serotonin syndrome: At least three of the following: agitation, ataxia, increased sweating, diarrhea, fever, hyperreflexia, myoclonus, or shivering.  The syndrome usually occurs after initiating or increasing the dose of a serotonergic medicine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D01621-6CDF-4B38-B472-7A1E8D6336F2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93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ACCB59-3CB2-4130-923D-E3A467C563E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784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64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579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37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662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63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47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82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02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6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743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04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55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81000"/>
            <a:ext cx="7772400" cy="1905000"/>
          </a:xfrm>
        </p:spPr>
        <p:txBody>
          <a:bodyPr>
            <a:normAutofit/>
          </a:bodyPr>
          <a:lstStyle/>
          <a:p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OPIOID ANALGESICS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295400" y="1752600"/>
            <a:ext cx="67818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2209800" y="3124200"/>
            <a:ext cx="6096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Papaver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somniferum</a:t>
            </a:r>
            <a:endParaRPr lang="en-US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316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Outline of the presentation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0926426-2E0E-4245-B1E1-80EA03F4B13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gency FB" pitchFamily="34" charset="0"/>
              </a:rPr>
              <a:t>Objectives</a:t>
            </a:r>
          </a:p>
          <a:p>
            <a:r>
              <a:rPr lang="en-US" dirty="0">
                <a:latin typeface="Agency FB" pitchFamily="34" charset="0"/>
              </a:rPr>
              <a:t>Introduction</a:t>
            </a:r>
          </a:p>
          <a:p>
            <a:r>
              <a:rPr lang="en-US" dirty="0">
                <a:latin typeface="Agency FB" pitchFamily="34" charset="0"/>
              </a:rPr>
              <a:t>Clinical Uses of opioids</a:t>
            </a:r>
          </a:p>
          <a:p>
            <a:r>
              <a:rPr lang="en-US" dirty="0">
                <a:latin typeface="Agency FB" pitchFamily="34" charset="0"/>
                <a:cs typeface="Times New Roman" pitchFamily="18" charset="0"/>
              </a:rPr>
              <a:t>Mechanism of action</a:t>
            </a:r>
          </a:p>
          <a:p>
            <a:r>
              <a:rPr lang="en-US" dirty="0">
                <a:latin typeface="Agency FB" pitchFamily="34" charset="0"/>
              </a:rPr>
              <a:t>Opioid Receptors</a:t>
            </a:r>
          </a:p>
          <a:p>
            <a:r>
              <a:rPr lang="en-US" dirty="0">
                <a:latin typeface="Agency FB" pitchFamily="34" charset="0"/>
              </a:rPr>
              <a:t>Classification Of Opioids</a:t>
            </a:r>
          </a:p>
          <a:p>
            <a:r>
              <a:rPr lang="en-US" dirty="0">
                <a:latin typeface="Agency FB" pitchFamily="34" charset="0"/>
              </a:rPr>
              <a:t>Pharmacological Effects</a:t>
            </a:r>
          </a:p>
          <a:p>
            <a:r>
              <a:rPr lang="en-US" dirty="0">
                <a:latin typeface="Agency FB" pitchFamily="34" charset="0"/>
                <a:cs typeface="Times New Roman" pitchFamily="18" charset="0"/>
              </a:rPr>
              <a:t>Specific opioids</a:t>
            </a:r>
            <a:endParaRPr lang="en-US" dirty="0">
              <a:latin typeface="Agency FB" pitchFamily="34" charset="0"/>
            </a:endParaRPr>
          </a:p>
          <a:p>
            <a:pPr marL="0" indent="0">
              <a:buNone/>
            </a:pPr>
            <a:br>
              <a:rPr lang="bg-BG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29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534400" cy="48307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At the end of this session, you will be able to: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describe the distribution of opioid receptors in the body along with Mechanism of action of opioids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describe the pharmacokinetics &amp; pharmacodynamics of different opioidal analgesic agents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state the systemic effects of opioids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outline the indications, contraindications and adverse effects of opioids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explain the safe usage including rate and dangers of addiction of commonly used opioids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administer opioids for patients undergoing surgical procedures</a:t>
            </a:r>
          </a:p>
        </p:txBody>
      </p:sp>
    </p:spTree>
    <p:extLst>
      <p:ext uri="{BB962C8B-B14F-4D97-AF65-F5344CB8AC3E}">
        <p14:creationId xmlns:p14="http://schemas.microsoft.com/office/powerpoint/2010/main" val="1139239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Autofit/>
          </a:bodyPr>
          <a:lstStyle/>
          <a:p>
            <a:pPr algn="just">
              <a:lnSpc>
                <a:spcPct val="8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Opioids are a class of drugs that act primarily on the body’s opioid receptors.</a:t>
            </a:r>
          </a:p>
          <a:p>
            <a:pPr algn="just">
              <a:lnSpc>
                <a:spcPct val="8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Opioids are often referred to as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narcotics.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They are used primarily for 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their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analgesic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effects 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but also for their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cough suppressant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properties.</a:t>
            </a:r>
          </a:p>
          <a:p>
            <a:pPr lvl="1" algn="just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They are selective CNS depressants used to relieve pain. </a:t>
            </a:r>
          </a:p>
          <a:p>
            <a:pPr lvl="1"/>
            <a:r>
              <a:rPr lang="bg-BG" sz="2000" dirty="0">
                <a:latin typeface="Arial" panose="020B0604020202020204" pitchFamily="34" charset="0"/>
                <a:cs typeface="Arial" panose="020B0604020202020204" pitchFamily="34" charset="0"/>
              </a:rPr>
              <a:t>Unlike the barbiturates or benzodiazepines, relatively large doses of opioids are required to render patients unconscious.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Opioids are the mainstay for the treatment of acute  intraoperative and postoperative pain and chronic pain. </a:t>
            </a:r>
          </a:p>
        </p:txBody>
      </p:sp>
    </p:spTree>
    <p:extLst>
      <p:ext uri="{BB962C8B-B14F-4D97-AF65-F5344CB8AC3E}">
        <p14:creationId xmlns:p14="http://schemas.microsoft.com/office/powerpoint/2010/main" val="1106531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8E7F0-579F-761C-ACCA-32E4ECB1F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Cont.…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B9C6F-2F5D-9BC9-61CC-09BA61EAB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pPr algn="just"/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Regardless of the dose, however, opioids </a:t>
            </a:r>
            <a:r>
              <a:rPr lang="bg-BG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not </a:t>
            </a:r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reliably produce </a:t>
            </a:r>
            <a:r>
              <a:rPr lang="bg-BG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amnesia</a:t>
            </a:r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Although opioids provide some degree of sedation and (in many species) can produce general anesthesia when given in large doses,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they are principally used to provide analgesia.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Parenteral</a:t>
            </a:r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 opioids have been the mainstay of pain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387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Clinical Uses of opioids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Analgesia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  moderate to severe pain relief </a:t>
            </a:r>
          </a:p>
          <a:p>
            <a:pPr lvl="1"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parenterally, epidural (Morphine, Fentanyl)</a:t>
            </a:r>
          </a:p>
          <a:p>
            <a:pPr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Anti-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tussive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– e. g, codeine</a:t>
            </a:r>
          </a:p>
          <a:p>
            <a:pPr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Rx. of diarrhea</a:t>
            </a:r>
          </a:p>
          <a:p>
            <a:pPr>
              <a:defRPr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Management of acute pulmonary edema </a:t>
            </a:r>
          </a:p>
          <a:p>
            <a:pPr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Anesthesia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- used as adjunctive agents</a:t>
            </a:r>
          </a:p>
          <a:p>
            <a:pPr>
              <a:defRPr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837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Mechanisms of Action</a:t>
            </a:r>
            <a:br>
              <a:rPr lang="bg-B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534400" cy="5181600"/>
          </a:xfrm>
        </p:spPr>
        <p:txBody>
          <a:bodyPr>
            <a:normAutofit/>
          </a:bodyPr>
          <a:lstStyle/>
          <a:p>
            <a:pPr algn="just"/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Opioids bind to specific receptors located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bg-BG" sz="2200" dirty="0">
                <a:latin typeface="Arial" panose="020B0604020202020204" pitchFamily="34" charset="0"/>
                <a:cs typeface="Arial" panose="020B0604020202020204" pitchFamily="34" charset="0"/>
              </a:rPr>
              <a:t>throughout the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CNS </a:t>
            </a:r>
            <a:r>
              <a:rPr lang="bg-BG" sz="2200" dirty="0">
                <a:latin typeface="Arial" panose="020B0604020202020204" pitchFamily="34" charset="0"/>
                <a:cs typeface="Arial" panose="020B0604020202020204" pitchFamily="34" charset="0"/>
              </a:rPr>
              <a:t>and other tissues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8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Activation of peripheral nociceptive fibers causes </a:t>
            </a:r>
          </a:p>
          <a:p>
            <a:pPr lvl="1" algn="just">
              <a:lnSpc>
                <a:spcPct val="8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release of substance P and other pain-signaling neurotransmitters from nerve terminals in the dorsal horn of the spinal cord</a:t>
            </a:r>
          </a:p>
          <a:p>
            <a:pPr algn="just">
              <a:lnSpc>
                <a:spcPct val="80000"/>
              </a:lnSpc>
              <a:buFontTx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8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Release of pain-signaling neurotransmitters is regulated by endogenous endorphins or by exogenous opioid agonists</a:t>
            </a:r>
          </a:p>
          <a:p>
            <a:pPr lvl="1" algn="just">
              <a:lnSpc>
                <a:spcPct val="8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by acting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presynaptically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 inhibit substance P release, causing analgesia</a:t>
            </a: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bg-BG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629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1601D-F5C1-5F96-7430-73300C2F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MOA…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474C0-B304-F107-376F-2B3719D8E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All opioid receptors couple to G proteins; binding of an agonist to an opioid receptor causes membrane hyperpolarization.</a:t>
            </a:r>
          </a:p>
          <a:p>
            <a:r>
              <a:rPr lang="en-US" sz="2400" dirty="0"/>
              <a:t>Acute opioid effects are mediated by inhibition of adenylyl cyclase</a:t>
            </a:r>
          </a:p>
          <a:p>
            <a:pPr lvl="1"/>
            <a:r>
              <a:rPr lang="en-US" sz="2000" dirty="0"/>
              <a:t> (reductions in intracellular cyclic adenosine monophosphate concentrations (CAMP)) and activation of phospholipase C.</a:t>
            </a:r>
          </a:p>
          <a:p>
            <a:r>
              <a:rPr lang="en-US" sz="2400" dirty="0"/>
              <a:t>Opioids inhibit voltage- gated calcium channels and activate inwardly rectifying potassium channels. </a:t>
            </a:r>
          </a:p>
          <a:p>
            <a:r>
              <a:rPr lang="en-US" sz="2400" dirty="0"/>
              <a:t>Opioid effects vary based on the duration of exposure, and opioid tolerance leads to changes in opioid responses.</a:t>
            </a:r>
          </a:p>
        </p:txBody>
      </p:sp>
    </p:spTree>
    <p:extLst>
      <p:ext uri="{BB962C8B-B14F-4D97-AF65-F5344CB8AC3E}">
        <p14:creationId xmlns:p14="http://schemas.microsoft.com/office/powerpoint/2010/main" val="4254026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97673-7319-FBF6-51CA-47F1F779E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MOA…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90D59-CEDD-90BF-3AD8-49FE4075F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 opioid drugs mimic endogenous compounds. </a:t>
            </a:r>
          </a:p>
          <a:p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Endorphins, enkephalins, and dynorphins are endogenous peptides that bind to opioid receptors.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These three families of opioid peptides differ in their amino acid sequences, anatomic distributions, and receptor affinities.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Opioid receptor activation inhibits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the presynaptic release and postsynaptic response to excitatory neurotransmitters (e.g., acetylcholine, substance P) from nociceptive neurons .</a:t>
            </a:r>
          </a:p>
        </p:txBody>
      </p:sp>
    </p:spTree>
    <p:extLst>
      <p:ext uri="{BB962C8B-B14F-4D97-AF65-F5344CB8AC3E}">
        <p14:creationId xmlns:p14="http://schemas.microsoft.com/office/powerpoint/2010/main" val="1975639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A87AC-8F3F-A73B-8040-914DD15B8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2F0E4-0B60-A966-259B-0E3F21621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83820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Transmission of pain impulses can be selectively modified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at the level of the dorsal horn of the spinal cord with intrathecal or epidural administration of opioids. 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Opioid receptors also respond to systemically administered opioids.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Modulation through a descending inhibitory pathway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from the periaqueductal gray matter to the dorsal horn of the spinal cord may also play a role in opioid analgesia.</a:t>
            </a:r>
          </a:p>
        </p:txBody>
      </p:sp>
    </p:spTree>
    <p:extLst>
      <p:ext uri="{BB962C8B-B14F-4D97-AF65-F5344CB8AC3E}">
        <p14:creationId xmlns:p14="http://schemas.microsoft.com/office/powerpoint/2010/main" val="297105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1"/>
            <a:ext cx="8610600" cy="4525963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three primary mechanisms of action for opioid analgesia at the level of the spinal cord include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(1)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inhibition of calcium influx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presynaptically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resulting in inhibition of depolarization of the cell membrane and decreased release of neurotransmitters and neuropeptides into the synaptic cleft;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(2) Enhanced potassium efflux from the cell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postsynaptically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resulting in hyperpolarization of the cell and a decrease in pain transmission, and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(3) activation of a descending inhibitory pain circuit via inhibition of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GABAergic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transmission in the brainstem.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013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br>
              <a:rPr lang="bg-B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Opioid Receptors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major effects of the opioids are mediated by four families of receptors</a:t>
            </a:r>
          </a:p>
          <a:p>
            <a:pPr lvl="1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Mu (µ: µ1 &amp; µ2 ):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analgesia (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µ1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respiratory depression Euphoria, Physical dependence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µ2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decreased GI motility, pupil constriction</a:t>
            </a:r>
          </a:p>
          <a:p>
            <a:pPr lvl="1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Kappa (κ):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analgesia, pupil constriction.</a:t>
            </a:r>
          </a:p>
          <a:p>
            <a:pPr lvl="1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Sigma (σ):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hallucinations, pupil dilation, Dysphoria, Respiratory stimulation</a:t>
            </a:r>
          </a:p>
          <a:p>
            <a:pPr lvl="1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Delta (δ):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contribute to analgesia,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463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1449706"/>
            <a:ext cx="8610601" cy="4493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1547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Classification Of Opioids</a:t>
            </a:r>
            <a:b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5257800"/>
          </a:xfrm>
        </p:spPr>
        <p:txBody>
          <a:bodyPr>
            <a:noAutofit/>
          </a:bodyPr>
          <a:lstStyle/>
          <a:p>
            <a:pPr marL="354330">
              <a:buFont typeface="Wingdings" pitchFamily="2" charset="2"/>
              <a:buChar char="Ø"/>
            </a:pPr>
            <a:r>
              <a:rPr lang="en-US" sz="23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Endogenous</a:t>
            </a: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 opioids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: produced by the body itself</a:t>
            </a:r>
          </a:p>
          <a:p>
            <a:pPr marL="754380"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beta-endorphin, enkephalin, dynorphin</a:t>
            </a:r>
          </a:p>
          <a:p>
            <a:pPr marL="354330">
              <a:buFont typeface="Wingdings" pitchFamily="2" charset="2"/>
              <a:buChar char="Ø"/>
            </a:pPr>
            <a:r>
              <a:rPr lang="en-US" sz="23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Exogenous</a:t>
            </a:r>
            <a:r>
              <a:rPr lang="en-US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opioids</a:t>
            </a:r>
          </a:p>
          <a:p>
            <a:pPr marL="754380" lvl="1" indent="-342900">
              <a:buFont typeface="Wingdings" pitchFamily="2" charset="2"/>
              <a:buChar char="q"/>
            </a:pP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Natural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Wingdings" pitchFamily="2" charset="2"/>
              <a:buChar char="ü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Morphine, codeine, thebaine, Papaverine</a:t>
            </a:r>
          </a:p>
          <a:p>
            <a:pPr lvl="1">
              <a:buFont typeface="Wingdings" pitchFamily="2" charset="2"/>
              <a:buChar char="q"/>
            </a:pP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semisynthetic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2">
              <a:buFont typeface="Wingdings" pitchFamily="2" charset="2"/>
              <a:buChar char="ü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Heroin, oxymorphone, Hydromorphone</a:t>
            </a:r>
          </a:p>
          <a:p>
            <a:pPr lvl="1">
              <a:buFont typeface="Wingdings" pitchFamily="2" charset="2"/>
              <a:buChar char="q"/>
            </a:pP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synthetic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2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Methadone, morphinians </a:t>
            </a:r>
          </a:p>
          <a:p>
            <a:pPr lvl="2"/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Benzamorphans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(phenazocine, pentazocine)</a:t>
            </a:r>
          </a:p>
          <a:p>
            <a:pPr lvl="2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Phenylpiperidine derivatives (meperidine, fentanyl, alfentanil, sufentanil, and remifentanil) </a:t>
            </a:r>
            <a:b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320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457200">
              <a:buFont typeface="Wingdings" pitchFamily="2" charset="2"/>
              <a:buChar char="q"/>
            </a:pPr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</a:rPr>
              <a:t>Opioids can be classified as:</a:t>
            </a:r>
          </a:p>
          <a:p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Pure agonists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Act predominantly at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μ-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receptors may also produce lesser effects on δ-and κ-receptors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partial agonists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mixed agonist-antagonists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antagonists on the basis of their interaction with the opioid receptors.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204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itchFamily="2" charset="2"/>
              <a:buChar char="Ø"/>
              <a:defRPr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Agonist-antagonists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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analgesics)</a:t>
            </a:r>
          </a:p>
          <a:p>
            <a:pPr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Nalorphine</a:t>
            </a:r>
          </a:p>
          <a:p>
            <a:pPr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Pentazocine </a:t>
            </a:r>
          </a:p>
          <a:p>
            <a:pPr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Butorphanol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Partial/weak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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agonist +</a:t>
            </a:r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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antagonist</a:t>
            </a:r>
          </a:p>
          <a:p>
            <a:pPr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Buprenorphine</a:t>
            </a:r>
          </a:p>
          <a:p>
            <a:pPr>
              <a:buNone/>
              <a:defRPr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Pure antagonists</a:t>
            </a:r>
          </a:p>
          <a:p>
            <a:pPr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Naloxone</a:t>
            </a:r>
          </a:p>
          <a:p>
            <a:pPr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Naltrexone</a:t>
            </a:r>
          </a:p>
          <a:p>
            <a:pPr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Nalmefene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441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Endogenous Opioid Peptides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Enkephalin, </a:t>
            </a:r>
            <a:r>
              <a:rPr lang="el-GR" sz="2400" dirty="0">
                <a:latin typeface="Times New Roman" pitchFamily="18" charset="0"/>
                <a:cs typeface="Times New Roman" pitchFamily="18" charset="0"/>
              </a:rPr>
              <a:t>β-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endorphin, and dynorphin were identified as endogenous agonists for the </a:t>
            </a:r>
            <a:r>
              <a:rPr lang="el-GR" sz="2400" dirty="0">
                <a:latin typeface="Times New Roman" pitchFamily="18" charset="0"/>
                <a:cs typeface="Times New Roman" pitchFamily="18" charset="0"/>
              </a:rPr>
              <a:t>δ-, µ-,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l-GR" sz="2400" dirty="0">
                <a:latin typeface="Times New Roman" pitchFamily="18" charset="0"/>
                <a:cs typeface="Times New Roman" pitchFamily="18" charset="0"/>
              </a:rPr>
              <a:t>κ-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opioid receptors, respectively.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171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Pharmacological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8006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Sedation and anxiolysis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Drowsiness and lethargy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Apathy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Cognitive impairment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Sense of tranquility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Depression of respiration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Main cause of death from opioid overdose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Combination of opioids and alcohol is especially dangerous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Cough suppression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Opioids suppress the “cough center” in the brain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Pupillary constriction (miosis )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Stimulation of parasympathetic nucleus (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Edinger Westphal Nucleus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of the 3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cranial nerve causing miosis 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531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382000" cy="50292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Nausea and vomiting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Stimulation of receptors in an area of the medulla called the chemoreceptor trigger zone causes nausea and vomiting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Unpleasant side effect, but not life threatening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Gastrointestinal symptoms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Opioids slow GI motility (</a:t>
            </a:r>
            <a:r>
              <a:rPr lang="bg-BG" sz="2400" dirty="0">
                <a:latin typeface="Times New Roman" pitchFamily="18" charset="0"/>
                <a:cs typeface="Times New Roman" pitchFamily="18" charset="0"/>
              </a:rPr>
              <a:t>gastric emptying time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by binding to opioid receptors in the gut and reducing peristalsis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Opioids relieve diarrhea as a result of their direct actions on the intestines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Other effects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Opioids can release histamines causing itching or more severe allergic reactions including bronchoconstriction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Opioids can affect WBC function and immune function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720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Drug dependence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" ( habituation &amp; addiction) – where a state arising from the repeated use  of drugs on a continuous bases develop from the use or abuse of many drugs    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Dependence refers to a state resulting from habitual use of a drug, 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where negative physical withdrawal symptoms result from abrupt discontinuation</a:t>
            </a:r>
          </a:p>
          <a:p>
            <a:r>
              <a:rPr lang="bg-BG" sz="2400" b="1" dirty="0">
                <a:latin typeface="Times New Roman" pitchFamily="18" charset="0"/>
                <a:cs typeface="Times New Roman" pitchFamily="18" charset="0"/>
              </a:rPr>
              <a:t>Physical dependence </a:t>
            </a:r>
            <a:r>
              <a:rPr lang="bg-BG" sz="2400" dirty="0">
                <a:latin typeface="Times New Roman" pitchFamily="18" charset="0"/>
                <a:cs typeface="Times New Roman" pitchFamily="18" charset="0"/>
              </a:rPr>
              <a:t>is a significant problem associated with repeated opioid administration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It is a biochemical or physiologic adaptation of tissues whereby continued administration is necessary for normal function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6486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Tolerance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– 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marked tolerance develops to all  of acute pharmacologic effects with the exception of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miosis and constipation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There is  cross tolerance between different opioids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bg-BG" sz="2400" dirty="0">
                <a:latin typeface="Times New Roman" pitchFamily="18" charset="0"/>
                <a:cs typeface="Times New Roman" pitchFamily="18" charset="0"/>
              </a:rPr>
              <a:t>Patients receiving long-term opioid therapy (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e.g.</a:t>
            </a:r>
            <a:r>
              <a:rPr lang="bg-BG" sz="2400" dirty="0">
                <a:latin typeface="Times New Roman" pitchFamily="18" charset="0"/>
                <a:cs typeface="Times New Roman" pitchFamily="18" charset="0"/>
              </a:rPr>
              <a:t> cancer pain) usually become tolerant to most of the side effects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bg-BG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except</a:t>
            </a:r>
            <a:r>
              <a:rPr lang="bg-BG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constipation</a:t>
            </a:r>
            <a:r>
              <a:rPr lang="bg-BG" sz="2200" dirty="0">
                <a:latin typeface="Times New Roman" pitchFamily="18" charset="0"/>
                <a:cs typeface="Times New Roman" pitchFamily="18" charset="0"/>
              </a:rPr>
              <a:t> because of the decreased gastrointestinal motility.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43060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458200" cy="4525963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Drug Interactions</a:t>
            </a:r>
          </a:p>
          <a:p>
            <a:pPr algn="just"/>
            <a:r>
              <a:rPr lang="bg-BG" sz="2400" dirty="0">
                <a:latin typeface="Times New Roman" pitchFamily="18" charset="0"/>
                <a:cs typeface="Times New Roman" pitchFamily="18" charset="0"/>
              </a:rPr>
              <a:t>The combination of opioid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bg-BG" sz="2400" dirty="0">
                <a:latin typeface="Times New Roman" pitchFamily="18" charset="0"/>
                <a:cs typeface="Times New Roman" pitchFamily="18" charset="0"/>
              </a:rPr>
              <a:t>particularly </a:t>
            </a:r>
            <a:r>
              <a:rPr lang="bg-BG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meperidine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4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bg-BG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monoamine oxidase inhibitors </a:t>
            </a:r>
            <a:r>
              <a:rPr lang="bg-BG" sz="2400" dirty="0">
                <a:latin typeface="Times New Roman" pitchFamily="18" charset="0"/>
                <a:cs typeface="Times New Roman" pitchFamily="18" charset="0"/>
              </a:rPr>
              <a:t>may result in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bg-BG" sz="2400" dirty="0">
                <a:latin typeface="Times New Roman" pitchFamily="18" charset="0"/>
                <a:cs typeface="Times New Roman" pitchFamily="18" charset="0"/>
              </a:rPr>
              <a:t>respiratory arrest, hypertension or hypotension, coma, and hyperpyrexia.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bg-BG" sz="2400" dirty="0">
                <a:latin typeface="Times New Roman" pitchFamily="18" charset="0"/>
                <a:cs typeface="Times New Roman" pitchFamily="18" charset="0"/>
              </a:rPr>
              <a:t>The cause of this dramatic interaction is not understood.</a:t>
            </a:r>
          </a:p>
          <a:p>
            <a:r>
              <a:rPr lang="bg-BG" sz="2400" dirty="0">
                <a:latin typeface="Times New Roman" pitchFamily="18" charset="0"/>
                <a:cs typeface="Times New Roman" pitchFamily="18" charset="0"/>
              </a:rPr>
              <a:t>Barbiturates, benzodiazepines, and other central nervous system depressants can have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bg-BG" sz="2400" dirty="0">
                <a:latin typeface="Times New Roman" pitchFamily="18" charset="0"/>
                <a:cs typeface="Times New Roman" pitchFamily="18" charset="0"/>
              </a:rPr>
              <a:t>synergistic cardiovascular, respiratory, and sedative effects with opioids.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855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Specific opioids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673587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Morphine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Morphine is a highly potent opiate analgesic  drug.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is principal active agent in opium and the prototypical opiate.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It is the standard drug against which other opioids are compared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Morphine acts directly on CNS to relieve pain.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Mechanism of action: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mu agonist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Routes of Administration: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PO, IV, IM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9553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Morphine</a:t>
            </a:r>
            <a:endParaRPr lang="en-US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It is the prototype opioid and is the “gold standard” to which all other analgesics are compared.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Onset: 15 to 60 minutes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Peak Effect: 30 minutes to 1 hr.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Half Life: 1.5 to 2 hr.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Analgesic duration of action: 4 to 5 hours.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Dose: IV: 0.05 to 0.2 mg/kg ; 5 minutes prior to procedure; max: 15 mg/dose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571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 is highly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addictive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when compared to other substances, and 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tolerance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physical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psychological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dependences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develop very rapidly.</a:t>
            </a:r>
          </a:p>
          <a:p>
            <a:pPr marL="342900" lvl="1" indent="-342900" algn="just">
              <a:buFont typeface="Arial" pitchFamily="34" charset="0"/>
              <a:buChar char="•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It is a CNS depressant</a:t>
            </a:r>
          </a:p>
          <a:p>
            <a:pPr marL="342900" lvl="1" indent="-342900" algn="just"/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that acts on the opiate receptors in the brain, providing both analgesia and sedation. </a:t>
            </a:r>
          </a:p>
          <a:p>
            <a:pPr marL="342900" lvl="1" indent="-342900" algn="just">
              <a:buFont typeface="Arial" pitchFamily="34" charset="0"/>
              <a:buChar char="•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It increases peripheral venous capacitance and decreases venous return. </a:t>
            </a:r>
          </a:p>
          <a:p>
            <a:pPr marL="1200150" lvl="3" indent="-34290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This effect is sometimes called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 chemical phlebotomy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 </a:t>
            </a:r>
          </a:p>
          <a:p>
            <a:pPr marL="342900" lvl="1" indent="-342900" algn="just">
              <a:buFont typeface="Arial" pitchFamily="34" charset="0"/>
              <a:buChar char="•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Decreases systemic vascular resistance</a:t>
            </a:r>
          </a:p>
          <a:p>
            <a:pPr algn="just"/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Histamine Release </a:t>
            </a:r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</a:t>
            </a:r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Hypotension</a:t>
            </a:r>
          </a:p>
          <a:p>
            <a:pPr algn="just"/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1896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Distribution</a:t>
            </a:r>
            <a:endParaRPr lang="en-US" b="1" cap="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  <a:cs typeface="Times New Roman" pitchFamily="18" charset="0"/>
            </a:endParaRPr>
          </a:p>
          <a:p>
            <a:r>
              <a:rPr lang="bg-BG" sz="2800" dirty="0">
                <a:latin typeface="Times New Roman" pitchFamily="18" charset="0"/>
                <a:cs typeface="Times New Roman" pitchFamily="18" charset="0"/>
              </a:rPr>
              <a:t>The low fat solubility of morphine slows passage across the blood–brain barrier,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bg-BG" dirty="0">
                <a:latin typeface="Times New Roman" pitchFamily="18" charset="0"/>
                <a:cs typeface="Times New Roman" pitchFamily="18" charset="0"/>
              </a:rPr>
              <a:t>so that its </a:t>
            </a:r>
            <a:r>
              <a:rPr lang="bg-B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onset of action is slow </a:t>
            </a:r>
            <a:r>
              <a:rPr lang="bg-BG" dirty="0">
                <a:latin typeface="Times New Roman" pitchFamily="18" charset="0"/>
                <a:cs typeface="Times New Roman" pitchFamily="18" charset="0"/>
              </a:rPr>
              <a:t>and its </a:t>
            </a:r>
            <a:r>
              <a:rPr lang="bg-B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duration of action is prolonged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54446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bg-B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Biotransformation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With the exception of remifentanil, m</a:t>
            </a:r>
            <a:r>
              <a:rPr lang="bg-BG" sz="2800" dirty="0">
                <a:latin typeface="Times New Roman" pitchFamily="18" charset="0"/>
                <a:cs typeface="Times New Roman" pitchFamily="18" charset="0"/>
              </a:rPr>
              <a:t>ost opioids depend primarily on the liver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bg-BG" sz="2400" dirty="0">
                <a:latin typeface="Times New Roman" pitchFamily="18" charset="0"/>
                <a:cs typeface="Times New Roman" pitchFamily="18" charset="0"/>
              </a:rPr>
              <a:t>for biotransformation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are metabolized by the cytochrome P (CYP) system,</a:t>
            </a:r>
          </a:p>
          <a:p>
            <a:pPr lvl="1"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conjugated in the liver, or both.</a:t>
            </a:r>
          </a:p>
          <a:p>
            <a:pPr algn="just"/>
            <a:r>
              <a:rPr lang="bg-BG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Because of their high hepatic extraction ratio, their clearance depends on liver blood flow. 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bg-BG" sz="2400" dirty="0">
                <a:latin typeface="Times New Roman" pitchFamily="18" charset="0"/>
                <a:cs typeface="Times New Roman" pitchFamily="18" charset="0"/>
              </a:rPr>
              <a:t>Morphine undergoes conjugation with glucuronic acid to form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bg-BG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morphine 3-glucuronide and morphine 6-glucuronide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5612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5516562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bg-BG" b="1" dirty="0">
                <a:latin typeface="Arial" panose="020B0604020202020204" pitchFamily="34" charset="0"/>
                <a:cs typeface="Arial" panose="020B0604020202020204" pitchFamily="34" charset="0"/>
              </a:rPr>
              <a:t>Excretion</a:t>
            </a:r>
            <a:endParaRPr lang="bg-BG" b="1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bg-BG" sz="2200" dirty="0">
                <a:latin typeface="Arial" panose="020B0604020202020204" pitchFamily="34" charset="0"/>
                <a:cs typeface="Arial" panose="020B0604020202020204" pitchFamily="34" charset="0"/>
              </a:rPr>
              <a:t>The end products of morphine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bg-BG" sz="2200" dirty="0">
                <a:latin typeface="Arial" panose="020B0604020202020204" pitchFamily="34" charset="0"/>
                <a:cs typeface="Arial" panose="020B0604020202020204" pitchFamily="34" charset="0"/>
              </a:rPr>
              <a:t>biotransformation are eliminated by the kidneys, 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bg-BG" sz="2200" dirty="0">
                <a:latin typeface="Arial" panose="020B0604020202020204" pitchFamily="34" charset="0"/>
                <a:cs typeface="Arial" panose="020B0604020202020204" pitchFamily="34" charset="0"/>
              </a:rPr>
              <a:t>with less than 10% undergoing biliary excretion. 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bg-BG" sz="2200" dirty="0">
                <a:latin typeface="Arial" panose="020B0604020202020204" pitchFamily="34" charset="0"/>
                <a:cs typeface="Arial" panose="020B0604020202020204" pitchFamily="34" charset="0"/>
              </a:rPr>
              <a:t>Because </a:t>
            </a:r>
            <a:r>
              <a:rPr lang="bg-BG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5–10% of morphine is excreted unchanged in the urine, </a:t>
            </a:r>
            <a:endParaRPr lang="en-US" sz="2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bg-BG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renal failure prolongs its duration of action. </a:t>
            </a:r>
            <a:endParaRPr lang="en-US" sz="2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bg-BG" sz="2200" dirty="0">
                <a:latin typeface="Arial" panose="020B0604020202020204" pitchFamily="34" charset="0"/>
                <a:cs typeface="Arial" panose="020B0604020202020204" pitchFamily="34" charset="0"/>
              </a:rPr>
              <a:t>The accumulation of morphine metabolites 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bg-BG" sz="2200" dirty="0">
                <a:latin typeface="Arial" panose="020B0604020202020204" pitchFamily="34" charset="0"/>
                <a:cs typeface="Arial" panose="020B0604020202020204" pitchFamily="34" charset="0"/>
              </a:rPr>
              <a:t>(morphine 3-glucuronide and morphine 6-glucuronide) in patients with renal failure 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algn="just"/>
            <a:r>
              <a:rPr lang="bg-BG" sz="2200" dirty="0">
                <a:latin typeface="Arial" panose="020B0604020202020204" pitchFamily="34" charset="0"/>
                <a:cs typeface="Arial" panose="020B0604020202020204" pitchFamily="34" charset="0"/>
              </a:rPr>
              <a:t>has been associated with narcosis and ventilatory depression lasting several days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fact, morphine 6-glucuronide is a more potent and longer-lasting opioid agonist than morphine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bg-BG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3622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>
                <a:latin typeface="Times New Roman" pitchFamily="18" charset="0"/>
                <a:cs typeface="Times New Roman" pitchFamily="18" charset="0"/>
              </a:rPr>
              <a:t>Excretion</a:t>
            </a:r>
            <a:r>
              <a:rPr lang="en-US" b="1" dirty="0">
                <a:latin typeface="Agency FB" pitchFamily="34" charset="0"/>
                <a:cs typeface="Times New Roman" pitchFamily="18" charset="0"/>
              </a:rPr>
              <a:t>…</a:t>
            </a:r>
            <a:endParaRPr lang="en-US" altLang="en-US" dirty="0">
              <a:latin typeface="Agency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 rtlCol="0">
            <a:normAutofit fontScale="55000" lnSpcReduction="20000"/>
          </a:bodyPr>
          <a:lstStyle/>
          <a:p>
            <a:pPr marL="457200" lvl="1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</a:t>
            </a:r>
          </a:p>
          <a:p>
            <a:pPr marL="457200" lvl="1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				Morphine</a:t>
            </a:r>
          </a:p>
          <a:p>
            <a:pPr marL="457200" lvl="1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44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44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44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44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marL="457200" lvl="1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Morphine-3-glucuronide		</a:t>
            </a:r>
            <a:r>
              <a:rPr lang="en-US" sz="3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Morphine-6-glucuronide</a:t>
            </a:r>
          </a:p>
          <a:p>
            <a:pPr marL="457200" lvl="1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			(Active Metabolite)</a:t>
            </a:r>
          </a:p>
          <a:p>
            <a:pPr marL="457200" lvl="1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marL="457200" lvl="1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Excreted in Urine</a:t>
            </a:r>
          </a:p>
          <a:p>
            <a:pPr lvl="1" algn="just">
              <a:defRPr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So patients with renal impairment can accumulate Morphine-6-G </a:t>
            </a:r>
            <a:r>
              <a:rPr lang="en-US" sz="4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</a:t>
            </a:r>
            <a:r>
              <a:rPr lang="en-US" sz="4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Caution with renal insufficiency</a:t>
            </a:r>
          </a:p>
          <a:p>
            <a:pPr marL="457200" lvl="1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44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			</a:t>
            </a:r>
          </a:p>
        </p:txBody>
      </p:sp>
      <p:sp>
        <p:nvSpPr>
          <p:cNvPr id="4" name="Down Arrow 3"/>
          <p:cNvSpPr/>
          <p:nvPr/>
        </p:nvSpPr>
        <p:spPr>
          <a:xfrm rot="2212191">
            <a:off x="3295650" y="2370138"/>
            <a:ext cx="762000" cy="1597025"/>
          </a:xfrm>
          <a:prstGeom prst="downArrow">
            <a:avLst>
              <a:gd name="adj1" fmla="val 50000"/>
              <a:gd name="adj2" fmla="val 520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 rot="19509878">
            <a:off x="5313363" y="2401888"/>
            <a:ext cx="685800" cy="14763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2036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Dosage and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Morphine is supplied in 10 mg / 1ml injections.  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may be in a vial or pre-filled syringe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 to 3 mg/ epidural/ intrathecal  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867405"/>
              </p:ext>
            </p:extLst>
          </p:nvPr>
        </p:nvGraphicFramePr>
        <p:xfrm>
          <a:off x="609600" y="2971800"/>
          <a:ext cx="7848600" cy="3352799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2736"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pidural/ intrathecal </a:t>
                      </a:r>
                      <a:endParaRPr lang="bg-BG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bg-BG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 to 3 mg</a:t>
                      </a:r>
                      <a:endParaRPr lang="en-US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212"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Premedication</a:t>
                      </a:r>
                      <a:endParaRPr lang="bg-BG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bg-BG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IM</a:t>
                      </a:r>
                      <a:endParaRPr lang="bg-BG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0.05–0.2 mg/kg</a:t>
                      </a:r>
                      <a:endParaRPr lang="en-US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2521"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Intraoperative anesthesia</a:t>
                      </a:r>
                      <a:endParaRPr lang="bg-BG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bg-BG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IV</a:t>
                      </a:r>
                      <a:endParaRPr lang="bg-BG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0.1–1 mg/kg</a:t>
                      </a:r>
                      <a:endParaRPr lang="bg-BG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665">
                <a:tc rowSpan="2"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Postoperative analgesia </a:t>
                      </a:r>
                      <a:endParaRPr lang="bg-BG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bg-BG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IM</a:t>
                      </a:r>
                      <a:endParaRPr lang="bg-BG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0.05–0.2 mg/kg</a:t>
                      </a:r>
                      <a:endParaRPr lang="bg-BG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6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bg-BG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IV</a:t>
                      </a:r>
                      <a:endParaRPr lang="bg-BG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0.03–0.15 mg/kg</a:t>
                      </a:r>
                      <a:endParaRPr lang="bg-BG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73748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5344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Contraindications</a:t>
            </a:r>
          </a:p>
          <a:p>
            <a:r>
              <a:rPr lang="en-US" sz="26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Volume depleted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6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severely hypotensive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patients.  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Any   history of </a:t>
            </a:r>
            <a:r>
              <a:rPr lang="en-US" sz="26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hypersensitivity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to the drug or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to patients with undiagnosed </a:t>
            </a:r>
            <a:r>
              <a:rPr lang="en-US" sz="26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head injury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6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abdominal pain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Precautions: special considerations are involved in the handling of the drug b/c of high tendency for addiction. </a:t>
            </a:r>
          </a:p>
          <a:p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5934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Precautions morphine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Infants &amp; elderly pts.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Patients with respiratory insufficiency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Bronchial asthma - precipitates an attack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Head injury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Hypotensive states &amp; hypovolemia exaggerate 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fall in B/P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Undiagnosed acute abdominal pain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4534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Meperidine (Pethidine)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Synthetic analgesic drug was synthesized as atropine substitute &amp; has some action like atropine.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 is the most popular narcotic analgesic used during labor</a:t>
            </a:r>
          </a:p>
          <a:p>
            <a:pPr marL="342900" lvl="1" indent="-342900" algn="just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side effects can be categorized as maternal &amp; fetal effects.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lvl="1" indent="-342900" algn="just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is the most common substitute for morphine and is 10 times less potent than morphine.</a:t>
            </a:r>
          </a:p>
          <a:p>
            <a:pPr marL="342900" lvl="1" indent="-342900" algn="just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has shorter duration of action than morphine </a:t>
            </a:r>
          </a:p>
          <a:p>
            <a:pPr marL="342900" lvl="1" indent="-342900" algn="just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It </a:t>
            </a:r>
            <a:r>
              <a:rPr lang="bg-BG" sz="2400" dirty="0">
                <a:latin typeface="Times New Roman" pitchFamily="18" charset="0"/>
                <a:cs typeface="Times New Roman" pitchFamily="18" charset="0"/>
              </a:rPr>
              <a:t>tends to increase heart rate (it is structurally similar to atropine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dirty="0"/>
              <a:t> </a:t>
            </a:r>
          </a:p>
          <a:p>
            <a:pPr marL="342900" lvl="1" indent="-342900" algn="just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Intravenous meperidine (10–25 mg) is more effective than morphine or fentanyl for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decreasing shivering 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6885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Spasmodic action on smooth muscles is less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Tachycardia (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antimuscarinic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action)- it is related to atropine, even acts on opioid receptors</a:t>
            </a:r>
          </a:p>
          <a:p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Safer in asthmatics (less histamine release)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Uses- analgesia, preanaesthetic medication</a:t>
            </a:r>
          </a:p>
          <a:p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Preferred  opioid analgesic during labour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less neonatal respiratory depression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7546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Dosage and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Pethidine is supplied in 100 mg /2mlor 50 mg/ml injections.  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642084"/>
              </p:ext>
            </p:extLst>
          </p:nvPr>
        </p:nvGraphicFramePr>
        <p:xfrm>
          <a:off x="533400" y="2971800"/>
          <a:ext cx="8153400" cy="2514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Premedication</a:t>
                      </a:r>
                      <a:endParaRPr lang="bg-BG" sz="3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IM</a:t>
                      </a:r>
                      <a:endParaRPr lang="bg-BG" sz="3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0.5–1 mg/kg</a:t>
                      </a:r>
                      <a:endParaRPr lang="bg-BG" sz="3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Intraoperative anesthesia</a:t>
                      </a:r>
                      <a:endParaRPr lang="bg-BG" sz="3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IV</a:t>
                      </a:r>
                      <a:endParaRPr lang="bg-BG" sz="3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2.5–5 mg/kg</a:t>
                      </a:r>
                      <a:endParaRPr lang="bg-BG" sz="3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 rowSpan="2"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Postoperative analgesia</a:t>
                      </a:r>
                      <a:endParaRPr lang="bg-BG" sz="3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IM</a:t>
                      </a:r>
                      <a:endParaRPr lang="bg-BG" sz="3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0.5–1 mg/kg</a:t>
                      </a:r>
                      <a:endParaRPr lang="bg-BG" sz="3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IV</a:t>
                      </a:r>
                      <a:endParaRPr lang="bg-BG" sz="3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0.2–0.5 mg/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bg-BG" sz="3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84499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Benefits: euphoria, analgesia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Side Effects: N/V, respiratory depression, hallucinations,  seizures</a:t>
            </a:r>
          </a:p>
          <a:p>
            <a:pPr>
              <a:buFont typeface="Wingdings" pitchFamily="2" charset="2"/>
              <a:buChar char="Ø"/>
            </a:pPr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Meperidine is N-demethylated to </a:t>
            </a:r>
            <a:r>
              <a:rPr lang="bg-BG" sz="2400" b="1" dirty="0">
                <a:latin typeface="Arial" panose="020B0604020202020204" pitchFamily="34" charset="0"/>
                <a:cs typeface="Arial" panose="020B0604020202020204" pitchFamily="34" charset="0"/>
              </a:rPr>
              <a:t>normeperidine</a:t>
            </a:r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, an active metabolite associated with seizure activity.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 renal dysfunction increases the chance of toxic effects from normeperidine accumulation.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Normeperidine has an excitatory effect on 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CNS</a:t>
            </a:r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leading to myoclonic activity and seizures that are not reversed by naloxone.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0702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792162"/>
          </a:xfrm>
        </p:spPr>
        <p:txBody>
          <a:bodyPr/>
          <a:lstStyle/>
          <a:p>
            <a:pPr eaLnBrk="1" hangingPunct="1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Pethidine: drawbacks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334000"/>
          </a:xfrm>
        </p:spPr>
        <p:txBody>
          <a:bodyPr rtlCol="0">
            <a:noAutofit/>
          </a:bodyPr>
          <a:lstStyle/>
          <a:p>
            <a:pPr algn="just"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Tolerance and dependence</a:t>
            </a:r>
          </a:p>
          <a:p>
            <a:pPr lvl="1" algn="just"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Because of rapid onset and short duration</a:t>
            </a:r>
          </a:p>
          <a:p>
            <a:pPr algn="just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inhibits dopamine and norepinephrine transporters,  </a:t>
            </a:r>
          </a:p>
          <a:p>
            <a:pPr lvl="1" algn="just"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responsible for its greater euphoric effect and negative effects on cognition</a:t>
            </a:r>
          </a:p>
          <a:p>
            <a:pPr algn="just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inhibits the presynaptic uptake of serotonin, </a:t>
            </a:r>
          </a:p>
          <a:p>
            <a:pPr lvl="1" algn="just"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placing patients at risk for serotonin syndrome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especially in those patients receiving concomitant therapy with </a:t>
            </a:r>
          </a:p>
          <a:p>
            <a:pPr lvl="2">
              <a:buFont typeface="Wingdings" pitchFamily="2" charset="2"/>
              <a:buChar char="§"/>
              <a:defRPr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 selective serotonin reuptake inhibitor (SSRI), </a:t>
            </a:r>
          </a:p>
          <a:p>
            <a:pPr lvl="2">
              <a:buFont typeface="Wingdings" pitchFamily="2" charset="2"/>
              <a:buChar char="§"/>
              <a:defRPr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monoamine oxidase inhibitor (MAOI) or </a:t>
            </a:r>
          </a:p>
          <a:p>
            <a:pPr lvl="2">
              <a:buFont typeface="Wingdings" pitchFamily="2" charset="2"/>
              <a:buChar char="§"/>
              <a:defRPr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other compounds that increase serotonin concentrations. </a:t>
            </a:r>
          </a:p>
        </p:txBody>
      </p:sp>
    </p:spTree>
    <p:extLst>
      <p:ext uri="{BB962C8B-B14F-4D97-AF65-F5344CB8AC3E}">
        <p14:creationId xmlns:p14="http://schemas.microsoft.com/office/powerpoint/2010/main" val="31725654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Morphine vs. Pethidine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6907873"/>
              </p:ext>
            </p:extLst>
          </p:nvPr>
        </p:nvGraphicFramePr>
        <p:xfrm>
          <a:off x="304800" y="1051941"/>
          <a:ext cx="8534400" cy="557943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Morphine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Pethidine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Equipotent adult dose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10 mg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100 mg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Cortical effects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Sedation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Sedation less marked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Pupillary effects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Miosis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Atropine-like effects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Smooth muscles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Spasmogenic effect constipation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Less marked spasm constipation unlikely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CVS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Bradycardia 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Slightly fall in B/P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Significant fall in B/P,</a:t>
                      </a:r>
                      <a:r>
                        <a:rPr lang="en-US" sz="2000" baseline="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tachycardia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Atropine like effects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Nil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Dry mouth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Duration of action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4 to 5 hrs.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2 to 4 hrs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370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Use during labour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Contraindicated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Narcotic of choice if administered &gt; 4 hrs prior to delivery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093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Metabolism &amp; excretion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dirty="0" err="1">
                          <a:latin typeface="Times New Roman"/>
                          <a:ea typeface="Times New Roman"/>
                        </a:rPr>
                        <a:t>Glucuronide</a:t>
                      </a:r>
                      <a:r>
                        <a:rPr lang="fr-FR" sz="20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fr-FR" sz="2000" dirty="0" err="1">
                          <a:latin typeface="Times New Roman"/>
                          <a:ea typeface="Times New Roman"/>
                        </a:rPr>
                        <a:t>conjugation</a:t>
                      </a:r>
                      <a:r>
                        <a:rPr lang="fr-FR" sz="20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fr-FR" sz="2000" dirty="0" err="1">
                          <a:latin typeface="Times New Roman"/>
                          <a:ea typeface="Times New Roman"/>
                        </a:rPr>
                        <a:t>Excretion</a:t>
                      </a:r>
                      <a:r>
                        <a:rPr lang="fr-FR" sz="2000" dirty="0">
                          <a:latin typeface="Times New Roman"/>
                          <a:ea typeface="Times New Roman"/>
                        </a:rPr>
                        <a:t> in bile 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Extensive metabolism by liver to active metabolites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3745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Fentanyl (Sublimaze)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534400" cy="490696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First synthesized in Belgium in the 1950’s for anesthesia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is a µ-opioid receptor agonist.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is a potent synthetic narcotic with properties similar to those of morphine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50 to 100 times more potent than morphine.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is used as an aid for induction and maintenance of inhalation anaesthesia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4215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Duration of action is considerably shorter than morphine –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30 to 60 minutes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Rapid onset and short duration of action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because of the high lipid solubility.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The end products of fentanyl, sufentanil, and alfentanil are inactive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Fentanyl is 500 times more lipid soluble than morphine,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thereby it is rapidly and extensively distributed in the body at small doses (1-2mcg/kg).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It is metabolized in the liver to norfentanyl which is inactive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Fentanyl is therefore suitable for patients in renal failure</a:t>
            </a:r>
          </a:p>
        </p:txBody>
      </p:sp>
    </p:spTree>
    <p:extLst>
      <p:ext uri="{BB962C8B-B14F-4D97-AF65-F5344CB8AC3E}">
        <p14:creationId xmlns:p14="http://schemas.microsoft.com/office/powerpoint/2010/main" val="35369826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Clinical uses</a:t>
            </a:r>
          </a:p>
          <a:p>
            <a:pPr algn="just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Adjunct to induction agents 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 blunt the hemodynamic response to laryngoscopy and tracheal intubation, which can be particularly severe in patients with hypertension or cardiovascular disease</a:t>
            </a:r>
          </a:p>
          <a:p>
            <a:pPr algn="just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Analgesia and sedation </a:t>
            </a:r>
          </a:p>
          <a:p>
            <a:pPr algn="just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Reduces the MAC of volatile anesthetics  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 adjuvant with local anesthetics for spinal anesthesia. </a:t>
            </a:r>
          </a:p>
          <a:p>
            <a:pPr lvl="1" algn="just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10–25 mcg.</a:t>
            </a:r>
          </a:p>
          <a:p>
            <a:pPr algn="just"/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5668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Dosage and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Fentanyl is supplied in 100 mcg /2ml injections or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10 ml ampoules containing 50 mcg per ml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is available as a colourless solution.</a:t>
            </a:r>
          </a:p>
          <a:p>
            <a:pPr marL="457200" lvl="1" indent="-457200">
              <a:buFont typeface="Wingdings" pitchFamily="2" charset="2"/>
              <a:buChar char="q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</a:p>
          <a:p>
            <a:pPr marL="1200150" lvl="3" indent="-342900"/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1 -2 microgram per kilogram of body weight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Single dose - rapid onset of action (within 30 seconds)</a:t>
            </a:r>
          </a:p>
          <a:p>
            <a:pPr lvl="1">
              <a:lnSpc>
                <a:spcPct val="90000"/>
              </a:lnSpc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7682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0680693"/>
              </p:ext>
            </p:extLst>
          </p:nvPr>
        </p:nvGraphicFramePr>
        <p:xfrm>
          <a:off x="609600" y="457200"/>
          <a:ext cx="8229600" cy="60729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8">
                <a:tc>
                  <a:txBody>
                    <a:bodyPr/>
                    <a:lstStyle/>
                    <a:p>
                      <a:r>
                        <a:rPr lang="en-US" sz="2400" b="1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Morphine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2400" b="1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Fentanyl</a:t>
                      </a: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42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Slow onset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 onset</a:t>
                      </a: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42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Longer</a:t>
                      </a:r>
                      <a:r>
                        <a:rPr lang="en-US" sz="2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duration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Shorter Duration</a:t>
                      </a: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066">
                <a:tc>
                  <a:txBody>
                    <a:bodyPr/>
                    <a:lstStyle/>
                    <a:p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100x more</a:t>
                      </a:r>
                      <a:r>
                        <a:rPr lang="en-US" sz="2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potent than morphine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830">
                <a:tc>
                  <a:txBody>
                    <a:bodyPr/>
                    <a:lstStyle/>
                    <a:p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500-600x more lipid soluble 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 Can build</a:t>
                      </a:r>
                      <a:r>
                        <a:rPr lang="en-US" sz="2400" baseline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 up in fatty tissue and have prolong effect.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883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Histamine Release 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 Hypotension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Histamine Release  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 better for patients with hemodynamic compromise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42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Active Metabolites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Active Metabolites</a:t>
                      </a: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43399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Caution</a:t>
                      </a:r>
                      <a:r>
                        <a:rPr lang="en-US" sz="2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with renal insufficiency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renal dose adjustment</a:t>
                      </a: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8675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152400"/>
            <a:ext cx="8153400" cy="990600"/>
          </a:xfrm>
        </p:spPr>
        <p:txBody>
          <a:bodyPr>
            <a:noAutofit/>
          </a:bodyPr>
          <a:lstStyle/>
          <a:p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Alfentanil </a:t>
            </a:r>
            <a:b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798169" cy="52578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is a synthetic phenylpiperidine derivative structurally related  to fentanyl; it has 10-20% of its potency.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Most effects of alfentanil are similar to fentanyl but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quicker onset and shorter duration of action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664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Alfentanil is available as colourless solution in the concentrations of </a:t>
            </a: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500mcg/ml or 5mg/ml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It may be administered </a:t>
            </a: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intravenously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as either a bolus or continuous infusion. </a:t>
            </a:r>
          </a:p>
          <a:p>
            <a:pPr marL="0" indent="0">
              <a:buNone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9685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533400"/>
            <a:ext cx="8229600" cy="1143000"/>
          </a:xfrm>
        </p:spPr>
        <p:txBody>
          <a:bodyPr>
            <a:noAutofit/>
          </a:bodyPr>
          <a:lstStyle/>
          <a:p>
            <a:b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Remifentanil </a:t>
            </a:r>
            <a:b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600200"/>
            <a:ext cx="8537448" cy="50292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is a synthetic phenylpiperidine derivative of fentanyl with similar potency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is ultra short-acting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It is available as white crystalline powder in glass vial containing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 2 or 5mg remifentanil hydrochloride. </a:t>
            </a:r>
          </a:p>
          <a:p>
            <a:pPr marL="0" indent="0"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7153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8992844"/>
              </p:ext>
            </p:extLst>
          </p:nvPr>
        </p:nvGraphicFramePr>
        <p:xfrm>
          <a:off x="170642" y="1586485"/>
          <a:ext cx="8410576" cy="466616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9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55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2195"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Sufentanil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Intraoperative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anesthesia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IV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0.25–30 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mc</a:t>
                      </a: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g/kg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262">
                <a:tc rowSpan="3"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Alfentanil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Intraoperative anesthesia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28575" marR="28575" marT="28575" marB="28575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IV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28575" marR="28575" marT="28575" marB="28575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8–100 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mc</a:t>
                      </a: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g/kg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4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 Loading dose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28575" marR="28575" marT="28575" marB="28575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bg-BG" sz="2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bg-BG" sz="2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9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 Maintenance infusion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IV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0.5–3 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mc</a:t>
                      </a: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g/kg/min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445">
                <a:tc rowSpan="4"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Remifentanil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Intraoperative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anesthesia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28575" marR="28575" marT="28575" marB="28575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IV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28575" marR="28575" marT="28575" marB="28575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Symbol"/>
                        </a:rPr>
                        <a:t></a:t>
                      </a: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g/kg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4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 Loading dose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28575" marR="28575" marT="28575" marB="28575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bg-BG" sz="2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bg-BG" sz="2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2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 Maintenance infusion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IV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0.5–20 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mc</a:t>
                      </a: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g/kg/min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65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Postoperative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just"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baseline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en-US" sz="200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nalgesia/sedation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IV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1425"/>
                        </a:lnSpc>
                        <a:spcAft>
                          <a:spcPts val="0"/>
                        </a:spcAft>
                      </a:pP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0.05–0.3 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mc</a:t>
                      </a:r>
                      <a:r>
                        <a:rPr lang="bg-BG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g/kg/min</a:t>
                      </a:r>
                      <a:endParaRPr lang="bg-BG" sz="20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078" name="Picture 6" descr="http://www.accessmedicine.com/images/special/mulower.gif"/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46313"/>
            <a:ext cx="5715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http://www.accessmedicine.com/images/special/mulower.gif"/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46313"/>
            <a:ext cx="5715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www.accessmedicine.com/images/special/mulower.gif"/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46313"/>
            <a:ext cx="5715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28664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US" altLang="ko-KR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Tramadol</a:t>
            </a:r>
            <a:br>
              <a:rPr lang="en-US" altLang="ko-KR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498316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Mechanism of action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weak opioid </a:t>
            </a:r>
          </a:p>
          <a:p>
            <a:pPr>
              <a:defRPr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Routes of Administration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Oral and IV</a:t>
            </a:r>
          </a:p>
          <a:p>
            <a:pPr lvl="1">
              <a:lnSpc>
                <a:spcPct val="90000"/>
              </a:lnSpc>
            </a:pPr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Analgesic action mechanism</a:t>
            </a:r>
          </a:p>
          <a:p>
            <a:pPr lvl="2">
              <a:lnSpc>
                <a:spcPct val="9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Weak affinity for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-opioid receptor </a:t>
            </a:r>
          </a:p>
          <a:p>
            <a:pPr lvl="2">
              <a:lnSpc>
                <a:spcPct val="9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norepinephrine &amp; 5-HT reuptake Inhibition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Benefits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less addiction potential than stronger narcotics, less respiratory depression</a:t>
            </a:r>
            <a:endParaRPr lang="en-US" altLang="ko-KR" sz="2400" dirty="0">
              <a:latin typeface="Arial" panose="020B0604020202020204" pitchFamily="34" charset="0"/>
              <a:cs typeface="Arial" panose="020B0604020202020204" pitchFamily="34" charset="0"/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Less respiratory depression, nausea, vomiting, constipation</a:t>
            </a:r>
          </a:p>
          <a:p>
            <a:pPr lvl="1">
              <a:lnSpc>
                <a:spcPct val="90000"/>
              </a:lnSpc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Less abuse potential</a:t>
            </a:r>
          </a:p>
          <a:p>
            <a:pPr lvl="1">
              <a:lnSpc>
                <a:spcPct val="90000"/>
              </a:lnSpc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Rapid psychomotor recovery</a:t>
            </a:r>
          </a:p>
          <a:p>
            <a:pPr lvl="1">
              <a:lnSpc>
                <a:spcPct val="90000"/>
              </a:lnSpc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Labour pain, injury, surgery (other short lasting pain)</a:t>
            </a:r>
          </a:p>
          <a:p>
            <a:pPr lvl="1">
              <a:lnSpc>
                <a:spcPct val="90000"/>
              </a:lnSpc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Moderate pain treatment : as effective as morphine</a:t>
            </a:r>
          </a:p>
          <a:p>
            <a:pPr lvl="1">
              <a:lnSpc>
                <a:spcPct val="90000"/>
              </a:lnSpc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Severe pain treatment : less effective than morphine</a:t>
            </a:r>
          </a:p>
          <a:p>
            <a:pPr>
              <a:lnSpc>
                <a:spcPct val="90000"/>
              </a:lnSpc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1210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Tramadol…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2578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  <a:defRPr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Side Effects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>
              <a:defRPr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nausea, vomiting, respiratory depression, sedation, (all less than other narcotics,) </a:t>
            </a:r>
          </a:p>
          <a:p>
            <a:pPr lvl="1">
              <a:defRPr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seizures, serotonin syndrome</a:t>
            </a:r>
          </a:p>
          <a:p>
            <a:pPr algn="just">
              <a:buFont typeface="Wingdings" pitchFamily="2" charset="2"/>
              <a:buChar char="Ø"/>
              <a:defRPr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Contraindications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 algn="just">
              <a:defRPr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Use low dose in seizure disorder or avoid if possible, </a:t>
            </a:r>
          </a:p>
          <a:p>
            <a:pPr lvl="1">
              <a:defRPr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avoid use with antidepressants (may lead to serotonin syndrome.)</a:t>
            </a:r>
          </a:p>
          <a:p>
            <a:pPr algn="just">
              <a:defRPr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Serotonin syndrome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At least three of the following: </a:t>
            </a:r>
          </a:p>
          <a:p>
            <a:pPr lvl="1" algn="just"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agitation, ataxia, increased sweating, diarrhea, fever, hyperreflexia, myoclonus, or shivering.  </a:t>
            </a:r>
          </a:p>
          <a:p>
            <a:pPr algn="just">
              <a:buFont typeface="Wingdings" pitchFamily="2" charset="2"/>
              <a:buChar char="ü"/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syndrome usually occurs after initiating or increasing the dose of a serotonergic medicines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buFont typeface="Wingdings" pitchFamily="2" charset="2"/>
              <a:buChar char="Ø"/>
              <a:defRPr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Dosing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1-2 mg/kg every 8 hours; safety demonstrated in ages 1 year- adult</a:t>
            </a:r>
          </a:p>
        </p:txBody>
      </p:sp>
    </p:spTree>
    <p:extLst>
      <p:ext uri="{BB962C8B-B14F-4D97-AF65-F5344CB8AC3E}">
        <p14:creationId xmlns:p14="http://schemas.microsoft.com/office/powerpoint/2010/main" val="21827435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Opioid antagonists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Naloxone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Naltrexone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EFFECTS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*Reverses the  effects of opiate agonists.</a:t>
            </a:r>
          </a:p>
          <a:p>
            <a:pPr lvl="1">
              <a:lnSpc>
                <a:spcPct val="8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* Reverses  hypotension and cardiovascular  instability</a:t>
            </a:r>
          </a:p>
          <a:p>
            <a:pPr lvl="1">
              <a:lnSpc>
                <a:spcPct val="8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*inhibits Mu, Delta, and Kappa receptors.    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2356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Naloxone (IV,IM)</a:t>
            </a:r>
            <a:b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 fontScale="25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sz="9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Mechanism of Action</a:t>
            </a:r>
          </a:p>
          <a:p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 Naloxone (Narcan) is a competitive antagonist at opioid receptors.</a:t>
            </a:r>
          </a:p>
          <a:p>
            <a:pPr lvl="1"/>
            <a:r>
              <a:rPr lang="en-US" sz="8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its affinity is highest at </a:t>
            </a:r>
            <a:r>
              <a:rPr lang="en-US" sz="8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 </a:t>
            </a:r>
            <a:r>
              <a:rPr lang="en-US" sz="8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receptors</a:t>
            </a:r>
          </a:p>
          <a:p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Naloxone has no significant agonist activity. </a:t>
            </a:r>
          </a:p>
          <a:p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It is the drug of choice for the treatment of opioid induced respiratory depression. </a:t>
            </a:r>
          </a:p>
          <a:p>
            <a:pPr lvl="1"/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used in emergency cases of </a:t>
            </a:r>
            <a:r>
              <a:rPr lang="en-US" sz="8800" dirty="0">
                <a:solidFill>
                  <a:srgbClr val="0C29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overdose</a:t>
            </a:r>
            <a:endParaRPr lang="en-US" sz="8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Short duration of action  (30–45 min).</a:t>
            </a:r>
          </a:p>
          <a:p>
            <a:pPr lvl="1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due to rapid redistribution from the CNS.</a:t>
            </a:r>
          </a:p>
          <a:p>
            <a:pPr marL="0" indent="0">
              <a:buNone/>
            </a:pPr>
            <a:r>
              <a:rPr lang="en-US" sz="9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N.B</a:t>
            </a:r>
          </a:p>
          <a:p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It should be administered slowly to  avoid reactive pulmonary hypertension with the development of  acute pulmonary edema </a:t>
            </a:r>
          </a:p>
          <a:p>
            <a:pPr lvl="1"/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probably from antagonism of endogenous opioid effects.</a:t>
            </a:r>
          </a:p>
          <a:p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3305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229600" cy="1143000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382000" cy="50292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1–4 μg/kg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intravenously.  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usual dose is 200-400mcg intravenously, 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intravenous naloxone (0.4 mg/mL vial diluted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diluted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in 9 mL saline to 0.04 mg/mL) can be titrated in increments of 0.5–1 mcg/kg every 3–5 min to reverse undesirable effects of opioids,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example itching associated with the intrathecal or epidural administration of opioids, without significantly affecting the level of analgesia.</a:t>
            </a:r>
          </a:p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Neonatal respiratory depression resulting from maternal opioid administration is treated with 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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g/kg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repeated in 2 min if necessary.</a:t>
            </a: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022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92A0F-AA02-AD63-7188-FD0B6C4B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D2EE8-33BD-0ACA-F59E-921FE5971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Side Effects</a:t>
            </a:r>
          </a:p>
          <a:p>
            <a:r>
              <a:rPr lang="en-US" sz="2800" dirty="0"/>
              <a:t>Abrupt reversal of opioid analgesia can result in</a:t>
            </a:r>
          </a:p>
          <a:p>
            <a:pPr lvl="2"/>
            <a:r>
              <a:rPr lang="en-US" dirty="0"/>
              <a:t>sympathetic stimulation (tachycardia, ventricular irritability, hypertension, pulmonary edema) </a:t>
            </a:r>
          </a:p>
          <a:p>
            <a:pPr lvl="3"/>
            <a:r>
              <a:rPr lang="en-US" dirty="0"/>
              <a:t>caused by severe, acute pain, and an acute withdrawal syndrome in patients who are opioid-dependent. </a:t>
            </a:r>
          </a:p>
          <a:p>
            <a:r>
              <a:rPr lang="en-US" sz="2400" dirty="0"/>
              <a:t>The extent of these side effects is proportional to the amount of opioid being reversed and the speed of the reversal.</a:t>
            </a:r>
          </a:p>
        </p:txBody>
      </p:sp>
    </p:spTree>
    <p:extLst>
      <p:ext uri="{BB962C8B-B14F-4D97-AF65-F5344CB8AC3E}">
        <p14:creationId xmlns:p14="http://schemas.microsoft.com/office/powerpoint/2010/main" val="28108170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Naltrexone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is an opioid receptor antagonist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used primarily in the management of alcohol dependence  and opioid dependence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it is used orally for maintenance treatment of opioid addicts and for ethanol abuse.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It should not be confused with naloxone,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which is used in emergency cases of overdose rather than for longer term dependence control.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has significantly longer half-lives than naloxone.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5922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3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C USOON! </a:t>
            </a:r>
          </a:p>
        </p:txBody>
      </p:sp>
    </p:spTree>
    <p:extLst>
      <p:ext uri="{BB962C8B-B14F-4D97-AF65-F5344CB8AC3E}">
        <p14:creationId xmlns:p14="http://schemas.microsoft.com/office/powerpoint/2010/main" val="1812063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1928</TotalTime>
  <Words>3560</Words>
  <Application>Microsoft Office PowerPoint</Application>
  <PresentationFormat>On-screen Show (4:3)</PresentationFormat>
  <Paragraphs>570</Paragraphs>
  <Slides>56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Agency FB</vt:lpstr>
      <vt:lpstr>Arial</vt:lpstr>
      <vt:lpstr>Calibri</vt:lpstr>
      <vt:lpstr>MinionPro-It</vt:lpstr>
      <vt:lpstr>MinionPro-Regular</vt:lpstr>
      <vt:lpstr>Times New Roman</vt:lpstr>
      <vt:lpstr>Wingdings</vt:lpstr>
      <vt:lpstr>Office Theme</vt:lpstr>
      <vt:lpstr>OPIOID ANALGESICS</vt:lpstr>
      <vt:lpstr>Outline of the presentation</vt:lpstr>
      <vt:lpstr>Objectives</vt:lpstr>
      <vt:lpstr>Introduction</vt:lpstr>
      <vt:lpstr>Cont.…</vt:lpstr>
      <vt:lpstr>Clinical Uses of opioids</vt:lpstr>
      <vt:lpstr>Mechanisms of Action </vt:lpstr>
      <vt:lpstr>MOA…</vt:lpstr>
      <vt:lpstr>MOA…</vt:lpstr>
      <vt:lpstr>Cont..</vt:lpstr>
      <vt:lpstr>Cont…</vt:lpstr>
      <vt:lpstr> Opioid Receptors </vt:lpstr>
      <vt:lpstr>Cont…</vt:lpstr>
      <vt:lpstr>Classification Of Opioids </vt:lpstr>
      <vt:lpstr>Cont…</vt:lpstr>
      <vt:lpstr>Cont…</vt:lpstr>
      <vt:lpstr>Cont…</vt:lpstr>
      <vt:lpstr>Pharmacological Effects</vt:lpstr>
      <vt:lpstr>Cont…</vt:lpstr>
      <vt:lpstr>Cont…</vt:lpstr>
      <vt:lpstr>Cont…</vt:lpstr>
      <vt:lpstr>Cont…</vt:lpstr>
      <vt:lpstr>PowerPoint Presentation</vt:lpstr>
      <vt:lpstr>Morphine</vt:lpstr>
      <vt:lpstr>Cont…</vt:lpstr>
      <vt:lpstr>Cont…</vt:lpstr>
      <vt:lpstr>Cont…</vt:lpstr>
      <vt:lpstr>Cont…</vt:lpstr>
      <vt:lpstr>Cont…</vt:lpstr>
      <vt:lpstr>Excretion…</vt:lpstr>
      <vt:lpstr>Dosage and package</vt:lpstr>
      <vt:lpstr>Cont…</vt:lpstr>
      <vt:lpstr>Precautions morphine cont.</vt:lpstr>
      <vt:lpstr>Meperidine (Pethidine)</vt:lpstr>
      <vt:lpstr>Cont…</vt:lpstr>
      <vt:lpstr>Dosage and package</vt:lpstr>
      <vt:lpstr>Cont…</vt:lpstr>
      <vt:lpstr>Pethidine: drawbacks</vt:lpstr>
      <vt:lpstr>Morphine vs. Pethidine</vt:lpstr>
      <vt:lpstr>Fentanyl (Sublimaze)</vt:lpstr>
      <vt:lpstr>Cont…</vt:lpstr>
      <vt:lpstr>Cont…</vt:lpstr>
      <vt:lpstr>Dosage and package</vt:lpstr>
      <vt:lpstr>PowerPoint Presentation</vt:lpstr>
      <vt:lpstr>Alfentanil   </vt:lpstr>
      <vt:lpstr>Cont..</vt:lpstr>
      <vt:lpstr> Remifentanil   </vt:lpstr>
      <vt:lpstr>Cont…</vt:lpstr>
      <vt:lpstr> Tramadol </vt:lpstr>
      <vt:lpstr>Tramadol…</vt:lpstr>
      <vt:lpstr>Opioid antagonists</vt:lpstr>
      <vt:lpstr> Naloxone (IV,IM) </vt:lpstr>
      <vt:lpstr>Cont…</vt:lpstr>
      <vt:lpstr>Cont.…</vt:lpstr>
      <vt:lpstr>Naltrexone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OPIOID ANALGESICS</dc:title>
  <dc:creator>DELL</dc:creator>
  <cp:lastModifiedBy>Mulualem Sitot</cp:lastModifiedBy>
  <cp:revision>222</cp:revision>
  <dcterms:created xsi:type="dcterms:W3CDTF">2006-08-16T00:00:00Z</dcterms:created>
  <dcterms:modified xsi:type="dcterms:W3CDTF">2024-03-19T12:38:11Z</dcterms:modified>
</cp:coreProperties>
</file>