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354" r:id="rId4"/>
    <p:sldId id="355" r:id="rId5"/>
    <p:sldId id="358" r:id="rId6"/>
    <p:sldId id="356" r:id="rId7"/>
    <p:sldId id="357" r:id="rId8"/>
    <p:sldId id="363" r:id="rId9"/>
    <p:sldId id="359" r:id="rId10"/>
    <p:sldId id="361" r:id="rId11"/>
    <p:sldId id="360" r:id="rId12"/>
    <p:sldId id="261" r:id="rId13"/>
    <p:sldId id="333" r:id="rId14"/>
    <p:sldId id="348" r:id="rId15"/>
    <p:sldId id="334" r:id="rId16"/>
    <p:sldId id="262" r:id="rId17"/>
    <p:sldId id="350" r:id="rId18"/>
    <p:sldId id="263" r:id="rId19"/>
    <p:sldId id="264" r:id="rId20"/>
    <p:sldId id="265" r:id="rId21"/>
    <p:sldId id="335" r:id="rId22"/>
    <p:sldId id="266" r:id="rId23"/>
    <p:sldId id="337" r:id="rId24"/>
    <p:sldId id="339" r:id="rId25"/>
    <p:sldId id="352" r:id="rId26"/>
    <p:sldId id="387" r:id="rId27"/>
    <p:sldId id="362" r:id="rId28"/>
    <p:sldId id="267" r:id="rId29"/>
    <p:sldId id="268" r:id="rId30"/>
    <p:sldId id="269" r:id="rId31"/>
    <p:sldId id="386" r:id="rId32"/>
    <p:sldId id="343" r:id="rId33"/>
    <p:sldId id="270" r:id="rId34"/>
    <p:sldId id="271" r:id="rId35"/>
    <p:sldId id="344" r:id="rId36"/>
    <p:sldId id="370" r:id="rId37"/>
    <p:sldId id="272" r:id="rId38"/>
    <p:sldId id="273" r:id="rId39"/>
    <p:sldId id="274" r:id="rId40"/>
    <p:sldId id="275" r:id="rId41"/>
    <p:sldId id="276" r:id="rId42"/>
    <p:sldId id="373" r:id="rId43"/>
    <p:sldId id="277" r:id="rId44"/>
    <p:sldId id="385" r:id="rId45"/>
    <p:sldId id="372" r:id="rId46"/>
    <p:sldId id="281" r:id="rId47"/>
    <p:sldId id="282" r:id="rId48"/>
    <p:sldId id="283" r:id="rId49"/>
    <p:sldId id="284" r:id="rId50"/>
    <p:sldId id="285" r:id="rId51"/>
    <p:sldId id="374" r:id="rId52"/>
    <p:sldId id="375" r:id="rId53"/>
    <p:sldId id="376" r:id="rId54"/>
    <p:sldId id="378" r:id="rId55"/>
    <p:sldId id="287" r:id="rId56"/>
    <p:sldId id="288" r:id="rId57"/>
    <p:sldId id="289" r:id="rId58"/>
    <p:sldId id="353" r:id="rId59"/>
    <p:sldId id="290" r:id="rId60"/>
    <p:sldId id="291" r:id="rId61"/>
    <p:sldId id="292" r:id="rId62"/>
    <p:sldId id="389" r:id="rId63"/>
    <p:sldId id="293" r:id="rId64"/>
    <p:sldId id="294" r:id="rId65"/>
    <p:sldId id="295" r:id="rId66"/>
    <p:sldId id="296" r:id="rId67"/>
    <p:sldId id="297" r:id="rId68"/>
    <p:sldId id="380" r:id="rId69"/>
    <p:sldId id="298" r:id="rId70"/>
    <p:sldId id="299" r:id="rId71"/>
    <p:sldId id="300" r:id="rId72"/>
    <p:sldId id="302" r:id="rId73"/>
    <p:sldId id="303" r:id="rId74"/>
    <p:sldId id="304" r:id="rId75"/>
    <p:sldId id="390" r:id="rId76"/>
    <p:sldId id="305" r:id="rId77"/>
    <p:sldId id="393" r:id="rId78"/>
    <p:sldId id="306" r:id="rId79"/>
    <p:sldId id="307" r:id="rId80"/>
    <p:sldId id="391" r:id="rId81"/>
    <p:sldId id="311" r:id="rId82"/>
    <p:sldId id="312" r:id="rId83"/>
    <p:sldId id="313" r:id="rId84"/>
    <p:sldId id="317" r:id="rId85"/>
    <p:sldId id="318" r:id="rId86"/>
    <p:sldId id="392" r:id="rId87"/>
    <p:sldId id="319" r:id="rId88"/>
    <p:sldId id="320" r:id="rId89"/>
    <p:sldId id="321" r:id="rId90"/>
    <p:sldId id="323" r:id="rId91"/>
    <p:sldId id="327" r:id="rId92"/>
    <p:sldId id="329" r:id="rId93"/>
    <p:sldId id="330" r:id="rId94"/>
    <p:sldId id="331" r:id="rId95"/>
    <p:sldId id="365" r:id="rId96"/>
    <p:sldId id="381" r:id="rId97"/>
    <p:sldId id="382"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p:scale>
          <a:sx n="70" d="100"/>
          <a:sy n="70" d="100"/>
        </p:scale>
        <p:origin x="-138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0" name="Rectangle 9"/>
          <p:cNvSpPr/>
          <p:nvPr/>
        </p:nvSpPr>
        <p:spPr>
          <a:xfrm>
            <a:off x="-1" y="2545080"/>
            <a:ext cx="9144000" cy="3255264"/>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1" y="2667000"/>
            <a:ext cx="9144000" cy="2739571"/>
          </a:xfrm>
          <a:prstGeom prst="rect">
            <a:avLst/>
          </a:prstGeom>
          <a:solidFill>
            <a:schemeClr val="accent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1" y="5479143"/>
            <a:ext cx="9144000" cy="235857"/>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28599" y="2819400"/>
            <a:ext cx="8686800" cy="1470025"/>
          </a:xfrm>
        </p:spPr>
        <p:txBody>
          <a:bodyPr anchor="b">
            <a:noAutofit/>
          </a:bodyPr>
          <a:lstStyle>
            <a:lvl1pPr>
              <a:defRPr sz="7200" b="0" cap="none" spc="0">
                <a:ln w="13970" cmpd="sng">
                  <a:solidFill>
                    <a:srgbClr val="FFFFFF"/>
                  </a:solidFill>
                  <a:prstDash val="solid"/>
                </a:ln>
                <a:solidFill>
                  <a:srgbClr val="FFFFFF"/>
                </a:solidFill>
                <a:effectLst>
                  <a:outerShdw blurRad="63500" dir="3600000" algn="tl" rotWithShape="0">
                    <a:srgbClr val="000000">
                      <a:alpha val="70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571499" y="4800600"/>
            <a:ext cx="8001000" cy="5334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D58D95A-B52E-4CC2-833F-1BE694E9C25A}" type="datetimeFigureOut">
              <a:rPr lang="en-US" smtClean="0"/>
              <a:t>8/31/2022</a:t>
            </a:fld>
            <a:endParaRPr lang="en-US"/>
          </a:p>
        </p:txBody>
      </p:sp>
      <p:sp>
        <p:nvSpPr>
          <p:cNvPr id="5" name="Footer Placeholder 4"/>
          <p:cNvSpPr>
            <a:spLocks noGrp="1"/>
          </p:cNvSpPr>
          <p:nvPr>
            <p:ph type="ftr" sz="quarter" idx="11"/>
          </p:nvPr>
        </p:nvSpPr>
        <p:spPr>
          <a:xfrm>
            <a:off x="5791200" y="6356350"/>
            <a:ext cx="2895600" cy="365125"/>
          </a:xfrm>
        </p:spPr>
        <p:txBody>
          <a:bodyPr/>
          <a:lstStyle>
            <a:lvl1pPr algn="r">
              <a:defRPr/>
            </a:lvl1pPr>
          </a:lstStyle>
          <a:p>
            <a:endParaRPr lang="en-US"/>
          </a:p>
        </p:txBody>
      </p:sp>
      <p:sp>
        <p:nvSpPr>
          <p:cNvPr id="11" name="TextBox 10"/>
          <p:cNvSpPr txBox="1"/>
          <p:nvPr/>
        </p:nvSpPr>
        <p:spPr>
          <a:xfrm>
            <a:off x="3148584" y="4261104"/>
            <a:ext cx="1219200" cy="584775"/>
          </a:xfrm>
          <a:prstGeom prst="rect">
            <a:avLst/>
          </a:prstGeom>
          <a:noFill/>
        </p:spPr>
        <p:txBody>
          <a:bodyPr wrap="square" rtlCol="0">
            <a:spAutoFit/>
          </a:bodyPr>
          <a:lstStyle/>
          <a:p>
            <a:pPr algn="r"/>
            <a:r>
              <a:rPr lang="en-US" sz="3200" spc="150" dirty="0" smtClean="0">
                <a:solidFill>
                  <a:schemeClr val="accent1"/>
                </a:solidFill>
                <a:sym typeface="Wingdings"/>
              </a:rPr>
              <a:t></a:t>
            </a:r>
            <a:endParaRPr lang="en-US" sz="3200" spc="150" dirty="0">
              <a:solidFill>
                <a:schemeClr val="accent1"/>
              </a:solidFill>
            </a:endParaRPr>
          </a:p>
        </p:txBody>
      </p:sp>
      <p:sp>
        <p:nvSpPr>
          <p:cNvPr id="6" name="Slide Number Placeholder 5"/>
          <p:cNvSpPr>
            <a:spLocks noGrp="1"/>
          </p:cNvSpPr>
          <p:nvPr>
            <p:ph type="sldNum" sz="quarter" idx="12"/>
          </p:nvPr>
        </p:nvSpPr>
        <p:spPr>
          <a:xfrm>
            <a:off x="3962399" y="4392168"/>
            <a:ext cx="1219200" cy="365125"/>
          </a:xfrm>
        </p:spPr>
        <p:txBody>
          <a:bodyPr/>
          <a:lstStyle>
            <a:lvl1pPr algn="ctr">
              <a:defRPr sz="2400">
                <a:latin typeface="+mj-lt"/>
              </a:defRPr>
            </a:lvl1pPr>
          </a:lstStyle>
          <a:p>
            <a:fld id="{857B3167-77BB-4AE0-B1B0-2FD3591859F7}" type="slidenum">
              <a:rPr lang="en-US" smtClean="0"/>
              <a:t>‹#›</a:t>
            </a:fld>
            <a:endParaRPr lang="en-US"/>
          </a:p>
        </p:txBody>
      </p:sp>
      <p:sp>
        <p:nvSpPr>
          <p:cNvPr id="15" name="TextBox 14"/>
          <p:cNvSpPr txBox="1"/>
          <p:nvPr/>
        </p:nvSpPr>
        <p:spPr>
          <a:xfrm>
            <a:off x="4818888" y="4261104"/>
            <a:ext cx="1219200" cy="584775"/>
          </a:xfrm>
          <a:prstGeom prst="rect">
            <a:avLst/>
          </a:prstGeom>
          <a:noFill/>
        </p:spPr>
        <p:txBody>
          <a:bodyPr wrap="square" rtlCol="0">
            <a:spAutoFit/>
          </a:bodyPr>
          <a:lstStyle/>
          <a:p>
            <a:pPr algn="l"/>
            <a:r>
              <a:rPr lang="en-US" sz="3200" spc="150" dirty="0" smtClean="0">
                <a:solidFill>
                  <a:schemeClr val="accent1"/>
                </a:solidFill>
                <a:sym typeface="Wingdings"/>
              </a:rPr>
              <a:t></a:t>
            </a:r>
            <a:endParaRPr lang="en-US" sz="3200" spc="150" dirty="0">
              <a:solidFill>
                <a:schemeClr val="accent1"/>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D58D95A-B52E-4CC2-833F-1BE694E9C25A}" type="datetimeFigureOut">
              <a:rPr lang="en-US" smtClean="0"/>
              <a:t>8/31/2022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7B3167-77BB-4AE0-B1B0-2FD3591859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a:xfrm>
            <a:off x="-1" y="2545080"/>
            <a:ext cx="9144000" cy="3255264"/>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1" y="2667000"/>
            <a:ext cx="9144000" cy="2739571"/>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1" y="5479143"/>
            <a:ext cx="9144000" cy="235857"/>
          </a:xfrm>
          <a:prstGeom prst="rect">
            <a:avLst/>
          </a:prstGeom>
          <a:solidFill>
            <a:schemeClr val="accent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8599" y="2819400"/>
            <a:ext cx="8686800" cy="1463040"/>
          </a:xfrm>
        </p:spPr>
        <p:txBody>
          <a:bodyPr anchor="b" anchorCtr="0">
            <a:noAutofit/>
          </a:bodyPr>
          <a:lstStyle>
            <a:lvl1pPr algn="ctr">
              <a:defRPr sz="72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571499" y="4800600"/>
            <a:ext cx="8001000" cy="548640"/>
          </a:xfrm>
        </p:spPr>
        <p:txBody>
          <a:bodyPr anchor="b"/>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58D95A-B52E-4CC2-833F-1BE694E9C25A}" type="datetimeFigureOut">
              <a:rPr lang="en-US" smtClean="0"/>
              <a:t>8/31/2022</a:t>
            </a:fld>
            <a:endParaRPr lang="en-US"/>
          </a:p>
        </p:txBody>
      </p:sp>
      <p:sp>
        <p:nvSpPr>
          <p:cNvPr id="5" name="Footer Placeholder 4"/>
          <p:cNvSpPr>
            <a:spLocks noGrp="1"/>
          </p:cNvSpPr>
          <p:nvPr>
            <p:ph type="ftr" sz="quarter" idx="11"/>
          </p:nvPr>
        </p:nvSpPr>
        <p:spPr>
          <a:xfrm>
            <a:off x="5791200" y="6356350"/>
            <a:ext cx="2895600" cy="365125"/>
          </a:xfrm>
        </p:spPr>
        <p:txBody>
          <a:bodyPr/>
          <a:lstStyle/>
          <a:p>
            <a:endParaRPr lang="en-US"/>
          </a:p>
        </p:txBody>
      </p:sp>
      <p:sp>
        <p:nvSpPr>
          <p:cNvPr id="6" name="Slide Number Placeholder 5"/>
          <p:cNvSpPr>
            <a:spLocks noGrp="1"/>
          </p:cNvSpPr>
          <p:nvPr>
            <p:ph type="sldNum" sz="quarter" idx="12"/>
          </p:nvPr>
        </p:nvSpPr>
        <p:spPr>
          <a:xfrm>
            <a:off x="3959352" y="4389120"/>
            <a:ext cx="1216152" cy="365125"/>
          </a:xfrm>
        </p:spPr>
        <p:txBody>
          <a:bodyPr/>
          <a:lstStyle>
            <a:lvl1pPr algn="ctr">
              <a:defRPr sz="2400">
                <a:solidFill>
                  <a:srgbClr val="FFFFFF"/>
                </a:solidFill>
              </a:defRPr>
            </a:lvl1pPr>
          </a:lstStyle>
          <a:p>
            <a:fld id="{857B3167-77BB-4AE0-B1B0-2FD3591859F7}" type="slidenum">
              <a:rPr lang="en-US" smtClean="0"/>
              <a:t>‹#›</a:t>
            </a:fld>
            <a:endParaRPr lang="en-US"/>
          </a:p>
        </p:txBody>
      </p:sp>
      <p:sp>
        <p:nvSpPr>
          <p:cNvPr id="11" name="TextBox 10"/>
          <p:cNvSpPr txBox="1"/>
          <p:nvPr/>
        </p:nvSpPr>
        <p:spPr>
          <a:xfrm>
            <a:off x="4818888" y="4261104"/>
            <a:ext cx="1219200" cy="584775"/>
          </a:xfrm>
          <a:prstGeom prst="rect">
            <a:avLst/>
          </a:prstGeom>
          <a:noFill/>
        </p:spPr>
        <p:txBody>
          <a:bodyPr wrap="square" rtlCol="0">
            <a:spAutoFit/>
          </a:bodyPr>
          <a:lstStyle/>
          <a:p>
            <a:pPr algn="l"/>
            <a:r>
              <a:rPr lang="en-US" sz="3200" spc="150" dirty="0" smtClean="0">
                <a:solidFill>
                  <a:srgbClr val="FFFFFF"/>
                </a:solidFill>
                <a:sym typeface="Wingdings"/>
              </a:rPr>
              <a:t></a:t>
            </a:r>
            <a:endParaRPr lang="en-US" sz="3200" spc="150" dirty="0">
              <a:solidFill>
                <a:srgbClr val="FFFFFF"/>
              </a:solidFill>
            </a:endParaRPr>
          </a:p>
        </p:txBody>
      </p:sp>
      <p:sp>
        <p:nvSpPr>
          <p:cNvPr id="12" name="TextBox 11"/>
          <p:cNvSpPr txBox="1"/>
          <p:nvPr/>
        </p:nvSpPr>
        <p:spPr>
          <a:xfrm>
            <a:off x="3148584" y="4261104"/>
            <a:ext cx="1219200" cy="584775"/>
          </a:xfrm>
          <a:prstGeom prst="rect">
            <a:avLst/>
          </a:prstGeom>
          <a:noFill/>
        </p:spPr>
        <p:txBody>
          <a:bodyPr wrap="square" rtlCol="0">
            <a:spAutoFit/>
          </a:bodyPr>
          <a:lstStyle/>
          <a:p>
            <a:pPr algn="r"/>
            <a:r>
              <a:rPr lang="en-US" sz="3200" spc="150" dirty="0" smtClean="0">
                <a:solidFill>
                  <a:srgbClr val="FFFFFF"/>
                </a:solidFill>
                <a:sym typeface="Wingdings"/>
              </a:rPr>
              <a:t></a:t>
            </a:r>
            <a:endParaRPr lang="en-US" sz="3200" spc="150" dirty="0">
              <a:solidFill>
                <a:srgbClr val="FFFFFF"/>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D58D95A-B52E-4CC2-833F-1BE694E9C25A}" type="datetimeFigureOut">
              <a:rPr lang="en-US" smtClean="0"/>
              <a:t>8/31/2022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7B3167-77BB-4AE0-B1B0-2FD3591859F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D58D95A-B52E-4CC2-833F-1BE694E9C25A}" type="datetimeFigureOut">
              <a:rPr lang="en-US" smtClean="0"/>
              <a:t>8/31/2022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7B3167-77BB-4AE0-B1B0-2FD3591859F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D58D95A-B52E-4CC2-833F-1BE694E9C25A}" type="datetimeFigureOut">
              <a:rPr lang="en-US" smtClean="0"/>
              <a:t>8/31/2022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7B3167-77BB-4AE0-B1B0-2FD3591859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58D95A-B52E-4CC2-833F-1BE694E9C25A}" type="datetimeFigureOut">
              <a:rPr lang="en-US" smtClean="0"/>
              <a:t>8/31/2022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7B3167-77BB-4AE0-B1B0-2FD3591859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5638800" cy="946150"/>
          </a:xfrm>
        </p:spPr>
        <p:txBody>
          <a:bodyPr anchor="ctr">
            <a:noAutofit/>
          </a:bodyPr>
          <a:lstStyle>
            <a:lvl1pPr algn="l">
              <a:defRPr sz="4000" b="0"/>
            </a:lvl1pPr>
          </a:lstStyle>
          <a:p>
            <a:r>
              <a:rPr lang="en-US" smtClean="0"/>
              <a:t>Click to edit Master title style</a:t>
            </a:r>
            <a:endParaRPr lang="en-US" dirty="0"/>
          </a:p>
        </p:txBody>
      </p:sp>
      <p:sp>
        <p:nvSpPr>
          <p:cNvPr id="3" name="Content Placeholder 2"/>
          <p:cNvSpPr>
            <a:spLocks noGrp="1"/>
          </p:cNvSpPr>
          <p:nvPr>
            <p:ph idx="1"/>
          </p:nvPr>
        </p:nvSpPr>
        <p:spPr>
          <a:xfrm>
            <a:off x="438912" y="1719072"/>
            <a:ext cx="8247888" cy="45354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D58D95A-B52E-4CC2-833F-1BE694E9C25A}" type="datetimeFigureOut">
              <a:rPr lang="en-US" smtClean="0"/>
              <a:t>8/31/2022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7B3167-77BB-4AE0-B1B0-2FD3591859F7}" type="slidenum">
              <a:rPr lang="en-US" smtClean="0"/>
              <a:t>‹#›</a:t>
            </a:fld>
            <a:endParaRPr lang="en-US"/>
          </a:p>
        </p:txBody>
      </p:sp>
      <p:sp>
        <p:nvSpPr>
          <p:cNvPr id="8" name="Rectangle 7"/>
          <p:cNvSpPr/>
          <p:nvPr/>
        </p:nvSpPr>
        <p:spPr>
          <a:xfrm>
            <a:off x="6172200" y="161544"/>
            <a:ext cx="2971800" cy="115214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6248400" y="274320"/>
            <a:ext cx="2743200" cy="944880"/>
          </a:xfrm>
        </p:spPr>
        <p:txBody>
          <a:bodyPr anchor="ctr">
            <a:normAutofit/>
          </a:bodyPr>
          <a:lstStyle>
            <a:lvl1pPr marL="0" indent="0">
              <a:buNone/>
              <a:defRPr sz="16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Rectangle 8"/>
          <p:cNvSpPr/>
          <p:nvPr/>
        </p:nvSpPr>
        <p:spPr>
          <a:xfrm>
            <a:off x="6144768" y="134112"/>
            <a:ext cx="76200" cy="1219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144768" y="134112"/>
            <a:ext cx="76200" cy="1219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36880" y="1717040"/>
            <a:ext cx="8249920" cy="4531360"/>
          </a:xfrm>
          <a:solidFill>
            <a:schemeClr val="bg2">
              <a:lumMod val="60000"/>
              <a:lumOff val="40000"/>
            </a:schemeClr>
          </a:solidFill>
          <a:effectLst>
            <a:outerShdw blurRad="76200" dist="38100" dir="3600000" algn="ctr"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5" name="Date Placeholder 4"/>
          <p:cNvSpPr>
            <a:spLocks noGrp="1"/>
          </p:cNvSpPr>
          <p:nvPr>
            <p:ph type="dt" sz="half" idx="10"/>
          </p:nvPr>
        </p:nvSpPr>
        <p:spPr/>
        <p:txBody>
          <a:bodyPr/>
          <a:lstStyle/>
          <a:p>
            <a:fld id="{ED58D95A-B52E-4CC2-833F-1BE694E9C25A}" type="datetimeFigureOut">
              <a:rPr lang="en-US" smtClean="0"/>
              <a:t>8/31/2022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7B3167-77BB-4AE0-B1B0-2FD3591859F7}" type="slidenum">
              <a:rPr lang="en-US" smtClean="0"/>
              <a:t>‹#›</a:t>
            </a:fld>
            <a:endParaRPr lang="en-US"/>
          </a:p>
        </p:txBody>
      </p:sp>
      <p:sp>
        <p:nvSpPr>
          <p:cNvPr id="8" name="Rectangle 7"/>
          <p:cNvSpPr/>
          <p:nvPr/>
        </p:nvSpPr>
        <p:spPr>
          <a:xfrm>
            <a:off x="6172200" y="161544"/>
            <a:ext cx="2971800" cy="115214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p:cNvSpPr/>
          <p:nvPr/>
        </p:nvSpPr>
        <p:spPr>
          <a:xfrm>
            <a:off x="6144768" y="134112"/>
            <a:ext cx="76200" cy="1219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1000" y="228600"/>
            <a:ext cx="5638800" cy="1005840"/>
          </a:xfrm>
        </p:spPr>
        <p:txBody>
          <a:bodyPr anchor="ctr">
            <a:noAutofit/>
          </a:bodyPr>
          <a:lstStyle>
            <a:lvl1pPr algn="l">
              <a:defRPr sz="40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6248400" y="228600"/>
            <a:ext cx="2819400" cy="1005840"/>
          </a:xfrm>
        </p:spPr>
        <p:txBody>
          <a:bodyPr anchor="ctr">
            <a:normAutofit/>
          </a:bodyPr>
          <a:lstStyle>
            <a:lvl1pPr marL="0" indent="0">
              <a:buNone/>
              <a:defRPr sz="16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Rectangle 10"/>
          <p:cNvSpPr/>
          <p:nvPr/>
        </p:nvSpPr>
        <p:spPr>
          <a:xfrm>
            <a:off x="6144768" y="134112"/>
            <a:ext cx="76200" cy="1219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58D95A-B52E-4CC2-833F-1BE694E9C25A}" type="datetimeFigureOut">
              <a:rPr lang="en-US" smtClean="0"/>
              <a:t>8/31/2022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7B3167-77BB-4AE0-B1B0-2FD3591859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7" name="Rectangle 6"/>
          <p:cNvSpPr/>
          <p:nvPr/>
        </p:nvSpPr>
        <p:spPr>
          <a:xfrm rot="5400000">
            <a:off x="4591050" y="2409824"/>
            <a:ext cx="6858000" cy="2038351"/>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rot="5400000">
            <a:off x="4668203" y="2570797"/>
            <a:ext cx="6858000" cy="1716405"/>
          </a:xfrm>
          <a:prstGeom prst="rect">
            <a:avLst/>
          </a:prstGeom>
          <a:solidFill>
            <a:schemeClr val="accent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p:cNvSpPr>
            <a:spLocks noGrp="1"/>
          </p:cNvSpPr>
          <p:nvPr>
            <p:ph type="title" orient="vert"/>
          </p:nvPr>
        </p:nvSpPr>
        <p:spPr>
          <a:xfrm>
            <a:off x="7315200" y="274638"/>
            <a:ext cx="1447800" cy="5851525"/>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199" y="274638"/>
            <a:ext cx="6353175"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58D95A-B52E-4CC2-833F-1BE694E9C25A}" type="datetimeFigureOut">
              <a:rPr lang="en-US" smtClean="0"/>
              <a:t>8/31/2022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096000" y="6356350"/>
            <a:ext cx="762000" cy="365125"/>
          </a:xfrm>
        </p:spPr>
        <p:txBody>
          <a:bodyPr/>
          <a:lstStyle/>
          <a:p>
            <a:fld id="{857B3167-77BB-4AE0-B1B0-2FD3591859F7}" type="slidenum">
              <a:rPr lang="en-US" smtClean="0"/>
              <a:t>‹#›</a:t>
            </a:fld>
            <a:endParaRPr lang="en-US"/>
          </a:p>
        </p:txBody>
      </p:sp>
      <p:sp>
        <p:nvSpPr>
          <p:cNvPr id="9" name="Rectangle 8"/>
          <p:cNvSpPr/>
          <p:nvPr/>
        </p:nvSpPr>
        <p:spPr>
          <a:xfrm rot="5400000">
            <a:off x="3681476" y="3354324"/>
            <a:ext cx="6858000" cy="149352"/>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100584"/>
            <a:ext cx="9144000" cy="1453896"/>
          </a:xfrm>
          <a:prstGeom prst="rect">
            <a:avLst/>
          </a:prstGeom>
          <a:solidFill>
            <a:srgbClr val="FFFFFF"/>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0" y="167641"/>
            <a:ext cx="9144000" cy="1154314"/>
          </a:xfrm>
          <a:prstGeom prst="rect">
            <a:avLst/>
          </a:prstGeom>
          <a:solidFill>
            <a:schemeClr val="accent2"/>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182880"/>
            <a:ext cx="8229600" cy="111166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ED58D95A-B52E-4CC2-833F-1BE694E9C25A}" type="datetimeFigureOut">
              <a:rPr lang="en-US" smtClean="0"/>
              <a:t>8/31/2022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857B3167-77BB-4AE0-B1B0-2FD3591859F7}" type="slidenum">
              <a:rPr lang="en-US" smtClean="0"/>
              <a:t>‹#›</a:t>
            </a:fld>
            <a:endParaRPr lang="en-US"/>
          </a:p>
        </p:txBody>
      </p:sp>
      <p:sp>
        <p:nvSpPr>
          <p:cNvPr id="9" name="Rectangle 8"/>
          <p:cNvSpPr/>
          <p:nvPr/>
        </p:nvSpPr>
        <p:spPr>
          <a:xfrm>
            <a:off x="0" y="1368552"/>
            <a:ext cx="9144000" cy="149352"/>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5400" b="0" kern="1200" cap="none" spc="0">
          <a:ln w="13970" cmpd="sng">
            <a:solidFill>
              <a:srgbClr val="FFFFFF"/>
            </a:solidFill>
            <a:prstDash val="solid"/>
          </a:ln>
          <a:solidFill>
            <a:srgbClr val="FFFFFF"/>
          </a:solidFill>
          <a:effectLst>
            <a:outerShdw blurRad="63500" dir="3600000" algn="tl" rotWithShape="0">
              <a:srgbClr val="000000">
                <a:alpha val="70000"/>
              </a:srgbClr>
            </a:outerShdw>
          </a:effectLst>
          <a:latin typeface="+mj-lt"/>
          <a:ea typeface="+mj-ea"/>
          <a:cs typeface="+mj-cs"/>
        </a:defRPr>
      </a:lvl1pPr>
    </p:titleStyle>
    <p:bodyStyle>
      <a:lvl1pPr marL="342900" indent="-342900" algn="l" defTabSz="914400" rtl="0" eaLnBrk="1" latinLnBrk="0" hangingPunct="1">
        <a:spcBef>
          <a:spcPct val="20000"/>
        </a:spcBef>
        <a:buClr>
          <a:schemeClr val="accent1"/>
        </a:buClr>
        <a:buSzPct val="75000"/>
        <a:buFont typeface="Wingdings" pitchFamily="2" charset="2"/>
        <a:buChar char=""/>
        <a:defRPr sz="2400" kern="1200">
          <a:solidFill>
            <a:schemeClr val="tx2"/>
          </a:solidFill>
          <a:latin typeface="+mn-lt"/>
          <a:ea typeface="+mn-ea"/>
          <a:cs typeface="+mn-cs"/>
        </a:defRPr>
      </a:lvl1pPr>
      <a:lvl2pPr marL="742950" indent="-285750" algn="l" defTabSz="914400" rtl="0" eaLnBrk="1" latinLnBrk="0" hangingPunct="1">
        <a:spcBef>
          <a:spcPct val="20000"/>
        </a:spcBef>
        <a:buClr>
          <a:schemeClr val="accent2"/>
        </a:buClr>
        <a:buSzPct val="85000"/>
        <a:buFont typeface="Courier New" pitchFamily="49" charset="0"/>
        <a:buChar char="o"/>
        <a:defRPr sz="2000" kern="1200">
          <a:solidFill>
            <a:schemeClr val="tx2"/>
          </a:solidFill>
          <a:latin typeface="+mn-lt"/>
          <a:ea typeface="+mn-ea"/>
          <a:cs typeface="+mn-cs"/>
        </a:defRPr>
      </a:lvl2pPr>
      <a:lvl3pPr marL="11430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60020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400" kern="1200" baseline="0">
          <a:solidFill>
            <a:schemeClr val="tx2"/>
          </a:solidFill>
          <a:latin typeface="+mn-lt"/>
          <a:ea typeface="+mn-ea"/>
          <a:cs typeface="+mn-cs"/>
        </a:defRPr>
      </a:lvl5pPr>
      <a:lvl6pPr marL="2514600" indent="-228600" algn="l" defTabSz="914400" rtl="0" eaLnBrk="1" latinLnBrk="0" hangingPunct="1">
        <a:spcBef>
          <a:spcPct val="20000"/>
        </a:spcBef>
        <a:buClr>
          <a:schemeClr val="accent6"/>
        </a:buClr>
        <a:buFont typeface="Arial" pitchFamily="34" charset="0"/>
        <a:buChar char="•"/>
        <a:defRPr sz="1400" kern="1200">
          <a:solidFill>
            <a:schemeClr val="tx2"/>
          </a:solidFill>
          <a:latin typeface="+mn-lt"/>
          <a:ea typeface="+mn-ea"/>
          <a:cs typeface="+mn-cs"/>
        </a:defRPr>
      </a:lvl6pPr>
      <a:lvl7pPr marL="2971800" indent="-22860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7pPr>
      <a:lvl8pPr marL="3429000" indent="-22860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8pPr>
      <a:lvl9pPr marL="3886200" indent="-228600" algn="l" defTabSz="914400" rtl="0" eaLnBrk="1" latinLnBrk="0" hangingPunct="1">
        <a:spcBef>
          <a:spcPct val="20000"/>
        </a:spcBef>
        <a:buClr>
          <a:schemeClr val="accent5"/>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599" y="3429000"/>
            <a:ext cx="8305799" cy="860425"/>
          </a:xfrm>
        </p:spPr>
        <p:txBody>
          <a:bodyPr>
            <a:normAutofit fontScale="90000"/>
          </a:bodyPr>
          <a:lstStyle/>
          <a:p>
            <a:r>
              <a:rPr lang="en-US" dirty="0" smtClean="0"/>
              <a:t>Module Title: Basics of Anesthesia I                                                 </a:t>
            </a:r>
            <a:br>
              <a:rPr lang="en-US" dirty="0" smtClean="0"/>
            </a:br>
            <a:r>
              <a:rPr lang="en-US" dirty="0" smtClean="0"/>
              <a:t>Module Code: AnstM-3231                                                                  Instructors : </a:t>
            </a:r>
            <a:r>
              <a:rPr lang="en-US" dirty="0" err="1" smtClean="0"/>
              <a:t>sulaiman</a:t>
            </a:r>
            <a:r>
              <a:rPr lang="en-US" dirty="0"/>
              <a:t> </a:t>
            </a:r>
            <a:r>
              <a:rPr lang="en-US" dirty="0" smtClean="0"/>
              <a:t>j&amp; </a:t>
            </a:r>
            <a:r>
              <a:rPr lang="en-US" dirty="0" err="1" smtClean="0"/>
              <a:t>Ashenafi</a:t>
            </a:r>
            <a:r>
              <a:rPr lang="en-US" dirty="0" smtClean="0"/>
              <a:t>                                                                              </a:t>
            </a:r>
            <a:br>
              <a:rPr lang="en-US" dirty="0" smtClean="0"/>
            </a:br>
            <a:r>
              <a:rPr lang="en-US" dirty="0"/>
              <a:t>Module ECTS: 7ECTS</a:t>
            </a:r>
          </a:p>
        </p:txBody>
      </p:sp>
      <p:sp>
        <p:nvSpPr>
          <p:cNvPr id="3" name="Subtitle 2"/>
          <p:cNvSpPr>
            <a:spLocks noGrp="1"/>
          </p:cNvSpPr>
          <p:nvPr>
            <p:ph type="subTitle" idx="1"/>
          </p:nvPr>
        </p:nvSpPr>
        <p:spPr>
          <a:xfrm>
            <a:off x="381000" y="4343400"/>
            <a:ext cx="8191499" cy="1447800"/>
          </a:xfrm>
        </p:spPr>
        <p:txBody>
          <a:bodyPr>
            <a:noAutofit/>
          </a:bodyPr>
          <a:lstStyle/>
          <a:p>
            <a:r>
              <a:rPr lang="en-US" sz="3200" b="1" dirty="0" smtClean="0"/>
              <a:t>Pharmacology for anesthesia,Augest 2022 </a:t>
            </a:r>
            <a:endParaRPr lang="en-US" sz="3200" b="1" dirty="0"/>
          </a:p>
        </p:txBody>
      </p:sp>
    </p:spTree>
    <p:extLst>
      <p:ext uri="{BB962C8B-B14F-4D97-AF65-F5344CB8AC3E}">
        <p14:creationId xmlns:p14="http://schemas.microsoft.com/office/powerpoint/2010/main" val="18388520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4000" dirty="0" smtClean="0"/>
              <a:t>1.Basic principles of pharmacology                                             Introduction	                                                  Pharmacokinetics	                                               Pharmacodynamics</a:t>
            </a:r>
            <a:endParaRPr lang="en-US" sz="4000" dirty="0"/>
          </a:p>
        </p:txBody>
      </p:sp>
    </p:spTree>
    <p:extLst>
      <p:ext uri="{BB962C8B-B14F-4D97-AF65-F5344CB8AC3E}">
        <p14:creationId xmlns:p14="http://schemas.microsoft.com/office/powerpoint/2010/main" val="34642586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1.Introduction</a:t>
            </a:r>
          </a:p>
        </p:txBody>
      </p:sp>
      <p:sp>
        <p:nvSpPr>
          <p:cNvPr id="3" name="Content Placeholder 2"/>
          <p:cNvSpPr>
            <a:spLocks noGrp="1"/>
          </p:cNvSpPr>
          <p:nvPr>
            <p:ph idx="1"/>
          </p:nvPr>
        </p:nvSpPr>
        <p:spPr>
          <a:xfrm>
            <a:off x="228600" y="1371600"/>
            <a:ext cx="8763000" cy="4754563"/>
          </a:xfrm>
        </p:spPr>
        <p:txBody>
          <a:bodyPr>
            <a:noAutofit/>
          </a:bodyPr>
          <a:lstStyle/>
          <a:p>
            <a:pPr marL="0" indent="0">
              <a:buNone/>
            </a:pPr>
            <a:r>
              <a:rPr lang="en-US" sz="3200" b="1" dirty="0" smtClean="0"/>
              <a:t>Back </a:t>
            </a:r>
            <a:r>
              <a:rPr lang="en-US" sz="3200" b="1" dirty="0"/>
              <a:t>3000 </a:t>
            </a:r>
            <a:r>
              <a:rPr lang="en-US" sz="3200" b="1" dirty="0" smtClean="0"/>
              <a:t>BC in </a:t>
            </a:r>
            <a:r>
              <a:rPr lang="en-US" sz="3200" b="1" dirty="0"/>
              <a:t>Mesopotamia, patients were </a:t>
            </a:r>
            <a:r>
              <a:rPr lang="en-US" sz="3200" b="1" dirty="0" smtClean="0"/>
              <a:t>anaesthetized by pressing </a:t>
            </a:r>
            <a:r>
              <a:rPr lang="en-US" sz="3200" b="1" dirty="0"/>
              <a:t>the carotid </a:t>
            </a:r>
            <a:r>
              <a:rPr lang="en-US" sz="3200" b="1" dirty="0" smtClean="0"/>
              <a:t>arteries,  .</a:t>
            </a:r>
          </a:p>
          <a:p>
            <a:pPr marL="0" indent="0">
              <a:buNone/>
            </a:pPr>
            <a:r>
              <a:rPr lang="en-US" sz="3200" b="1" dirty="0" smtClean="0"/>
              <a:t>The Egyptians were </a:t>
            </a:r>
            <a:r>
              <a:rPr lang="en-US" sz="3200" b="1" dirty="0"/>
              <a:t>the first to apply snow to cause </a:t>
            </a:r>
            <a:r>
              <a:rPr lang="en-US" sz="3200" b="1" dirty="0" smtClean="0"/>
              <a:t>analgesia.</a:t>
            </a:r>
            <a:endParaRPr lang="en-US" sz="3200" b="1" dirty="0"/>
          </a:p>
          <a:p>
            <a:pPr marL="0" indent="0">
              <a:buNone/>
            </a:pPr>
            <a:r>
              <a:rPr lang="en-US" sz="3200" b="1" dirty="0"/>
              <a:t>Chinese </a:t>
            </a:r>
            <a:r>
              <a:rPr lang="en-US" sz="3200" b="1" dirty="0" smtClean="0"/>
              <a:t>developed </a:t>
            </a:r>
            <a:r>
              <a:rPr lang="en-US" sz="3200" b="1" dirty="0"/>
              <a:t>acupuncture </a:t>
            </a:r>
            <a:r>
              <a:rPr lang="en-US" sz="3200" b="1" dirty="0" smtClean="0"/>
              <a:t>as a </a:t>
            </a:r>
            <a:r>
              <a:rPr lang="en-US" sz="3200" b="1" dirty="0"/>
              <a:t>special form of analgesia. In the ancient times,</a:t>
            </a:r>
          </a:p>
          <a:p>
            <a:pPr marL="0" indent="0">
              <a:buNone/>
            </a:pPr>
            <a:r>
              <a:rPr lang="en-US" sz="3200" b="1" dirty="0"/>
              <a:t>surgical operations </a:t>
            </a:r>
            <a:r>
              <a:rPr lang="en-US" sz="3200" b="1" dirty="0" smtClean="0"/>
              <a:t>were performed cruel physical measures, such as suffocation, knocking-down, alcohol and tie and physical strainer </a:t>
            </a:r>
            <a:endParaRPr lang="en-US" sz="3200" b="1" dirty="0"/>
          </a:p>
        </p:txBody>
      </p:sp>
    </p:spTree>
    <p:extLst>
      <p:ext uri="{BB962C8B-B14F-4D97-AF65-F5344CB8AC3E}">
        <p14:creationId xmlns:p14="http://schemas.microsoft.com/office/powerpoint/2010/main" val="2780362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524000"/>
            <a:ext cx="8686800" cy="4830763"/>
          </a:xfrm>
        </p:spPr>
        <p:txBody>
          <a:bodyPr>
            <a:noAutofit/>
          </a:bodyPr>
          <a:lstStyle/>
          <a:p>
            <a:pPr marL="0" indent="0">
              <a:buNone/>
            </a:pPr>
            <a:r>
              <a:rPr lang="en-US" sz="4000" b="1" dirty="0" smtClean="0"/>
              <a:t>     when modern anesthesia started </a:t>
            </a:r>
            <a:r>
              <a:rPr lang="en-US" sz="3200" b="1" dirty="0" smtClean="0"/>
              <a:t>?</a:t>
            </a:r>
          </a:p>
          <a:p>
            <a:pPr marL="0" indent="0">
              <a:buNone/>
            </a:pPr>
            <a:r>
              <a:rPr lang="en-US" sz="3200" b="1" dirty="0" smtClean="0"/>
              <a:t>                                                                            Prior to 1846 there was no way to provide anesthesia for surgical procedures Surgery was painful, bloody and dirty surgeons were praised for speed not skill. </a:t>
            </a:r>
          </a:p>
          <a:p>
            <a:pPr marL="0" indent="0">
              <a:buNone/>
            </a:pPr>
            <a:r>
              <a:rPr lang="en-US" sz="3200" b="1" dirty="0" smtClean="0"/>
              <a:t> </a:t>
            </a:r>
            <a:r>
              <a:rPr lang="en-US" sz="3200" b="1" dirty="0" err="1" smtClean="0"/>
              <a:t>Dr.Horace</a:t>
            </a:r>
            <a:r>
              <a:rPr lang="en-US" sz="3200" b="1" dirty="0" smtClean="0"/>
              <a:t> wells (Dentist) 1844  noticed effect of N2O at laughing gas party and use it for tooth extraction without pain,</a:t>
            </a:r>
          </a:p>
        </p:txBody>
      </p:sp>
    </p:spTree>
    <p:extLst>
      <p:ext uri="{BB962C8B-B14F-4D97-AF65-F5344CB8AC3E}">
        <p14:creationId xmlns:p14="http://schemas.microsoft.com/office/powerpoint/2010/main" val="2076119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600" b="1" dirty="0"/>
              <a:t>In January 1845  demonstrate N2O for surgical procedure at Massachusetts general hospital but fail in front of many physicians and ashamed and commute </a:t>
            </a:r>
            <a:r>
              <a:rPr lang="en-US" sz="3600" b="1" dirty="0" smtClean="0"/>
              <a:t>succeed. </a:t>
            </a:r>
            <a:endParaRPr lang="en-US" sz="3600" b="1" dirty="0"/>
          </a:p>
          <a:p>
            <a:pPr marL="0" indent="0">
              <a:buNone/>
            </a:pPr>
            <a:r>
              <a:rPr lang="en-US" sz="3600" b="1" dirty="0"/>
              <a:t>Dr.willian Morton demonstrate effective anesthesia for neck tumor excision using ether anesthesia./obstetric anesthesia  </a:t>
            </a:r>
          </a:p>
        </p:txBody>
      </p:sp>
    </p:spTree>
    <p:extLst>
      <p:ext uri="{BB962C8B-B14F-4D97-AF65-F5344CB8AC3E}">
        <p14:creationId xmlns:p14="http://schemas.microsoft.com/office/powerpoint/2010/main" val="490329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754" t="38579" r="22065" b="11729"/>
          <a:stretch/>
        </p:blipFill>
        <p:spPr bwMode="auto">
          <a:xfrm>
            <a:off x="381000" y="838200"/>
            <a:ext cx="8305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6466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600200"/>
            <a:ext cx="8763000" cy="4525963"/>
          </a:xfrm>
        </p:spPr>
        <p:txBody>
          <a:bodyPr>
            <a:noAutofit/>
          </a:bodyPr>
          <a:lstStyle/>
          <a:p>
            <a:pPr>
              <a:buBlip>
                <a:blip r:embed="rId2"/>
              </a:buBlip>
            </a:pPr>
            <a:r>
              <a:rPr lang="en-US" sz="4000" dirty="0"/>
              <a:t>Some scholars </a:t>
            </a:r>
            <a:r>
              <a:rPr lang="en-US" sz="4000" dirty="0" smtClean="0"/>
              <a:t>explain </a:t>
            </a:r>
            <a:r>
              <a:rPr lang="en-US" sz="4000" dirty="0"/>
              <a:t>Anesthesiology as  applied </a:t>
            </a:r>
            <a:r>
              <a:rPr lang="en-US" sz="4000" dirty="0" smtClean="0"/>
              <a:t>pharmacology.</a:t>
            </a:r>
            <a:endParaRPr lang="en-US" sz="4000" dirty="0"/>
          </a:p>
          <a:p>
            <a:pPr>
              <a:buBlip>
                <a:blip r:embed="rId2"/>
              </a:buBlip>
            </a:pPr>
            <a:r>
              <a:rPr lang="en-US" sz="4000" dirty="0"/>
              <a:t>The clinical practice </a:t>
            </a:r>
            <a:r>
              <a:rPr lang="en-US" sz="4000" dirty="0" smtClean="0"/>
              <a:t>of anesthesiology </a:t>
            </a:r>
            <a:r>
              <a:rPr lang="en-US" sz="4000" dirty="0"/>
              <a:t>is directly connected to the science of clinical pharmacology no clinical medical specialty </a:t>
            </a:r>
            <a:r>
              <a:rPr lang="en-US" sz="4000" dirty="0" smtClean="0"/>
              <a:t>needs pharmacology </a:t>
            </a:r>
            <a:r>
              <a:rPr lang="en-US" sz="4000" dirty="0"/>
              <a:t>as anesthetist </a:t>
            </a:r>
          </a:p>
        </p:txBody>
      </p:sp>
    </p:spTree>
    <p:extLst>
      <p:ext uri="{BB962C8B-B14F-4D97-AF65-F5344CB8AC3E}">
        <p14:creationId xmlns:p14="http://schemas.microsoft.com/office/powerpoint/2010/main" val="2729685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2400" y="1600200"/>
            <a:ext cx="8839200" cy="4525963"/>
          </a:xfrm>
        </p:spPr>
        <p:txBody>
          <a:bodyPr>
            <a:normAutofit/>
          </a:bodyPr>
          <a:lstStyle/>
          <a:p>
            <a:pPr marL="0" indent="0">
              <a:buNone/>
            </a:pPr>
            <a:r>
              <a:rPr lang="en-US" sz="4400" dirty="0" smtClean="0"/>
              <a:t>  </a:t>
            </a:r>
            <a:r>
              <a:rPr lang="en-US" sz="4400" b="1" dirty="0" smtClean="0"/>
              <a:t>what pharmacokinetics/dynamics?</a:t>
            </a:r>
          </a:p>
          <a:p>
            <a:pPr marL="0" indent="0">
              <a:buNone/>
            </a:pPr>
            <a:r>
              <a:rPr lang="en-US" sz="4400" dirty="0" smtClean="0"/>
              <a:t>                                                                In general  </a:t>
            </a:r>
            <a:r>
              <a:rPr lang="en-US" sz="4400" dirty="0"/>
              <a:t>what the body does to a drug </a:t>
            </a:r>
            <a:r>
              <a:rPr lang="en-US" sz="4400" dirty="0" smtClean="0"/>
              <a:t>is called </a:t>
            </a:r>
            <a:r>
              <a:rPr lang="en-US" sz="4400" b="1" i="1" dirty="0" smtClean="0">
                <a:solidFill>
                  <a:srgbClr val="FF0000"/>
                </a:solidFill>
              </a:rPr>
              <a:t>pharmacokinetics</a:t>
            </a:r>
            <a:r>
              <a:rPr lang="en-US" sz="4400" dirty="0" smtClean="0"/>
              <a:t> </a:t>
            </a:r>
            <a:endParaRPr lang="en-US" sz="4400" dirty="0"/>
          </a:p>
          <a:p>
            <a:pPr marL="0" indent="0">
              <a:buNone/>
            </a:pPr>
            <a:r>
              <a:rPr lang="en-US" sz="4400" dirty="0" smtClean="0"/>
              <a:t>What a </a:t>
            </a:r>
            <a:r>
              <a:rPr lang="en-US" sz="4400" dirty="0"/>
              <a:t>drug does to the body </a:t>
            </a:r>
            <a:r>
              <a:rPr lang="en-US" sz="4400" dirty="0" smtClean="0"/>
              <a:t>is termed as  </a:t>
            </a:r>
            <a:r>
              <a:rPr lang="en-US" sz="4400" b="1" i="1" dirty="0" smtClean="0">
                <a:solidFill>
                  <a:srgbClr val="FF0000"/>
                </a:solidFill>
              </a:rPr>
              <a:t>pharmacodynamics</a:t>
            </a:r>
            <a:r>
              <a:rPr lang="en-US" dirty="0" smtClean="0"/>
              <a:t>. </a:t>
            </a:r>
            <a:endParaRPr lang="en-US" dirty="0"/>
          </a:p>
        </p:txBody>
      </p:sp>
    </p:spTree>
    <p:extLst>
      <p:ext uri="{BB962C8B-B14F-4D97-AF65-F5344CB8AC3E}">
        <p14:creationId xmlns:p14="http://schemas.microsoft.com/office/powerpoint/2010/main" val="1396157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82880"/>
            <a:ext cx="8839200" cy="1111664"/>
          </a:xfrm>
        </p:spPr>
        <p:txBody>
          <a:bodyPr>
            <a:normAutofit fontScale="90000"/>
          </a:bodyPr>
          <a:lstStyle/>
          <a:p>
            <a:r>
              <a:rPr lang="en-US" dirty="0"/>
              <a:t>Drug Passage across the Cell</a:t>
            </a:r>
            <a:br>
              <a:rPr lang="en-US" dirty="0"/>
            </a:br>
            <a:r>
              <a:rPr lang="en-US" dirty="0"/>
              <a:t>Membrane</a:t>
            </a:r>
          </a:p>
        </p:txBody>
      </p:sp>
      <p:sp>
        <p:nvSpPr>
          <p:cNvPr id="3" name="Content Placeholder 2"/>
          <p:cNvSpPr>
            <a:spLocks noGrp="1"/>
          </p:cNvSpPr>
          <p:nvPr>
            <p:ph idx="1"/>
          </p:nvPr>
        </p:nvSpPr>
        <p:spPr>
          <a:xfrm>
            <a:off x="152400" y="1447800"/>
            <a:ext cx="8839200" cy="4678363"/>
          </a:xfrm>
        </p:spPr>
        <p:txBody>
          <a:bodyPr>
            <a:noAutofit/>
          </a:bodyPr>
          <a:lstStyle/>
          <a:p>
            <a:pPr marL="0" indent="0">
              <a:buNone/>
            </a:pPr>
            <a:r>
              <a:rPr lang="en-US" sz="3200" b="1" dirty="0"/>
              <a:t>Many drugs need to pass through one or more cell membranes to reach their site of action</a:t>
            </a:r>
            <a:r>
              <a:rPr lang="en-US" sz="3200" b="1" dirty="0" smtClean="0"/>
              <a:t>.</a:t>
            </a:r>
          </a:p>
          <a:p>
            <a:pPr marL="0" indent="0">
              <a:buNone/>
            </a:pPr>
            <a:endParaRPr lang="en-US" sz="3200" b="1" dirty="0"/>
          </a:p>
          <a:p>
            <a:pPr marL="0" indent="0">
              <a:buNone/>
            </a:pPr>
            <a:r>
              <a:rPr lang="en-US" sz="3200" b="1" dirty="0"/>
              <a:t>A common feature of all cell membranes is a phospholipid bilayer, </a:t>
            </a:r>
            <a:r>
              <a:rPr lang="en-US" sz="3200" b="1" dirty="0" smtClean="0"/>
              <a:t>arranged </a:t>
            </a:r>
            <a:r>
              <a:rPr lang="en-US" sz="3200" b="1" dirty="0"/>
              <a:t>with the hydrophilic heads on the outside and the lipophilic chains facing </a:t>
            </a:r>
            <a:r>
              <a:rPr lang="en-US" sz="3200" b="1" dirty="0" smtClean="0"/>
              <a:t>inwards. This </a:t>
            </a:r>
            <a:r>
              <a:rPr lang="en-US" sz="3200" b="1" dirty="0"/>
              <a:t>gives a sandwich effect, </a:t>
            </a:r>
          </a:p>
        </p:txBody>
      </p:sp>
    </p:spTree>
    <p:extLst>
      <p:ext uri="{BB962C8B-B14F-4D97-AF65-F5344CB8AC3E}">
        <p14:creationId xmlns:p14="http://schemas.microsoft.com/office/powerpoint/2010/main" val="3687580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458200" cy="4525963"/>
          </a:xfrm>
        </p:spPr>
        <p:txBody>
          <a:bodyPr>
            <a:normAutofit/>
          </a:bodyPr>
          <a:lstStyle/>
          <a:p>
            <a:pPr marL="0" indent="0">
              <a:buNone/>
            </a:pPr>
            <a:r>
              <a:rPr lang="en-US" sz="3600" b="1" dirty="0"/>
              <a:t>with two hydrophilic layers surrounding the central hydrophobic one. Spanning this bilayer or attached to the outer or inner leaflets are </a:t>
            </a:r>
            <a:r>
              <a:rPr lang="en-US" sz="3600" b="1" dirty="0" smtClean="0"/>
              <a:t>glycoproteins, which </a:t>
            </a:r>
            <a:r>
              <a:rPr lang="en-US" sz="3600" b="1" dirty="0"/>
              <a:t>may act as ion channels, receptors, intermediate messengers (</a:t>
            </a:r>
            <a:r>
              <a:rPr lang="en-US" sz="3600" b="1" dirty="0" smtClean="0"/>
              <a:t>G-</a:t>
            </a:r>
            <a:r>
              <a:rPr lang="en-US" sz="3600" b="1" dirty="0" err="1" smtClean="0"/>
              <a:t>proteins,G</a:t>
            </a:r>
            <a:r>
              <a:rPr lang="en-US" sz="3600" b="1" dirty="0" smtClean="0"/>
              <a:t>-</a:t>
            </a:r>
            <a:r>
              <a:rPr lang="en-US" sz="3600" b="1" dirty="0" err="1" smtClean="0"/>
              <a:t>proteine</a:t>
            </a:r>
            <a:r>
              <a:rPr lang="en-US" sz="3600" b="1" dirty="0" smtClean="0"/>
              <a:t> couple receptors) </a:t>
            </a:r>
            <a:r>
              <a:rPr lang="en-US" sz="3600" b="1" dirty="0"/>
              <a:t>or </a:t>
            </a:r>
            <a:r>
              <a:rPr lang="en-US" sz="3600" b="1" dirty="0" smtClean="0"/>
              <a:t>enzymes </a:t>
            </a:r>
            <a:r>
              <a:rPr lang="en-US" sz="3600" b="1" dirty="0" err="1" smtClean="0"/>
              <a:t>etc</a:t>
            </a:r>
            <a:endParaRPr lang="en-US" sz="3600" b="1" dirty="0"/>
          </a:p>
        </p:txBody>
      </p:sp>
    </p:spTree>
    <p:extLst>
      <p:ext uri="{BB962C8B-B14F-4D97-AF65-F5344CB8AC3E}">
        <p14:creationId xmlns:p14="http://schemas.microsoft.com/office/powerpoint/2010/main" val="45836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867" t="4932" r="26680" b="20196"/>
          <a:stretch/>
        </p:blipFill>
        <p:spPr bwMode="auto">
          <a:xfrm>
            <a:off x="304800" y="236996"/>
            <a:ext cx="8516064" cy="5948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524000" y="6185848"/>
            <a:ext cx="6858000" cy="584775"/>
          </a:xfrm>
          <a:prstGeom prst="rect">
            <a:avLst/>
          </a:prstGeom>
          <a:noFill/>
        </p:spPr>
        <p:txBody>
          <a:bodyPr wrap="square" rtlCol="0">
            <a:spAutoFit/>
          </a:bodyPr>
          <a:lstStyle/>
          <a:p>
            <a:r>
              <a:rPr lang="en-US" sz="3200" b="1" dirty="0" smtClean="0"/>
              <a:t>Methods of drug crossing to</a:t>
            </a:r>
            <a:r>
              <a:rPr lang="en-US" dirty="0" smtClean="0"/>
              <a:t> </a:t>
            </a:r>
            <a:r>
              <a:rPr lang="en-US" sz="3200" b="1" dirty="0" smtClean="0"/>
              <a:t>cytoplasm</a:t>
            </a:r>
            <a:r>
              <a:rPr lang="en-US" dirty="0" smtClean="0"/>
              <a:t> </a:t>
            </a:r>
            <a:endParaRPr lang="en-US" dirty="0"/>
          </a:p>
        </p:txBody>
      </p:sp>
    </p:spTree>
    <p:extLst>
      <p:ext uri="{BB962C8B-B14F-4D97-AF65-F5344CB8AC3E}">
        <p14:creationId xmlns:p14="http://schemas.microsoft.com/office/powerpoint/2010/main" val="1371406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Crossing the Cell Membrane</a:t>
            </a:r>
          </a:p>
        </p:txBody>
      </p:sp>
      <p:sp>
        <p:nvSpPr>
          <p:cNvPr id="3" name="Content Placeholder 2"/>
          <p:cNvSpPr>
            <a:spLocks noGrp="1"/>
          </p:cNvSpPr>
          <p:nvPr>
            <p:ph idx="1"/>
          </p:nvPr>
        </p:nvSpPr>
        <p:spPr/>
        <p:txBody>
          <a:bodyPr>
            <a:normAutofit lnSpcReduction="10000"/>
          </a:bodyPr>
          <a:lstStyle/>
          <a:p>
            <a:r>
              <a:rPr lang="en-US" sz="4000" dirty="0" smtClean="0"/>
              <a:t> </a:t>
            </a:r>
            <a:r>
              <a:rPr lang="en-US" sz="4000" dirty="0"/>
              <a:t>Passive Diffusion                                                              This </a:t>
            </a:r>
            <a:r>
              <a:rPr lang="en-US" sz="4000" dirty="0" smtClean="0"/>
              <a:t>is the commonest method for crossing the cell membrane. Drug molecules move down a concentration gradient, from an area of high concentration to one of low concentration and the process requires no energy to proceed.</a:t>
            </a:r>
            <a:endParaRPr lang="en-US" sz="4000" dirty="0"/>
          </a:p>
        </p:txBody>
      </p:sp>
    </p:spTree>
    <p:extLst>
      <p:ext uri="{BB962C8B-B14F-4D97-AF65-F5344CB8AC3E}">
        <p14:creationId xmlns:p14="http://schemas.microsoft.com/office/powerpoint/2010/main" val="21779107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600200"/>
            <a:ext cx="8763000" cy="5029200"/>
          </a:xfrm>
        </p:spPr>
        <p:txBody>
          <a:bodyPr>
            <a:noAutofit/>
          </a:bodyPr>
          <a:lstStyle/>
          <a:p>
            <a:pPr marL="0" indent="0">
              <a:buNone/>
            </a:pPr>
            <a:r>
              <a:rPr lang="en-US" sz="3600" b="1" dirty="0"/>
              <a:t>Many drugs are weak acids or weak bases </a:t>
            </a:r>
            <a:r>
              <a:rPr lang="en-US" sz="3600" b="1" dirty="0" smtClean="0"/>
              <a:t>and can </a:t>
            </a:r>
            <a:r>
              <a:rPr lang="en-US" sz="3600" b="1" dirty="0"/>
              <a:t>exist in either the </a:t>
            </a:r>
            <a:r>
              <a:rPr lang="en-US" sz="3600" b="1" dirty="0" smtClean="0"/>
              <a:t>unionized </a:t>
            </a:r>
            <a:r>
              <a:rPr lang="en-US" sz="3600" b="1" dirty="0"/>
              <a:t>or </a:t>
            </a:r>
            <a:r>
              <a:rPr lang="en-US" sz="3600" b="1" dirty="0" smtClean="0"/>
              <a:t>ionized </a:t>
            </a:r>
            <a:r>
              <a:rPr lang="en-US" sz="3600" b="1" dirty="0"/>
              <a:t>form, depending on the </a:t>
            </a:r>
            <a:r>
              <a:rPr lang="en-US" sz="3600" b="1" dirty="0" smtClean="0"/>
              <a:t>pH. </a:t>
            </a:r>
            <a:r>
              <a:rPr lang="en-US" sz="3600" b="1" dirty="0"/>
              <a:t>The </a:t>
            </a:r>
            <a:r>
              <a:rPr lang="en-US" sz="3600" b="1" dirty="0" smtClean="0"/>
              <a:t>unionized form of </a:t>
            </a:r>
            <a:r>
              <a:rPr lang="en-US" sz="3600" b="1" dirty="0"/>
              <a:t>a drug is lipid-soluble and diffuses easily by dissolution in the lipid bilayer. Thus the </a:t>
            </a:r>
            <a:r>
              <a:rPr lang="en-US" sz="3600" b="1" dirty="0" smtClean="0"/>
              <a:t>rate at </a:t>
            </a:r>
            <a:r>
              <a:rPr lang="en-US" sz="3600" b="1" dirty="0"/>
              <a:t>which transfer occurs depends on the pKa of the drug in </a:t>
            </a:r>
            <a:r>
              <a:rPr lang="en-US" sz="3600" b="1" dirty="0" smtClean="0"/>
              <a:t>question.</a:t>
            </a:r>
            <a:endParaRPr lang="en-US" sz="3600" b="1" dirty="0"/>
          </a:p>
        </p:txBody>
      </p:sp>
    </p:spTree>
    <p:extLst>
      <p:ext uri="{BB962C8B-B14F-4D97-AF65-F5344CB8AC3E}">
        <p14:creationId xmlns:p14="http://schemas.microsoft.com/office/powerpoint/2010/main" val="1219839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4000" dirty="0"/>
              <a:t>In addition, there are specialized ion channels in the membrane that allow intermittent passive movement of selected ions down a concentration gradient</a:t>
            </a:r>
          </a:p>
        </p:txBody>
      </p:sp>
    </p:spTree>
    <p:extLst>
      <p:ext uri="{BB962C8B-B14F-4D97-AF65-F5344CB8AC3E}">
        <p14:creationId xmlns:p14="http://schemas.microsoft.com/office/powerpoint/2010/main" val="3151395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534400" cy="4525963"/>
          </a:xfrm>
        </p:spPr>
        <p:txBody>
          <a:bodyPr>
            <a:normAutofit fontScale="70000" lnSpcReduction="20000"/>
          </a:bodyPr>
          <a:lstStyle/>
          <a:p>
            <a:pPr marL="0" indent="0">
              <a:buNone/>
            </a:pPr>
            <a:r>
              <a:rPr lang="en-US" sz="4400" dirty="0"/>
              <a:t>Ion channels may have their permeability altered by endogenous compounds or by drugs</a:t>
            </a:r>
            <a:r>
              <a:rPr lang="en-US" sz="4400" dirty="0" smtClean="0"/>
              <a:t>.</a:t>
            </a:r>
          </a:p>
          <a:p>
            <a:pPr marL="0" indent="0">
              <a:buNone/>
            </a:pPr>
            <a:endParaRPr lang="en-US" sz="4400" dirty="0"/>
          </a:p>
          <a:p>
            <a:pPr marL="0" indent="0">
              <a:buNone/>
            </a:pPr>
            <a:r>
              <a:rPr lang="en-US" sz="4400" dirty="0"/>
              <a:t>Local </a:t>
            </a:r>
            <a:r>
              <a:rPr lang="en-US" sz="4400" dirty="0" smtClean="0"/>
              <a:t>anesthetics </a:t>
            </a:r>
            <a:r>
              <a:rPr lang="en-US" sz="4400" dirty="0"/>
              <a:t>bind to the internal surface of the fast Na+ ion channel and prevent </a:t>
            </a:r>
            <a:r>
              <a:rPr lang="en-US" sz="4400" dirty="0" smtClean="0"/>
              <a:t>the conformational </a:t>
            </a:r>
            <a:r>
              <a:rPr lang="en-US" sz="4400" dirty="0"/>
              <a:t>change required for activation, </a:t>
            </a:r>
            <a:endParaRPr lang="en-US" sz="4400" dirty="0" smtClean="0"/>
          </a:p>
          <a:p>
            <a:pPr marL="0" indent="0">
              <a:buNone/>
            </a:pPr>
            <a:endParaRPr lang="en-US" sz="4400" dirty="0" smtClean="0"/>
          </a:p>
          <a:p>
            <a:pPr marL="0" indent="0">
              <a:buNone/>
            </a:pPr>
            <a:r>
              <a:rPr lang="en-US" sz="4400" dirty="0" smtClean="0"/>
              <a:t>while non </a:t>
            </a:r>
            <a:r>
              <a:rPr lang="en-US" sz="4400" dirty="0" err="1" smtClean="0"/>
              <a:t>depolarising</a:t>
            </a:r>
            <a:r>
              <a:rPr lang="en-US" sz="4400" dirty="0" smtClean="0"/>
              <a:t> </a:t>
            </a:r>
            <a:r>
              <a:rPr lang="en-US" sz="4400" dirty="0"/>
              <a:t>muscle relaxants</a:t>
            </a:r>
          </a:p>
          <a:p>
            <a:pPr marL="0" indent="0">
              <a:buNone/>
            </a:pPr>
            <a:r>
              <a:rPr lang="en-US" sz="4400" dirty="0"/>
              <a:t>prevent receptor activation by competitively inhibiting the binding of ACh to its receptor site.</a:t>
            </a:r>
          </a:p>
        </p:txBody>
      </p:sp>
    </p:spTree>
    <p:extLst>
      <p:ext uri="{BB962C8B-B14F-4D97-AF65-F5344CB8AC3E}">
        <p14:creationId xmlns:p14="http://schemas.microsoft.com/office/powerpoint/2010/main" val="1691540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Facilitated Diffusion</a:t>
            </a:r>
          </a:p>
        </p:txBody>
      </p:sp>
      <p:sp>
        <p:nvSpPr>
          <p:cNvPr id="3" name="Content Placeholder 2"/>
          <p:cNvSpPr>
            <a:spLocks noGrp="1"/>
          </p:cNvSpPr>
          <p:nvPr>
            <p:ph idx="1"/>
          </p:nvPr>
        </p:nvSpPr>
        <p:spPr>
          <a:xfrm>
            <a:off x="152400" y="1600200"/>
            <a:ext cx="8763000" cy="4525963"/>
          </a:xfrm>
        </p:spPr>
        <p:txBody>
          <a:bodyPr>
            <a:noAutofit/>
          </a:bodyPr>
          <a:lstStyle/>
          <a:p>
            <a:r>
              <a:rPr lang="en-US" sz="3600" b="1" dirty="0" smtClean="0"/>
              <a:t>Facilitated diffusion refers to the process where molecules combine with membrane-bound carrier proteins to cross the membrane. The rate of diffusion of the molecule–protein complex is still down a concentration gradient Transfer is faster than simple diffusion. </a:t>
            </a:r>
          </a:p>
        </p:txBody>
      </p:sp>
    </p:spTree>
    <p:extLst>
      <p:ext uri="{BB962C8B-B14F-4D97-AF65-F5344CB8AC3E}">
        <p14:creationId xmlns:p14="http://schemas.microsoft.com/office/powerpoint/2010/main" val="31190152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3600" b="1" dirty="0" smtClean="0"/>
              <a:t>An </a:t>
            </a:r>
            <a:r>
              <a:rPr lang="en-US" sz="3600" b="1" dirty="0"/>
              <a:t>example of this  is the absorption of glucose, a highly </a:t>
            </a:r>
            <a:r>
              <a:rPr lang="en-US" sz="3600" b="1" dirty="0" smtClean="0"/>
              <a:t>polar </a:t>
            </a:r>
            <a:r>
              <a:rPr lang="en-US" sz="3600" b="1" dirty="0"/>
              <a:t>molecule, which would be relatively slow if it occurred by diffusion  </a:t>
            </a:r>
            <a:r>
              <a:rPr lang="en-US" sz="3600" b="1" dirty="0" smtClean="0"/>
              <a:t>alone</a:t>
            </a:r>
            <a:r>
              <a:rPr lang="en-US" sz="3600" b="1" dirty="0"/>
              <a:t>. </a:t>
            </a:r>
          </a:p>
          <a:p>
            <a:r>
              <a:rPr lang="en-US" sz="3600" b="1" dirty="0"/>
              <a:t>There are several transport proteins responsible for facilitated glucose diffusion; they belong to the solute carrier (SLC) family 2 .</a:t>
            </a:r>
          </a:p>
        </p:txBody>
      </p:sp>
    </p:spTree>
    <p:extLst>
      <p:ext uri="{BB962C8B-B14F-4D97-AF65-F5344CB8AC3E}">
        <p14:creationId xmlns:p14="http://schemas.microsoft.com/office/powerpoint/2010/main" val="2395396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Transport</a:t>
            </a:r>
          </a:p>
        </p:txBody>
      </p:sp>
      <p:sp>
        <p:nvSpPr>
          <p:cNvPr id="3" name="Content Placeholder 2"/>
          <p:cNvSpPr>
            <a:spLocks noGrp="1"/>
          </p:cNvSpPr>
          <p:nvPr>
            <p:ph idx="1"/>
          </p:nvPr>
        </p:nvSpPr>
        <p:spPr/>
        <p:txBody>
          <a:bodyPr/>
          <a:lstStyle/>
          <a:p>
            <a:r>
              <a:rPr lang="en-US" sz="4400" dirty="0" smtClean="0"/>
              <a:t>Active transport is an energy-requiring process. The molecule is transported against its concentration gradient by a molecular pump, which requires energy to function</a:t>
            </a:r>
            <a:r>
              <a:rPr lang="en-US" dirty="0" smtClean="0"/>
              <a:t>. </a:t>
            </a:r>
          </a:p>
        </p:txBody>
      </p:sp>
    </p:spTree>
    <p:extLst>
      <p:ext uri="{BB962C8B-B14F-4D97-AF65-F5344CB8AC3E}">
        <p14:creationId xmlns:p14="http://schemas.microsoft.com/office/powerpoint/2010/main" val="26761317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Content Placeholder 2"/>
          <p:cNvSpPr>
            <a:spLocks noGrp="1"/>
          </p:cNvSpPr>
          <p:nvPr>
            <p:ph idx="1"/>
          </p:nvPr>
        </p:nvSpPr>
        <p:spPr>
          <a:xfrm>
            <a:off x="152400" y="1600200"/>
            <a:ext cx="8763000" cy="4525963"/>
          </a:xfrm>
        </p:spPr>
        <p:txBody>
          <a:bodyPr>
            <a:noAutofit/>
          </a:bodyPr>
          <a:lstStyle/>
          <a:p>
            <a:r>
              <a:rPr lang="en-US" sz="4000" dirty="0" smtClean="0"/>
              <a:t>Na+/K+ ATPase is an example of primary active </a:t>
            </a:r>
            <a:r>
              <a:rPr lang="en-US" sz="4000" dirty="0"/>
              <a:t>transport </a:t>
            </a:r>
            <a:r>
              <a:rPr lang="en-US" sz="4000" dirty="0" smtClean="0"/>
              <a:t>(</a:t>
            </a:r>
            <a:r>
              <a:rPr lang="en-US" sz="4000" dirty="0" err="1" smtClean="0"/>
              <a:t>antiport</a:t>
            </a:r>
            <a:r>
              <a:rPr lang="en-US" sz="4000" dirty="0" smtClean="0"/>
              <a:t>)</a:t>
            </a:r>
            <a:r>
              <a:rPr lang="en-US" sz="4000" dirty="0"/>
              <a:t> </a:t>
            </a:r>
            <a:r>
              <a:rPr lang="pt-BR" sz="4000" dirty="0"/>
              <a:t>The Na+/amino acid </a:t>
            </a:r>
            <a:r>
              <a:rPr lang="pt-BR" sz="4000" dirty="0" smtClean="0"/>
              <a:t>(symport) </a:t>
            </a:r>
            <a:r>
              <a:rPr lang="en-US" sz="4000" dirty="0" smtClean="0"/>
              <a:t> the energy in the high-energy phosphate bond is lost as the molecule is hydrolyzed, with concurrent ion transport against the respective concentration gradients</a:t>
            </a:r>
            <a:endParaRPr lang="en-US" sz="4000" dirty="0"/>
          </a:p>
        </p:txBody>
      </p:sp>
      <p:sp>
        <p:nvSpPr>
          <p:cNvPr id="2" name="TextBox 1"/>
          <p:cNvSpPr txBox="1"/>
          <p:nvPr/>
        </p:nvSpPr>
        <p:spPr>
          <a:xfrm>
            <a:off x="4121624" y="297521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914729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Pinocytosis</a:t>
            </a:r>
          </a:p>
        </p:txBody>
      </p:sp>
      <p:sp>
        <p:nvSpPr>
          <p:cNvPr id="3" name="Content Placeholder 2"/>
          <p:cNvSpPr>
            <a:spLocks noGrp="1"/>
          </p:cNvSpPr>
          <p:nvPr>
            <p:ph idx="1"/>
          </p:nvPr>
        </p:nvSpPr>
        <p:spPr>
          <a:xfrm>
            <a:off x="152400" y="1600200"/>
            <a:ext cx="8534400" cy="4525963"/>
          </a:xfrm>
        </p:spPr>
        <p:txBody>
          <a:bodyPr>
            <a:normAutofit/>
          </a:bodyPr>
          <a:lstStyle/>
          <a:p>
            <a:r>
              <a:rPr lang="en-US" sz="3200" b="1" dirty="0" smtClean="0"/>
              <a:t>Pinocytosis is the process by which an area of the cell membrane invaginates around the target molecule and moves it into the cell. The molecule may then be released into the cell or may remain in the vacuole so created, until the reverse process occurs on the opposite side of the cell , usually for large molecules.</a:t>
            </a:r>
            <a:endParaRPr lang="en-US" sz="3200" b="1" dirty="0"/>
          </a:p>
        </p:txBody>
      </p:sp>
    </p:spTree>
    <p:extLst>
      <p:ext uri="{BB962C8B-B14F-4D97-AF65-F5344CB8AC3E}">
        <p14:creationId xmlns:p14="http://schemas.microsoft.com/office/powerpoint/2010/main" val="1509431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328" t="7160" r="26051" b="3929"/>
          <a:stretch/>
        </p:blipFill>
        <p:spPr bwMode="auto">
          <a:xfrm>
            <a:off x="1219200" y="685800"/>
            <a:ext cx="7467600" cy="5445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7788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Factors Influencing the Rate of Diffusion</a:t>
            </a:r>
            <a:endParaRPr lang="en-US" dirty="0"/>
          </a:p>
        </p:txBody>
      </p:sp>
      <p:sp>
        <p:nvSpPr>
          <p:cNvPr id="3" name="Content Placeholder 2"/>
          <p:cNvSpPr>
            <a:spLocks noGrp="1"/>
          </p:cNvSpPr>
          <p:nvPr>
            <p:ph idx="1"/>
          </p:nvPr>
        </p:nvSpPr>
        <p:spPr/>
        <p:txBody>
          <a:bodyPr>
            <a:normAutofit lnSpcReduction="10000"/>
          </a:bodyPr>
          <a:lstStyle/>
          <a:p>
            <a:r>
              <a:rPr lang="en-US" sz="3600" dirty="0" smtClean="0"/>
              <a:t>Molecular Size</a:t>
            </a:r>
          </a:p>
          <a:p>
            <a:r>
              <a:rPr lang="en-US" sz="3600" dirty="0" smtClean="0"/>
              <a:t>Concentration Gradient</a:t>
            </a:r>
          </a:p>
          <a:p>
            <a:r>
              <a:rPr lang="en-US" sz="3600" dirty="0" smtClean="0"/>
              <a:t>Ionization The lipophilic nature of the cell membrane only permits the passage of the uncharged fraction of any drug</a:t>
            </a:r>
          </a:p>
          <a:p>
            <a:r>
              <a:rPr lang="en-US" sz="3600" dirty="0" smtClean="0"/>
              <a:t>Lipid Solubility</a:t>
            </a:r>
          </a:p>
          <a:p>
            <a:r>
              <a:rPr lang="en-US" sz="3600" dirty="0" smtClean="0"/>
              <a:t>Protein Binding</a:t>
            </a:r>
          </a:p>
          <a:p>
            <a:pPr marL="0" indent="0">
              <a:buNone/>
            </a:pPr>
            <a:endParaRPr lang="en-US" dirty="0"/>
          </a:p>
        </p:txBody>
      </p:sp>
    </p:spTree>
    <p:extLst>
      <p:ext uri="{BB962C8B-B14F-4D97-AF65-F5344CB8AC3E}">
        <p14:creationId xmlns:p14="http://schemas.microsoft.com/office/powerpoint/2010/main" val="35769516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200" b="1" dirty="0"/>
              <a:t>The lipophilic nature of the cell membrane only permits the passage of the </a:t>
            </a:r>
            <a:r>
              <a:rPr lang="en-US" sz="3200" b="1" dirty="0" smtClean="0"/>
              <a:t>uncharged fraction </a:t>
            </a:r>
            <a:r>
              <a:rPr lang="en-US" sz="3200" b="1" dirty="0"/>
              <a:t>of any drug. </a:t>
            </a:r>
            <a:endParaRPr lang="en-US" sz="3200" b="1" dirty="0" smtClean="0"/>
          </a:p>
          <a:p>
            <a:pPr marL="0" indent="0">
              <a:buNone/>
            </a:pPr>
            <a:r>
              <a:rPr lang="en-US" sz="3200" b="1" dirty="0"/>
              <a:t>The pKa is the pH at which 50% of the drug molecules are </a:t>
            </a:r>
            <a:r>
              <a:rPr lang="en-US" sz="3200" b="1" dirty="0" smtClean="0"/>
              <a:t>ionized thus </a:t>
            </a:r>
            <a:r>
              <a:rPr lang="en-US" sz="3200" b="1" dirty="0"/>
              <a:t>the </a:t>
            </a:r>
            <a:r>
              <a:rPr lang="en-US" sz="3200" b="1" dirty="0" smtClean="0"/>
              <a:t>concentrations </a:t>
            </a:r>
            <a:r>
              <a:rPr lang="en-US" sz="3200" b="1" dirty="0"/>
              <a:t>of </a:t>
            </a:r>
            <a:r>
              <a:rPr lang="en-US" sz="3200" b="1" dirty="0" smtClean="0"/>
              <a:t>ionized </a:t>
            </a:r>
            <a:r>
              <a:rPr lang="en-US" sz="3200" b="1" dirty="0"/>
              <a:t>and </a:t>
            </a:r>
            <a:r>
              <a:rPr lang="en-US" sz="3200" b="1" dirty="0" smtClean="0"/>
              <a:t>unionized </a:t>
            </a:r>
            <a:r>
              <a:rPr lang="en-US" sz="3200" b="1" dirty="0"/>
              <a:t>portions are equal. </a:t>
            </a:r>
            <a:endParaRPr lang="en-US" sz="3200" b="1" dirty="0" smtClean="0"/>
          </a:p>
        </p:txBody>
      </p:sp>
    </p:spTree>
    <p:extLst>
      <p:ext uri="{BB962C8B-B14F-4D97-AF65-F5344CB8AC3E}">
        <p14:creationId xmlns:p14="http://schemas.microsoft.com/office/powerpoint/2010/main" val="2000337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458200" cy="4525963"/>
          </a:xfrm>
        </p:spPr>
        <p:txBody>
          <a:bodyPr>
            <a:normAutofit/>
          </a:bodyPr>
          <a:lstStyle/>
          <a:p>
            <a:pPr marL="0" indent="0">
              <a:buNone/>
            </a:pPr>
            <a:endParaRPr lang="en-US" dirty="0" smtClean="0"/>
          </a:p>
          <a:p>
            <a:pPr marL="0" indent="0">
              <a:buNone/>
            </a:pPr>
            <a:r>
              <a:rPr lang="en-US" sz="3600" b="1" dirty="0"/>
              <a:t>Only the unbound fraction of any drug in plasma is free to cross the cell </a:t>
            </a:r>
            <a:r>
              <a:rPr lang="en-US" sz="3600" b="1" dirty="0" smtClean="0"/>
              <a:t>membrane; from binding protein.            </a:t>
            </a:r>
          </a:p>
          <a:p>
            <a:pPr marL="0" indent="0">
              <a:buNone/>
            </a:pPr>
            <a:r>
              <a:rPr lang="en-US" sz="3600" b="1" dirty="0" smtClean="0"/>
              <a:t>Albumin  binds neutral </a:t>
            </a:r>
            <a:r>
              <a:rPr lang="en-US" sz="3600" b="1" dirty="0"/>
              <a:t>or acidic </a:t>
            </a:r>
            <a:r>
              <a:rPr lang="en-US" sz="3600" b="1" dirty="0" smtClean="0"/>
              <a:t>drugs       </a:t>
            </a:r>
            <a:r>
              <a:rPr lang="en-US" sz="3600" b="1" dirty="0"/>
              <a:t>(e.g. barbiturates</a:t>
            </a:r>
            <a:r>
              <a:rPr lang="en-US" sz="3600" b="1" dirty="0" smtClean="0"/>
              <a:t>)</a:t>
            </a:r>
          </a:p>
          <a:p>
            <a:pPr marL="0" indent="0">
              <a:buNone/>
            </a:pPr>
            <a:r>
              <a:rPr lang="en-US" sz="3600" b="1" dirty="0" smtClean="0"/>
              <a:t> </a:t>
            </a:r>
            <a:r>
              <a:rPr lang="en-US" sz="3600" b="1" dirty="0"/>
              <a:t>G</a:t>
            </a:r>
            <a:r>
              <a:rPr lang="en-US" sz="3600" b="1" dirty="0" smtClean="0"/>
              <a:t>lobulins bind </a:t>
            </a:r>
            <a:r>
              <a:rPr lang="en-US" sz="3600" b="1" dirty="0"/>
              <a:t>basic drugs (</a:t>
            </a:r>
            <a:r>
              <a:rPr lang="en-US" sz="3600" b="1" dirty="0" smtClean="0"/>
              <a:t>e.g.morphine</a:t>
            </a:r>
            <a:r>
              <a:rPr lang="en-US" sz="3600" b="1" dirty="0"/>
              <a:t>).</a:t>
            </a:r>
          </a:p>
          <a:p>
            <a:pPr marL="0" indent="0">
              <a:buNone/>
            </a:pPr>
            <a:endParaRPr lang="en-US" b="1" dirty="0"/>
          </a:p>
        </p:txBody>
      </p:sp>
    </p:spTree>
    <p:extLst>
      <p:ext uri="{BB962C8B-B14F-4D97-AF65-F5344CB8AC3E}">
        <p14:creationId xmlns:p14="http://schemas.microsoft.com/office/powerpoint/2010/main" val="984033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Blood Brain </a:t>
            </a:r>
            <a:r>
              <a:rPr lang="en-US" dirty="0"/>
              <a:t>Barrier</a:t>
            </a:r>
          </a:p>
        </p:txBody>
      </p:sp>
      <p:sp>
        <p:nvSpPr>
          <p:cNvPr id="3" name="Content Placeholder 2"/>
          <p:cNvSpPr>
            <a:spLocks noGrp="1"/>
          </p:cNvSpPr>
          <p:nvPr>
            <p:ph idx="1"/>
          </p:nvPr>
        </p:nvSpPr>
        <p:spPr>
          <a:xfrm>
            <a:off x="457200" y="1600200"/>
            <a:ext cx="8534400" cy="4525963"/>
          </a:xfrm>
        </p:spPr>
        <p:txBody>
          <a:bodyPr>
            <a:noAutofit/>
          </a:bodyPr>
          <a:lstStyle/>
          <a:p>
            <a:pPr marL="0" indent="0">
              <a:buNone/>
            </a:pPr>
            <a:r>
              <a:rPr lang="en-US" sz="3200" b="1" dirty="0" smtClean="0"/>
              <a:t>The </a:t>
            </a:r>
            <a:r>
              <a:rPr lang="en-US" sz="3200" b="1" dirty="0"/>
              <a:t>blood–brain barrier (BBB) is an anatomical and functional barrier between the circulation and the </a:t>
            </a:r>
            <a:r>
              <a:rPr lang="en-US" sz="3200" b="1" dirty="0" smtClean="0"/>
              <a:t>CNS.Active </a:t>
            </a:r>
            <a:r>
              <a:rPr lang="en-US" sz="3200" b="1" dirty="0"/>
              <a:t>transport and facilitated diffusion are the predominant methods of molecular transfer, which in health is tightly </a:t>
            </a:r>
            <a:r>
              <a:rPr lang="en-US" sz="3200" b="1" dirty="0" smtClean="0"/>
              <a:t>controlled. </a:t>
            </a:r>
            <a:endParaRPr lang="en-US" sz="3200" b="1" dirty="0"/>
          </a:p>
        </p:txBody>
      </p:sp>
    </p:spTree>
    <p:extLst>
      <p:ext uri="{BB962C8B-B14F-4D97-AF65-F5344CB8AC3E}">
        <p14:creationId xmlns:p14="http://schemas.microsoft.com/office/powerpoint/2010/main" val="3512591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600200"/>
            <a:ext cx="8763000" cy="4525963"/>
          </a:xfrm>
        </p:spPr>
        <p:txBody>
          <a:bodyPr/>
          <a:lstStyle/>
          <a:p>
            <a:pPr marL="0" indent="0">
              <a:buNone/>
            </a:pPr>
            <a:r>
              <a:rPr lang="en-US" dirty="0"/>
              <a:t> </a:t>
            </a:r>
            <a:r>
              <a:rPr lang="en-US" sz="3600" b="1" dirty="0" smtClean="0"/>
              <a:t>Glucose </a:t>
            </a:r>
            <a:r>
              <a:rPr lang="en-US" sz="3600" b="1" dirty="0"/>
              <a:t>and hormones, such as insulin, cross by active carrier transport, while only lipid-soluble, low molecular weight drugs can cross by simple diffusion                                                                                                             </a:t>
            </a:r>
            <a:r>
              <a:rPr lang="en-US" sz="3600" b="1" dirty="0" smtClean="0"/>
              <a:t>ionized </a:t>
            </a:r>
            <a:r>
              <a:rPr lang="en-US" sz="3600" b="1" dirty="0"/>
              <a:t>drugs is limited by pericapillary glial cells and endothelial cell tight junctions </a:t>
            </a:r>
            <a:endParaRPr lang="en-US" sz="3600" b="1" dirty="0" smtClean="0"/>
          </a:p>
          <a:p>
            <a:pPr marL="0" indent="0">
              <a:buNone/>
            </a:pPr>
            <a:endParaRPr lang="en-US" dirty="0"/>
          </a:p>
        </p:txBody>
      </p:sp>
    </p:spTree>
    <p:extLst>
      <p:ext uri="{BB962C8B-B14F-4D97-AF65-F5344CB8AC3E}">
        <p14:creationId xmlns:p14="http://schemas.microsoft.com/office/powerpoint/2010/main" val="724414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4000" dirty="0"/>
              <a:t>Thus inhaled and intravenous </a:t>
            </a:r>
            <a:r>
              <a:rPr lang="en-US" sz="4000" dirty="0" smtClean="0"/>
              <a:t>anesthetics </a:t>
            </a:r>
            <a:r>
              <a:rPr lang="en-US" sz="4000" dirty="0"/>
              <a:t>can cross readily whereas the larger, polar muscle relaxants cannot and have no central effect. Similarly, glycopyrrolate has a quaternary, charged nitrogen and does not cross the BBB </a:t>
            </a:r>
            <a:r>
              <a:rPr lang="en-US" sz="4000" dirty="0" smtClean="0"/>
              <a:t>readily.</a:t>
            </a:r>
            <a:endParaRPr lang="en-US" sz="4000" dirty="0"/>
          </a:p>
        </p:txBody>
      </p:sp>
    </p:spTree>
    <p:extLst>
      <p:ext uri="{BB962C8B-B14F-4D97-AF65-F5344CB8AC3E}">
        <p14:creationId xmlns:p14="http://schemas.microsoft.com/office/powerpoint/2010/main" val="1191547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PHARMACOKINETICS</a:t>
            </a:r>
          </a:p>
        </p:txBody>
      </p:sp>
      <p:sp>
        <p:nvSpPr>
          <p:cNvPr id="3" name="Content Placeholder 2"/>
          <p:cNvSpPr>
            <a:spLocks noGrp="1"/>
          </p:cNvSpPr>
          <p:nvPr>
            <p:ph idx="1"/>
          </p:nvPr>
        </p:nvSpPr>
        <p:spPr>
          <a:xfrm>
            <a:off x="457200" y="1600200"/>
            <a:ext cx="8534400" cy="4525963"/>
          </a:xfrm>
        </p:spPr>
        <p:txBody>
          <a:bodyPr>
            <a:normAutofit/>
          </a:bodyPr>
          <a:lstStyle/>
          <a:p>
            <a:r>
              <a:rPr lang="en-US" sz="3600" dirty="0" smtClean="0"/>
              <a:t>Pharmacokinetics defines the relationships among drug dosing, drug concentration in body fluids and tissues  and  time.</a:t>
            </a:r>
          </a:p>
          <a:p>
            <a:r>
              <a:rPr lang="en-US" sz="3600" dirty="0" smtClean="0"/>
              <a:t>It consists of four linked processes: absorption,distribution,biotransformation,(metabolism) and excretion.</a:t>
            </a:r>
            <a:endParaRPr lang="en-US" sz="3600" dirty="0"/>
          </a:p>
        </p:txBody>
      </p:sp>
    </p:spTree>
    <p:extLst>
      <p:ext uri="{BB962C8B-B14F-4D97-AF65-F5344CB8AC3E}">
        <p14:creationId xmlns:p14="http://schemas.microsoft.com/office/powerpoint/2010/main" val="25540650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Absorption</a:t>
            </a:r>
          </a:p>
        </p:txBody>
      </p:sp>
      <p:sp>
        <p:nvSpPr>
          <p:cNvPr id="3" name="Content Placeholder 2"/>
          <p:cNvSpPr>
            <a:spLocks noGrp="1"/>
          </p:cNvSpPr>
          <p:nvPr>
            <p:ph idx="1"/>
          </p:nvPr>
        </p:nvSpPr>
        <p:spPr/>
        <p:txBody>
          <a:bodyPr>
            <a:normAutofit/>
          </a:bodyPr>
          <a:lstStyle/>
          <a:p>
            <a:r>
              <a:rPr lang="en-US" sz="3200" dirty="0" smtClean="0"/>
              <a:t>Absorption defines the processes by which a drug moves from the site of administration to the bloodstream. There are many possible routes of drug administration:                       oral, sublingual, rectal, inhalational, transdermal, transmucosal, subcutaneous, intramuscular,perineural, peridural, intrathecal, and intravenous</a:t>
            </a:r>
            <a:endParaRPr lang="en-US" sz="3200" dirty="0"/>
          </a:p>
        </p:txBody>
      </p:sp>
    </p:spTree>
    <p:extLst>
      <p:ext uri="{BB962C8B-B14F-4D97-AF65-F5344CB8AC3E}">
        <p14:creationId xmlns:p14="http://schemas.microsoft.com/office/powerpoint/2010/main" val="41217958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smtClean="0"/>
              <a:t>Absorption is influenced by the physical characteristics of the drug (solubility,pKa, diluents, binders, and formulation), dose, the site of (</a:t>
            </a:r>
            <a:r>
              <a:rPr lang="en-US" sz="3200" dirty="0" err="1" smtClean="0"/>
              <a:t>eg</a:t>
            </a:r>
            <a:r>
              <a:rPr lang="en-US" sz="3200" dirty="0" smtClean="0"/>
              <a:t>, </a:t>
            </a:r>
            <a:r>
              <a:rPr lang="en-US" sz="3200" dirty="0" err="1" smtClean="0"/>
              <a:t>gut,lung</a:t>
            </a:r>
            <a:r>
              <a:rPr lang="en-US" sz="3200" dirty="0" smtClean="0"/>
              <a:t>, skin, muscle), and in some cases (</a:t>
            </a:r>
            <a:r>
              <a:rPr lang="en-US" sz="3200" dirty="0" err="1" smtClean="0"/>
              <a:t>eg</a:t>
            </a:r>
            <a:r>
              <a:rPr lang="en-US" sz="3200" dirty="0" smtClean="0"/>
              <a:t>, </a:t>
            </a:r>
            <a:r>
              <a:rPr lang="en-US" sz="3200" dirty="0" err="1" smtClean="0"/>
              <a:t>perineural</a:t>
            </a:r>
            <a:r>
              <a:rPr lang="en-US" sz="3200" dirty="0" smtClean="0"/>
              <a:t> or subcutaneous administration of local anesthetics) by additives such as epinephrine</a:t>
            </a:r>
            <a:endParaRPr lang="en-US" sz="3200" dirty="0"/>
          </a:p>
        </p:txBody>
      </p:sp>
    </p:spTree>
    <p:extLst>
      <p:ext uri="{BB962C8B-B14F-4D97-AF65-F5344CB8AC3E}">
        <p14:creationId xmlns:p14="http://schemas.microsoft.com/office/powerpoint/2010/main" val="7123669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 </a:t>
            </a:r>
            <a:r>
              <a:rPr lang="en-US" sz="4400" dirty="0"/>
              <a:t>A</a:t>
            </a:r>
            <a:r>
              <a:rPr lang="en-US" sz="4400" dirty="0" smtClean="0"/>
              <a:t>n </a:t>
            </a:r>
            <a:r>
              <a:rPr lang="en-US" sz="4400" dirty="0"/>
              <a:t>acidic environment (stomach) favors the absorption of acidic drugs, whereas a more alkaline environment (intestine) favors basic drugs.</a:t>
            </a:r>
          </a:p>
        </p:txBody>
      </p:sp>
    </p:spTree>
    <p:extLst>
      <p:ext uri="{BB962C8B-B14F-4D97-AF65-F5344CB8AC3E}">
        <p14:creationId xmlns:p14="http://schemas.microsoft.com/office/powerpoint/2010/main" val="1654415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458200" cy="4525963"/>
          </a:xfrm>
        </p:spPr>
        <p:txBody>
          <a:bodyPr>
            <a:noAutofit/>
          </a:bodyPr>
          <a:lstStyle/>
          <a:p>
            <a:pPr marL="0" indent="0">
              <a:buNone/>
            </a:pPr>
            <a:r>
              <a:rPr lang="en-US" sz="3200" dirty="0"/>
              <a:t>Acidic drugs (e.g. aspirin) are </a:t>
            </a:r>
            <a:r>
              <a:rPr lang="en-US" sz="3200" dirty="0" smtClean="0"/>
              <a:t>unionized </a:t>
            </a:r>
            <a:r>
              <a:rPr lang="en-US" sz="3200" dirty="0"/>
              <a:t>in the highly acidic medium of the stomach </a:t>
            </a:r>
            <a:r>
              <a:rPr lang="en-US" sz="3200" dirty="0" smtClean="0"/>
              <a:t>and therefore </a:t>
            </a:r>
            <a:r>
              <a:rPr lang="en-US" sz="3200" dirty="0"/>
              <a:t>are absorbed more rapidly than basic drugs. Although weak bases (e.g. </a:t>
            </a:r>
            <a:r>
              <a:rPr lang="en-US" sz="3200" dirty="0" smtClean="0"/>
              <a:t>propranolol</a:t>
            </a:r>
            <a:r>
              <a:rPr lang="en-US" sz="3200" dirty="0"/>
              <a:t>) are </a:t>
            </a:r>
            <a:r>
              <a:rPr lang="en-US" sz="3200" dirty="0" smtClean="0"/>
              <a:t>ionized </a:t>
            </a:r>
            <a:r>
              <a:rPr lang="en-US" sz="3200" dirty="0"/>
              <a:t>in the stomach, they are relatively </a:t>
            </a:r>
            <a:r>
              <a:rPr lang="en-US" sz="3200" dirty="0" smtClean="0"/>
              <a:t>unionized </a:t>
            </a:r>
            <a:r>
              <a:rPr lang="en-US" sz="3200" dirty="0"/>
              <a:t>in the duodenum, so </a:t>
            </a:r>
            <a:r>
              <a:rPr lang="en-US" sz="3200" dirty="0" smtClean="0"/>
              <a:t>are absorbed </a:t>
            </a:r>
            <a:r>
              <a:rPr lang="en-US" sz="3200" dirty="0"/>
              <a:t>from this </a:t>
            </a:r>
            <a:r>
              <a:rPr lang="en-US" sz="3200" dirty="0" smtClean="0"/>
              <a:t>site. The </a:t>
            </a:r>
            <a:r>
              <a:rPr lang="en-US" sz="3200" dirty="0"/>
              <a:t>salts of permanently charged drugs (e.g. vecuronium, </a:t>
            </a:r>
            <a:r>
              <a:rPr lang="en-US" sz="3200" dirty="0" smtClean="0"/>
              <a:t>glycopyrrolate</a:t>
            </a:r>
            <a:r>
              <a:rPr lang="en-US" sz="3200" dirty="0"/>
              <a:t>) remain </a:t>
            </a:r>
            <a:r>
              <a:rPr lang="en-US" sz="3200" dirty="0" smtClean="0"/>
              <a:t>ionized </a:t>
            </a:r>
            <a:r>
              <a:rPr lang="en-US" sz="3200" dirty="0"/>
              <a:t>at all times and are therefore not absorbed from the GI tract</a:t>
            </a:r>
          </a:p>
        </p:txBody>
      </p:sp>
    </p:spTree>
    <p:extLst>
      <p:ext uri="{BB962C8B-B14F-4D97-AF65-F5344CB8AC3E}">
        <p14:creationId xmlns:p14="http://schemas.microsoft.com/office/powerpoint/2010/main" val="3950918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Bioavailability</a:t>
            </a:r>
          </a:p>
        </p:txBody>
      </p:sp>
      <p:sp>
        <p:nvSpPr>
          <p:cNvPr id="3" name="Content Placeholder 2"/>
          <p:cNvSpPr>
            <a:spLocks noGrp="1"/>
          </p:cNvSpPr>
          <p:nvPr>
            <p:ph idx="1"/>
          </p:nvPr>
        </p:nvSpPr>
        <p:spPr/>
        <p:txBody>
          <a:bodyPr>
            <a:normAutofit/>
          </a:bodyPr>
          <a:lstStyle/>
          <a:p>
            <a:pPr marL="0" indent="0">
              <a:buNone/>
            </a:pPr>
            <a:r>
              <a:rPr lang="en-US" sz="3200" dirty="0" smtClean="0"/>
              <a:t>Bioavailability is generally defined as the fraction of a drug dose reaching the systemic circulation, compared with the same dose given intravenously. </a:t>
            </a:r>
          </a:p>
          <a:p>
            <a:pPr marL="0" indent="0">
              <a:buNone/>
            </a:pPr>
            <a:r>
              <a:rPr lang="en-US" sz="3200" dirty="0" smtClean="0"/>
              <a:t>In general, the oral route has the lowest bioavailability of any route of administration. </a:t>
            </a:r>
          </a:p>
        </p:txBody>
      </p:sp>
    </p:spTree>
    <p:extLst>
      <p:ext uri="{BB962C8B-B14F-4D97-AF65-F5344CB8AC3E}">
        <p14:creationId xmlns:p14="http://schemas.microsoft.com/office/powerpoint/2010/main" val="14237500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600" dirty="0" smtClean="0"/>
              <a:t>Intravenous administration provides a direct, and therefore more reliable, route of systemic drug delivery. No absorption is required, so plasma levels are independent of such factors as gastrointestinal (GI)</a:t>
            </a:r>
            <a:endParaRPr lang="en-US" sz="3600" dirty="0"/>
          </a:p>
        </p:txBody>
      </p:sp>
    </p:spTree>
    <p:extLst>
      <p:ext uri="{BB962C8B-B14F-4D97-AF65-F5344CB8AC3E}">
        <p14:creationId xmlns:p14="http://schemas.microsoft.com/office/powerpoint/2010/main" val="29336448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Influencing Bioavailability</a:t>
            </a:r>
          </a:p>
        </p:txBody>
      </p:sp>
      <p:sp>
        <p:nvSpPr>
          <p:cNvPr id="3" name="Content Placeholder 2"/>
          <p:cNvSpPr>
            <a:spLocks noGrp="1"/>
          </p:cNvSpPr>
          <p:nvPr>
            <p:ph idx="1"/>
          </p:nvPr>
        </p:nvSpPr>
        <p:spPr>
          <a:xfrm>
            <a:off x="228600" y="1600200"/>
            <a:ext cx="8686800" cy="4525963"/>
          </a:xfrm>
        </p:spPr>
        <p:txBody>
          <a:bodyPr>
            <a:noAutofit/>
          </a:bodyPr>
          <a:lstStyle/>
          <a:p>
            <a:pPr marL="0" indent="0">
              <a:buNone/>
            </a:pPr>
            <a:r>
              <a:rPr lang="en-US" sz="3200" b="1" dirty="0" smtClean="0"/>
              <a:t>1.Pharmaceutical preparation</a:t>
            </a:r>
          </a:p>
          <a:p>
            <a:pPr marL="0" indent="0">
              <a:buNone/>
            </a:pPr>
            <a:r>
              <a:rPr lang="en-US" sz="3200" b="1" dirty="0" smtClean="0"/>
              <a:t>2.Patient </a:t>
            </a:r>
            <a:r>
              <a:rPr lang="en-US" sz="3200" b="1" dirty="0"/>
              <a:t>factors </a:t>
            </a:r>
            <a:endParaRPr lang="en-US" sz="3200" b="1" dirty="0" smtClean="0"/>
          </a:p>
          <a:p>
            <a:pPr marL="0" indent="0">
              <a:buNone/>
            </a:pPr>
            <a:r>
              <a:rPr lang="en-US" sz="3200" b="1" dirty="0" smtClean="0"/>
              <a:t>3.Pharmacokinetic </a:t>
            </a:r>
            <a:r>
              <a:rPr lang="en-US" sz="3200" b="1" dirty="0"/>
              <a:t>interactions and </a:t>
            </a:r>
            <a:r>
              <a:rPr lang="en-US" sz="3600" b="1" i="1" dirty="0">
                <a:solidFill>
                  <a:srgbClr val="FF0000"/>
                </a:solidFill>
              </a:rPr>
              <a:t>first-pass metabolism </a:t>
            </a:r>
            <a:r>
              <a:rPr lang="en-US" sz="3200" b="1" dirty="0"/>
              <a:t>– drugs absorbed from the gut</a:t>
            </a:r>
          </a:p>
          <a:p>
            <a:pPr marL="0" indent="0">
              <a:buNone/>
            </a:pPr>
            <a:r>
              <a:rPr lang="en-US" sz="3200" b="1" dirty="0" smtClean="0"/>
              <a:t>with some  exception </a:t>
            </a:r>
            <a:r>
              <a:rPr lang="en-US" sz="3200" b="1" dirty="0"/>
              <a:t>pass via the portal vein to the </a:t>
            </a:r>
            <a:r>
              <a:rPr lang="en-US" sz="3200" b="1" dirty="0" smtClean="0"/>
              <a:t>liver where </a:t>
            </a:r>
            <a:r>
              <a:rPr lang="en-US" sz="3200" b="1" dirty="0"/>
              <a:t>they may be subject to first-pass metabolism. </a:t>
            </a:r>
            <a:r>
              <a:rPr lang="en-US" sz="3200" b="1" dirty="0" smtClean="0"/>
              <a:t>Metabolism at either the gut wall or liver will reduce the amount reaching  circulation</a:t>
            </a:r>
            <a:endParaRPr lang="en-US" sz="3200" b="1" dirty="0"/>
          </a:p>
        </p:txBody>
      </p:sp>
    </p:spTree>
    <p:extLst>
      <p:ext uri="{BB962C8B-B14F-4D97-AF65-F5344CB8AC3E}">
        <p14:creationId xmlns:p14="http://schemas.microsoft.com/office/powerpoint/2010/main" val="1538009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534400" cy="4525963"/>
          </a:xfrm>
        </p:spPr>
        <p:txBody>
          <a:bodyPr>
            <a:noAutofit/>
          </a:bodyPr>
          <a:lstStyle/>
          <a:p>
            <a:pPr marL="0" indent="0">
              <a:buNone/>
            </a:pPr>
            <a:r>
              <a:rPr lang="en-US" sz="4000" dirty="0" smtClean="0"/>
              <a:t>As an example  </a:t>
            </a:r>
            <a:r>
              <a:rPr lang="en-US" sz="4000" dirty="0"/>
              <a:t>nitroglycerin undergoes extensive first-pass hepatic </a:t>
            </a:r>
            <a:r>
              <a:rPr lang="en-US" sz="4000" dirty="0" smtClean="0"/>
              <a:t>metabolism before </a:t>
            </a:r>
            <a:r>
              <a:rPr lang="en-US" sz="4000" dirty="0"/>
              <a:t>reaching the systemic </a:t>
            </a:r>
            <a:r>
              <a:rPr lang="en-US" sz="4000" dirty="0" smtClean="0"/>
              <a:t>circulation </a:t>
            </a:r>
            <a:r>
              <a:rPr lang="en-US" sz="4000" dirty="0"/>
              <a:t>so reduce the amount reaching  </a:t>
            </a:r>
            <a:r>
              <a:rPr lang="en-US" sz="4000" dirty="0" smtClean="0"/>
              <a:t>circulation. </a:t>
            </a:r>
          </a:p>
          <a:p>
            <a:pPr marL="0" indent="0">
              <a:buNone/>
            </a:pPr>
            <a:endParaRPr lang="en-US" sz="4000" dirty="0"/>
          </a:p>
        </p:txBody>
      </p:sp>
    </p:spTree>
    <p:extLst>
      <p:ext uri="{BB962C8B-B14F-4D97-AF65-F5344CB8AC3E}">
        <p14:creationId xmlns:p14="http://schemas.microsoft.com/office/powerpoint/2010/main" val="1180115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322" t="45201" r="27491" b="6928"/>
          <a:stretch/>
        </p:blipFill>
        <p:spPr bwMode="auto">
          <a:xfrm>
            <a:off x="649963" y="533400"/>
            <a:ext cx="7978369"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206551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Distribution</a:t>
            </a:r>
          </a:p>
        </p:txBody>
      </p:sp>
      <p:sp>
        <p:nvSpPr>
          <p:cNvPr id="3" name="Content Placeholder 2"/>
          <p:cNvSpPr>
            <a:spLocks noGrp="1"/>
          </p:cNvSpPr>
          <p:nvPr>
            <p:ph idx="1"/>
          </p:nvPr>
        </p:nvSpPr>
        <p:spPr/>
        <p:txBody>
          <a:bodyPr>
            <a:noAutofit/>
          </a:bodyPr>
          <a:lstStyle/>
          <a:p>
            <a:r>
              <a:rPr lang="en-US" sz="3600" b="1" dirty="0" smtClean="0"/>
              <a:t>Once absorbed, a drug is distributed by the bloodstream throughout the body.</a:t>
            </a:r>
          </a:p>
          <a:p>
            <a:r>
              <a:rPr lang="en-US" sz="3600" b="1" dirty="0" smtClean="0"/>
              <a:t>Highly perfused organs (so-called vessel-rich group) receive a disproportionate fraction of the cardiac output  Therefore, these tissues receive a disproportionate amount of drug in the first minutes following drug admin…</a:t>
            </a:r>
            <a:endParaRPr lang="en-US" sz="3600" b="1" dirty="0"/>
          </a:p>
        </p:txBody>
      </p:sp>
    </p:spTree>
    <p:extLst>
      <p:ext uri="{BB962C8B-B14F-4D97-AF65-F5344CB8AC3E}">
        <p14:creationId xmlns:p14="http://schemas.microsoft.com/office/powerpoint/2010/main" val="294280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274638"/>
            <a:ext cx="8763000" cy="1554162"/>
          </a:xfrm>
          <a:solidFill>
            <a:srgbClr val="FF0000"/>
          </a:solidFill>
        </p:spPr>
        <p:txBody>
          <a:bodyPr>
            <a:normAutofit fontScale="90000"/>
          </a:bodyPr>
          <a:lstStyle/>
          <a:p>
            <a:r>
              <a:rPr lang="en-US" dirty="0" smtClean="0"/>
              <a:t> Tissue group composition, relative body mass, and </a:t>
            </a:r>
            <a:r>
              <a:rPr lang="en-US" dirty="0" err="1" smtClean="0"/>
              <a:t>percentageof</a:t>
            </a:r>
            <a:r>
              <a:rPr lang="en-US" dirty="0" smtClean="0"/>
              <a:t> cardiac output</a:t>
            </a:r>
            <a:endParaRPr lang="en-US"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327" t="21029" r="14997"/>
          <a:stretch/>
        </p:blipFill>
        <p:spPr bwMode="auto">
          <a:xfrm>
            <a:off x="152400" y="1958472"/>
            <a:ext cx="8763000" cy="440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02793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200" b="1" dirty="0"/>
              <a:t>drug concentration in an organ is determined </a:t>
            </a:r>
            <a:r>
              <a:rPr lang="en-US" sz="3200" b="1" dirty="0" smtClean="0"/>
              <a:t>by that organ’s </a:t>
            </a:r>
            <a:r>
              <a:rPr lang="en-US" sz="3200" b="1" dirty="0"/>
              <a:t>perfusion and the relative drug solubility in the organ compared </a:t>
            </a:r>
            <a:r>
              <a:rPr lang="en-US" sz="3200" b="1" dirty="0" smtClean="0"/>
              <a:t>with Blood</a:t>
            </a:r>
            <a:r>
              <a:rPr lang="en-US" sz="3200" b="1" dirty="0"/>
              <a:t> </a:t>
            </a:r>
            <a:r>
              <a:rPr lang="en-US" sz="3200" b="1" dirty="0" smtClean="0"/>
              <a:t>Molecules </a:t>
            </a:r>
            <a:r>
              <a:rPr lang="en-US" sz="3200" b="1" dirty="0"/>
              <a:t>in blood are either free or bound to plasma proteins and lipids. </a:t>
            </a:r>
            <a:r>
              <a:rPr lang="en-US" sz="3200" b="1" dirty="0" smtClean="0"/>
              <a:t>The free </a:t>
            </a:r>
            <a:r>
              <a:rPr lang="en-US" sz="3200" b="1" dirty="0"/>
              <a:t>concentration equilibrates between organs and tissues. However, </a:t>
            </a:r>
            <a:r>
              <a:rPr lang="en-US" sz="3200" b="1" dirty="0" smtClean="0"/>
              <a:t>the equilibration </a:t>
            </a:r>
            <a:r>
              <a:rPr lang="en-US" sz="3200" b="1" dirty="0"/>
              <a:t>between bound and unbound molecules is instantaneous</a:t>
            </a:r>
            <a:endParaRPr lang="en-US" sz="3200" b="1" dirty="0" smtClean="0"/>
          </a:p>
        </p:txBody>
      </p:sp>
    </p:spTree>
    <p:extLst>
      <p:ext uri="{BB962C8B-B14F-4D97-AF65-F5344CB8AC3E}">
        <p14:creationId xmlns:p14="http://schemas.microsoft.com/office/powerpoint/2010/main" val="26345796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600" b="1" dirty="0"/>
              <a:t>Lipophilic molecules can readily transfer between the blood and organs.</a:t>
            </a:r>
          </a:p>
          <a:p>
            <a:pPr marL="0" indent="0">
              <a:buNone/>
            </a:pPr>
            <a:r>
              <a:rPr lang="en-US" sz="3600" b="1" dirty="0"/>
              <a:t>Charged molecules are able to pass in small quantities into most organs</a:t>
            </a:r>
            <a:r>
              <a:rPr lang="en-US" sz="3600" b="1" dirty="0" smtClean="0"/>
              <a:t>.</a:t>
            </a:r>
            <a:endParaRPr lang="en-US" sz="3600" b="1" dirty="0"/>
          </a:p>
        </p:txBody>
      </p:sp>
    </p:spTree>
    <p:extLst>
      <p:ext uri="{BB962C8B-B14F-4D97-AF65-F5344CB8AC3E}">
        <p14:creationId xmlns:p14="http://schemas.microsoft.com/office/powerpoint/2010/main" val="7082150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200" b="1" dirty="0" smtClean="0"/>
              <a:t>The redistribution </a:t>
            </a:r>
            <a:r>
              <a:rPr lang="en-US" sz="3200" b="1" dirty="0"/>
              <a:t>phase (from each tissue) follows this moment of </a:t>
            </a:r>
            <a:r>
              <a:rPr lang="en-US" sz="3200" b="1" dirty="0" smtClean="0"/>
              <a:t>equilibration. During </a:t>
            </a:r>
            <a:r>
              <a:rPr lang="en-US" sz="3200" b="1" dirty="0"/>
              <a:t>redistribution, drug returns from tissues back into the plasma. This </a:t>
            </a:r>
            <a:r>
              <a:rPr lang="en-US" sz="3200" b="1" dirty="0" smtClean="0"/>
              <a:t>return of </a:t>
            </a:r>
            <a:r>
              <a:rPr lang="en-US" sz="3200" b="1" dirty="0"/>
              <a:t>drug back to the plasma slows the rate of decline in plasma </a:t>
            </a:r>
            <a:r>
              <a:rPr lang="en-US" sz="3200" b="1" dirty="0" smtClean="0"/>
              <a:t>drug concentration. Redistribution </a:t>
            </a:r>
            <a:r>
              <a:rPr lang="en-US" sz="3200" b="1" dirty="0"/>
              <a:t>generally delays emergence as drug returns from tissue </a:t>
            </a:r>
            <a:r>
              <a:rPr lang="en-US" sz="3200" b="1" dirty="0" smtClean="0"/>
              <a:t>reservoirs to </a:t>
            </a:r>
            <a:r>
              <a:rPr lang="en-US" sz="3200" b="1" dirty="0"/>
              <a:t>the plasma for many hours.</a:t>
            </a:r>
          </a:p>
        </p:txBody>
      </p:sp>
    </p:spTree>
    <p:extLst>
      <p:ext uri="{BB962C8B-B14F-4D97-AF65-F5344CB8AC3E}">
        <p14:creationId xmlns:p14="http://schemas.microsoft.com/office/powerpoint/2010/main" val="9127967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sz="3600" b="1" dirty="0"/>
              <a:t>Distribution generally contributes to rapid emergence by removing drug </a:t>
            </a:r>
            <a:r>
              <a:rPr lang="en-US" sz="3600" b="1" dirty="0" smtClean="0"/>
              <a:t>from the </a:t>
            </a:r>
            <a:r>
              <a:rPr lang="en-US" sz="3600" b="1" dirty="0"/>
              <a:t>plasma for many minutes following administration of a bolus of an </a:t>
            </a:r>
            <a:r>
              <a:rPr lang="en-US" sz="3600" b="1" dirty="0" smtClean="0"/>
              <a:t>induction agent</a:t>
            </a:r>
            <a:r>
              <a:rPr lang="en-US" sz="3600" b="1" dirty="0"/>
              <a:t>. Following prolonged infusions of lipophilic </a:t>
            </a:r>
            <a:r>
              <a:rPr lang="en-US" sz="3600" b="1" dirty="0" smtClean="0"/>
              <a:t>anesthetic drugs, redistribution </a:t>
            </a:r>
            <a:r>
              <a:rPr lang="en-US" sz="3600" b="1" dirty="0"/>
              <a:t>generally delays emergence as drug returns from tissue </a:t>
            </a:r>
            <a:r>
              <a:rPr lang="en-US" sz="3600" b="1" dirty="0" smtClean="0"/>
              <a:t>reservoirs to </a:t>
            </a:r>
            <a:r>
              <a:rPr lang="en-US" sz="3600" b="1" dirty="0"/>
              <a:t>the plasma for many hours</a:t>
            </a:r>
            <a:r>
              <a:rPr lang="en-US" b="1" dirty="0"/>
              <a:t>.</a:t>
            </a:r>
          </a:p>
        </p:txBody>
      </p:sp>
    </p:spTree>
    <p:extLst>
      <p:ext uri="{BB962C8B-B14F-4D97-AF65-F5344CB8AC3E}">
        <p14:creationId xmlns:p14="http://schemas.microsoft.com/office/powerpoint/2010/main" val="3531399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epidural/</a:t>
            </a:r>
            <a:r>
              <a:rPr lang="en-US" dirty="0" err="1"/>
              <a:t>intrathecal</a:t>
            </a:r>
            <a:r>
              <a:rPr lang="en-US" dirty="0"/>
              <a:t> </a:t>
            </a:r>
          </a:p>
        </p:txBody>
      </p:sp>
      <p:pic>
        <p:nvPicPr>
          <p:cNvPr id="4098"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285384" y="1295400"/>
            <a:ext cx="4162826"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4"/>
          <p:cNvSpPr>
            <a:spLocks noGrp="1"/>
          </p:cNvSpPr>
          <p:nvPr>
            <p:ph sz="half" idx="2"/>
          </p:nvPr>
        </p:nvSpPr>
        <p:spPr/>
        <p:txBody>
          <a:bodyPr/>
          <a:lstStyle/>
          <a:p>
            <a:pPr marL="0" indent="0">
              <a:buNone/>
            </a:pPr>
            <a:r>
              <a:rPr lang="en-US" dirty="0"/>
              <a:t>The </a:t>
            </a:r>
            <a:r>
              <a:rPr lang="en-US" dirty="0" smtClean="0"/>
              <a:t>epidural/ intrathecal </a:t>
            </a:r>
            <a:r>
              <a:rPr lang="en-US" dirty="0"/>
              <a:t>route is used </a:t>
            </a:r>
            <a:r>
              <a:rPr lang="en-US" dirty="0" smtClean="0"/>
              <a:t>to analgesia </a:t>
            </a:r>
            <a:r>
              <a:rPr lang="en-US" dirty="0"/>
              <a:t>and anesthesia. Epidural local anesthetics, opioids, </a:t>
            </a:r>
            <a:r>
              <a:rPr lang="en-US" dirty="0" smtClean="0"/>
              <a:t>ketamine,steroied </a:t>
            </a:r>
            <a:r>
              <a:rPr lang="en-US" dirty="0"/>
              <a:t>and clonidine have all been used to treat acute pain</a:t>
            </a:r>
          </a:p>
        </p:txBody>
      </p:sp>
    </p:spTree>
    <p:extLst>
      <p:ext uri="{BB962C8B-B14F-4D97-AF65-F5344CB8AC3E}">
        <p14:creationId xmlns:p14="http://schemas.microsoft.com/office/powerpoint/2010/main" val="3865960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the cause of low </a:t>
            </a:r>
            <a:r>
              <a:rPr lang="en-US" dirty="0" err="1" smtClean="0"/>
              <a:t>protine</a:t>
            </a:r>
            <a:r>
              <a:rPr lang="en-US" dirty="0" smtClean="0"/>
              <a:t> ?</a:t>
            </a:r>
            <a:endParaRPr lang="en-US" dirty="0"/>
          </a:p>
        </p:txBody>
      </p:sp>
      <p:sp>
        <p:nvSpPr>
          <p:cNvPr id="3" name="Content Placeholder 2"/>
          <p:cNvSpPr>
            <a:spLocks noGrp="1"/>
          </p:cNvSpPr>
          <p:nvPr>
            <p:ph idx="1"/>
          </p:nvPr>
        </p:nvSpPr>
        <p:spPr>
          <a:xfrm>
            <a:off x="457200" y="1600200"/>
            <a:ext cx="8229600" cy="4525963"/>
          </a:xfrm>
        </p:spPr>
        <p:txBody>
          <a:bodyPr>
            <a:normAutofit lnSpcReduction="10000"/>
          </a:bodyPr>
          <a:lstStyle/>
          <a:p>
            <a:pPr marL="0" indent="0">
              <a:buNone/>
            </a:pPr>
            <a:r>
              <a:rPr lang="en-US" sz="3200" b="1" dirty="0"/>
              <a:t>L</a:t>
            </a:r>
            <a:r>
              <a:rPr lang="en-US" sz="3200" b="1" dirty="0" smtClean="0"/>
              <a:t>ow plasma albumin can caused by </a:t>
            </a:r>
          </a:p>
          <a:p>
            <a:r>
              <a:rPr lang="en-US" sz="3200" b="1" dirty="0" smtClean="0"/>
              <a:t>Kidney disease and </a:t>
            </a:r>
            <a:r>
              <a:rPr lang="en-US" sz="3200" b="1" dirty="0"/>
              <a:t>liver disease, </a:t>
            </a:r>
            <a:endParaRPr lang="en-US" sz="3200" b="1" dirty="0" smtClean="0"/>
          </a:p>
          <a:p>
            <a:r>
              <a:rPr lang="en-US" sz="3200" b="1" dirty="0" smtClean="0"/>
              <a:t>chronic </a:t>
            </a:r>
            <a:r>
              <a:rPr lang="en-US" sz="3200" b="1" dirty="0"/>
              <a:t>congestive heart </a:t>
            </a:r>
            <a:r>
              <a:rPr lang="en-US" sz="3200" b="1" dirty="0" smtClean="0"/>
              <a:t>failure</a:t>
            </a:r>
            <a:r>
              <a:rPr lang="en-US" sz="3200" b="1" dirty="0"/>
              <a:t>.</a:t>
            </a:r>
            <a:r>
              <a:rPr lang="en-US" sz="3200" b="1" dirty="0" smtClean="0"/>
              <a:t> </a:t>
            </a:r>
          </a:p>
          <a:p>
            <a:r>
              <a:rPr lang="en-US" sz="3200" b="1" dirty="0" smtClean="0"/>
              <a:t>Malignancies/</a:t>
            </a:r>
            <a:r>
              <a:rPr lang="en-US" sz="3200" b="1" dirty="0">
                <a:solidFill>
                  <a:srgbClr val="55554A"/>
                </a:solidFill>
              </a:rPr>
              <a:t> burns&gt;20% </a:t>
            </a:r>
            <a:endParaRPr lang="en-US" sz="3200" b="1" dirty="0"/>
          </a:p>
          <a:p>
            <a:pPr>
              <a:buClr>
                <a:srgbClr val="F4680B"/>
              </a:buClr>
            </a:pPr>
            <a:r>
              <a:rPr lang="en-US" sz="3600" b="1" dirty="0" smtClean="0">
                <a:solidFill>
                  <a:srgbClr val="55554A"/>
                </a:solidFill>
              </a:rPr>
              <a:t>acute </a:t>
            </a:r>
            <a:r>
              <a:rPr lang="en-US" sz="3600" b="1" dirty="0">
                <a:solidFill>
                  <a:srgbClr val="55554A"/>
                </a:solidFill>
              </a:rPr>
              <a:t>infective or inflammatory process </a:t>
            </a:r>
            <a:endParaRPr lang="en-US" sz="3200" b="1" dirty="0" smtClean="0"/>
          </a:p>
          <a:p>
            <a:pPr marL="0" indent="0">
              <a:buNone/>
            </a:pPr>
            <a:r>
              <a:rPr lang="en-US" sz="3200" b="1" dirty="0" smtClean="0"/>
              <a:t>propofol</a:t>
            </a:r>
            <a:r>
              <a:rPr lang="en-US" sz="3200" b="1" dirty="0"/>
              <a:t>, which is administered with its own binding molecules (the lipid in </a:t>
            </a:r>
            <a:r>
              <a:rPr lang="en-US" sz="3200" b="1" dirty="0" smtClean="0"/>
              <a:t>the emulsion).not dependent on protein binding </a:t>
            </a:r>
          </a:p>
          <a:p>
            <a:pPr marL="0" indent="0">
              <a:buNone/>
            </a:pPr>
            <a:endParaRPr lang="en-US" dirty="0"/>
          </a:p>
        </p:txBody>
      </p:sp>
    </p:spTree>
    <p:extLst>
      <p:ext uri="{BB962C8B-B14F-4D97-AF65-F5344CB8AC3E}">
        <p14:creationId xmlns:p14="http://schemas.microsoft.com/office/powerpoint/2010/main" val="42891277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Drug Distribution to the Fetus</a:t>
            </a:r>
          </a:p>
        </p:txBody>
      </p:sp>
      <p:sp>
        <p:nvSpPr>
          <p:cNvPr id="3" name="Content Placeholder 2"/>
          <p:cNvSpPr>
            <a:spLocks noGrp="1"/>
          </p:cNvSpPr>
          <p:nvPr>
            <p:ph idx="1"/>
          </p:nvPr>
        </p:nvSpPr>
        <p:spPr/>
        <p:txBody>
          <a:bodyPr>
            <a:noAutofit/>
          </a:bodyPr>
          <a:lstStyle/>
          <a:p>
            <a:pPr marL="0" indent="0">
              <a:buNone/>
            </a:pPr>
            <a:r>
              <a:rPr lang="en-US" sz="3200" b="1" dirty="0"/>
              <a:t>T</a:t>
            </a:r>
            <a:r>
              <a:rPr lang="en-US" sz="3200" b="1" dirty="0" smtClean="0"/>
              <a:t>he </a:t>
            </a:r>
            <a:r>
              <a:rPr lang="en-US" sz="3200" b="1" dirty="0"/>
              <a:t>placental membrane </a:t>
            </a:r>
            <a:r>
              <a:rPr lang="en-US" sz="3200" b="1" dirty="0" smtClean="0"/>
              <a:t>is more </a:t>
            </a:r>
            <a:r>
              <a:rPr lang="en-US" sz="3200" b="1" dirty="0"/>
              <a:t>readily crossed by lipid-soluble than polar molecules. It is much less selective than </a:t>
            </a:r>
            <a:r>
              <a:rPr lang="en-US" sz="3200" b="1" dirty="0" smtClean="0"/>
              <a:t>the BBB </a:t>
            </a:r>
            <a:r>
              <a:rPr lang="en-US" sz="3200" b="1" dirty="0"/>
              <a:t>and even molecules with only moderate lipid solubility appear to cross with </a:t>
            </a:r>
            <a:r>
              <a:rPr lang="en-US" sz="3200" b="1" dirty="0" smtClean="0"/>
              <a:t>relative ease </a:t>
            </a:r>
            <a:r>
              <a:rPr lang="en-US" sz="3200" b="1" dirty="0"/>
              <a:t>and significant quantities may appear in cord </a:t>
            </a:r>
            <a:r>
              <a:rPr lang="en-US" sz="3200" b="1" dirty="0" smtClean="0"/>
              <a:t> </a:t>
            </a:r>
            <a:r>
              <a:rPr lang="en-US" sz="3200" b="1" dirty="0"/>
              <a:t>blood. </a:t>
            </a:r>
          </a:p>
        </p:txBody>
      </p:sp>
    </p:spTree>
    <p:extLst>
      <p:ext uri="{BB962C8B-B14F-4D97-AF65-F5344CB8AC3E}">
        <p14:creationId xmlns:p14="http://schemas.microsoft.com/office/powerpoint/2010/main" val="7415177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Drugs during Pregnancy</a:t>
            </a:r>
          </a:p>
        </p:txBody>
      </p:sp>
      <p:sp>
        <p:nvSpPr>
          <p:cNvPr id="3" name="Content Placeholder 2"/>
          <p:cNvSpPr>
            <a:spLocks noGrp="1"/>
          </p:cNvSpPr>
          <p:nvPr>
            <p:ph idx="1"/>
          </p:nvPr>
        </p:nvSpPr>
        <p:spPr>
          <a:xfrm>
            <a:off x="228600" y="1600200"/>
            <a:ext cx="8763000" cy="4525963"/>
          </a:xfrm>
        </p:spPr>
        <p:txBody>
          <a:bodyPr>
            <a:noAutofit/>
          </a:bodyPr>
          <a:lstStyle/>
          <a:p>
            <a:pPr marL="0" indent="0">
              <a:buNone/>
            </a:pPr>
            <a:r>
              <a:rPr lang="en-US" sz="3600" b="1" dirty="0" smtClean="0"/>
              <a:t>Because of significant </a:t>
            </a:r>
            <a:r>
              <a:rPr lang="en-US" sz="3600" b="1" dirty="0"/>
              <a:t>human teratogenicity</a:t>
            </a:r>
            <a:r>
              <a:rPr lang="en-US" sz="3600" b="1" dirty="0" smtClean="0"/>
              <a:t>. Wherever possible drug </a:t>
            </a:r>
            <a:r>
              <a:rPr lang="en-US" sz="3600" b="1" dirty="0"/>
              <a:t>therapy should be avoided throughout </a:t>
            </a:r>
            <a:r>
              <a:rPr lang="en-US" sz="3600" b="1" dirty="0" smtClean="0"/>
              <a:t>pregnancy; if </a:t>
            </a:r>
            <a:r>
              <a:rPr lang="en-US" sz="3600" b="1" dirty="0"/>
              <a:t>treatment is essential drugs </a:t>
            </a:r>
            <a:r>
              <a:rPr lang="en-US" sz="3600" b="1" dirty="0" smtClean="0"/>
              <a:t>with a </a:t>
            </a:r>
            <a:r>
              <a:rPr lang="en-US" sz="3600" b="1" dirty="0"/>
              <a:t>long history of safety should be </a:t>
            </a:r>
            <a:r>
              <a:rPr lang="en-US" sz="3600" b="1" dirty="0" smtClean="0"/>
              <a:t>selected stilboestrol </a:t>
            </a:r>
            <a:r>
              <a:rPr lang="en-US" sz="3600" b="1" dirty="0"/>
              <a:t>taken </a:t>
            </a:r>
            <a:r>
              <a:rPr lang="en-US" sz="3600" b="1" dirty="0" smtClean="0"/>
              <a:t>during pregnancy </a:t>
            </a:r>
            <a:r>
              <a:rPr lang="en-US" sz="3600" b="1" dirty="0"/>
              <a:t>predisposes female offspring to </a:t>
            </a:r>
            <a:r>
              <a:rPr lang="en-US" sz="3600" b="1" dirty="0" smtClean="0"/>
              <a:t>ovarian ca.</a:t>
            </a:r>
          </a:p>
          <a:p>
            <a:pPr marL="0" indent="0">
              <a:buNone/>
            </a:pPr>
            <a:r>
              <a:rPr lang="en-US" sz="3600" b="1" dirty="0" smtClean="0"/>
              <a:t> what is Thalidomide  disaster? </a:t>
            </a:r>
            <a:endParaRPr lang="en-US" sz="3600" b="1" dirty="0"/>
          </a:p>
        </p:txBody>
      </p:sp>
    </p:spTree>
    <p:extLst>
      <p:ext uri="{BB962C8B-B14F-4D97-AF65-F5344CB8AC3E}">
        <p14:creationId xmlns:p14="http://schemas.microsoft.com/office/powerpoint/2010/main" val="2677305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4000" dirty="0"/>
              <a:t> the risk of not taking medication outweighs </a:t>
            </a:r>
            <a:r>
              <a:rPr lang="en-US" sz="4000" dirty="0" smtClean="0"/>
              <a:t>the theoretical </a:t>
            </a:r>
            <a:r>
              <a:rPr lang="en-US" sz="4000" dirty="0"/>
              <a:t>or actual risk of teratogenicity. </a:t>
            </a:r>
          </a:p>
          <a:p>
            <a:pPr marL="0" indent="0">
              <a:buNone/>
            </a:pPr>
            <a:r>
              <a:rPr lang="en-US" sz="4000" dirty="0" smtClean="0"/>
              <a:t>Example epilepsy treatment</a:t>
            </a:r>
            <a:endParaRPr lang="en-US" dirty="0" smtClean="0"/>
          </a:p>
          <a:p>
            <a:pPr marL="0" indent="0">
              <a:buNone/>
            </a:pPr>
            <a:endParaRPr lang="en-US" dirty="0"/>
          </a:p>
        </p:txBody>
      </p:sp>
    </p:spTree>
    <p:extLst>
      <p:ext uri="{BB962C8B-B14F-4D97-AF65-F5344CB8AC3E}">
        <p14:creationId xmlns:p14="http://schemas.microsoft.com/office/powerpoint/2010/main" val="28548296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Drugs at the Time of Birth</a:t>
            </a:r>
          </a:p>
        </p:txBody>
      </p:sp>
      <p:sp>
        <p:nvSpPr>
          <p:cNvPr id="3" name="Content Placeholder 2"/>
          <p:cNvSpPr>
            <a:spLocks noGrp="1"/>
          </p:cNvSpPr>
          <p:nvPr>
            <p:ph idx="1"/>
          </p:nvPr>
        </p:nvSpPr>
        <p:spPr/>
        <p:txBody>
          <a:bodyPr>
            <a:normAutofit lnSpcReduction="10000"/>
          </a:bodyPr>
          <a:lstStyle/>
          <a:p>
            <a:pPr marL="0" indent="0">
              <a:buNone/>
            </a:pPr>
            <a:r>
              <a:rPr lang="en-US" sz="3600" b="1" dirty="0" smtClean="0"/>
              <a:t>The </a:t>
            </a:r>
            <a:r>
              <a:rPr lang="en-US" sz="3600" b="1" dirty="0"/>
              <a:t>newborn may have </a:t>
            </a:r>
            <a:r>
              <a:rPr lang="en-US" sz="3600" b="1" dirty="0" err="1"/>
              <a:t>anaesthetic</a:t>
            </a:r>
            <a:r>
              <a:rPr lang="en-US" sz="3600" b="1" dirty="0"/>
              <a:t> or analgesic drugs in their circulation depending on </a:t>
            </a:r>
            <a:r>
              <a:rPr lang="en-US" sz="3600" b="1" dirty="0" smtClean="0"/>
              <a:t>the type </a:t>
            </a:r>
            <a:r>
              <a:rPr lang="en-US" sz="3600" b="1" dirty="0"/>
              <a:t>of analgesia for </a:t>
            </a:r>
            <a:r>
              <a:rPr lang="en-US" sz="3600" b="1" dirty="0" err="1"/>
              <a:t>labour</a:t>
            </a:r>
            <a:r>
              <a:rPr lang="en-US" sz="3600" b="1" dirty="0"/>
              <a:t> and whether delivery was operative. Drugs with a low molecular</a:t>
            </a:r>
          </a:p>
          <a:p>
            <a:pPr marL="0" indent="0">
              <a:buNone/>
            </a:pPr>
            <a:r>
              <a:rPr lang="en-US" sz="3600" b="1" dirty="0"/>
              <a:t>weight that are lipid-soluble will be present in higher concentrations than large </a:t>
            </a:r>
            <a:r>
              <a:rPr lang="en-US" sz="3600" b="1" dirty="0" smtClean="0"/>
              <a:t>polar molecules</a:t>
            </a:r>
            <a:r>
              <a:rPr lang="en-US" dirty="0"/>
              <a:t>.</a:t>
            </a:r>
          </a:p>
        </p:txBody>
      </p:sp>
    </p:spTree>
    <p:extLst>
      <p:ext uri="{BB962C8B-B14F-4D97-AF65-F5344CB8AC3E}">
        <p14:creationId xmlns:p14="http://schemas.microsoft.com/office/powerpoint/2010/main" val="14421906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600" b="1" dirty="0"/>
              <a:t>Pethidine is used commonly for analgesia during </a:t>
            </a:r>
            <a:r>
              <a:rPr lang="en-US" sz="3600" b="1" dirty="0" err="1"/>
              <a:t>labour</a:t>
            </a:r>
            <a:r>
              <a:rPr lang="en-US" sz="3600" b="1" dirty="0"/>
              <a:t>. The high lipid solubility </a:t>
            </a:r>
            <a:r>
              <a:rPr lang="en-US" sz="3600" b="1" dirty="0" smtClean="0"/>
              <a:t>of pethidine </a:t>
            </a:r>
            <a:r>
              <a:rPr lang="en-US" sz="3600" b="1" dirty="0"/>
              <a:t>enables significant amounts to cross the placenta and reach the fetus. It </a:t>
            </a:r>
            <a:r>
              <a:rPr lang="en-US" sz="3600" b="1" dirty="0" smtClean="0"/>
              <a:t>is metabolized </a:t>
            </a:r>
            <a:r>
              <a:rPr lang="en-US" sz="3600" b="1" dirty="0"/>
              <a:t>to norpethidine, which is less lipid-soluble and can accumulate in the </a:t>
            </a:r>
            <a:r>
              <a:rPr lang="en-US" sz="3600" b="1" dirty="0" smtClean="0"/>
              <a:t>fetus,levels </a:t>
            </a:r>
            <a:r>
              <a:rPr lang="en-US" sz="3600" b="1" dirty="0"/>
              <a:t>peaking about 4 hours after the initial maternal </a:t>
            </a:r>
            <a:r>
              <a:rPr lang="en-US" sz="3600" b="1" dirty="0" smtClean="0"/>
              <a:t>IM </a:t>
            </a:r>
            <a:r>
              <a:rPr lang="en-US" sz="3600" b="1" dirty="0"/>
              <a:t>dose.</a:t>
            </a:r>
          </a:p>
        </p:txBody>
      </p:sp>
    </p:spTree>
    <p:extLst>
      <p:ext uri="{BB962C8B-B14F-4D97-AF65-F5344CB8AC3E}">
        <p14:creationId xmlns:p14="http://schemas.microsoft.com/office/powerpoint/2010/main" val="4580390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Metabolism</a:t>
            </a:r>
          </a:p>
        </p:txBody>
      </p:sp>
      <p:sp>
        <p:nvSpPr>
          <p:cNvPr id="3" name="Content Placeholder 2"/>
          <p:cNvSpPr>
            <a:spLocks noGrp="1"/>
          </p:cNvSpPr>
          <p:nvPr>
            <p:ph idx="1"/>
          </p:nvPr>
        </p:nvSpPr>
        <p:spPr/>
        <p:txBody>
          <a:bodyPr>
            <a:normAutofit fontScale="92500" lnSpcReduction="10000"/>
          </a:bodyPr>
          <a:lstStyle/>
          <a:p>
            <a:pPr marL="0" indent="0">
              <a:buNone/>
            </a:pPr>
            <a:r>
              <a:rPr lang="en-US" sz="3600" b="1" dirty="0"/>
              <a:t>Biotransformation is the chemical process by which the drug molecule </a:t>
            </a:r>
            <a:r>
              <a:rPr lang="en-US" sz="3600" b="1" dirty="0" smtClean="0"/>
              <a:t>is altered </a:t>
            </a:r>
            <a:r>
              <a:rPr lang="en-US" sz="3600" b="1" dirty="0"/>
              <a:t>in the body. The liver is the primary organ of metabolism for most drugs.</a:t>
            </a:r>
          </a:p>
          <a:p>
            <a:pPr marL="0" indent="0">
              <a:buNone/>
            </a:pPr>
            <a:r>
              <a:rPr lang="en-US" sz="3600" b="1" dirty="0"/>
              <a:t>One exception is esters, which undergo hydrolysis in the plasma or tissues. </a:t>
            </a:r>
            <a:r>
              <a:rPr lang="en-US" sz="3600" b="1" dirty="0" smtClean="0"/>
              <a:t>The end </a:t>
            </a:r>
            <a:r>
              <a:rPr lang="en-US" sz="3600" b="1" dirty="0"/>
              <a:t>products of biotransformation are </a:t>
            </a:r>
            <a:r>
              <a:rPr lang="en-US" sz="3600" b="1" dirty="0" smtClean="0"/>
              <a:t>often inactive and water </a:t>
            </a:r>
            <a:r>
              <a:rPr lang="en-US" sz="3600" b="1" dirty="0"/>
              <a:t>soluble. Water solubility allows excretion by the kidneys</a:t>
            </a:r>
            <a:r>
              <a:rPr lang="en-US" dirty="0"/>
              <a:t>.</a:t>
            </a:r>
          </a:p>
        </p:txBody>
      </p:sp>
    </p:spTree>
    <p:extLst>
      <p:ext uri="{BB962C8B-B14F-4D97-AF65-F5344CB8AC3E}">
        <p14:creationId xmlns:p14="http://schemas.microsoft.com/office/powerpoint/2010/main" val="23593185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Blip>
                <a:blip r:embed="rId2"/>
              </a:buBlip>
            </a:pPr>
            <a:r>
              <a:rPr lang="en-US" sz="3600" b="1" dirty="0"/>
              <a:t>Metabolic biotransformation is frequently divided into phase I and phase </a:t>
            </a:r>
            <a:r>
              <a:rPr lang="en-US" sz="3600" b="1" dirty="0" smtClean="0"/>
              <a:t>II reactions</a:t>
            </a:r>
            <a:r>
              <a:rPr lang="en-US" sz="3600" b="1" dirty="0"/>
              <a:t>. Phase I reactions convert a parent compound into more </a:t>
            </a:r>
            <a:r>
              <a:rPr lang="en-US" sz="3600" b="1" dirty="0" smtClean="0"/>
              <a:t>polar metabolites </a:t>
            </a:r>
            <a:r>
              <a:rPr lang="en-US" sz="3600" b="1" dirty="0"/>
              <a:t>through oxidation, reduction, or hydrolysis. </a:t>
            </a:r>
            <a:endParaRPr lang="en-US" sz="3600" b="1" dirty="0" smtClean="0"/>
          </a:p>
          <a:p>
            <a:pPr>
              <a:buBlip>
                <a:blip r:embed="rId2"/>
              </a:buBlip>
            </a:pPr>
            <a:r>
              <a:rPr lang="en-US" sz="3600" b="1" dirty="0" smtClean="0"/>
              <a:t>Phase </a:t>
            </a:r>
            <a:r>
              <a:rPr lang="en-US" sz="3600" b="1" dirty="0"/>
              <a:t>II </a:t>
            </a:r>
            <a:r>
              <a:rPr lang="en-US" sz="3600" b="1" dirty="0" smtClean="0"/>
              <a:t>reactions couple </a:t>
            </a:r>
            <a:r>
              <a:rPr lang="en-US" sz="3600" b="1" dirty="0"/>
              <a:t>(conjugate) a parent drug or a phase I metabolite with an </a:t>
            </a:r>
            <a:r>
              <a:rPr lang="en-US" sz="3600" b="1" dirty="0" smtClean="0"/>
              <a:t>endogenous substrate </a:t>
            </a:r>
            <a:r>
              <a:rPr lang="en-US" sz="3600" b="1" dirty="0"/>
              <a:t>(</a:t>
            </a:r>
            <a:r>
              <a:rPr lang="en-US" sz="3600" b="1" dirty="0" err="1"/>
              <a:t>eg</a:t>
            </a:r>
            <a:r>
              <a:rPr lang="en-US" sz="3600" b="1" dirty="0"/>
              <a:t>, </a:t>
            </a:r>
            <a:r>
              <a:rPr lang="en-US" sz="3600" b="1" dirty="0" err="1"/>
              <a:t>glucuronic</a:t>
            </a:r>
            <a:r>
              <a:rPr lang="en-US" sz="3600" b="1" dirty="0"/>
              <a:t> acid) to form water-soluble metabolites that can </a:t>
            </a:r>
            <a:r>
              <a:rPr lang="en-US" sz="3600" b="1" dirty="0" smtClean="0"/>
              <a:t>be eliminated </a:t>
            </a:r>
            <a:r>
              <a:rPr lang="en-US" sz="3600" b="1" dirty="0"/>
              <a:t>in the urine or stool. Although this is usually a sequential process</a:t>
            </a:r>
            <a:r>
              <a:rPr lang="en-US" dirty="0" smtClean="0"/>
              <a:t>,</a:t>
            </a:r>
            <a:endParaRPr lang="en-US" dirty="0"/>
          </a:p>
        </p:txBody>
      </p:sp>
    </p:spTree>
    <p:extLst>
      <p:ext uri="{BB962C8B-B14F-4D97-AF65-F5344CB8AC3E}">
        <p14:creationId xmlns:p14="http://schemas.microsoft.com/office/powerpoint/2010/main" val="28883468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marL="0" indent="0">
              <a:buNone/>
            </a:pPr>
            <a:r>
              <a:rPr lang="en-US" sz="4100" b="1" i="1" dirty="0">
                <a:solidFill>
                  <a:srgbClr val="FF0000"/>
                </a:solidFill>
              </a:rPr>
              <a:t>Hepatic clearance </a:t>
            </a:r>
            <a:r>
              <a:rPr lang="en-US" sz="4100" b="1" dirty="0"/>
              <a:t>is the volume of blood or </a:t>
            </a:r>
            <a:r>
              <a:rPr lang="en-US" sz="4100" b="1" dirty="0" smtClean="0"/>
              <a:t>plasma </a:t>
            </a:r>
            <a:r>
              <a:rPr lang="en-US" sz="4100" b="1" dirty="0"/>
              <a:t>cleared of drug per unit of time. The units of clearance are units </a:t>
            </a:r>
            <a:r>
              <a:rPr lang="en-US" sz="4100" b="1" dirty="0" smtClean="0"/>
              <a:t>of flow</a:t>
            </a:r>
            <a:r>
              <a:rPr lang="en-US" sz="4100" b="1" dirty="0"/>
              <a:t>: volume per unit time. Clearance may be expressed in milliliters </a:t>
            </a:r>
            <a:r>
              <a:rPr lang="en-US" sz="4100" b="1" dirty="0" smtClean="0"/>
              <a:t>per minute or </a:t>
            </a:r>
            <a:r>
              <a:rPr lang="en-US" sz="4100" b="1" dirty="0"/>
              <a:t>liters per hour, </a:t>
            </a:r>
            <a:r>
              <a:rPr lang="en-US" sz="4100" b="1" dirty="0" smtClean="0"/>
              <a:t> </a:t>
            </a:r>
          </a:p>
          <a:p>
            <a:pPr marL="0" indent="0">
              <a:buNone/>
            </a:pPr>
            <a:r>
              <a:rPr lang="en-US" sz="4100" b="1" dirty="0" smtClean="0"/>
              <a:t> </a:t>
            </a:r>
          </a:p>
          <a:p>
            <a:pPr marL="0" indent="0">
              <a:buNone/>
            </a:pPr>
            <a:r>
              <a:rPr lang="en-US" sz="4100" b="1" dirty="0" smtClean="0"/>
              <a:t> For </a:t>
            </a:r>
            <a:r>
              <a:rPr lang="en-US" sz="4100" b="1" dirty="0"/>
              <a:t>most drugs, only a fraction of the drug that enters the liver </a:t>
            </a:r>
            <a:r>
              <a:rPr lang="en-US" sz="4100" b="1" dirty="0" smtClean="0"/>
              <a:t>is removed</a:t>
            </a:r>
            <a:r>
              <a:rPr lang="en-US" sz="4100" b="1" dirty="0"/>
              <a:t>. The fraction removed is called </a:t>
            </a:r>
            <a:r>
              <a:rPr lang="en-US" sz="4100" b="1" i="1" dirty="0">
                <a:solidFill>
                  <a:srgbClr val="FF0000"/>
                </a:solidFill>
              </a:rPr>
              <a:t>the extraction ratio</a:t>
            </a:r>
            <a:r>
              <a:rPr lang="en-US" dirty="0"/>
              <a:t>.</a:t>
            </a:r>
          </a:p>
        </p:txBody>
      </p:sp>
    </p:spTree>
    <p:extLst>
      <p:ext uri="{BB962C8B-B14F-4D97-AF65-F5344CB8AC3E}">
        <p14:creationId xmlns:p14="http://schemas.microsoft.com/office/powerpoint/2010/main" val="14399446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4400" dirty="0"/>
              <a:t>Many drugs have low hepatic extraction ratios and are slowly cleared by </a:t>
            </a:r>
            <a:r>
              <a:rPr lang="en-US" sz="4400" dirty="0" smtClean="0"/>
              <a:t>the liver</a:t>
            </a:r>
            <a:r>
              <a:rPr lang="en-US" sz="4400" dirty="0"/>
              <a:t>. For these drugs, the rate-limiting step is not the flow of blood to the </a:t>
            </a:r>
            <a:r>
              <a:rPr lang="en-US" sz="4400" dirty="0" err="1" smtClean="0"/>
              <a:t>liver,but</a:t>
            </a:r>
            <a:r>
              <a:rPr lang="en-US" sz="4400" dirty="0" smtClean="0"/>
              <a:t> </a:t>
            </a:r>
            <a:r>
              <a:rPr lang="en-US" sz="4400" dirty="0"/>
              <a:t>rather the metabolic capacity of the liver </a:t>
            </a:r>
            <a:r>
              <a:rPr lang="en-US" sz="4400" dirty="0" smtClean="0"/>
              <a:t>itself.</a:t>
            </a:r>
            <a:endParaRPr lang="en-US" sz="4400" dirty="0"/>
          </a:p>
        </p:txBody>
      </p:sp>
    </p:spTree>
    <p:extLst>
      <p:ext uri="{BB962C8B-B14F-4D97-AF65-F5344CB8AC3E}">
        <p14:creationId xmlns:p14="http://schemas.microsoft.com/office/powerpoint/2010/main" val="4006704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Autofit/>
          </a:bodyPr>
          <a:lstStyle/>
          <a:p>
            <a:pPr marL="0" indent="0">
              <a:buNone/>
            </a:pPr>
            <a:r>
              <a:rPr lang="en-US" sz="3600" b="1" dirty="0" smtClean="0"/>
              <a:t>While </a:t>
            </a:r>
            <a:r>
              <a:rPr lang="en-US" sz="3600" b="1" dirty="0"/>
              <a:t>metabolism usually reduces the activity of a drug, activity may be designed </a:t>
            </a:r>
            <a:r>
              <a:rPr lang="en-US" sz="3600" b="1" dirty="0" smtClean="0"/>
              <a:t>to increase</a:t>
            </a:r>
            <a:r>
              <a:rPr lang="en-US" sz="3600" b="1" dirty="0"/>
              <a:t>; </a:t>
            </a:r>
            <a:endParaRPr lang="en-US" sz="3600" b="1" dirty="0" smtClean="0"/>
          </a:p>
          <a:p>
            <a:pPr marL="0" indent="0">
              <a:buNone/>
            </a:pPr>
            <a:r>
              <a:rPr lang="en-US" sz="3600" b="1" dirty="0"/>
              <a:t>A</a:t>
            </a:r>
            <a:r>
              <a:rPr lang="en-US" sz="3600" b="1" dirty="0" smtClean="0"/>
              <a:t> </a:t>
            </a:r>
            <a:r>
              <a:rPr lang="en-US" sz="3600" b="1" i="1" dirty="0">
                <a:solidFill>
                  <a:srgbClr val="FF0000"/>
                </a:solidFill>
              </a:rPr>
              <a:t>prodrug</a:t>
            </a:r>
            <a:r>
              <a:rPr lang="en-US" sz="3600" b="1" dirty="0"/>
              <a:t> is defined as a drug that has no inherent activity before </a:t>
            </a:r>
            <a:r>
              <a:rPr lang="en-US" sz="3600" b="1" dirty="0" smtClean="0"/>
              <a:t>metabolism but </a:t>
            </a:r>
            <a:r>
              <a:rPr lang="en-US" sz="3600" b="1" dirty="0"/>
              <a:t>that is converted by the body to an active moiety example </a:t>
            </a:r>
            <a:r>
              <a:rPr lang="en-US" sz="3600" b="1" dirty="0" err="1" smtClean="0"/>
              <a:t>enalapril</a:t>
            </a:r>
            <a:r>
              <a:rPr lang="en-US" sz="3600" b="1" dirty="0"/>
              <a:t> </a:t>
            </a:r>
            <a:r>
              <a:rPr lang="en-US" sz="3600" b="1" dirty="0" smtClean="0"/>
              <a:t>(</a:t>
            </a:r>
            <a:r>
              <a:rPr lang="en-US" sz="3600" b="1" dirty="0" err="1" smtClean="0"/>
              <a:t>metabolised</a:t>
            </a:r>
            <a:r>
              <a:rPr lang="en-US" sz="3600" b="1" dirty="0" smtClean="0"/>
              <a:t> </a:t>
            </a:r>
            <a:r>
              <a:rPr lang="en-US" sz="3600" b="1" dirty="0"/>
              <a:t>to </a:t>
            </a:r>
            <a:r>
              <a:rPr lang="en-US" sz="3600" b="1" dirty="0" err="1"/>
              <a:t>enalaprilat</a:t>
            </a:r>
            <a:r>
              <a:rPr lang="en-US" sz="3600" b="1" dirty="0"/>
              <a:t>)</a:t>
            </a:r>
          </a:p>
        </p:txBody>
      </p:sp>
    </p:spTree>
    <p:extLst>
      <p:ext uri="{BB962C8B-B14F-4D97-AF65-F5344CB8AC3E}">
        <p14:creationId xmlns:p14="http://schemas.microsoft.com/office/powerpoint/2010/main" val="42381262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600" b="1" dirty="0"/>
              <a:t>Metabolites may also have equivalent activity </a:t>
            </a:r>
            <a:r>
              <a:rPr lang="en-US" sz="3600" b="1" dirty="0" smtClean="0"/>
              <a:t>to the </a:t>
            </a:r>
            <a:r>
              <a:rPr lang="en-US" sz="3600" b="1" dirty="0"/>
              <a:t>parent compound, in which case duration of action is not related to plasma levels of </a:t>
            </a:r>
            <a:r>
              <a:rPr lang="en-US" sz="3600" b="1" dirty="0" smtClean="0"/>
              <a:t>the parent </a:t>
            </a:r>
            <a:r>
              <a:rPr lang="en-US" sz="3600" b="1" dirty="0"/>
              <a:t>drug.</a:t>
            </a:r>
          </a:p>
          <a:p>
            <a:pPr marL="0" indent="0">
              <a:buNone/>
            </a:pPr>
            <a:r>
              <a:rPr lang="en-US" sz="3600" b="1" dirty="0"/>
              <a:t>In general, metabolism produces a more polar (water soluble) molecule that can </a:t>
            </a:r>
            <a:r>
              <a:rPr lang="en-US" sz="3600" b="1" dirty="0" smtClean="0"/>
              <a:t>be excreted </a:t>
            </a:r>
            <a:r>
              <a:rPr lang="en-US" sz="3600" b="1" dirty="0"/>
              <a:t>in the bile or urine – the chief routes of drug </a:t>
            </a:r>
            <a:r>
              <a:rPr lang="en-US" sz="3600" b="1" dirty="0" smtClean="0"/>
              <a:t>excretion </a:t>
            </a:r>
            <a:r>
              <a:rPr lang="en-US" sz="3600" dirty="0" smtClean="0"/>
              <a:t>,</a:t>
            </a:r>
            <a:endParaRPr lang="en-US" sz="3600" dirty="0"/>
          </a:p>
        </p:txBody>
      </p:sp>
    </p:spTree>
    <p:extLst>
      <p:ext uri="{BB962C8B-B14F-4D97-AF65-F5344CB8AC3E}">
        <p14:creationId xmlns:p14="http://schemas.microsoft.com/office/powerpoint/2010/main" val="2151725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600200"/>
            <a:ext cx="8763000" cy="4525963"/>
          </a:xfrm>
        </p:spPr>
        <p:txBody>
          <a:bodyPr>
            <a:noAutofit/>
          </a:bodyPr>
          <a:lstStyle/>
          <a:p>
            <a:pPr marL="0" indent="0">
              <a:buNone/>
            </a:pPr>
            <a:r>
              <a:rPr lang="en-US" sz="3600" b="1" dirty="0" smtClean="0"/>
              <a:t>Many </a:t>
            </a:r>
            <a:r>
              <a:rPr lang="en-US" sz="3600" b="1" dirty="0"/>
              <a:t>phase I </a:t>
            </a:r>
            <a:r>
              <a:rPr lang="en-US" sz="3600" b="1" dirty="0" smtClean="0"/>
              <a:t>reactions(non synthesis), </a:t>
            </a:r>
            <a:r>
              <a:rPr lang="en-US" sz="3600" b="1" dirty="0"/>
              <a:t>particularly oxidative pathways, occur in the liver due to a </a:t>
            </a:r>
            <a:r>
              <a:rPr lang="en-US" sz="3600" b="1" dirty="0" smtClean="0"/>
              <a:t>non-specific </a:t>
            </a:r>
            <a:r>
              <a:rPr lang="en-US" sz="3600" b="1" dirty="0"/>
              <a:t>mixed-function oxidase system in the endoplasmic reticulum. These enzymes </a:t>
            </a:r>
            <a:r>
              <a:rPr lang="en-US" sz="3600" b="1" dirty="0" smtClean="0"/>
              <a:t>form the </a:t>
            </a:r>
            <a:r>
              <a:rPr lang="en-US" sz="3600" b="1" dirty="0"/>
              <a:t>cytochrome P450 </a:t>
            </a:r>
            <a:r>
              <a:rPr lang="en-US" sz="3600" b="1" dirty="0" smtClean="0"/>
              <a:t>system</a:t>
            </a:r>
            <a:r>
              <a:rPr lang="en-US" sz="3600" b="1" dirty="0"/>
              <a:t>.</a:t>
            </a:r>
            <a:br>
              <a:rPr lang="en-US" sz="3600" b="1" dirty="0"/>
            </a:br>
            <a:endParaRPr lang="en-US" sz="3600" b="1" dirty="0"/>
          </a:p>
        </p:txBody>
      </p:sp>
    </p:spTree>
    <p:extLst>
      <p:ext uri="{BB962C8B-B14F-4D97-AF65-F5344CB8AC3E}">
        <p14:creationId xmlns:p14="http://schemas.microsoft.com/office/powerpoint/2010/main" val="29480215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600" b="1" dirty="0"/>
              <a:t>T</a:t>
            </a:r>
            <a:r>
              <a:rPr lang="en-US" sz="3600" b="1" dirty="0" smtClean="0"/>
              <a:t>his </a:t>
            </a:r>
            <a:r>
              <a:rPr lang="en-US" sz="3600" b="1" dirty="0"/>
              <a:t>cytochrome system is not unique to the liver; these enzymes are also found in gut mucosa, lung, brain and kidney. Methoxyflurane is </a:t>
            </a:r>
            <a:r>
              <a:rPr lang="en-US" sz="3600" b="1" dirty="0" smtClean="0"/>
              <a:t>metabolized </a:t>
            </a:r>
            <a:r>
              <a:rPr lang="en-US" sz="3600" b="1" dirty="0"/>
              <a:t>by CYP2E1 in the kidney, generating a high local concentration of fluoride ions, which was the cause of renal </a:t>
            </a:r>
            <a:r>
              <a:rPr lang="en-US" sz="3600" b="1" dirty="0" smtClean="0"/>
              <a:t>failure</a:t>
            </a:r>
            <a:r>
              <a:rPr lang="en-US" sz="3600" b="1" dirty="0"/>
              <a:t>.</a:t>
            </a:r>
          </a:p>
        </p:txBody>
      </p:sp>
    </p:spTree>
    <p:extLst>
      <p:ext uri="{BB962C8B-B14F-4D97-AF65-F5344CB8AC3E}">
        <p14:creationId xmlns:p14="http://schemas.microsoft.com/office/powerpoint/2010/main" val="3556163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4000" dirty="0"/>
              <a:t>The enzymes of the cytochrome P450 system are classified into families and </a:t>
            </a:r>
            <a:r>
              <a:rPr lang="en-US" sz="4000" dirty="0" smtClean="0"/>
              <a:t>subfamilies </a:t>
            </a:r>
            <a:r>
              <a:rPr lang="en-US" sz="4000" dirty="0"/>
              <a:t>by their degree of shared amino acid </a:t>
            </a:r>
            <a:r>
              <a:rPr lang="en-US" sz="4000" dirty="0" smtClean="0"/>
              <a:t>sequences Families </a:t>
            </a:r>
            <a:r>
              <a:rPr lang="en-US" sz="4000" dirty="0"/>
              <a:t>are </a:t>
            </a:r>
            <a:r>
              <a:rPr lang="en-US" sz="4000" dirty="0" err="1"/>
              <a:t>labelled</a:t>
            </a:r>
            <a:r>
              <a:rPr lang="en-US" sz="4000" dirty="0"/>
              <a:t> CYP1, CYP2, and so on</a:t>
            </a:r>
          </a:p>
        </p:txBody>
      </p:sp>
    </p:spTree>
    <p:extLst>
      <p:ext uri="{BB962C8B-B14F-4D97-AF65-F5344CB8AC3E}">
        <p14:creationId xmlns:p14="http://schemas.microsoft.com/office/powerpoint/2010/main" val="18156982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992" t="38802" r="26598" b="16645"/>
          <a:stretch/>
        </p:blipFill>
        <p:spPr bwMode="auto">
          <a:xfrm>
            <a:off x="72958" y="228600"/>
            <a:ext cx="8957551"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43887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noAutofit/>
          </a:bodyPr>
          <a:lstStyle/>
          <a:p>
            <a:pPr marL="0" indent="0">
              <a:buNone/>
            </a:pPr>
            <a:r>
              <a:rPr lang="en-US" sz="3200" b="1" dirty="0"/>
              <a:t>The P450 system is not responsible for all phase I metabolism. The </a:t>
            </a:r>
            <a:r>
              <a:rPr lang="en-US" sz="3200" b="1" dirty="0" smtClean="0"/>
              <a:t>monoamines (adrenaline</a:t>
            </a:r>
            <a:r>
              <a:rPr lang="en-US" sz="3200" b="1" dirty="0"/>
              <a:t>, noradrenaline, dopamine) are </a:t>
            </a:r>
            <a:r>
              <a:rPr lang="en-US" sz="3200" b="1" dirty="0" smtClean="0"/>
              <a:t>metabolized </a:t>
            </a:r>
            <a:r>
              <a:rPr lang="en-US" sz="3200" b="1" dirty="0"/>
              <a:t>by the mitochondrial enzyme</a:t>
            </a:r>
          </a:p>
          <a:p>
            <a:pPr marL="0" indent="0">
              <a:buNone/>
            </a:pPr>
            <a:r>
              <a:rPr lang="en-US" sz="3200" b="1" dirty="0"/>
              <a:t>monoamine oxidase. Individual genetic variation, or the presence of </a:t>
            </a:r>
            <a:r>
              <a:rPr lang="en-US" sz="3200" b="1" dirty="0" smtClean="0"/>
              <a:t>exogenous inhibitors </a:t>
            </a:r>
            <a:r>
              <a:rPr lang="en-US" sz="3200" b="1" dirty="0"/>
              <a:t>of this breakdown pathway, can result in high levels of monoamines </a:t>
            </a:r>
            <a:r>
              <a:rPr lang="en-US" sz="3200" b="1" dirty="0" smtClean="0"/>
              <a:t>in the </a:t>
            </a:r>
            <a:r>
              <a:rPr lang="en-US" sz="3200" b="1" dirty="0"/>
              <a:t>circulation, with severe cardiovascular </a:t>
            </a:r>
            <a:r>
              <a:rPr lang="en-US" sz="3200" b="1" dirty="0" smtClean="0"/>
              <a:t>effects</a:t>
            </a:r>
            <a:endParaRPr lang="en-US" sz="3200" b="1" dirty="0"/>
          </a:p>
        </p:txBody>
      </p:sp>
    </p:spTree>
    <p:extLst>
      <p:ext uri="{BB962C8B-B14F-4D97-AF65-F5344CB8AC3E}">
        <p14:creationId xmlns:p14="http://schemas.microsoft.com/office/powerpoint/2010/main" val="41946991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534400" cy="4525963"/>
          </a:xfrm>
        </p:spPr>
        <p:txBody>
          <a:bodyPr>
            <a:normAutofit/>
          </a:bodyPr>
          <a:lstStyle/>
          <a:p>
            <a:pPr marL="0" indent="0">
              <a:buNone/>
            </a:pPr>
            <a:r>
              <a:rPr lang="en-US" sz="4000" dirty="0"/>
              <a:t>In addition, some metabolic processes take place in the plasma: cisatracurium breaks down spontaneously in a </a:t>
            </a:r>
            <a:r>
              <a:rPr lang="en-US" sz="4000" dirty="0" smtClean="0"/>
              <a:t>pH&amp; temperature dependent </a:t>
            </a:r>
            <a:r>
              <a:rPr lang="en-US" sz="4000" dirty="0"/>
              <a:t>manner – </a:t>
            </a:r>
            <a:r>
              <a:rPr lang="en-US" sz="4000" i="1" dirty="0">
                <a:solidFill>
                  <a:srgbClr val="FF0000"/>
                </a:solidFill>
              </a:rPr>
              <a:t>Hofmann degradation </a:t>
            </a:r>
            <a:r>
              <a:rPr lang="en-US" sz="4000" dirty="0"/>
              <a:t>and suxamethonium is </a:t>
            </a:r>
            <a:r>
              <a:rPr lang="en-US" sz="4000" dirty="0" smtClean="0"/>
              <a:t>hydrolyzed </a:t>
            </a:r>
            <a:r>
              <a:rPr lang="en-US" sz="4000" dirty="0"/>
              <a:t>by plasma cholinesterase.</a:t>
            </a:r>
          </a:p>
        </p:txBody>
      </p:sp>
    </p:spTree>
    <p:extLst>
      <p:ext uri="{BB962C8B-B14F-4D97-AF65-F5344CB8AC3E}">
        <p14:creationId xmlns:p14="http://schemas.microsoft.com/office/powerpoint/2010/main" val="32494030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Autofit/>
          </a:bodyPr>
          <a:lstStyle/>
          <a:p>
            <a:pPr marL="0" indent="0">
              <a:buNone/>
            </a:pPr>
            <a:r>
              <a:rPr lang="en-US" sz="3200" b="1" dirty="0"/>
              <a:t>Phase II (Conjugation or Synthetic)</a:t>
            </a:r>
          </a:p>
          <a:p>
            <a:pPr marL="0" indent="0">
              <a:buNone/>
            </a:pPr>
            <a:r>
              <a:rPr lang="en-US" sz="3200" b="1" dirty="0"/>
              <a:t>• </a:t>
            </a:r>
            <a:r>
              <a:rPr lang="en-US" sz="3200" b="1" dirty="0" err="1"/>
              <a:t>Glucuronidation</a:t>
            </a:r>
            <a:r>
              <a:rPr lang="en-US" sz="3200" b="1" dirty="0"/>
              <a:t> (e.g. morphine, propofol)</a:t>
            </a:r>
          </a:p>
          <a:p>
            <a:pPr marL="0" indent="0">
              <a:buNone/>
            </a:pPr>
            <a:r>
              <a:rPr lang="en-US" sz="3200" b="1" dirty="0"/>
              <a:t>• </a:t>
            </a:r>
            <a:r>
              <a:rPr lang="en-US" sz="3200" b="1" dirty="0" err="1"/>
              <a:t>Sulfation</a:t>
            </a:r>
            <a:r>
              <a:rPr lang="en-US" sz="3200" b="1" dirty="0"/>
              <a:t> (e.g. </a:t>
            </a:r>
            <a:r>
              <a:rPr lang="en-US" sz="3200" b="1" dirty="0" err="1"/>
              <a:t>quinol</a:t>
            </a:r>
            <a:r>
              <a:rPr lang="en-US" sz="3200" b="1" dirty="0"/>
              <a:t> metabolite of propofol)</a:t>
            </a:r>
          </a:p>
          <a:p>
            <a:pPr marL="0" indent="0">
              <a:buNone/>
            </a:pPr>
            <a:r>
              <a:rPr lang="en-US" sz="3200" b="1" dirty="0"/>
              <a:t>• Acetylation (e.g. </a:t>
            </a:r>
            <a:r>
              <a:rPr lang="en-US" sz="3200" b="1" dirty="0" err="1" smtClean="0"/>
              <a:t>ioniazid</a:t>
            </a:r>
            <a:r>
              <a:rPr lang="en-US" sz="3200" b="1" dirty="0"/>
              <a:t>, sulfonamides)</a:t>
            </a:r>
          </a:p>
          <a:p>
            <a:pPr marL="0" indent="0">
              <a:buNone/>
            </a:pPr>
            <a:r>
              <a:rPr lang="en-US" sz="3200" b="1" dirty="0"/>
              <a:t>• Methylation (e.g. </a:t>
            </a:r>
            <a:r>
              <a:rPr lang="en-US" sz="3200" b="1" dirty="0" err="1"/>
              <a:t>catechols</a:t>
            </a:r>
            <a:r>
              <a:rPr lang="en-US" sz="3200" b="1" dirty="0" smtClean="0"/>
              <a:t>, </a:t>
            </a:r>
            <a:r>
              <a:rPr lang="en-US" sz="3200" b="1" dirty="0"/>
              <a:t>noradrenaline).</a:t>
            </a:r>
          </a:p>
          <a:p>
            <a:pPr marL="0" indent="0">
              <a:buNone/>
            </a:pPr>
            <a:r>
              <a:rPr lang="en-US" sz="3200" b="1" dirty="0" smtClean="0"/>
              <a:t>In </a:t>
            </a:r>
            <a:r>
              <a:rPr lang="en-US" sz="3200" b="1" dirty="0"/>
              <a:t>liver failure, phase I reactions are generally affected before phase II, so drugs </a:t>
            </a:r>
            <a:r>
              <a:rPr lang="en-US" sz="3200" b="1" dirty="0" smtClean="0"/>
              <a:t>with a </a:t>
            </a:r>
            <a:r>
              <a:rPr lang="en-US" sz="3200" b="1" dirty="0"/>
              <a:t>predominantly phase II metabolism, such as lorazepam, are less affected</a:t>
            </a:r>
          </a:p>
        </p:txBody>
      </p:sp>
    </p:spTree>
    <p:extLst>
      <p:ext uri="{BB962C8B-B14F-4D97-AF65-F5344CB8AC3E}">
        <p14:creationId xmlns:p14="http://schemas.microsoft.com/office/powerpoint/2010/main" val="18887983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600" b="1" dirty="0"/>
              <a:t>Genetic Polymorphism</a:t>
            </a:r>
          </a:p>
          <a:p>
            <a:pPr marL="0" indent="0">
              <a:buNone/>
            </a:pPr>
            <a:r>
              <a:rPr lang="en-US" sz="3600" b="1" dirty="0"/>
              <a:t>There are inherited differences in enzyme structure that alter the way drugs are </a:t>
            </a:r>
            <a:r>
              <a:rPr lang="en-US" sz="3600" b="1" dirty="0" smtClean="0"/>
              <a:t>metabolized in the </a:t>
            </a:r>
            <a:r>
              <a:rPr lang="en-US" sz="3600" b="1" dirty="0"/>
              <a:t>body. The genetic polymorphisms of particular relevance to anaesthesia are those of </a:t>
            </a:r>
            <a:r>
              <a:rPr lang="en-US" sz="3600" b="1" dirty="0" smtClean="0"/>
              <a:t>plasma cholinesterase</a:t>
            </a:r>
            <a:r>
              <a:rPr lang="en-US" dirty="0"/>
              <a:t>, </a:t>
            </a:r>
          </a:p>
        </p:txBody>
      </p:sp>
    </p:spTree>
    <p:extLst>
      <p:ext uri="{BB962C8B-B14F-4D97-AF65-F5344CB8AC3E}">
        <p14:creationId xmlns:p14="http://schemas.microsoft.com/office/powerpoint/2010/main" val="26986690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sz="3200" b="1" dirty="0"/>
              <a:t>Enzyme Inhibition and Induction</a:t>
            </a:r>
          </a:p>
          <a:p>
            <a:pPr marL="0" indent="0">
              <a:buNone/>
            </a:pPr>
            <a:r>
              <a:rPr lang="en-US" sz="3200" b="1" dirty="0"/>
              <a:t>Some </a:t>
            </a:r>
            <a:r>
              <a:rPr lang="en-US" sz="3200" b="1" dirty="0" smtClean="0"/>
              <a:t>drugs </a:t>
            </a:r>
            <a:r>
              <a:rPr lang="en-US" sz="3200" b="1" dirty="0"/>
              <a:t>induce the activity of the hepatic </a:t>
            </a:r>
            <a:r>
              <a:rPr lang="en-US" sz="3600" b="1" i="1" dirty="0">
                <a:solidFill>
                  <a:srgbClr val="FF0000"/>
                </a:solidFill>
              </a:rPr>
              <a:t>microsomal</a:t>
            </a:r>
            <a:r>
              <a:rPr lang="en-US" sz="3200" b="1" dirty="0"/>
              <a:t> enzymes. The rate </a:t>
            </a:r>
            <a:r>
              <a:rPr lang="en-US" sz="3200" b="1" dirty="0" smtClean="0"/>
              <a:t>of metabolism </a:t>
            </a:r>
            <a:r>
              <a:rPr lang="en-US" sz="3200" b="1" dirty="0"/>
              <a:t>of the enzyme-inducing drug as well as other drugs is increased and may lead to</a:t>
            </a:r>
          </a:p>
          <a:p>
            <a:pPr marL="0" indent="0">
              <a:buNone/>
            </a:pPr>
            <a:r>
              <a:rPr lang="en-US" sz="3200" b="1" dirty="0"/>
              <a:t>reduced plasma </a:t>
            </a:r>
            <a:r>
              <a:rPr lang="en-US" sz="3200" b="1" dirty="0" smtClean="0"/>
              <a:t>levels. some drugs like cimetidine </a:t>
            </a:r>
            <a:r>
              <a:rPr lang="en-US" sz="3200" b="1" dirty="0"/>
              <a:t>inhibit the activity of hepatic microsomal enzymes and may result in increased </a:t>
            </a:r>
            <a:r>
              <a:rPr lang="en-US" sz="3200" b="1" dirty="0" smtClean="0"/>
              <a:t>plasma levels</a:t>
            </a:r>
            <a:r>
              <a:rPr lang="en-US" dirty="0"/>
              <a:t>.</a:t>
            </a:r>
          </a:p>
        </p:txBody>
      </p:sp>
    </p:spTree>
    <p:extLst>
      <p:ext uri="{BB962C8B-B14F-4D97-AF65-F5344CB8AC3E}">
        <p14:creationId xmlns:p14="http://schemas.microsoft.com/office/powerpoint/2010/main" val="42828499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219" t="26952" r="28718" b="18067"/>
          <a:stretch/>
        </p:blipFill>
        <p:spPr bwMode="auto">
          <a:xfrm>
            <a:off x="228600" y="1007237"/>
            <a:ext cx="8559034" cy="5027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58010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Excretion</a:t>
            </a:r>
          </a:p>
        </p:txBody>
      </p:sp>
      <p:sp>
        <p:nvSpPr>
          <p:cNvPr id="3" name="Content Placeholder 2"/>
          <p:cNvSpPr>
            <a:spLocks noGrp="1"/>
          </p:cNvSpPr>
          <p:nvPr>
            <p:ph idx="1"/>
          </p:nvPr>
        </p:nvSpPr>
        <p:spPr/>
        <p:txBody>
          <a:bodyPr>
            <a:noAutofit/>
          </a:bodyPr>
          <a:lstStyle/>
          <a:p>
            <a:pPr marL="0" indent="0">
              <a:buNone/>
            </a:pPr>
            <a:r>
              <a:rPr lang="en-US" sz="3200" b="1" i="1" dirty="0" smtClean="0">
                <a:solidFill>
                  <a:srgbClr val="FF0000"/>
                </a:solidFill>
              </a:rPr>
              <a:t>Elimination </a:t>
            </a:r>
            <a:r>
              <a:rPr lang="en-US" sz="3200" b="1" dirty="0"/>
              <a:t>refers to the processes of removal of the drug from the plasma and </a:t>
            </a:r>
            <a:r>
              <a:rPr lang="en-US" sz="3200" b="1" dirty="0" smtClean="0"/>
              <a:t>includes distribution </a:t>
            </a:r>
            <a:r>
              <a:rPr lang="en-US" sz="3200" b="1" dirty="0"/>
              <a:t>and metabolism, while </a:t>
            </a:r>
            <a:r>
              <a:rPr lang="en-US" sz="3200" b="1" i="1" dirty="0">
                <a:solidFill>
                  <a:srgbClr val="FF0000"/>
                </a:solidFill>
              </a:rPr>
              <a:t>excretion </a:t>
            </a:r>
            <a:r>
              <a:rPr lang="en-US" sz="3200" b="1" dirty="0"/>
              <a:t>refers to the removal of drug from the body.</a:t>
            </a:r>
          </a:p>
          <a:p>
            <a:pPr marL="0" indent="0">
              <a:buNone/>
            </a:pPr>
            <a:r>
              <a:rPr lang="en-US" sz="3200" b="1" dirty="0"/>
              <a:t>The chief sites of excretion are in the urine </a:t>
            </a:r>
            <a:r>
              <a:rPr lang="en-US" sz="3200" b="1" dirty="0" smtClean="0"/>
              <a:t>, bile and </a:t>
            </a:r>
            <a:r>
              <a:rPr lang="en-US" sz="3200" b="1" dirty="0"/>
              <a:t>for </a:t>
            </a:r>
            <a:r>
              <a:rPr lang="en-US" sz="3200" b="1" dirty="0" smtClean="0"/>
              <a:t>the volatile anesthetic </a:t>
            </a:r>
            <a:r>
              <a:rPr lang="en-US" sz="3200" b="1" dirty="0"/>
              <a:t>agents is via the lungs; however, metabolites are detectable in </a:t>
            </a:r>
            <a:r>
              <a:rPr lang="en-US" sz="3200" b="1" dirty="0" smtClean="0"/>
              <a:t>urine. </a:t>
            </a:r>
            <a:r>
              <a:rPr lang="en-US" sz="3200" b="1" i="1" dirty="0" smtClean="0">
                <a:solidFill>
                  <a:srgbClr val="FF0000"/>
                </a:solidFill>
              </a:rPr>
              <a:t>Elimination </a:t>
            </a:r>
            <a:r>
              <a:rPr lang="en-US" sz="3200" b="1" i="1" dirty="0">
                <a:solidFill>
                  <a:srgbClr val="FF0000"/>
                </a:solidFill>
              </a:rPr>
              <a:t>half-time </a:t>
            </a:r>
            <a:r>
              <a:rPr lang="en-US" sz="3200" b="1" dirty="0"/>
              <a:t>is the time required for the </a:t>
            </a:r>
            <a:r>
              <a:rPr lang="en-US" sz="3200" b="1" dirty="0" smtClean="0"/>
              <a:t>drug concentration </a:t>
            </a:r>
            <a:r>
              <a:rPr lang="en-US" sz="3200" b="1" dirty="0"/>
              <a:t>to fall </a:t>
            </a:r>
            <a:r>
              <a:rPr lang="en-US" sz="3200" b="1" dirty="0" smtClean="0"/>
              <a:t>by 50</a:t>
            </a:r>
            <a:r>
              <a:rPr lang="en-US" sz="3200" b="1" dirty="0"/>
              <a:t>%. </a:t>
            </a:r>
          </a:p>
        </p:txBody>
      </p:sp>
    </p:spTree>
    <p:extLst>
      <p:ext uri="{BB962C8B-B14F-4D97-AF65-F5344CB8AC3E}">
        <p14:creationId xmlns:p14="http://schemas.microsoft.com/office/powerpoint/2010/main" val="7400605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382000" cy="4525963"/>
          </a:xfrm>
        </p:spPr>
        <p:txBody>
          <a:bodyPr>
            <a:normAutofit lnSpcReduction="10000"/>
          </a:bodyPr>
          <a:lstStyle/>
          <a:p>
            <a:pPr marL="0" indent="0">
              <a:buNone/>
            </a:pPr>
            <a:r>
              <a:rPr lang="en-US" sz="3200" b="1" dirty="0" smtClean="0"/>
              <a:t>ENTEROHEPATIC RECIRCULATION is when drugs  metabolites excreted </a:t>
            </a:r>
            <a:r>
              <a:rPr lang="en-US" sz="3200" b="1" dirty="0"/>
              <a:t>in bile are </a:t>
            </a:r>
            <a:r>
              <a:rPr lang="en-US" sz="3200" b="1" dirty="0" smtClean="0"/>
              <a:t>subsequently reabsorbed </a:t>
            </a:r>
            <a:r>
              <a:rPr lang="en-US" sz="3200" b="1" dirty="0"/>
              <a:t>in the </a:t>
            </a:r>
            <a:r>
              <a:rPr lang="en-US" sz="3200" b="1" dirty="0" smtClean="0"/>
              <a:t>intestine and  </a:t>
            </a:r>
            <a:r>
              <a:rPr lang="en-US" sz="3200" b="1" dirty="0"/>
              <a:t>converted back to the parent drug. </a:t>
            </a:r>
            <a:endParaRPr lang="en-US" sz="3200" b="1" dirty="0" smtClean="0"/>
          </a:p>
          <a:p>
            <a:pPr marL="0" indent="0">
              <a:buNone/>
            </a:pPr>
            <a:r>
              <a:rPr lang="en-US" sz="3200" b="1" dirty="0" smtClean="0"/>
              <a:t>For example</a:t>
            </a:r>
            <a:r>
              <a:rPr lang="en-US" sz="3200" b="1" dirty="0"/>
              <a:t>, lorazepam is converted by the liver to lorazepam glucuronide. In </a:t>
            </a:r>
            <a:r>
              <a:rPr lang="en-US" sz="3200" b="1" dirty="0" smtClean="0"/>
              <a:t>the intestine,</a:t>
            </a:r>
            <a:r>
              <a:rPr lang="el-GR" sz="3200" b="1" dirty="0"/>
              <a:t> β</a:t>
            </a:r>
            <a:r>
              <a:rPr lang="en-US" sz="3200" b="1" dirty="0" smtClean="0"/>
              <a:t> glucuronidase </a:t>
            </a:r>
            <a:r>
              <a:rPr lang="en-US" sz="3200" b="1" dirty="0"/>
              <a:t>breaks the ester linkage, converting </a:t>
            </a:r>
            <a:r>
              <a:rPr lang="en-US" sz="3200" b="1" dirty="0" smtClean="0"/>
              <a:t>lorazepam glucuronide </a:t>
            </a:r>
            <a:r>
              <a:rPr lang="en-US" sz="3200" b="1" dirty="0"/>
              <a:t>back to lorazepam</a:t>
            </a:r>
            <a:r>
              <a:rPr lang="en-US" dirty="0"/>
              <a:t>.</a:t>
            </a:r>
          </a:p>
        </p:txBody>
      </p:sp>
    </p:spTree>
    <p:extLst>
      <p:ext uri="{BB962C8B-B14F-4D97-AF65-F5344CB8AC3E}">
        <p14:creationId xmlns:p14="http://schemas.microsoft.com/office/powerpoint/2010/main" val="25478458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t> </a:t>
            </a:r>
            <a:r>
              <a:rPr lang="en-US" sz="3600" b="1" dirty="0"/>
              <a:t>high molecular weight compounds (&gt;30,000 </a:t>
            </a:r>
            <a:r>
              <a:rPr lang="en-US" sz="3600" b="1" dirty="0" smtClean="0"/>
              <a:t>Da) are </a:t>
            </a:r>
            <a:r>
              <a:rPr lang="en-US" sz="3600" b="1" dirty="0"/>
              <a:t>not filtered or secreted by the kidney and are therefore preferentially excreted in the bile.</a:t>
            </a:r>
          </a:p>
          <a:p>
            <a:pPr marL="0" indent="0">
              <a:buNone/>
            </a:pPr>
            <a:r>
              <a:rPr lang="en-US" sz="3600" b="1" dirty="0"/>
              <a:t>A significant fraction of a drug carrying a permanent </a:t>
            </a:r>
            <a:r>
              <a:rPr lang="en-US" sz="3600" b="1" dirty="0" smtClean="0"/>
              <a:t>charge </a:t>
            </a:r>
            <a:r>
              <a:rPr lang="en-US" sz="3600" b="1" dirty="0"/>
              <a:t>such </a:t>
            </a:r>
            <a:r>
              <a:rPr lang="en-US" sz="3600" b="1" dirty="0" smtClean="0"/>
              <a:t>as </a:t>
            </a:r>
            <a:r>
              <a:rPr lang="en-US" sz="3600" b="1" dirty="0" err="1" smtClean="0"/>
              <a:t>pancuronium</a:t>
            </a:r>
            <a:r>
              <a:rPr lang="en-US" sz="3600" b="1" dirty="0"/>
              <a:t>, may </a:t>
            </a:r>
            <a:r>
              <a:rPr lang="en-US" sz="3600" b="1" dirty="0" smtClean="0"/>
              <a:t>be excreted </a:t>
            </a:r>
            <a:r>
              <a:rPr lang="en-US" sz="3600" b="1" dirty="0"/>
              <a:t>unchanged in urine</a:t>
            </a:r>
          </a:p>
        </p:txBody>
      </p:sp>
    </p:spTree>
    <p:extLst>
      <p:ext uri="{BB962C8B-B14F-4D97-AF65-F5344CB8AC3E}">
        <p14:creationId xmlns:p14="http://schemas.microsoft.com/office/powerpoint/2010/main" val="32672120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600" b="1" dirty="0"/>
              <a:t>Renal </a:t>
            </a:r>
            <a:r>
              <a:rPr lang="en-US" sz="3600" b="1" dirty="0" smtClean="0"/>
              <a:t>Excretion Filtration </a:t>
            </a:r>
            <a:r>
              <a:rPr lang="en-US" sz="3600" b="1" dirty="0"/>
              <a:t>at the </a:t>
            </a:r>
            <a:r>
              <a:rPr lang="en-US" sz="3600" b="1" dirty="0" smtClean="0"/>
              <a:t>Glomerulus Small</a:t>
            </a:r>
            <a:r>
              <a:rPr lang="en-US" sz="3600" b="1" dirty="0"/>
              <a:t>, non-protein-bound, poorly lipid-soluble but readily water-soluble drugs are </a:t>
            </a:r>
            <a:r>
              <a:rPr lang="en-US" sz="3600" b="1" dirty="0" smtClean="0"/>
              <a:t>excreted into </a:t>
            </a:r>
            <a:r>
              <a:rPr lang="en-US" sz="3600" b="1" dirty="0"/>
              <a:t>the glomerular </a:t>
            </a:r>
            <a:r>
              <a:rPr lang="en-US" sz="3600" b="1" dirty="0" smtClean="0"/>
              <a:t>ultra filtrate.</a:t>
            </a:r>
          </a:p>
        </p:txBody>
      </p:sp>
    </p:spTree>
    <p:extLst>
      <p:ext uri="{BB962C8B-B14F-4D97-AF65-F5344CB8AC3E}">
        <p14:creationId xmlns:p14="http://schemas.microsoft.com/office/powerpoint/2010/main" val="30228226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200" b="1" dirty="0" smtClean="0"/>
              <a:t>Drug </a:t>
            </a:r>
            <a:r>
              <a:rPr lang="en-US" sz="3200" b="1" dirty="0"/>
              <a:t>secretion may </a:t>
            </a:r>
            <a:r>
              <a:rPr lang="en-US" sz="3200" b="1" dirty="0" smtClean="0"/>
              <a:t>also be </a:t>
            </a:r>
            <a:r>
              <a:rPr lang="en-US" sz="3200" b="1" dirty="0"/>
              <a:t>inhibited, for example, probenecid blocks the secretion of penicillin</a:t>
            </a:r>
            <a:r>
              <a:rPr lang="en-US" sz="3200" b="1" dirty="0" smtClean="0"/>
              <a:t>.</a:t>
            </a:r>
          </a:p>
          <a:p>
            <a:pPr marL="0" indent="0">
              <a:buNone/>
            </a:pPr>
            <a:r>
              <a:rPr lang="en-US" sz="3200" b="1" dirty="0"/>
              <a:t>Biliary Excretion</a:t>
            </a:r>
          </a:p>
          <a:p>
            <a:pPr marL="0" indent="0">
              <a:buNone/>
            </a:pPr>
            <a:r>
              <a:rPr lang="en-US" sz="3200" b="1" dirty="0"/>
              <a:t>High molecular weight compounds, such as the steroid-based muscle relaxants, are excreted in bile</a:t>
            </a:r>
          </a:p>
        </p:txBody>
      </p:sp>
    </p:spTree>
    <p:extLst>
      <p:ext uri="{BB962C8B-B14F-4D97-AF65-F5344CB8AC3E}">
        <p14:creationId xmlns:p14="http://schemas.microsoft.com/office/powerpoint/2010/main" val="29622816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Disease</a:t>
            </a:r>
          </a:p>
        </p:txBody>
      </p:sp>
      <p:sp>
        <p:nvSpPr>
          <p:cNvPr id="3" name="Content Placeholder 2"/>
          <p:cNvSpPr>
            <a:spLocks noGrp="1"/>
          </p:cNvSpPr>
          <p:nvPr>
            <p:ph idx="1"/>
          </p:nvPr>
        </p:nvSpPr>
        <p:spPr>
          <a:xfrm>
            <a:off x="457200" y="1646237"/>
            <a:ext cx="8229600" cy="4525963"/>
          </a:xfrm>
        </p:spPr>
        <p:txBody>
          <a:bodyPr>
            <a:normAutofit/>
          </a:bodyPr>
          <a:lstStyle/>
          <a:p>
            <a:pPr marL="0" indent="0">
              <a:buNone/>
            </a:pPr>
            <a:r>
              <a:rPr lang="en-US" sz="4400" b="1" dirty="0"/>
              <a:t>P</a:t>
            </a:r>
            <a:r>
              <a:rPr lang="en-US" sz="4400" b="1" dirty="0" smtClean="0"/>
              <a:t>atient’s </a:t>
            </a:r>
            <a:r>
              <a:rPr lang="en-US" sz="4400" b="1" i="1" dirty="0" smtClean="0">
                <a:solidFill>
                  <a:srgbClr val="FF0000"/>
                </a:solidFill>
              </a:rPr>
              <a:t>CREATININE CLEARANCE </a:t>
            </a:r>
            <a:r>
              <a:rPr lang="en-US" sz="4400" b="1" dirty="0"/>
              <a:t>is very helpful in estimating the </a:t>
            </a:r>
            <a:r>
              <a:rPr lang="en-US" sz="4400" b="1" dirty="0" smtClean="0"/>
              <a:t>dose of drug in patient with renal disease </a:t>
            </a:r>
            <a:endParaRPr lang="en-US" sz="4400" b="1" dirty="0"/>
          </a:p>
          <a:p>
            <a:pPr marL="0" indent="0">
              <a:buNone/>
            </a:pPr>
            <a:r>
              <a:rPr lang="en-US" sz="4400" b="1" dirty="0" smtClean="0"/>
              <a:t>. </a:t>
            </a:r>
            <a:endParaRPr lang="en-US" sz="4400" b="1" dirty="0"/>
          </a:p>
        </p:txBody>
      </p:sp>
    </p:spTree>
    <p:extLst>
      <p:ext uri="{BB962C8B-B14F-4D97-AF65-F5344CB8AC3E}">
        <p14:creationId xmlns:p14="http://schemas.microsoft.com/office/powerpoint/2010/main" val="41537345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Mechanisms of Drug Action</a:t>
            </a:r>
          </a:p>
        </p:txBody>
      </p:sp>
      <p:sp>
        <p:nvSpPr>
          <p:cNvPr id="3" name="Content Placeholder 2"/>
          <p:cNvSpPr>
            <a:spLocks noGrp="1"/>
          </p:cNvSpPr>
          <p:nvPr>
            <p:ph idx="1"/>
          </p:nvPr>
        </p:nvSpPr>
        <p:spPr>
          <a:xfrm>
            <a:off x="228600" y="1600200"/>
            <a:ext cx="8458200" cy="4525963"/>
          </a:xfrm>
        </p:spPr>
        <p:txBody>
          <a:bodyPr>
            <a:normAutofit/>
          </a:bodyPr>
          <a:lstStyle/>
          <a:p>
            <a:pPr marL="0" indent="0">
              <a:buNone/>
            </a:pPr>
            <a:r>
              <a:rPr lang="en-US" sz="3600" b="1" dirty="0" smtClean="0"/>
              <a:t>    </a:t>
            </a:r>
            <a:r>
              <a:rPr lang="en-US" sz="4400" b="1" i="1" dirty="0"/>
              <a:t>h</a:t>
            </a:r>
            <a:r>
              <a:rPr lang="en-US" sz="4400" b="1" i="1" dirty="0" smtClean="0"/>
              <a:t>ow drugs act ?  </a:t>
            </a:r>
          </a:p>
          <a:p>
            <a:pPr marL="0" indent="0">
              <a:buNone/>
            </a:pPr>
            <a:r>
              <a:rPr lang="en-US" sz="4400" b="1" i="1" dirty="0" smtClean="0"/>
              <a:t>                                                                     </a:t>
            </a:r>
            <a:r>
              <a:rPr lang="en-US" sz="3600" b="1" dirty="0" smtClean="0"/>
              <a:t>Drugs </a:t>
            </a:r>
            <a:r>
              <a:rPr lang="en-US" sz="3600" b="1" dirty="0"/>
              <a:t>may act in a number of ways to exert their effect. </a:t>
            </a:r>
            <a:r>
              <a:rPr lang="en-US" sz="3600" b="1" dirty="0" smtClean="0"/>
              <a:t>By acting on body proteins/enzymes</a:t>
            </a:r>
            <a:r>
              <a:rPr lang="en-US" sz="3600" b="1" dirty="0"/>
              <a:t>, </a:t>
            </a:r>
            <a:r>
              <a:rPr lang="en-US" sz="3600" b="1" dirty="0" smtClean="0"/>
              <a:t>voltage-gated ion </a:t>
            </a:r>
            <a:r>
              <a:rPr lang="en-US" sz="3600" b="1" dirty="0"/>
              <a:t>channels and </a:t>
            </a:r>
            <a:r>
              <a:rPr lang="en-US" sz="3600" b="1" dirty="0" smtClean="0"/>
              <a:t>receptors etc.</a:t>
            </a:r>
            <a:endParaRPr lang="en-US" sz="3600" b="1" dirty="0"/>
          </a:p>
          <a:p>
            <a:pPr marL="0" indent="0">
              <a:buNone/>
            </a:pPr>
            <a:endParaRPr lang="en-US" sz="3600" b="1" dirty="0"/>
          </a:p>
        </p:txBody>
      </p:sp>
    </p:spTree>
    <p:extLst>
      <p:ext uri="{BB962C8B-B14F-4D97-AF65-F5344CB8AC3E}">
        <p14:creationId xmlns:p14="http://schemas.microsoft.com/office/powerpoint/2010/main" val="25465679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sz="3200" b="1" dirty="0" smtClean="0"/>
              <a:t>The </a:t>
            </a:r>
            <a:r>
              <a:rPr lang="en-US" sz="3200" b="1" dirty="0"/>
              <a:t>antacids exert their effect by </a:t>
            </a:r>
            <a:r>
              <a:rPr lang="en-US" sz="3200" b="1" dirty="0" smtClean="0"/>
              <a:t>neutralizing </a:t>
            </a:r>
            <a:r>
              <a:rPr lang="en-US" sz="3200" b="1" dirty="0"/>
              <a:t>gastric acid</a:t>
            </a:r>
            <a:r>
              <a:rPr lang="en-US" sz="3200" b="1" dirty="0" smtClean="0"/>
              <a:t>. </a:t>
            </a:r>
          </a:p>
          <a:p>
            <a:pPr marL="0" indent="0">
              <a:buNone/>
            </a:pPr>
            <a:r>
              <a:rPr lang="en-US" sz="3200" b="1" dirty="0" smtClean="0"/>
              <a:t> </a:t>
            </a:r>
          </a:p>
          <a:p>
            <a:pPr marL="0" indent="0">
              <a:buNone/>
            </a:pPr>
            <a:r>
              <a:rPr lang="en-US" sz="3200" b="1" dirty="0" smtClean="0"/>
              <a:t> The chelating agents are used to reduce the concentration of certain metallic ions within the body.</a:t>
            </a:r>
          </a:p>
          <a:p>
            <a:pPr marL="0" indent="0">
              <a:buNone/>
            </a:pPr>
            <a:endParaRPr lang="en-US" sz="3200" b="1" dirty="0" smtClean="0"/>
          </a:p>
          <a:p>
            <a:pPr marL="0" indent="0">
              <a:buNone/>
            </a:pPr>
            <a:r>
              <a:rPr lang="en-US" sz="3200" b="1" dirty="0" smtClean="0"/>
              <a:t>WHAT CHELATING FOOD DO YOU KNOW?</a:t>
            </a:r>
          </a:p>
          <a:p>
            <a:pPr marL="0" indent="0">
              <a:buNone/>
            </a:pPr>
            <a:endParaRPr lang="en-US" sz="3200" b="1" dirty="0" smtClean="0"/>
          </a:p>
          <a:p>
            <a:pPr marL="0" indent="0">
              <a:buNone/>
            </a:pPr>
            <a:r>
              <a:rPr lang="en-US" dirty="0" smtClean="0"/>
              <a:t>.</a:t>
            </a:r>
            <a:endParaRPr lang="en-US" dirty="0"/>
          </a:p>
        </p:txBody>
      </p:sp>
    </p:spTree>
    <p:extLst>
      <p:ext uri="{BB962C8B-B14F-4D97-AF65-F5344CB8AC3E}">
        <p14:creationId xmlns:p14="http://schemas.microsoft.com/office/powerpoint/2010/main" val="26234412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600200"/>
            <a:ext cx="8382000" cy="4525963"/>
          </a:xfrm>
        </p:spPr>
        <p:txBody>
          <a:bodyPr>
            <a:normAutofit/>
          </a:bodyPr>
          <a:lstStyle/>
          <a:p>
            <a:pPr marL="0" indent="0">
              <a:buNone/>
            </a:pPr>
            <a:r>
              <a:rPr lang="en-US" sz="3600" b="1" dirty="0"/>
              <a:t>The reversal agent sugammadex </a:t>
            </a:r>
            <a:r>
              <a:rPr lang="en-US" sz="3600" b="1" dirty="0" smtClean="0"/>
              <a:t> </a:t>
            </a:r>
            <a:r>
              <a:rPr lang="en-US" sz="3600" b="1" dirty="0"/>
              <a:t>selectively chelates rocuronium and reversal is possible from deeper levels of neuromuscular block than can be effected with the anticholinesterases</a:t>
            </a:r>
          </a:p>
        </p:txBody>
      </p:sp>
    </p:spTree>
    <p:extLst>
      <p:ext uri="{BB962C8B-B14F-4D97-AF65-F5344CB8AC3E}">
        <p14:creationId xmlns:p14="http://schemas.microsoft.com/office/powerpoint/2010/main" val="24406587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600200"/>
            <a:ext cx="8610600" cy="4525963"/>
          </a:xfrm>
        </p:spPr>
        <p:txBody>
          <a:bodyPr>
            <a:noAutofit/>
          </a:bodyPr>
          <a:lstStyle/>
          <a:p>
            <a:pPr marL="0" indent="0">
              <a:buNone/>
            </a:pPr>
            <a:r>
              <a:rPr lang="en-US" sz="3200" b="1" dirty="0" smtClean="0"/>
              <a:t>Enzymes</a:t>
            </a:r>
          </a:p>
          <a:p>
            <a:pPr marL="0" indent="0">
              <a:buNone/>
            </a:pPr>
            <a:r>
              <a:rPr lang="en-US" sz="3200" b="1" dirty="0"/>
              <a:t>most drugs that interact with enzymes are inhibitors. </a:t>
            </a:r>
            <a:r>
              <a:rPr lang="en-US" sz="3200" b="1" dirty="0" smtClean="0"/>
              <a:t>Enzyme inhibition </a:t>
            </a:r>
            <a:r>
              <a:rPr lang="en-US" sz="3200" b="1" dirty="0"/>
              <a:t>may be competitive (</a:t>
            </a:r>
            <a:r>
              <a:rPr lang="en-US" sz="3200" b="1" dirty="0" smtClean="0"/>
              <a:t>edrophonium/anticholinesterase),</a:t>
            </a:r>
          </a:p>
          <a:p>
            <a:pPr marL="0" indent="0">
              <a:buNone/>
            </a:pPr>
            <a:r>
              <a:rPr lang="en-US" sz="3200" b="1" dirty="0" smtClean="0"/>
              <a:t> </a:t>
            </a:r>
            <a:r>
              <a:rPr lang="en-US" sz="3200" b="1" dirty="0"/>
              <a:t>omeprazole for the Na+/H+ ATPase</a:t>
            </a:r>
            <a:r>
              <a:rPr lang="en-US" sz="3200" b="1" dirty="0" smtClean="0"/>
              <a:t>).</a:t>
            </a:r>
          </a:p>
          <a:p>
            <a:pPr marL="0" indent="0">
              <a:buNone/>
            </a:pPr>
            <a:r>
              <a:rPr lang="en-US" sz="3200" b="1" dirty="0" smtClean="0"/>
              <a:t>Angiotensin-converting </a:t>
            </a:r>
            <a:r>
              <a:rPr lang="en-US" sz="3200" b="1" dirty="0"/>
              <a:t>enzyme (ACE) inhibitors such as </a:t>
            </a:r>
            <a:r>
              <a:rPr lang="en-US" sz="3200" b="1" dirty="0" err="1"/>
              <a:t>ramipril</a:t>
            </a:r>
            <a:r>
              <a:rPr lang="en-US" sz="3200" b="1" dirty="0"/>
              <a:t> prevent the </a:t>
            </a:r>
            <a:r>
              <a:rPr lang="en-US" sz="3200" b="1" dirty="0" smtClean="0"/>
              <a:t>conversion </a:t>
            </a:r>
            <a:r>
              <a:rPr lang="en-US" sz="3200" b="1" dirty="0"/>
              <a:t>of angiotensin I </a:t>
            </a:r>
            <a:r>
              <a:rPr lang="en-US" sz="3200" b="1" dirty="0" smtClean="0"/>
              <a:t>to II.</a:t>
            </a:r>
            <a:endParaRPr lang="en-US" sz="3200" b="1" dirty="0"/>
          </a:p>
        </p:txBody>
      </p:sp>
    </p:spTree>
    <p:extLst>
      <p:ext uri="{BB962C8B-B14F-4D97-AF65-F5344CB8AC3E}">
        <p14:creationId xmlns:p14="http://schemas.microsoft.com/office/powerpoint/2010/main" val="33102703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755" t="14068" r="33157" b="25544"/>
          <a:stretch/>
        </p:blipFill>
        <p:spPr bwMode="auto">
          <a:xfrm>
            <a:off x="541440" y="533400"/>
            <a:ext cx="837396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38160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200" b="1" dirty="0"/>
              <a:t>Voltage-gated Ion </a:t>
            </a:r>
            <a:r>
              <a:rPr lang="en-US" sz="3200" b="1" dirty="0" smtClean="0"/>
              <a:t>Channels</a:t>
            </a:r>
          </a:p>
          <a:p>
            <a:pPr marL="0" indent="0">
              <a:buNone/>
            </a:pPr>
            <a:r>
              <a:rPr lang="en-US" sz="3200" b="1" dirty="0"/>
              <a:t>Several groups of drugs have specific blocking</a:t>
            </a:r>
          </a:p>
          <a:p>
            <a:pPr marL="0" indent="0">
              <a:buNone/>
            </a:pPr>
            <a:r>
              <a:rPr lang="en-US" sz="3200" b="1" dirty="0"/>
              <a:t>actions at these ion </a:t>
            </a:r>
            <a:r>
              <a:rPr lang="en-US" sz="3200" b="1" dirty="0" smtClean="0"/>
              <a:t>channels as L/anesthesia  </a:t>
            </a:r>
          </a:p>
          <a:p>
            <a:pPr marL="0" indent="0">
              <a:buNone/>
            </a:pPr>
            <a:r>
              <a:rPr lang="en-US" sz="3200" b="1" dirty="0" smtClean="0"/>
              <a:t> calcium channel </a:t>
            </a:r>
            <a:r>
              <a:rPr lang="en-US" sz="3200" b="1" dirty="0"/>
              <a:t>blocking agents act on vascular smooth muscle ion channels and </a:t>
            </a:r>
            <a:r>
              <a:rPr lang="en-US" sz="3200" b="1" dirty="0" smtClean="0"/>
              <a:t>anti-arrhythmic agents </a:t>
            </a:r>
            <a:r>
              <a:rPr lang="en-US" sz="3200" b="1" dirty="0"/>
              <a:t>block myocardial ion channel</a:t>
            </a:r>
          </a:p>
        </p:txBody>
      </p:sp>
    </p:spTree>
    <p:extLst>
      <p:ext uri="{BB962C8B-B14F-4D97-AF65-F5344CB8AC3E}">
        <p14:creationId xmlns:p14="http://schemas.microsoft.com/office/powerpoint/2010/main" val="13387107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200" b="1" dirty="0"/>
              <a:t>Receptors</a:t>
            </a:r>
          </a:p>
          <a:p>
            <a:pPr marL="0" indent="0">
              <a:buNone/>
            </a:pPr>
            <a:r>
              <a:rPr lang="en-US" sz="3200" b="1" dirty="0"/>
              <a:t>A receptor is a protein, often integral to a membrane, containing a region to which a </a:t>
            </a:r>
            <a:r>
              <a:rPr lang="en-US" sz="3200" b="1" dirty="0" smtClean="0"/>
              <a:t>natural ligand </a:t>
            </a:r>
            <a:r>
              <a:rPr lang="en-US" sz="3200" b="1" dirty="0"/>
              <a:t>binds specifically to bring about a response. </a:t>
            </a:r>
            <a:endParaRPr lang="en-US" sz="3200" b="1" dirty="0" smtClean="0"/>
          </a:p>
          <a:p>
            <a:pPr marL="0" indent="0">
              <a:buNone/>
            </a:pPr>
            <a:r>
              <a:rPr lang="en-US" sz="3200" b="1" dirty="0"/>
              <a:t>The drug effect is governed by the fraction of receptors that are occupied by an agonist..</a:t>
            </a:r>
          </a:p>
          <a:p>
            <a:pPr marL="0" indent="0">
              <a:buNone/>
            </a:pPr>
            <a:endParaRPr lang="en-US" sz="3200" b="1" dirty="0"/>
          </a:p>
        </p:txBody>
      </p:sp>
    </p:spTree>
    <p:extLst>
      <p:ext uri="{BB962C8B-B14F-4D97-AF65-F5344CB8AC3E}">
        <p14:creationId xmlns:p14="http://schemas.microsoft.com/office/powerpoint/2010/main" val="19073081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382000" cy="4525963"/>
          </a:xfrm>
        </p:spPr>
        <p:txBody>
          <a:bodyPr>
            <a:normAutofit/>
          </a:bodyPr>
          <a:lstStyle/>
          <a:p>
            <a:pPr marL="0" lvl="0" indent="0">
              <a:buClr>
                <a:srgbClr val="F4680B"/>
              </a:buClr>
              <a:buNone/>
            </a:pPr>
            <a:r>
              <a:rPr lang="en-US" sz="4000" b="1" dirty="0">
                <a:solidFill>
                  <a:srgbClr val="55554A"/>
                </a:solidFill>
              </a:rPr>
              <a:t>A drug acting at a receptor binds to a recognition site where it may elicit an effect (an </a:t>
            </a:r>
            <a:r>
              <a:rPr lang="en-US" sz="4000" b="1" i="1" dirty="0" smtClean="0">
                <a:solidFill>
                  <a:srgbClr val="FF0000"/>
                </a:solidFill>
              </a:rPr>
              <a:t>agonist).</a:t>
            </a:r>
          </a:p>
          <a:p>
            <a:pPr marL="0" lvl="0" indent="0">
              <a:buClr>
                <a:srgbClr val="F4680B"/>
              </a:buClr>
              <a:buNone/>
            </a:pPr>
            <a:r>
              <a:rPr lang="en-US" sz="4000" b="1" dirty="0">
                <a:solidFill>
                  <a:srgbClr val="55554A"/>
                </a:solidFill>
              </a:rPr>
              <a:t>Pharmacological </a:t>
            </a:r>
            <a:r>
              <a:rPr lang="en-US" sz="4000" b="1" i="1" dirty="0">
                <a:solidFill>
                  <a:srgbClr val="FF0000"/>
                </a:solidFill>
              </a:rPr>
              <a:t>antagonists</a:t>
            </a:r>
            <a:r>
              <a:rPr lang="en-US" sz="4000" b="1" dirty="0">
                <a:solidFill>
                  <a:srgbClr val="55554A"/>
                </a:solidFill>
              </a:rPr>
              <a:t> reverse the effects of the agonist but do not otherwise exert an effect of </a:t>
            </a:r>
            <a:r>
              <a:rPr lang="en-US" sz="4000" b="1" dirty="0" smtClean="0">
                <a:solidFill>
                  <a:srgbClr val="55554A"/>
                </a:solidFill>
              </a:rPr>
              <a:t>their own</a:t>
            </a:r>
            <a:r>
              <a:rPr lang="en-US" sz="4000" b="1" dirty="0">
                <a:solidFill>
                  <a:srgbClr val="55554A"/>
                </a:solidFill>
              </a:rPr>
              <a:t>.</a:t>
            </a:r>
          </a:p>
          <a:p>
            <a:pPr marL="0" lvl="0" indent="0">
              <a:buClr>
                <a:srgbClr val="F4680B"/>
              </a:buClr>
              <a:buNone/>
            </a:pPr>
            <a:endParaRPr lang="en-US" sz="4000" b="1" dirty="0">
              <a:solidFill>
                <a:srgbClr val="55554A"/>
              </a:solidFill>
            </a:endParaRPr>
          </a:p>
        </p:txBody>
      </p:sp>
    </p:spTree>
    <p:extLst>
      <p:ext uri="{BB962C8B-B14F-4D97-AF65-F5344CB8AC3E}">
        <p14:creationId xmlns:p14="http://schemas.microsoft.com/office/powerpoint/2010/main" val="26939954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600" b="1" dirty="0"/>
              <a:t>Receptor Agonism</a:t>
            </a:r>
          </a:p>
          <a:p>
            <a:pPr marL="0" indent="0">
              <a:buNone/>
            </a:pPr>
            <a:r>
              <a:rPr lang="en-US" sz="3600" b="1" dirty="0"/>
              <a:t>Full </a:t>
            </a:r>
            <a:r>
              <a:rPr lang="en-US" sz="3600" b="1" dirty="0" smtClean="0"/>
              <a:t>Agonists are </a:t>
            </a:r>
            <a:r>
              <a:rPr lang="en-US" sz="3600" b="1" dirty="0"/>
              <a:t>drugs able to generate a maximal response from a </a:t>
            </a:r>
            <a:r>
              <a:rPr lang="en-US" sz="3600" b="1" dirty="0" smtClean="0"/>
              <a:t>receptor.</a:t>
            </a:r>
          </a:p>
          <a:p>
            <a:pPr marL="0" indent="0">
              <a:buNone/>
            </a:pPr>
            <a:endParaRPr lang="en-US" sz="3600" b="1" dirty="0" smtClean="0"/>
          </a:p>
          <a:p>
            <a:pPr marL="0" indent="0">
              <a:buNone/>
            </a:pPr>
            <a:r>
              <a:rPr lang="en-US" sz="3600" b="1" dirty="0" smtClean="0"/>
              <a:t>The </a:t>
            </a:r>
            <a:r>
              <a:rPr lang="en-US" sz="3600" b="1" dirty="0"/>
              <a:t>ED50 </a:t>
            </a:r>
            <a:r>
              <a:rPr lang="en-US" sz="3600" b="1" dirty="0" smtClean="0"/>
              <a:t> is the </a:t>
            </a:r>
            <a:r>
              <a:rPr lang="en-US" sz="3600" b="1" dirty="0"/>
              <a:t>dose producing 50% of </a:t>
            </a:r>
            <a:r>
              <a:rPr lang="en-US" sz="3600" b="1" dirty="0" smtClean="0"/>
              <a:t>the </a:t>
            </a:r>
            <a:r>
              <a:rPr lang="en-US" sz="3600" b="1" dirty="0"/>
              <a:t>maximum </a:t>
            </a:r>
            <a:r>
              <a:rPr lang="en-US" sz="3600" b="1" dirty="0" smtClean="0"/>
              <a:t>response</a:t>
            </a:r>
            <a:r>
              <a:rPr lang="en-US" sz="3600" b="1" dirty="0"/>
              <a:t>. </a:t>
            </a:r>
            <a:r>
              <a:rPr lang="en-US" sz="3600" b="1" dirty="0" smtClean="0"/>
              <a:t>                           </a:t>
            </a:r>
            <a:endParaRPr lang="en-US" sz="3600" b="1" dirty="0"/>
          </a:p>
        </p:txBody>
      </p:sp>
    </p:spTree>
    <p:extLst>
      <p:ext uri="{BB962C8B-B14F-4D97-AF65-F5344CB8AC3E}">
        <p14:creationId xmlns:p14="http://schemas.microsoft.com/office/powerpoint/2010/main" val="20071485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600" b="1" dirty="0"/>
              <a:t>Partial Agonists</a:t>
            </a:r>
          </a:p>
          <a:p>
            <a:pPr marL="0" indent="0">
              <a:buNone/>
            </a:pPr>
            <a:r>
              <a:rPr lang="en-US" sz="3600" b="1" dirty="0" smtClean="0"/>
              <a:t> </a:t>
            </a:r>
            <a:r>
              <a:rPr lang="en-US" sz="3600" b="1" dirty="0"/>
              <a:t>I</a:t>
            </a:r>
            <a:r>
              <a:rPr lang="en-US" sz="3600" b="1" dirty="0" smtClean="0"/>
              <a:t>t </a:t>
            </a:r>
            <a:r>
              <a:rPr lang="en-US" sz="3600" b="1" dirty="0"/>
              <a:t>occupies receptors, </a:t>
            </a:r>
            <a:r>
              <a:rPr lang="en-US" sz="3600" b="1" dirty="0" smtClean="0"/>
              <a:t>but produces </a:t>
            </a:r>
            <a:r>
              <a:rPr lang="en-US" sz="3600" b="1" dirty="0"/>
              <a:t>a submaximal effect compared with the full </a:t>
            </a:r>
            <a:r>
              <a:rPr lang="en-US" sz="3600" b="1" dirty="0" smtClean="0"/>
              <a:t>agonis</a:t>
            </a:r>
          </a:p>
          <a:p>
            <a:pPr marL="0" indent="0">
              <a:buNone/>
            </a:pPr>
            <a:r>
              <a:rPr lang="en-US" sz="3600" b="1" dirty="0"/>
              <a:t>I</a:t>
            </a:r>
            <a:r>
              <a:rPr lang="en-US" sz="3600" b="1" dirty="0" smtClean="0"/>
              <a:t>nverse Agonists It </a:t>
            </a:r>
            <a:r>
              <a:rPr lang="en-US" sz="3600" b="1" dirty="0"/>
              <a:t>is possible for a drug to bind and exert an effect opposite to that of the </a:t>
            </a:r>
            <a:r>
              <a:rPr lang="en-US" sz="3600" b="1" dirty="0" smtClean="0"/>
              <a:t>endogenous agonist</a:t>
            </a:r>
            <a:r>
              <a:rPr lang="en-US" sz="3600" b="1" dirty="0"/>
              <a:t>. Such a drug is termed an </a:t>
            </a:r>
            <a:r>
              <a:rPr lang="en-US" sz="3600" b="1" i="1" dirty="0">
                <a:solidFill>
                  <a:srgbClr val="FF0000"/>
                </a:solidFill>
              </a:rPr>
              <a:t>inverse agonis</a:t>
            </a:r>
          </a:p>
        </p:txBody>
      </p:sp>
    </p:spTree>
    <p:extLst>
      <p:ext uri="{BB962C8B-B14F-4D97-AF65-F5344CB8AC3E}">
        <p14:creationId xmlns:p14="http://schemas.microsoft.com/office/powerpoint/2010/main" val="24268044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600200"/>
            <a:ext cx="8839200" cy="4525963"/>
          </a:xfrm>
        </p:spPr>
        <p:txBody>
          <a:bodyPr>
            <a:normAutofit/>
          </a:bodyPr>
          <a:lstStyle/>
          <a:p>
            <a:pPr marL="0" indent="0">
              <a:buNone/>
            </a:pPr>
            <a:r>
              <a:rPr lang="en-US" sz="3200" b="1" dirty="0"/>
              <a:t>Receptor Antagonism</a:t>
            </a:r>
          </a:p>
          <a:p>
            <a:pPr marL="0" indent="0">
              <a:buNone/>
            </a:pPr>
            <a:r>
              <a:rPr lang="en-US" sz="3200" b="1" dirty="0"/>
              <a:t>Antagonists exhibit affinity but no </a:t>
            </a:r>
            <a:r>
              <a:rPr lang="en-US" sz="3200" b="1" dirty="0" smtClean="0"/>
              <a:t>intrinsic activity.</a:t>
            </a:r>
            <a:endParaRPr lang="en-US" sz="3200" b="1" dirty="0"/>
          </a:p>
          <a:p>
            <a:pPr marL="0" indent="0">
              <a:buNone/>
            </a:pPr>
            <a:r>
              <a:rPr lang="en-US" sz="3200" b="1" dirty="0"/>
              <a:t>Reversible antagonists may either </a:t>
            </a:r>
            <a:r>
              <a:rPr lang="en-US" sz="3200" b="1" dirty="0" smtClean="0"/>
              <a:t>be competitive, noncompetitive.</a:t>
            </a:r>
          </a:p>
          <a:p>
            <a:pPr marL="0" indent="0">
              <a:buNone/>
            </a:pPr>
            <a:r>
              <a:rPr lang="en-US" sz="3200" b="1" dirty="0"/>
              <a:t>Examples of competitive inhibition </a:t>
            </a:r>
            <a:r>
              <a:rPr lang="en-US" sz="3200" b="1" dirty="0" smtClean="0"/>
              <a:t>include,</a:t>
            </a:r>
            <a:endParaRPr lang="en-US" sz="3200" b="1" dirty="0"/>
          </a:p>
          <a:p>
            <a:pPr marL="0" indent="0">
              <a:buNone/>
            </a:pPr>
            <a:r>
              <a:rPr lang="en-US" sz="3200" b="1" dirty="0"/>
              <a:t> </a:t>
            </a:r>
            <a:r>
              <a:rPr lang="el-GR" sz="3200" b="1" dirty="0"/>
              <a:t>β-</a:t>
            </a:r>
            <a:r>
              <a:rPr lang="en-US" sz="3200" b="1" dirty="0"/>
              <a:t>blockers competing with noradrenaline at </a:t>
            </a:r>
            <a:r>
              <a:rPr lang="el-GR" sz="3200" b="1" dirty="0"/>
              <a:t>β-</a:t>
            </a:r>
            <a:r>
              <a:rPr lang="en-US" sz="3200" b="1" dirty="0"/>
              <a:t>adrenergic receptor sites in the </a:t>
            </a:r>
            <a:r>
              <a:rPr lang="en-US" sz="3200" b="1" dirty="0" smtClean="0"/>
              <a:t>heart.</a:t>
            </a:r>
            <a:endParaRPr lang="en-US" sz="3200" b="1" dirty="0"/>
          </a:p>
          <a:p>
            <a:pPr marL="0" indent="0">
              <a:buNone/>
            </a:pPr>
            <a:endParaRPr lang="en-US" dirty="0"/>
          </a:p>
        </p:txBody>
      </p:sp>
    </p:spTree>
    <p:extLst>
      <p:ext uri="{BB962C8B-B14F-4D97-AF65-F5344CB8AC3E}">
        <p14:creationId xmlns:p14="http://schemas.microsoft.com/office/powerpoint/2010/main" val="30084061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600" b="1" dirty="0"/>
              <a:t>Irreversible</a:t>
            </a:r>
          </a:p>
          <a:p>
            <a:pPr marL="0" indent="0">
              <a:buNone/>
            </a:pPr>
            <a:r>
              <a:rPr lang="en-US" sz="3600" b="1" dirty="0" smtClean="0"/>
              <a:t>irreversible </a:t>
            </a:r>
            <a:r>
              <a:rPr lang="en-US" sz="3600" b="1" dirty="0"/>
              <a:t>actions on receptors. Phenoxybenzamine irreversibly binds to and </a:t>
            </a:r>
            <a:r>
              <a:rPr lang="en-US" sz="3600" b="1" dirty="0" err="1" smtClean="0"/>
              <a:t>antagonises</a:t>
            </a:r>
            <a:r>
              <a:rPr lang="en-US" sz="3600" b="1" dirty="0" smtClean="0"/>
              <a:t> the </a:t>
            </a:r>
            <a:r>
              <a:rPr lang="en-US" sz="3600" b="1" dirty="0"/>
              <a:t>effects of </a:t>
            </a:r>
            <a:r>
              <a:rPr lang="en-US" sz="3600" b="1" dirty="0" smtClean="0"/>
              <a:t>catecholamine's </a:t>
            </a:r>
            <a:r>
              <a:rPr lang="en-US" sz="3600" b="1" dirty="0"/>
              <a:t>at </a:t>
            </a:r>
            <a:r>
              <a:rPr lang="en-US" sz="3600" b="1" dirty="0" smtClean="0"/>
              <a:t>α-</a:t>
            </a:r>
            <a:r>
              <a:rPr lang="en-US" sz="3600" b="1" dirty="0" err="1" smtClean="0"/>
              <a:t>adrenoreceptors</a:t>
            </a:r>
            <a:r>
              <a:rPr lang="en-US" dirty="0"/>
              <a:t>.</a:t>
            </a:r>
          </a:p>
        </p:txBody>
      </p:sp>
    </p:spTree>
    <p:extLst>
      <p:ext uri="{BB962C8B-B14F-4D97-AF65-F5344CB8AC3E}">
        <p14:creationId xmlns:p14="http://schemas.microsoft.com/office/powerpoint/2010/main" val="11545189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200" b="1" dirty="0"/>
              <a:t>Spare Receptors</a:t>
            </a:r>
          </a:p>
          <a:p>
            <a:pPr marL="0" indent="0">
              <a:buNone/>
            </a:pPr>
            <a:r>
              <a:rPr lang="en-US" sz="3200" b="1" dirty="0"/>
              <a:t>The neuromuscular junction contains acetylcholine (ACh) receptors, which when </a:t>
            </a:r>
            <a:r>
              <a:rPr lang="en-US" sz="3200" b="1" dirty="0" smtClean="0"/>
              <a:t>occupied </a:t>
            </a:r>
            <a:r>
              <a:rPr lang="en-US" sz="3200" b="1" dirty="0"/>
              <a:t>by ACh cause </a:t>
            </a:r>
            <a:r>
              <a:rPr lang="en-US" sz="3200" b="1" dirty="0" smtClean="0"/>
              <a:t>depolarization </a:t>
            </a:r>
            <a:r>
              <a:rPr lang="en-US" sz="3200" b="1" dirty="0"/>
              <a:t>of the motor end plate. However, only a fraction of</a:t>
            </a:r>
          </a:p>
          <a:p>
            <a:pPr marL="0" indent="0">
              <a:buNone/>
            </a:pPr>
            <a:r>
              <a:rPr lang="en-US" sz="3200" b="1" dirty="0"/>
              <a:t>these receptors need to be occupied to produce a maximal pharmacological </a:t>
            </a:r>
            <a:r>
              <a:rPr lang="en-US" sz="3200" b="1" dirty="0" smtClean="0"/>
              <a:t>effect., spare receptor help in case of toxins.</a:t>
            </a:r>
            <a:endParaRPr lang="en-US" sz="3200" b="1" dirty="0"/>
          </a:p>
        </p:txBody>
      </p:sp>
    </p:spTree>
    <p:extLst>
      <p:ext uri="{BB962C8B-B14F-4D97-AF65-F5344CB8AC3E}">
        <p14:creationId xmlns:p14="http://schemas.microsoft.com/office/powerpoint/2010/main" val="30413330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4000" dirty="0" smtClean="0"/>
              <a:t>After </a:t>
            </a:r>
            <a:r>
              <a:rPr lang="en-US" sz="4000" dirty="0"/>
              <a:t>spinal cord injury nicotinic acetylcholine receptors are not stimulated by impulses in motor nerves and proliferate in denervated muscle. This can lead to exaggerated responses (including hyperkalemia) to </a:t>
            </a:r>
            <a:r>
              <a:rPr lang="en-US" sz="4000" dirty="0" smtClean="0"/>
              <a:t>succinylcholine.</a:t>
            </a:r>
            <a:endParaRPr lang="en-US" sz="4000" dirty="0"/>
          </a:p>
        </p:txBody>
      </p:sp>
    </p:spTree>
    <p:extLst>
      <p:ext uri="{BB962C8B-B14F-4D97-AF65-F5344CB8AC3E}">
        <p14:creationId xmlns:p14="http://schemas.microsoft.com/office/powerpoint/2010/main" val="2397210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3400" y="1600200"/>
            <a:ext cx="8153400" cy="4525963"/>
          </a:xfrm>
        </p:spPr>
        <p:txBody>
          <a:bodyPr>
            <a:noAutofit/>
          </a:bodyPr>
          <a:lstStyle/>
          <a:p>
            <a:pPr marL="0" indent="0">
              <a:buNone/>
            </a:pPr>
            <a:r>
              <a:rPr lang="en-US" sz="3200" b="1" i="1" dirty="0" err="1" smtClean="0">
                <a:solidFill>
                  <a:srgbClr val="FF0000"/>
                </a:solidFill>
              </a:rPr>
              <a:t>Tachyphylax</a:t>
            </a:r>
            <a:r>
              <a:rPr lang="en-US" sz="3200" b="1" i="1" dirty="0" smtClean="0">
                <a:solidFill>
                  <a:srgbClr val="FF0000"/>
                </a:solidFill>
              </a:rPr>
              <a:t> </a:t>
            </a:r>
            <a:r>
              <a:rPr lang="en-US" sz="3200" b="1" dirty="0" smtClean="0"/>
              <a:t>is </a:t>
            </a:r>
            <a:r>
              <a:rPr lang="en-US" sz="3200" b="1" dirty="0"/>
              <a:t>is defined as a rapid decrease in response to repeated doses over a short </a:t>
            </a:r>
            <a:r>
              <a:rPr lang="en-US" sz="3200" b="1" dirty="0" smtClean="0"/>
              <a:t>time period</a:t>
            </a:r>
            <a:r>
              <a:rPr lang="en-US" sz="3200" b="1" dirty="0"/>
              <a:t>. The most common mechanism is the decrease of stores of a transmitter before</a:t>
            </a:r>
          </a:p>
          <a:p>
            <a:pPr marL="0" indent="0">
              <a:buNone/>
            </a:pPr>
            <a:r>
              <a:rPr lang="en-US" sz="3200" dirty="0" smtClean="0">
                <a:solidFill>
                  <a:schemeClr val="tx1"/>
                </a:solidFill>
              </a:rPr>
              <a:t>Resynthesize </a:t>
            </a:r>
            <a:r>
              <a:rPr lang="en-US" sz="3200" b="1" dirty="0"/>
              <a:t>can take place. An example is the diminishing response to repeated doses </a:t>
            </a:r>
            <a:r>
              <a:rPr lang="en-US" sz="3200" b="1" dirty="0" smtClean="0"/>
              <a:t>of ephedrine</a:t>
            </a:r>
            <a:r>
              <a:rPr lang="en-US" sz="3200" b="1" dirty="0"/>
              <a:t>, an indirectly acting sympathomimetic amine, caused by the </a:t>
            </a:r>
            <a:r>
              <a:rPr lang="en-US" sz="3200" b="1" dirty="0" smtClean="0"/>
              <a:t>depletion of noradrenaline</a:t>
            </a:r>
            <a:endParaRPr lang="en-US" sz="3200" b="1" dirty="0"/>
          </a:p>
        </p:txBody>
      </p:sp>
    </p:spTree>
    <p:extLst>
      <p:ext uri="{BB962C8B-B14F-4D97-AF65-F5344CB8AC3E}">
        <p14:creationId xmlns:p14="http://schemas.microsoft.com/office/powerpoint/2010/main" val="20823567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marL="0" indent="0">
              <a:buNone/>
            </a:pPr>
            <a:endParaRPr lang="en-US" dirty="0"/>
          </a:p>
          <a:p>
            <a:pPr marL="0" indent="0">
              <a:buNone/>
            </a:pPr>
            <a:r>
              <a:rPr lang="en-US" sz="6400" b="1" i="1" dirty="0" smtClean="0">
                <a:solidFill>
                  <a:srgbClr val="FF0000"/>
                </a:solidFill>
              </a:rPr>
              <a:t>Tolerance  </a:t>
            </a:r>
            <a:r>
              <a:rPr lang="en-US" sz="6400" b="1" dirty="0" smtClean="0"/>
              <a:t>refers </a:t>
            </a:r>
            <a:r>
              <a:rPr lang="en-US" sz="6400" b="1" dirty="0"/>
              <a:t>to the phenomenon whereby larger doses are required to produce the </a:t>
            </a:r>
            <a:r>
              <a:rPr lang="en-US" sz="6400" b="1" dirty="0" smtClean="0"/>
              <a:t>same pharmacological </a:t>
            </a:r>
            <a:r>
              <a:rPr lang="en-US" sz="6400" b="1" dirty="0"/>
              <a:t>effect, such as occurs in chronic opioid use or abuse. This reflects an </a:t>
            </a:r>
            <a:r>
              <a:rPr lang="en-US" sz="6400" b="1" dirty="0" smtClean="0"/>
              <a:t>altered Drug </a:t>
            </a:r>
            <a:r>
              <a:rPr lang="en-US" sz="6400" b="1" dirty="0"/>
              <a:t>Action </a:t>
            </a:r>
            <a:r>
              <a:rPr lang="en-US" sz="6400" b="1" dirty="0" smtClean="0"/>
              <a:t>sensitivity </a:t>
            </a:r>
            <a:r>
              <a:rPr lang="en-US" sz="6400" b="1" dirty="0"/>
              <a:t>of the receptors of the CNS to opioids – the mechanism may be a reduction </a:t>
            </a:r>
            <a:r>
              <a:rPr lang="en-US" sz="6400" b="1" dirty="0" smtClean="0"/>
              <a:t>of receptor </a:t>
            </a:r>
            <a:r>
              <a:rPr lang="en-US" sz="6400" b="1" dirty="0"/>
              <a:t>density or a reduction of receptor affinity</a:t>
            </a:r>
          </a:p>
        </p:txBody>
      </p:sp>
    </p:spTree>
    <p:extLst>
      <p:ext uri="{BB962C8B-B14F-4D97-AF65-F5344CB8AC3E}">
        <p14:creationId xmlns:p14="http://schemas.microsoft.com/office/powerpoint/2010/main" val="15308624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600200"/>
            <a:ext cx="8458200" cy="4525963"/>
          </a:xfrm>
        </p:spPr>
        <p:txBody>
          <a:bodyPr>
            <a:noAutofit/>
          </a:bodyPr>
          <a:lstStyle/>
          <a:p>
            <a:pPr marL="0" lvl="0" indent="0">
              <a:buClr>
                <a:srgbClr val="F4680B"/>
              </a:buClr>
              <a:buNone/>
            </a:pPr>
            <a:r>
              <a:rPr lang="en-US" sz="3200" b="1" i="1" dirty="0" smtClean="0">
                <a:solidFill>
                  <a:srgbClr val="FF0000"/>
                </a:solidFill>
              </a:rPr>
              <a:t>Desensitization  </a:t>
            </a:r>
            <a:r>
              <a:rPr lang="en-US" sz="3200" b="1" dirty="0">
                <a:solidFill>
                  <a:srgbClr val="55554A"/>
                </a:solidFill>
              </a:rPr>
              <a:t>refers to a chronic loss of response over a longer period and may be caused by a structural change in receptor morphology or by an absolute loss of receptor numbers</a:t>
            </a:r>
            <a:r>
              <a:rPr lang="en-US" sz="3200" b="1" dirty="0" smtClean="0">
                <a:solidFill>
                  <a:srgbClr val="55554A"/>
                </a:solidFill>
              </a:rPr>
              <a:t>.</a:t>
            </a:r>
            <a:endParaRPr lang="en-US" sz="3200" b="1" dirty="0">
              <a:solidFill>
                <a:srgbClr val="55554A"/>
              </a:solidFill>
            </a:endParaRPr>
          </a:p>
          <a:p>
            <a:pPr marL="0" indent="0">
              <a:buNone/>
            </a:pPr>
            <a:r>
              <a:rPr lang="en-US" sz="3200" b="1" i="1" dirty="0" smtClean="0">
                <a:solidFill>
                  <a:srgbClr val="FF0000"/>
                </a:solidFill>
              </a:rPr>
              <a:t>Drug Interaction</a:t>
            </a:r>
            <a:r>
              <a:rPr lang="en-US" sz="3200" b="1" dirty="0" smtClean="0"/>
              <a:t>-occur </a:t>
            </a:r>
            <a:r>
              <a:rPr lang="en-US" sz="3200" b="1" dirty="0"/>
              <a:t>when one drug modifies the action of another. insulin may be denatured if prepared in solutions of dextrose and may, therefore, lose its pharmacological effect</a:t>
            </a:r>
            <a:r>
              <a:rPr lang="en-US" sz="3200" dirty="0"/>
              <a:t>.</a:t>
            </a:r>
          </a:p>
        </p:txBody>
      </p:sp>
    </p:spTree>
    <p:extLst>
      <p:ext uri="{BB962C8B-B14F-4D97-AF65-F5344CB8AC3E}">
        <p14:creationId xmlns:p14="http://schemas.microsoft.com/office/powerpoint/2010/main" val="21416803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1000" y="1447800"/>
            <a:ext cx="8305800" cy="4678363"/>
          </a:xfrm>
        </p:spPr>
        <p:txBody>
          <a:bodyPr>
            <a:noAutofit/>
          </a:bodyPr>
          <a:lstStyle/>
          <a:p>
            <a:pPr>
              <a:buBlip>
                <a:blip r:embed="rId2"/>
              </a:buBlip>
            </a:pPr>
            <a:r>
              <a:rPr lang="en-US" sz="3200" b="1" dirty="0" smtClean="0"/>
              <a:t>Drugs </a:t>
            </a:r>
            <a:r>
              <a:rPr lang="en-US" sz="3200" b="1" dirty="0"/>
              <a:t>that decrease cardiac output (such as β-blockers) </a:t>
            </a:r>
            <a:r>
              <a:rPr lang="en-US" sz="3200" b="1" dirty="0">
                <a:latin typeface="Times New Roman"/>
                <a:cs typeface="Times New Roman"/>
              </a:rPr>
              <a:t>↓</a:t>
            </a:r>
            <a:r>
              <a:rPr lang="en-US" sz="3200" b="1" dirty="0" smtClean="0"/>
              <a:t>the </a:t>
            </a:r>
            <a:r>
              <a:rPr lang="en-US" sz="3200" b="1" dirty="0"/>
              <a:t>flow of </a:t>
            </a:r>
            <a:r>
              <a:rPr lang="en-US" sz="3200" b="1" dirty="0" smtClean="0"/>
              <a:t>blood carrying </a:t>
            </a:r>
            <a:r>
              <a:rPr lang="en-US" sz="3200" b="1" dirty="0"/>
              <a:t>absorbed drug to its site of action. </a:t>
            </a:r>
            <a:r>
              <a:rPr lang="en-US" sz="3200" b="1" dirty="0" smtClean="0"/>
              <a:t>E.g</a:t>
            </a:r>
            <a:r>
              <a:rPr lang="en-US" sz="3200" b="1" dirty="0" smtClean="0"/>
              <a:t>. </a:t>
            </a:r>
            <a:r>
              <a:rPr lang="en-US" sz="3200" b="1" dirty="0" smtClean="0"/>
              <a:t>Fasciculation </a:t>
            </a:r>
          </a:p>
          <a:p>
            <a:pPr>
              <a:buBlip>
                <a:blip r:embed="rId2"/>
              </a:buBlip>
            </a:pPr>
            <a:r>
              <a:rPr lang="en-US" sz="3200" b="1" dirty="0"/>
              <a:t>One common direct interaction that may be overlooked is that between phenylephrine and α1-adrenergic blockers used for the treatment of benign prostatic </a:t>
            </a:r>
            <a:r>
              <a:rPr lang="en-US" sz="3200" b="1" dirty="0" smtClean="0"/>
              <a:t>hyperplasia.</a:t>
            </a:r>
          </a:p>
          <a:p>
            <a:pPr marL="0" indent="0">
              <a:buNone/>
            </a:pPr>
            <a:r>
              <a:rPr lang="en-US" sz="3200" b="1" dirty="0" smtClean="0"/>
              <a:t>No respond to anesthesia related </a:t>
            </a:r>
            <a:r>
              <a:rPr lang="en-US" sz="3200" b="1" dirty="0" smtClean="0">
                <a:latin typeface="Times New Roman"/>
                <a:cs typeface="Times New Roman"/>
              </a:rPr>
              <a:t>↓ B/P  by phenylephrine</a:t>
            </a:r>
            <a:endParaRPr lang="en-US" sz="3200" b="1" dirty="0"/>
          </a:p>
        </p:txBody>
      </p:sp>
    </p:spTree>
    <p:extLst>
      <p:ext uri="{BB962C8B-B14F-4D97-AF65-F5344CB8AC3E}">
        <p14:creationId xmlns:p14="http://schemas.microsoft.com/office/powerpoint/2010/main" val="36320286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3600" b="1" dirty="0"/>
              <a:t>The interaction between monoamine oxidase inhibitors (MAOI) and pethidine </a:t>
            </a:r>
            <a:r>
              <a:rPr lang="en-US" sz="3600" b="1" dirty="0" smtClean="0"/>
              <a:t>is a </a:t>
            </a:r>
            <a:r>
              <a:rPr lang="en-US" sz="3600" b="1" dirty="0"/>
              <a:t>classic example of </a:t>
            </a:r>
            <a:r>
              <a:rPr lang="en-US" sz="3600" b="1" dirty="0" smtClean="0"/>
              <a:t>an </a:t>
            </a:r>
            <a:r>
              <a:rPr lang="en-US" sz="3600" b="1" dirty="0"/>
              <a:t>interaction. The increase in noradrenaline caused </a:t>
            </a:r>
            <a:r>
              <a:rPr lang="en-US" sz="3600" b="1" dirty="0" smtClean="0"/>
              <a:t>by MAOIs </a:t>
            </a:r>
            <a:r>
              <a:rPr lang="en-US" sz="3600" b="1" dirty="0"/>
              <a:t>is potentiated when re-uptake is inhibited by pethidine. </a:t>
            </a:r>
            <a:endParaRPr lang="en-US" sz="3600" b="1" dirty="0" smtClean="0"/>
          </a:p>
        </p:txBody>
      </p:sp>
    </p:spTree>
    <p:extLst>
      <p:ext uri="{BB962C8B-B14F-4D97-AF65-F5344CB8AC3E}">
        <p14:creationId xmlns:p14="http://schemas.microsoft.com/office/powerpoint/2010/main" val="25671663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3200" b="1" i="1" dirty="0">
                <a:solidFill>
                  <a:srgbClr val="FF0000"/>
                </a:solidFill>
              </a:rPr>
              <a:t>Summation</a:t>
            </a:r>
          </a:p>
          <a:p>
            <a:pPr marL="0" indent="0">
              <a:buNone/>
            </a:pPr>
            <a:r>
              <a:rPr lang="en-US" sz="3200" b="1" dirty="0"/>
              <a:t>Summation refers to the action of the two drugs being additive, with each drug having an</a:t>
            </a:r>
          </a:p>
          <a:p>
            <a:pPr marL="0" indent="0">
              <a:buNone/>
            </a:pPr>
            <a:r>
              <a:rPr lang="en-US" sz="3200" b="1" dirty="0"/>
              <a:t>independent action in the absence of the other. Therefore, the co-administration of </a:t>
            </a:r>
            <a:r>
              <a:rPr lang="en-US" sz="3200" b="1" dirty="0" smtClean="0"/>
              <a:t>midazolam </a:t>
            </a:r>
            <a:r>
              <a:rPr lang="en-US" sz="3200" b="1" dirty="0"/>
              <a:t>and propofol at the induction of anaesthesia reduces the amount of </a:t>
            </a:r>
            <a:r>
              <a:rPr lang="en-US" sz="3200" b="1" dirty="0" smtClean="0"/>
              <a:t>propofol</a:t>
            </a:r>
            <a:r>
              <a:rPr lang="en-US" sz="3200" b="1" dirty="0"/>
              <a:t> </a:t>
            </a:r>
            <a:r>
              <a:rPr lang="en-US" sz="3200" b="1" dirty="0" smtClean="0"/>
              <a:t>necessary </a:t>
            </a:r>
            <a:r>
              <a:rPr lang="en-US" sz="3200" b="1" dirty="0"/>
              <a:t>for the same </a:t>
            </a:r>
            <a:r>
              <a:rPr lang="en-US" sz="3200" b="1" dirty="0" smtClean="0"/>
              <a:t>an aesthetic </a:t>
            </a:r>
            <a:r>
              <a:rPr lang="en-US" sz="3200" b="1" dirty="0"/>
              <a:t>effect.</a:t>
            </a:r>
          </a:p>
        </p:txBody>
      </p:sp>
    </p:spTree>
    <p:extLst>
      <p:ext uri="{BB962C8B-B14F-4D97-AF65-F5344CB8AC3E}">
        <p14:creationId xmlns:p14="http://schemas.microsoft.com/office/powerpoint/2010/main" val="19378024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200" b="1" i="1" dirty="0">
                <a:solidFill>
                  <a:srgbClr val="FF0000"/>
                </a:solidFill>
              </a:rPr>
              <a:t>Potentiation</a:t>
            </a:r>
          </a:p>
          <a:p>
            <a:pPr marL="0" indent="0">
              <a:buNone/>
            </a:pPr>
            <a:r>
              <a:rPr lang="en-US" sz="3200" b="1" dirty="0"/>
              <a:t>Potentiation results from an interaction between two drugs in which one drug has </a:t>
            </a:r>
            <a:r>
              <a:rPr lang="en-US" sz="3200" b="1" dirty="0" smtClean="0"/>
              <a:t>no independent </a:t>
            </a:r>
            <a:r>
              <a:rPr lang="en-US" sz="3200" b="1" dirty="0"/>
              <a:t>action of its own, yet their combined effect is greater than that of </a:t>
            </a:r>
            <a:r>
              <a:rPr lang="en-US" sz="3200" b="1" dirty="0" smtClean="0"/>
              <a:t>the active </a:t>
            </a:r>
            <a:r>
              <a:rPr lang="en-US" sz="3200" b="1" dirty="0"/>
              <a:t>drug alone. </a:t>
            </a:r>
            <a:r>
              <a:rPr lang="en-US" sz="3200" b="1" dirty="0" smtClean="0"/>
              <a:t>Ex. </a:t>
            </a:r>
            <a:r>
              <a:rPr lang="en-US" sz="3200" b="1" dirty="0"/>
              <a:t>probenecid reduces the renal excretion of </a:t>
            </a:r>
            <a:r>
              <a:rPr lang="en-US" sz="3200" b="1" dirty="0" smtClean="0"/>
              <a:t>penicillin, such </a:t>
            </a:r>
            <a:r>
              <a:rPr lang="en-US" sz="3200" b="1" dirty="0"/>
              <a:t>that the effect of a dose of penicillin is enhanced without itself having </a:t>
            </a:r>
            <a:r>
              <a:rPr lang="en-US" sz="3200" b="1" dirty="0" smtClean="0"/>
              <a:t>antibiotic activity</a:t>
            </a:r>
            <a:r>
              <a:rPr lang="en-US" sz="3200" b="1" dirty="0"/>
              <a:t>.</a:t>
            </a:r>
          </a:p>
        </p:txBody>
      </p:sp>
    </p:spTree>
    <p:extLst>
      <p:ext uri="{BB962C8B-B14F-4D97-AF65-F5344CB8AC3E}">
        <p14:creationId xmlns:p14="http://schemas.microsoft.com/office/powerpoint/2010/main" val="31368279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0" indent="0">
              <a:buNone/>
            </a:pPr>
            <a:r>
              <a:rPr lang="en-US" sz="3600" b="1" i="1" dirty="0">
                <a:solidFill>
                  <a:srgbClr val="FF0000"/>
                </a:solidFill>
              </a:rPr>
              <a:t>Synergism</a:t>
            </a:r>
          </a:p>
          <a:p>
            <a:pPr marL="0" indent="0">
              <a:buNone/>
            </a:pPr>
            <a:r>
              <a:rPr lang="en-US" sz="3600" b="1" dirty="0"/>
              <a:t>Synergy occurs when the combined action of two drugs is greater than would be </a:t>
            </a:r>
            <a:r>
              <a:rPr lang="en-US" sz="3600" b="1" dirty="0" smtClean="0"/>
              <a:t>expected from </a:t>
            </a:r>
            <a:r>
              <a:rPr lang="en-US" sz="3600" b="1" dirty="0"/>
              <a:t>purely an additive effect. Often this is because the drugs exert similar effects, </a:t>
            </a:r>
            <a:r>
              <a:rPr lang="en-US" sz="3600" b="1" dirty="0" smtClean="0"/>
              <a:t>but through </a:t>
            </a:r>
            <a:r>
              <a:rPr lang="en-US" sz="3600" b="1" dirty="0"/>
              <a:t>different mechanisms. Propofol and </a:t>
            </a:r>
            <a:r>
              <a:rPr lang="en-US" sz="3600" b="1" dirty="0" err="1"/>
              <a:t>remifentanil</a:t>
            </a:r>
            <a:r>
              <a:rPr lang="en-US" sz="3600" b="1" dirty="0"/>
              <a:t> act synergistically when used </a:t>
            </a:r>
            <a:r>
              <a:rPr lang="en-US" sz="3600" b="1" dirty="0" smtClean="0"/>
              <a:t>to maintain </a:t>
            </a:r>
            <a:r>
              <a:rPr lang="en-US" sz="3600" b="1" dirty="0"/>
              <a:t>anaesthesia</a:t>
            </a:r>
            <a:r>
              <a:rPr lang="en-US" dirty="0"/>
              <a:t>.</a:t>
            </a:r>
          </a:p>
        </p:txBody>
      </p:sp>
    </p:spTree>
    <p:extLst>
      <p:ext uri="{BB962C8B-B14F-4D97-AF65-F5344CB8AC3E}">
        <p14:creationId xmlns:p14="http://schemas.microsoft.com/office/powerpoint/2010/main" val="5510943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Measurement of Pharmacokinetic Parameters</a:t>
            </a:r>
          </a:p>
        </p:txBody>
      </p:sp>
      <p:sp>
        <p:nvSpPr>
          <p:cNvPr id="3" name="Content Placeholder 2"/>
          <p:cNvSpPr>
            <a:spLocks noGrp="1"/>
          </p:cNvSpPr>
          <p:nvPr>
            <p:ph idx="1"/>
          </p:nvPr>
        </p:nvSpPr>
        <p:spPr/>
        <p:txBody>
          <a:bodyPr>
            <a:noAutofit/>
          </a:bodyPr>
          <a:lstStyle/>
          <a:p>
            <a:pPr marL="0" indent="0">
              <a:buNone/>
            </a:pPr>
            <a:r>
              <a:rPr lang="en-US" sz="3600" b="1" i="1" dirty="0">
                <a:solidFill>
                  <a:srgbClr val="FF0000"/>
                </a:solidFill>
              </a:rPr>
              <a:t>Volume of Distribution</a:t>
            </a:r>
          </a:p>
          <a:p>
            <a:pPr marL="0" indent="0">
              <a:buNone/>
            </a:pPr>
            <a:r>
              <a:rPr lang="en-US" sz="3600" b="1" dirty="0"/>
              <a:t>Volume of distribution (</a:t>
            </a:r>
            <a:r>
              <a:rPr lang="en-US" sz="3600" b="1" dirty="0" err="1"/>
              <a:t>Vd</a:t>
            </a:r>
            <a:r>
              <a:rPr lang="en-US" sz="3600" b="1" dirty="0"/>
              <a:t>) is defined as the apparent volume into which a drug </a:t>
            </a:r>
            <a:r>
              <a:rPr lang="en-US" sz="3600" b="1" dirty="0" smtClean="0"/>
              <a:t>disperses in </a:t>
            </a:r>
            <a:r>
              <a:rPr lang="en-US" sz="3600" b="1" dirty="0"/>
              <a:t>order to produce the observed plasma concentration. </a:t>
            </a:r>
          </a:p>
        </p:txBody>
      </p:sp>
    </p:spTree>
    <p:extLst>
      <p:ext uri="{BB962C8B-B14F-4D97-AF65-F5344CB8AC3E}">
        <p14:creationId xmlns:p14="http://schemas.microsoft.com/office/powerpoint/2010/main" val="22788093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PHARMACODYNAMICS</a:t>
            </a:r>
          </a:p>
        </p:txBody>
      </p:sp>
      <p:sp>
        <p:nvSpPr>
          <p:cNvPr id="3" name="Content Placeholder 2"/>
          <p:cNvSpPr>
            <a:spLocks noGrp="1"/>
          </p:cNvSpPr>
          <p:nvPr>
            <p:ph idx="1"/>
          </p:nvPr>
        </p:nvSpPr>
        <p:spPr>
          <a:xfrm>
            <a:off x="381000" y="2057400"/>
            <a:ext cx="8305800" cy="4068763"/>
          </a:xfrm>
        </p:spPr>
        <p:txBody>
          <a:bodyPr>
            <a:normAutofit fontScale="85000" lnSpcReduction="10000"/>
          </a:bodyPr>
          <a:lstStyle/>
          <a:p>
            <a:pPr marL="0" indent="0">
              <a:buNone/>
            </a:pPr>
            <a:r>
              <a:rPr lang="en-US" sz="3600" b="1" dirty="0" smtClean="0"/>
              <a:t>Pharmacodynamics</a:t>
            </a:r>
            <a:r>
              <a:rPr lang="en-US" sz="3600" b="1" dirty="0"/>
              <a:t>, the study of how drugs </a:t>
            </a:r>
            <a:r>
              <a:rPr lang="en-US" sz="3600" b="1" dirty="0" smtClean="0"/>
              <a:t>affect  the </a:t>
            </a:r>
            <a:r>
              <a:rPr lang="en-US" sz="3600" b="1" dirty="0"/>
              <a:t>body, involves the concepts of potency, </a:t>
            </a:r>
            <a:r>
              <a:rPr lang="en-US" sz="3600" b="1" dirty="0" smtClean="0"/>
              <a:t>efficacy</a:t>
            </a:r>
            <a:r>
              <a:rPr lang="en-US" sz="3600" b="1" dirty="0"/>
              <a:t>, </a:t>
            </a:r>
            <a:r>
              <a:rPr lang="en-US" sz="3600" b="1" dirty="0" smtClean="0"/>
              <a:t>and </a:t>
            </a:r>
            <a:r>
              <a:rPr lang="en-US" sz="3600" b="1" dirty="0"/>
              <a:t>therapeutic window. </a:t>
            </a:r>
            <a:endParaRPr lang="en-US" sz="3600" b="1" dirty="0" smtClean="0"/>
          </a:p>
          <a:p>
            <a:pPr marL="0" indent="0">
              <a:buNone/>
            </a:pPr>
            <a:r>
              <a:rPr lang="en-US" sz="3600" b="1" dirty="0" smtClean="0"/>
              <a:t>                                                                                    The fundamental pharmacodynamics </a:t>
            </a:r>
            <a:r>
              <a:rPr lang="en-US" sz="3600" b="1" dirty="0"/>
              <a:t>concepts are captured in the relationship between exposure </a:t>
            </a:r>
            <a:r>
              <a:rPr lang="en-US" sz="3600" b="1" dirty="0" smtClean="0"/>
              <a:t>to a </a:t>
            </a:r>
            <a:r>
              <a:rPr lang="en-US" sz="3600" b="1" dirty="0"/>
              <a:t>drug and physiological response to the drug, often called the </a:t>
            </a:r>
            <a:r>
              <a:rPr lang="en-US" sz="3600" b="1" i="1" dirty="0">
                <a:solidFill>
                  <a:srgbClr val="FF0000"/>
                </a:solidFill>
              </a:rPr>
              <a:t>dose–response </a:t>
            </a:r>
            <a:r>
              <a:rPr lang="en-US" sz="3600" b="1" i="1" dirty="0" smtClean="0">
                <a:solidFill>
                  <a:srgbClr val="FF0000"/>
                </a:solidFill>
              </a:rPr>
              <a:t>or concentration–response </a:t>
            </a:r>
            <a:r>
              <a:rPr lang="en-US" sz="3600" b="1" i="1" dirty="0">
                <a:solidFill>
                  <a:srgbClr val="FF0000"/>
                </a:solidFill>
              </a:rPr>
              <a:t>relationship</a:t>
            </a:r>
            <a:r>
              <a:rPr lang="en-US" sz="3600" b="1" dirty="0"/>
              <a:t>.</a:t>
            </a:r>
          </a:p>
        </p:txBody>
      </p:sp>
    </p:spTree>
    <p:extLst>
      <p:ext uri="{BB962C8B-B14F-4D97-AF65-F5344CB8AC3E}">
        <p14:creationId xmlns:p14="http://schemas.microsoft.com/office/powerpoint/2010/main" val="4740013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sz="half" idx="1"/>
          </p:nvPr>
        </p:nvSpPr>
        <p:spPr/>
        <p:txBody>
          <a:bodyPr/>
          <a:lstStyle/>
          <a:p>
            <a:pPr marL="0" indent="0">
              <a:buNone/>
            </a:pPr>
            <a:endParaRPr lang="en-US" dirty="0"/>
          </a:p>
        </p:txBody>
      </p:sp>
      <p:sp>
        <p:nvSpPr>
          <p:cNvPr id="6" name="Content Placeholder 5"/>
          <p:cNvSpPr>
            <a:spLocks noGrp="1"/>
          </p:cNvSpPr>
          <p:nvPr>
            <p:ph sz="half" idx="2"/>
          </p:nvPr>
        </p:nvSpPr>
        <p:spPr>
          <a:xfrm>
            <a:off x="4648200" y="1600200"/>
            <a:ext cx="4267200" cy="4525963"/>
          </a:xfrm>
        </p:spPr>
        <p:txBody>
          <a:bodyPr>
            <a:noAutofit/>
          </a:bodyPr>
          <a:lstStyle/>
          <a:p>
            <a:pPr marL="0" indent="0">
              <a:buNone/>
            </a:pPr>
            <a:r>
              <a:rPr lang="en-US" sz="3600" b="1" dirty="0"/>
              <a:t>As the body is exposed to an </a:t>
            </a:r>
            <a:r>
              <a:rPr lang="en-US" sz="3600" b="1" dirty="0" smtClean="0">
                <a:sym typeface="Symbol"/>
              </a:rPr>
              <a:t></a:t>
            </a:r>
            <a:r>
              <a:rPr lang="en-US" sz="3600" b="1" dirty="0" smtClean="0"/>
              <a:t> </a:t>
            </a:r>
            <a:r>
              <a:rPr lang="en-US" sz="3600" b="1" dirty="0"/>
              <a:t>amount of a drug, the response to </a:t>
            </a:r>
            <a:r>
              <a:rPr lang="en-US" sz="3600" b="1" dirty="0" smtClean="0"/>
              <a:t>the</a:t>
            </a:r>
            <a:r>
              <a:rPr lang="en-US" sz="3600" b="1" dirty="0"/>
              <a:t> </a:t>
            </a:r>
            <a:r>
              <a:rPr lang="en-US" sz="3600" b="1" dirty="0" smtClean="0"/>
              <a:t>drug </a:t>
            </a:r>
            <a:r>
              <a:rPr lang="en-US" sz="3600" b="1" dirty="0"/>
              <a:t>similarly increases, typically up to a maximal value</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435" t="10724" r="22334" b="27327"/>
          <a:stretch/>
        </p:blipFill>
        <p:spPr bwMode="auto">
          <a:xfrm>
            <a:off x="152401" y="1600200"/>
            <a:ext cx="4238252" cy="4064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32439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catur">
  <a:themeElements>
    <a:clrScheme name="Decatur">
      <a:dk1>
        <a:sysClr val="windowText" lastClr="000000"/>
      </a:dk1>
      <a:lt1>
        <a:sysClr val="window" lastClr="FFFFFF"/>
      </a:lt1>
      <a:dk2>
        <a:srgbClr val="55554A"/>
      </a:dk2>
      <a:lt2>
        <a:srgbClr val="D7DAE1"/>
      </a:lt2>
      <a:accent1>
        <a:srgbClr val="F4680B"/>
      </a:accent1>
      <a:accent2>
        <a:srgbClr val="ABB19F"/>
      </a:accent2>
      <a:accent3>
        <a:srgbClr val="948774"/>
      </a:accent3>
      <a:accent4>
        <a:srgbClr val="7EB8E7"/>
      </a:accent4>
      <a:accent5>
        <a:srgbClr val="E3B651"/>
      </a:accent5>
      <a:accent6>
        <a:srgbClr val="96756C"/>
      </a:accent6>
      <a:hlink>
        <a:srgbClr val="66AACD"/>
      </a:hlink>
      <a:folHlink>
        <a:srgbClr val="809DB3"/>
      </a:folHlink>
    </a:clrScheme>
    <a:fontScheme name="Decatur">
      <a:majorFont>
        <a:latin typeface="Bodoni MT Condensed"/>
        <a:ea typeface=""/>
        <a:cs typeface=""/>
        <a:font script="Grek" typeface="Times New Roman"/>
        <a:font script="Cyrl" typeface="Times New Roman"/>
        <a:font script="Jpan" typeface="HG明朝E"/>
        <a:font script="Hang" typeface="HY목각파임B"/>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atur">
      <a:fillStyleLst>
        <a:solidFill>
          <a:schemeClr val="phClr"/>
        </a:solidFill>
        <a:gradFill rotWithShape="1">
          <a:gsLst>
            <a:gs pos="0">
              <a:schemeClr val="phClr">
                <a:tint val="90000"/>
                <a:satMod val="110000"/>
              </a:schemeClr>
            </a:gs>
            <a:gs pos="47500">
              <a:schemeClr val="phClr">
                <a:tint val="53000"/>
                <a:satMod val="120000"/>
              </a:schemeClr>
            </a:gs>
            <a:gs pos="58500">
              <a:schemeClr val="phClr">
                <a:tint val="53000"/>
                <a:satMod val="120000"/>
              </a:schemeClr>
            </a:gs>
            <a:gs pos="100000">
              <a:schemeClr val="phClr">
                <a:tint val="90000"/>
                <a:satMod val="110000"/>
              </a:schemeClr>
            </a:gs>
          </a:gsLst>
          <a:lin ang="3600000" scaled="1"/>
        </a:gradFill>
        <a:gradFill rotWithShape="1">
          <a:gsLst>
            <a:gs pos="0">
              <a:schemeClr val="phClr">
                <a:shade val="54000"/>
                <a:satMod val="105000"/>
              </a:schemeClr>
            </a:gs>
            <a:gs pos="47500">
              <a:schemeClr val="phClr">
                <a:shade val="88000"/>
                <a:satMod val="105000"/>
              </a:schemeClr>
            </a:gs>
            <a:gs pos="58500">
              <a:schemeClr val="phClr">
                <a:shade val="88000"/>
                <a:satMod val="105000"/>
              </a:schemeClr>
            </a:gs>
            <a:gs pos="100000">
              <a:schemeClr val="phClr">
                <a:shade val="54000"/>
                <a:satMod val="105000"/>
              </a:schemeClr>
            </a:gs>
          </a:gsLst>
          <a:lin ang="3600000" scaled="1"/>
        </a:gradFill>
      </a:fillStyleLst>
      <a:lnStyleLst>
        <a:ln w="10000" cap="flat" cmpd="sng" algn="ctr">
          <a:solidFill>
            <a:schemeClr val="phClr"/>
          </a:solidFill>
          <a:prstDash val="solid"/>
        </a:ln>
        <a:ln w="2825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3600000" algn="r" rotWithShape="0">
              <a:srgbClr val="000000">
                <a:alpha val="30000"/>
              </a:srgbClr>
            </a:outerShdw>
          </a:effectLst>
        </a:effectStyle>
        <a:effectStyle>
          <a:effectLst>
            <a:outerShdw blurRad="63500" dist="25400" dir="3600000" algn="r" rotWithShape="0">
              <a:srgbClr val="000000">
                <a:alpha val="36000"/>
              </a:srgbClr>
            </a:outerShdw>
          </a:effectLst>
          <a:scene3d>
            <a:camera prst="orthographicFront">
              <a:rot lat="0" lon="0" rev="0"/>
            </a:camera>
            <a:lightRig rig="harsh" dir="tl">
              <a:rot lat="0" lon="0" rev="9000000"/>
            </a:lightRig>
          </a:scene3d>
          <a:sp3d prstMaterial="flat">
            <a:bevelT w="38100" h="50800" prst="softRound"/>
          </a:sp3d>
        </a:effectStyle>
        <a:effectStyle>
          <a:effectLst>
            <a:outerShdw blurRad="76200" dist="38100" dir="3600000" algn="r" rotWithShape="0">
              <a:srgbClr val="000000">
                <a:alpha val="60000"/>
              </a:srgbClr>
            </a:outerShdw>
          </a:effectLst>
          <a:scene3d>
            <a:camera prst="orthographicFront">
              <a:rot lat="0" lon="0" rev="0"/>
            </a:camera>
            <a:lightRig rig="harsh" dir="tl">
              <a:rot lat="0" lon="0" rev="9000000"/>
            </a:lightRig>
          </a:scene3d>
          <a:sp3d contourW="44450" prstMaterial="flat">
            <a:bevelT w="38100" h="508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52000"/>
                <a:satMod val="105000"/>
              </a:schemeClr>
            </a:gs>
            <a:gs pos="47500">
              <a:schemeClr val="phClr">
                <a:tint val="90000"/>
                <a:shade val="89000"/>
                <a:satMod val="105000"/>
              </a:schemeClr>
            </a:gs>
            <a:gs pos="58500">
              <a:schemeClr val="phClr">
                <a:tint val="85000"/>
                <a:shade val="89000"/>
                <a:satMod val="105000"/>
              </a:schemeClr>
            </a:gs>
            <a:gs pos="100000">
              <a:schemeClr val="phClr">
                <a:tint val="100000"/>
                <a:shade val="52000"/>
                <a:satMod val="105000"/>
              </a:schemeClr>
            </a:gs>
          </a:gsLst>
          <a:lin ang="3600000" scaled="0"/>
        </a:gradFill>
        <a:blipFill rotWithShape="1">
          <a:blip xmlns:r="http://schemas.openxmlformats.org/officeDocument/2006/relationships" r:embed="rId1">
            <a:duotone>
              <a:schemeClr val="phClr">
                <a:tint val="98000"/>
              </a:schemeClr>
              <a:schemeClr val="phClr">
                <a:shade val="85000"/>
                <a:satMod val="120000"/>
              </a:schemeClr>
            </a:duotone>
          </a:blip>
          <a:tile tx="0" ty="0" sx="52000" sy="5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TM01790490[[fn=Decatur]]</Template>
  <TotalTime>4271</TotalTime>
  <Words>3986</Words>
  <Application>Microsoft Office PowerPoint</Application>
  <PresentationFormat>On-screen Show (4:3)</PresentationFormat>
  <Paragraphs>216</Paragraphs>
  <Slides>97</Slides>
  <Notes>0</Notes>
  <HiddenSlides>0</HiddenSlides>
  <MMClips>0</MMClips>
  <ScaleCrop>false</ScaleCrop>
  <HeadingPairs>
    <vt:vector size="4" baseType="variant">
      <vt:variant>
        <vt:lpstr>Theme</vt:lpstr>
      </vt:variant>
      <vt:variant>
        <vt:i4>1</vt:i4>
      </vt:variant>
      <vt:variant>
        <vt:lpstr>Slide Titles</vt:lpstr>
      </vt:variant>
      <vt:variant>
        <vt:i4>97</vt:i4>
      </vt:variant>
    </vt:vector>
  </HeadingPairs>
  <TitlesOfParts>
    <vt:vector size="98" baseType="lpstr">
      <vt:lpstr>Decatur</vt:lpstr>
      <vt:lpstr>Module Title: Basics of Anesthesia I                                                  Module Code: AnstM-3231                                                                  Instructors : sulaiman j&amp; Ashenafi                                                                               Module ECTS: 7ECTS</vt:lpstr>
      <vt:lpstr>PowerPoint Presentation</vt:lpstr>
      <vt:lpstr>1.Introduction</vt:lpstr>
      <vt:lpstr>PowerPoint Presentation</vt:lpstr>
      <vt:lpstr>PowerPoint Presentation</vt:lpstr>
      <vt:lpstr>PowerPoint Presentation</vt:lpstr>
      <vt:lpstr>PowerPoint Presentation</vt:lpstr>
      <vt:lpstr>PowerPoint Presentation</vt:lpstr>
      <vt:lpstr>Drug Passage across the Cell Membrane</vt:lpstr>
      <vt:lpstr>PowerPoint Presentation</vt:lpstr>
      <vt:lpstr>PowerPoint Presentation</vt:lpstr>
      <vt:lpstr>Methods of Crossing the Cell Membrane</vt:lpstr>
      <vt:lpstr>PowerPoint Presentation</vt:lpstr>
      <vt:lpstr>PowerPoint Presentation</vt:lpstr>
      <vt:lpstr>PowerPoint Presentation</vt:lpstr>
      <vt:lpstr>Facilitated Diffusion</vt:lpstr>
      <vt:lpstr>PowerPoint Presentation</vt:lpstr>
      <vt:lpstr>Active Transport</vt:lpstr>
      <vt:lpstr>PowerPoint Presentation</vt:lpstr>
      <vt:lpstr>Pinocytosis</vt:lpstr>
      <vt:lpstr>PowerPoint Presentation</vt:lpstr>
      <vt:lpstr>Factors Influencing the Rate of Diffusion</vt:lpstr>
      <vt:lpstr>PowerPoint Presentation</vt:lpstr>
      <vt:lpstr>PowerPoint Presentation</vt:lpstr>
      <vt:lpstr>Blood Brain Barrier</vt:lpstr>
      <vt:lpstr>PowerPoint Presentation</vt:lpstr>
      <vt:lpstr>PowerPoint Presentation</vt:lpstr>
      <vt:lpstr>PHARMACOKINETICS</vt:lpstr>
      <vt:lpstr>Absorption</vt:lpstr>
      <vt:lpstr>PowerPoint Presentation</vt:lpstr>
      <vt:lpstr>PowerPoint Presentation</vt:lpstr>
      <vt:lpstr>PowerPoint Presentation</vt:lpstr>
      <vt:lpstr>Bioavailability</vt:lpstr>
      <vt:lpstr>PowerPoint Presentation</vt:lpstr>
      <vt:lpstr>Factors Influencing Bioavailability</vt:lpstr>
      <vt:lpstr>PowerPoint Presentation</vt:lpstr>
      <vt:lpstr>PowerPoint Presentation</vt:lpstr>
      <vt:lpstr>Distribution</vt:lpstr>
      <vt:lpstr> Tissue group composition, relative body mass, and percentageof cardiac output</vt:lpstr>
      <vt:lpstr>PowerPoint Presentation</vt:lpstr>
      <vt:lpstr>PowerPoint Presentation</vt:lpstr>
      <vt:lpstr>PowerPoint Presentation</vt:lpstr>
      <vt:lpstr>PowerPoint Presentation</vt:lpstr>
      <vt:lpstr>The epidural/intrathecal </vt:lpstr>
      <vt:lpstr>What is the cause of low protine ?</vt:lpstr>
      <vt:lpstr>Drug Distribution to the Fetus</vt:lpstr>
      <vt:lpstr>Drugs during Pregnancy</vt:lpstr>
      <vt:lpstr>PowerPoint Presentation</vt:lpstr>
      <vt:lpstr>Drugs at the Time of Birth</vt:lpstr>
      <vt:lpstr>PowerPoint Presentation</vt:lpstr>
      <vt:lpstr>Metabolism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Excretion</vt:lpstr>
      <vt:lpstr>PowerPoint Presentation</vt:lpstr>
      <vt:lpstr>PowerPoint Presentation</vt:lpstr>
      <vt:lpstr>PowerPoint Presentation</vt:lpstr>
      <vt:lpstr>PowerPoint Presentation</vt:lpstr>
      <vt:lpstr>Effect of Disease</vt:lpstr>
      <vt:lpstr>Mechanisms of Drug 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Measurement of Pharmacokinetic Parameters</vt:lpstr>
      <vt:lpstr>PHARMACODYNAMICS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Title: Basics of Anesthesia I                                                  Module Code: AnstM-3231                                                                  Instructors : sulaiman  j&amp; Ashenafi Module ECTS: 7ECTS</dc:title>
  <dc:creator>User</dc:creator>
  <cp:lastModifiedBy>User</cp:lastModifiedBy>
  <cp:revision>221</cp:revision>
  <dcterms:created xsi:type="dcterms:W3CDTF">2022-05-18T15:33:09Z</dcterms:created>
  <dcterms:modified xsi:type="dcterms:W3CDTF">2022-08-31T17:46:26Z</dcterms:modified>
</cp:coreProperties>
</file>