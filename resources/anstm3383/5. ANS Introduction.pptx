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8" r:id="rId2"/>
    <p:sldId id="259" r:id="rId3"/>
    <p:sldId id="261" r:id="rId4"/>
    <p:sldId id="263" r:id="rId5"/>
    <p:sldId id="265" r:id="rId6"/>
    <p:sldId id="267" r:id="rId7"/>
    <p:sldId id="705" r:id="rId8"/>
    <p:sldId id="271" r:id="rId9"/>
    <p:sldId id="273" r:id="rId10"/>
    <p:sldId id="275" r:id="rId11"/>
    <p:sldId id="277" r:id="rId12"/>
    <p:sldId id="279" r:id="rId13"/>
    <p:sldId id="281" r:id="rId14"/>
    <p:sldId id="283" r:id="rId15"/>
    <p:sldId id="287" r:id="rId16"/>
    <p:sldId id="289" r:id="rId17"/>
    <p:sldId id="291" r:id="rId18"/>
    <p:sldId id="293" r:id="rId19"/>
    <p:sldId id="295" r:id="rId20"/>
    <p:sldId id="297" r:id="rId21"/>
    <p:sldId id="299" r:id="rId22"/>
    <p:sldId id="301" r:id="rId23"/>
    <p:sldId id="303" r:id="rId24"/>
    <p:sldId id="307" r:id="rId25"/>
    <p:sldId id="365" r:id="rId26"/>
    <p:sldId id="312" r:id="rId27"/>
    <p:sldId id="366" r:id="rId28"/>
    <p:sldId id="316" r:id="rId29"/>
    <p:sldId id="706" r:id="rId30"/>
    <p:sldId id="320" r:id="rId31"/>
    <p:sldId id="707" r:id="rId32"/>
    <p:sldId id="708" r:id="rId33"/>
    <p:sldId id="709" r:id="rId34"/>
    <p:sldId id="710" r:id="rId35"/>
    <p:sldId id="330" r:id="rId36"/>
    <p:sldId id="332" r:id="rId37"/>
    <p:sldId id="334" r:id="rId38"/>
    <p:sldId id="336" r:id="rId39"/>
    <p:sldId id="367" r:id="rId40"/>
    <p:sldId id="368" r:id="rId41"/>
    <p:sldId id="343" r:id="rId42"/>
    <p:sldId id="369" r:id="rId43"/>
    <p:sldId id="370" r:id="rId44"/>
    <p:sldId id="371" r:id="rId45"/>
    <p:sldId id="697" r:id="rId46"/>
    <p:sldId id="353" r:id="rId47"/>
    <p:sldId id="355" r:id="rId48"/>
    <p:sldId id="357" r:id="rId49"/>
    <p:sldId id="359" r:id="rId50"/>
    <p:sldId id="364" r:id="rId51"/>
    <p:sldId id="372" r:id="rId52"/>
    <p:sldId id="373" r:id="rId53"/>
    <p:sldId id="696" r:id="rId54"/>
    <p:sldId id="376" r:id="rId55"/>
    <p:sldId id="607" r:id="rId56"/>
    <p:sldId id="698" r:id="rId57"/>
    <p:sldId id="699" r:id="rId58"/>
    <p:sldId id="274" r:id="rId59"/>
    <p:sldId id="374" r:id="rId60"/>
    <p:sldId id="701" r:id="rId61"/>
    <p:sldId id="606" r:id="rId62"/>
    <p:sldId id="695" r:id="rId63"/>
    <p:sldId id="702" r:id="rId64"/>
    <p:sldId id="703" r:id="rId65"/>
    <p:sldId id="704"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479" autoAdjust="0"/>
  </p:normalViewPr>
  <p:slideViewPr>
    <p:cSldViewPr>
      <p:cViewPr varScale="1">
        <p:scale>
          <a:sx n="58" d="100"/>
          <a:sy n="58" d="100"/>
        </p:scale>
        <p:origin x="17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4AF3E0-900D-4C4F-B7EF-BD973F838AAC}" type="doc">
      <dgm:prSet loTypeId="urn:microsoft.com/office/officeart/2005/8/layout/process4" loCatId="list" qsTypeId="urn:microsoft.com/office/officeart/2005/8/quickstyle/simple1" qsCatId="simple" csTypeId="urn:microsoft.com/office/officeart/2005/8/colors/colorful3" csCatId="colorful" phldr="1"/>
      <dgm:spPr/>
      <dgm:t>
        <a:bodyPr/>
        <a:lstStyle/>
        <a:p>
          <a:endParaRPr lang="en-US"/>
        </a:p>
      </dgm:t>
    </dgm:pt>
    <dgm:pt modelId="{B0BAAADA-6F17-4723-9CC1-55606435E49C}">
      <dgm:prSet custT="1"/>
      <dgm:spPr/>
      <dgm:t>
        <a:bodyPr/>
        <a:lstStyle/>
        <a:p>
          <a:pPr rtl="0"/>
          <a:r>
            <a:rPr lang="bg-BG" altLang="en-US" sz="2000" dirty="0">
              <a:latin typeface="+mj-lt"/>
              <a:cs typeface="Times New Roman" panose="02020603050405020304" pitchFamily="18" charset="0"/>
            </a:rPr>
            <a:t>which limits subsequent exocytosis of storage vesicles containing </a:t>
          </a:r>
          <a:r>
            <a:rPr lang="en-US" altLang="en-US" sz="2000" dirty="0">
              <a:latin typeface="+mj-lt"/>
              <a:cs typeface="Times New Roman" panose="02020603050405020304" pitchFamily="18" charset="0"/>
            </a:rPr>
            <a:t>NE </a:t>
          </a:r>
          <a:endParaRPr lang="en-US" sz="2000" dirty="0">
            <a:latin typeface="+mj-lt"/>
            <a:cs typeface="Arial" panose="020B0604020202020204" pitchFamily="34" charset="0"/>
          </a:endParaRPr>
        </a:p>
      </dgm:t>
    </dgm:pt>
    <dgm:pt modelId="{E343316A-508B-41E4-9C23-F8FE7CA233DF}" type="parTrans" cxnId="{BE60B6B9-DD73-4BF5-8971-7795CC245C5D}">
      <dgm:prSet/>
      <dgm:spPr/>
      <dgm:t>
        <a:bodyPr/>
        <a:lstStyle/>
        <a:p>
          <a:endParaRPr lang="en-US">
            <a:latin typeface="+mj-lt"/>
          </a:endParaRPr>
        </a:p>
      </dgm:t>
    </dgm:pt>
    <dgm:pt modelId="{5FE47E91-D88A-494D-A090-8CF6131F6F5F}" type="sibTrans" cxnId="{BE60B6B9-DD73-4BF5-8971-7795CC245C5D}">
      <dgm:prSet/>
      <dgm:spPr/>
      <dgm:t>
        <a:bodyPr/>
        <a:lstStyle/>
        <a:p>
          <a:endParaRPr lang="en-US">
            <a:latin typeface="+mj-lt"/>
          </a:endParaRPr>
        </a:p>
      </dgm:t>
    </dgm:pt>
    <dgm:pt modelId="{24C26D45-1F70-4499-B064-0C7492E9D58E}">
      <dgm:prSet custT="1"/>
      <dgm:spPr/>
      <dgm:t>
        <a:bodyPr/>
        <a:lstStyle/>
        <a:p>
          <a:pPr algn="just" rtl="0"/>
          <a:r>
            <a:rPr lang="en-US" altLang="en-US" sz="2000" dirty="0">
              <a:latin typeface="+mj-lt"/>
              <a:cs typeface="Times New Roman" panose="02020603050405020304" pitchFamily="18" charset="0"/>
            </a:rPr>
            <a:t>Thus, α2 -receptors create a negative feedback loop that inhibits further NE release from the neuron.</a:t>
          </a:r>
          <a:endParaRPr lang="en-US" sz="2000" dirty="0">
            <a:latin typeface="+mj-lt"/>
            <a:cs typeface="Arial" panose="020B0604020202020204" pitchFamily="34" charset="0"/>
          </a:endParaRPr>
        </a:p>
      </dgm:t>
    </dgm:pt>
    <dgm:pt modelId="{2FEB8B70-01B1-40F4-A484-803727A98B25}" type="parTrans" cxnId="{41F2E312-5ACC-45AF-B17F-38969BBE1F33}">
      <dgm:prSet/>
      <dgm:spPr/>
      <dgm:t>
        <a:bodyPr/>
        <a:lstStyle/>
        <a:p>
          <a:endParaRPr lang="en-US">
            <a:latin typeface="+mj-lt"/>
          </a:endParaRPr>
        </a:p>
      </dgm:t>
    </dgm:pt>
    <dgm:pt modelId="{F44E466D-DC90-4F57-A6A1-DEED9B6E8E7D}" type="sibTrans" cxnId="{41F2E312-5ACC-45AF-B17F-38969BBE1F33}">
      <dgm:prSet/>
      <dgm:spPr/>
      <dgm:t>
        <a:bodyPr/>
        <a:lstStyle/>
        <a:p>
          <a:endParaRPr lang="en-US">
            <a:latin typeface="+mj-lt"/>
          </a:endParaRPr>
        </a:p>
      </dgm:t>
    </dgm:pt>
    <dgm:pt modelId="{672BE523-08A0-4EB3-84A0-3C1982563FF3}">
      <dgm:prSet phldr="0" custT="1"/>
      <dgm:spPr/>
      <dgm:t>
        <a:bodyPr/>
        <a:lstStyle/>
        <a:p>
          <a:pPr rtl="0"/>
          <a:r>
            <a:rPr lang="en-US" sz="2000" dirty="0">
              <a:latin typeface="+mj-lt"/>
              <a:cs typeface="Arial" panose="020B0604020202020204" pitchFamily="34" charset="0"/>
            </a:rPr>
            <a:t>This decreases the entry of calcium ions into the neuronal terminal</a:t>
          </a:r>
        </a:p>
      </dgm:t>
    </dgm:pt>
    <dgm:pt modelId="{92D114D0-782B-4987-89AE-BF29CAA88E54}" type="parTrans" cxnId="{BCC3F77E-D54A-418B-9009-06C179BFAB79}">
      <dgm:prSet/>
      <dgm:spPr/>
      <dgm:t>
        <a:bodyPr/>
        <a:lstStyle/>
        <a:p>
          <a:endParaRPr lang="en-US">
            <a:latin typeface="+mj-lt"/>
          </a:endParaRPr>
        </a:p>
      </dgm:t>
    </dgm:pt>
    <dgm:pt modelId="{4F452DAD-386E-44EA-8886-9A8B7D6802CF}" type="sibTrans" cxnId="{BCC3F77E-D54A-418B-9009-06C179BFAB79}">
      <dgm:prSet/>
      <dgm:spPr/>
      <dgm:t>
        <a:bodyPr/>
        <a:lstStyle/>
        <a:p>
          <a:endParaRPr lang="en-US">
            <a:latin typeface="+mj-lt"/>
          </a:endParaRPr>
        </a:p>
      </dgm:t>
    </dgm:pt>
    <dgm:pt modelId="{F53B8816-C7B7-440D-99A4-FE0513CDEE01}">
      <dgm:prSet custT="1"/>
      <dgm:spPr/>
      <dgm:t>
        <a:bodyPr/>
        <a:lstStyle/>
        <a:p>
          <a:r>
            <a:rPr lang="en-US" sz="2000" dirty="0">
              <a:latin typeface="+mj-lt"/>
              <a:cs typeface="Arial" panose="020B0604020202020204" pitchFamily="34" charset="0"/>
            </a:rPr>
            <a:t>Activation of these adrenoceptors inhibits adenylate cyclase</a:t>
          </a:r>
        </a:p>
      </dgm:t>
    </dgm:pt>
    <dgm:pt modelId="{77533149-C8D5-46E1-BDB1-6B6CD65624C9}" type="parTrans" cxnId="{B1D890BC-25C5-493F-B034-600B94DADFEC}">
      <dgm:prSet/>
      <dgm:spPr/>
      <dgm:t>
        <a:bodyPr/>
        <a:lstStyle/>
        <a:p>
          <a:endParaRPr lang="en-US">
            <a:latin typeface="+mj-lt"/>
          </a:endParaRPr>
        </a:p>
      </dgm:t>
    </dgm:pt>
    <dgm:pt modelId="{C27E7C01-6A23-4055-8D66-1DB5D481C33C}" type="sibTrans" cxnId="{B1D890BC-25C5-493F-B034-600B94DADFEC}">
      <dgm:prSet/>
      <dgm:spPr/>
      <dgm:t>
        <a:bodyPr/>
        <a:lstStyle/>
        <a:p>
          <a:endParaRPr lang="en-US" sz="2000">
            <a:latin typeface="+mj-lt"/>
            <a:cs typeface="Arial" panose="020B0604020202020204" pitchFamily="34" charset="0"/>
          </a:endParaRPr>
        </a:p>
      </dgm:t>
    </dgm:pt>
    <dgm:pt modelId="{78C6C23B-7F14-48EF-A24B-EE8C263B162B}" type="pres">
      <dgm:prSet presAssocID="{D94AF3E0-900D-4C4F-B7EF-BD973F838AAC}" presName="Name0" presStyleCnt="0">
        <dgm:presLayoutVars>
          <dgm:dir/>
          <dgm:animLvl val="lvl"/>
          <dgm:resizeHandles val="exact"/>
        </dgm:presLayoutVars>
      </dgm:prSet>
      <dgm:spPr/>
    </dgm:pt>
    <dgm:pt modelId="{9F33C32B-19E6-4E42-A9AE-8912D73E022D}" type="pres">
      <dgm:prSet presAssocID="{24C26D45-1F70-4499-B064-0C7492E9D58E}" presName="boxAndChildren" presStyleCnt="0"/>
      <dgm:spPr/>
    </dgm:pt>
    <dgm:pt modelId="{6CD94E3A-59E9-45AF-9DD4-7C6F1F6E0408}" type="pres">
      <dgm:prSet presAssocID="{24C26D45-1F70-4499-B064-0C7492E9D58E}" presName="parentTextBox" presStyleLbl="node1" presStyleIdx="0" presStyleCnt="4" custScaleY="101012"/>
      <dgm:spPr/>
    </dgm:pt>
    <dgm:pt modelId="{E100186C-0C08-48A0-B013-07B5BC254C7B}" type="pres">
      <dgm:prSet presAssocID="{5FE47E91-D88A-494D-A090-8CF6131F6F5F}" presName="sp" presStyleCnt="0"/>
      <dgm:spPr/>
    </dgm:pt>
    <dgm:pt modelId="{9A1C0D71-9FFA-448B-9CE1-C92BE7D3D7CB}" type="pres">
      <dgm:prSet presAssocID="{B0BAAADA-6F17-4723-9CC1-55606435E49C}" presName="arrowAndChildren" presStyleCnt="0"/>
      <dgm:spPr/>
    </dgm:pt>
    <dgm:pt modelId="{1D1CBEBC-F1BB-4B13-A10C-9E19AFD54174}" type="pres">
      <dgm:prSet presAssocID="{B0BAAADA-6F17-4723-9CC1-55606435E49C}" presName="parentTextArrow" presStyleLbl="node1" presStyleIdx="1" presStyleCnt="4" custLinFactNeighborX="2575" custLinFactNeighborY="2008"/>
      <dgm:spPr/>
    </dgm:pt>
    <dgm:pt modelId="{02B96726-A429-4703-8830-B82C2FE7F40B}" type="pres">
      <dgm:prSet presAssocID="{4F452DAD-386E-44EA-8886-9A8B7D6802CF}" presName="sp" presStyleCnt="0"/>
      <dgm:spPr/>
    </dgm:pt>
    <dgm:pt modelId="{AA93C9E0-A787-41FB-831D-1BAD4522C836}" type="pres">
      <dgm:prSet presAssocID="{672BE523-08A0-4EB3-84A0-3C1982563FF3}" presName="arrowAndChildren" presStyleCnt="0"/>
      <dgm:spPr/>
    </dgm:pt>
    <dgm:pt modelId="{B9C673DB-F040-4759-9C4D-5E8D9B822075}" type="pres">
      <dgm:prSet presAssocID="{672BE523-08A0-4EB3-84A0-3C1982563FF3}" presName="parentTextArrow" presStyleLbl="node1" presStyleIdx="2" presStyleCnt="4"/>
      <dgm:spPr/>
    </dgm:pt>
    <dgm:pt modelId="{08BACE92-4FE0-4A46-8FE3-9D71063E0F24}" type="pres">
      <dgm:prSet presAssocID="{C27E7C01-6A23-4055-8D66-1DB5D481C33C}" presName="sp" presStyleCnt="0"/>
      <dgm:spPr/>
    </dgm:pt>
    <dgm:pt modelId="{F78B03FC-4BC3-41C8-ACE6-DC7BD05F68DA}" type="pres">
      <dgm:prSet presAssocID="{F53B8816-C7B7-440D-99A4-FE0513CDEE01}" presName="arrowAndChildren" presStyleCnt="0"/>
      <dgm:spPr/>
    </dgm:pt>
    <dgm:pt modelId="{D169676D-37EF-445C-91A8-728C11BE1B8B}" type="pres">
      <dgm:prSet presAssocID="{F53B8816-C7B7-440D-99A4-FE0513CDEE01}" presName="parentTextArrow" presStyleLbl="node1" presStyleIdx="3" presStyleCnt="4" custLinFactNeighborY="7804"/>
      <dgm:spPr/>
    </dgm:pt>
  </dgm:ptLst>
  <dgm:cxnLst>
    <dgm:cxn modelId="{41F2E312-5ACC-45AF-B17F-38969BBE1F33}" srcId="{D94AF3E0-900D-4C4F-B7EF-BD973F838AAC}" destId="{24C26D45-1F70-4499-B064-0C7492E9D58E}" srcOrd="3" destOrd="0" parTransId="{2FEB8B70-01B1-40F4-A484-803727A98B25}" sibTransId="{F44E466D-DC90-4F57-A6A1-DEED9B6E8E7D}"/>
    <dgm:cxn modelId="{C5280828-D2C0-43A2-B275-732128D7B9F7}" type="presOf" srcId="{672BE523-08A0-4EB3-84A0-3C1982563FF3}" destId="{B9C673DB-F040-4759-9C4D-5E8D9B822075}" srcOrd="0" destOrd="0" presId="urn:microsoft.com/office/officeart/2005/8/layout/process4"/>
    <dgm:cxn modelId="{EA393968-CFC4-41D4-9D0A-81AE3BC1C82A}" type="presOf" srcId="{F53B8816-C7B7-440D-99A4-FE0513CDEE01}" destId="{D169676D-37EF-445C-91A8-728C11BE1B8B}" srcOrd="0" destOrd="0" presId="urn:microsoft.com/office/officeart/2005/8/layout/process4"/>
    <dgm:cxn modelId="{93350650-644F-4F2C-972B-D503D92AC1E9}" type="presOf" srcId="{B0BAAADA-6F17-4723-9CC1-55606435E49C}" destId="{1D1CBEBC-F1BB-4B13-A10C-9E19AFD54174}" srcOrd="0" destOrd="0" presId="urn:microsoft.com/office/officeart/2005/8/layout/process4"/>
    <dgm:cxn modelId="{BCC3F77E-D54A-418B-9009-06C179BFAB79}" srcId="{D94AF3E0-900D-4C4F-B7EF-BD973F838AAC}" destId="{672BE523-08A0-4EB3-84A0-3C1982563FF3}" srcOrd="1" destOrd="0" parTransId="{92D114D0-782B-4987-89AE-BF29CAA88E54}" sibTransId="{4F452DAD-386E-44EA-8886-9A8B7D6802CF}"/>
    <dgm:cxn modelId="{B54861B7-727C-4072-9032-66B2C3D21521}" type="presOf" srcId="{24C26D45-1F70-4499-B064-0C7492E9D58E}" destId="{6CD94E3A-59E9-45AF-9DD4-7C6F1F6E0408}" srcOrd="0" destOrd="0" presId="urn:microsoft.com/office/officeart/2005/8/layout/process4"/>
    <dgm:cxn modelId="{BE60B6B9-DD73-4BF5-8971-7795CC245C5D}" srcId="{D94AF3E0-900D-4C4F-B7EF-BD973F838AAC}" destId="{B0BAAADA-6F17-4723-9CC1-55606435E49C}" srcOrd="2" destOrd="0" parTransId="{E343316A-508B-41E4-9C23-F8FE7CA233DF}" sibTransId="{5FE47E91-D88A-494D-A090-8CF6131F6F5F}"/>
    <dgm:cxn modelId="{B1D890BC-25C5-493F-B034-600B94DADFEC}" srcId="{D94AF3E0-900D-4C4F-B7EF-BD973F838AAC}" destId="{F53B8816-C7B7-440D-99A4-FE0513CDEE01}" srcOrd="0" destOrd="0" parTransId="{77533149-C8D5-46E1-BDB1-6B6CD65624C9}" sibTransId="{C27E7C01-6A23-4055-8D66-1DB5D481C33C}"/>
    <dgm:cxn modelId="{EF515ACF-2B6A-40A9-ACEB-52E288F389E4}" type="presOf" srcId="{D94AF3E0-900D-4C4F-B7EF-BD973F838AAC}" destId="{78C6C23B-7F14-48EF-A24B-EE8C263B162B}" srcOrd="0" destOrd="0" presId="urn:microsoft.com/office/officeart/2005/8/layout/process4"/>
    <dgm:cxn modelId="{45F6F1C4-66BF-436E-8A33-88C618852499}" type="presParOf" srcId="{78C6C23B-7F14-48EF-A24B-EE8C263B162B}" destId="{9F33C32B-19E6-4E42-A9AE-8912D73E022D}" srcOrd="0" destOrd="0" presId="urn:microsoft.com/office/officeart/2005/8/layout/process4"/>
    <dgm:cxn modelId="{CB6BCB6D-58A6-4C31-B84F-F414A4DE34EC}" type="presParOf" srcId="{9F33C32B-19E6-4E42-A9AE-8912D73E022D}" destId="{6CD94E3A-59E9-45AF-9DD4-7C6F1F6E0408}" srcOrd="0" destOrd="0" presId="urn:microsoft.com/office/officeart/2005/8/layout/process4"/>
    <dgm:cxn modelId="{74E41F49-8F63-4D22-9F87-551CA454E9ED}" type="presParOf" srcId="{78C6C23B-7F14-48EF-A24B-EE8C263B162B}" destId="{E100186C-0C08-48A0-B013-07B5BC254C7B}" srcOrd="1" destOrd="0" presId="urn:microsoft.com/office/officeart/2005/8/layout/process4"/>
    <dgm:cxn modelId="{449A680F-4CE2-4EE1-B672-0AC5A23C79B0}" type="presParOf" srcId="{78C6C23B-7F14-48EF-A24B-EE8C263B162B}" destId="{9A1C0D71-9FFA-448B-9CE1-C92BE7D3D7CB}" srcOrd="2" destOrd="0" presId="urn:microsoft.com/office/officeart/2005/8/layout/process4"/>
    <dgm:cxn modelId="{D86C9E7B-5979-443C-9746-2F5A6F4B2D3B}" type="presParOf" srcId="{9A1C0D71-9FFA-448B-9CE1-C92BE7D3D7CB}" destId="{1D1CBEBC-F1BB-4B13-A10C-9E19AFD54174}" srcOrd="0" destOrd="0" presId="urn:microsoft.com/office/officeart/2005/8/layout/process4"/>
    <dgm:cxn modelId="{B970938F-EB6A-423F-A1D9-3C0F558B8FA6}" type="presParOf" srcId="{78C6C23B-7F14-48EF-A24B-EE8C263B162B}" destId="{02B96726-A429-4703-8830-B82C2FE7F40B}" srcOrd="3" destOrd="0" presId="urn:microsoft.com/office/officeart/2005/8/layout/process4"/>
    <dgm:cxn modelId="{3BE8A7B3-FB62-4A59-ADAC-4BFEA1484F9A}" type="presParOf" srcId="{78C6C23B-7F14-48EF-A24B-EE8C263B162B}" destId="{AA93C9E0-A787-41FB-831D-1BAD4522C836}" srcOrd="4" destOrd="0" presId="urn:microsoft.com/office/officeart/2005/8/layout/process4"/>
    <dgm:cxn modelId="{33FA624D-EF78-41A3-ADA4-E660EA32C24B}" type="presParOf" srcId="{AA93C9E0-A787-41FB-831D-1BAD4522C836}" destId="{B9C673DB-F040-4759-9C4D-5E8D9B822075}" srcOrd="0" destOrd="0" presId="urn:microsoft.com/office/officeart/2005/8/layout/process4"/>
    <dgm:cxn modelId="{0FDB4C49-838E-459F-9BC6-F10402D213BD}" type="presParOf" srcId="{78C6C23B-7F14-48EF-A24B-EE8C263B162B}" destId="{08BACE92-4FE0-4A46-8FE3-9D71063E0F24}" srcOrd="5" destOrd="0" presId="urn:microsoft.com/office/officeart/2005/8/layout/process4"/>
    <dgm:cxn modelId="{61BE39D8-3333-41F3-BC8B-D7E9CF846F2E}" type="presParOf" srcId="{78C6C23B-7F14-48EF-A24B-EE8C263B162B}" destId="{F78B03FC-4BC3-41C8-ACE6-DC7BD05F68DA}" srcOrd="6" destOrd="0" presId="urn:microsoft.com/office/officeart/2005/8/layout/process4"/>
    <dgm:cxn modelId="{F47C83A0-FE75-4E5B-913F-F6B7F97C96AF}" type="presParOf" srcId="{F78B03FC-4BC3-41C8-ACE6-DC7BD05F68DA}" destId="{D169676D-37EF-445C-91A8-728C11BE1B8B}"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D94E3A-59E9-45AF-9DD4-7C6F1F6E0408}">
      <dsp:nvSpPr>
        <dsp:cNvPr id="0" name=""/>
        <dsp:cNvSpPr/>
      </dsp:nvSpPr>
      <dsp:spPr>
        <a:xfrm>
          <a:off x="0" y="3743893"/>
          <a:ext cx="5918001" cy="82759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just" defTabSz="889000" rtl="0">
            <a:lnSpc>
              <a:spcPct val="90000"/>
            </a:lnSpc>
            <a:spcBef>
              <a:spcPct val="0"/>
            </a:spcBef>
            <a:spcAft>
              <a:spcPct val="35000"/>
            </a:spcAft>
            <a:buNone/>
          </a:pPr>
          <a:r>
            <a:rPr lang="en-US" altLang="en-US" sz="2000" kern="1200" dirty="0">
              <a:latin typeface="+mj-lt"/>
              <a:cs typeface="Times New Roman" panose="02020603050405020304" pitchFamily="18" charset="0"/>
            </a:rPr>
            <a:t>Thus, α2 -receptors create a negative feedback loop that inhibits further NE release from the neuron.</a:t>
          </a:r>
          <a:endParaRPr lang="en-US" sz="2000" kern="1200" dirty="0">
            <a:latin typeface="+mj-lt"/>
            <a:cs typeface="Arial" panose="020B0604020202020204" pitchFamily="34" charset="0"/>
          </a:endParaRPr>
        </a:p>
      </dsp:txBody>
      <dsp:txXfrm>
        <a:off x="0" y="3743893"/>
        <a:ext cx="5918001" cy="827590"/>
      </dsp:txXfrm>
    </dsp:sp>
    <dsp:sp modelId="{1D1CBEBC-F1BB-4B13-A10C-9E19AFD54174}">
      <dsp:nvSpPr>
        <dsp:cNvPr id="0" name=""/>
        <dsp:cNvSpPr/>
      </dsp:nvSpPr>
      <dsp:spPr>
        <a:xfrm rot="10800000">
          <a:off x="0" y="2521403"/>
          <a:ext cx="5918001" cy="1260081"/>
        </a:xfrm>
        <a:prstGeom prst="upArrowCallout">
          <a:avLst/>
        </a:prstGeom>
        <a:solidFill>
          <a:schemeClr val="accent3">
            <a:hueOff val="3750088"/>
            <a:satOff val="-5627"/>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bg-BG" altLang="en-US" sz="2000" kern="1200" dirty="0">
              <a:latin typeface="+mj-lt"/>
              <a:cs typeface="Times New Roman" panose="02020603050405020304" pitchFamily="18" charset="0"/>
            </a:rPr>
            <a:t>which limits subsequent exocytosis of storage vesicles containing </a:t>
          </a:r>
          <a:r>
            <a:rPr lang="en-US" altLang="en-US" sz="2000" kern="1200" dirty="0">
              <a:latin typeface="+mj-lt"/>
              <a:cs typeface="Times New Roman" panose="02020603050405020304" pitchFamily="18" charset="0"/>
            </a:rPr>
            <a:t>NE </a:t>
          </a:r>
          <a:endParaRPr lang="en-US" sz="2000" kern="1200" dirty="0">
            <a:latin typeface="+mj-lt"/>
            <a:cs typeface="Arial" panose="020B0604020202020204" pitchFamily="34" charset="0"/>
          </a:endParaRPr>
        </a:p>
      </dsp:txBody>
      <dsp:txXfrm rot="10800000">
        <a:off x="0" y="2521403"/>
        <a:ext cx="5918001" cy="818763"/>
      </dsp:txXfrm>
    </dsp:sp>
    <dsp:sp modelId="{B9C673DB-F040-4759-9C4D-5E8D9B822075}">
      <dsp:nvSpPr>
        <dsp:cNvPr id="0" name=""/>
        <dsp:cNvSpPr/>
      </dsp:nvSpPr>
      <dsp:spPr>
        <a:xfrm rot="10800000">
          <a:off x="0" y="1248308"/>
          <a:ext cx="5918001" cy="1260081"/>
        </a:xfrm>
        <a:prstGeom prst="upArrowCallout">
          <a:avLst/>
        </a:prstGeom>
        <a:solidFill>
          <a:schemeClr val="accent3">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mj-lt"/>
              <a:cs typeface="Arial" panose="020B0604020202020204" pitchFamily="34" charset="0"/>
            </a:rPr>
            <a:t>This decreases the entry of calcium ions into the neuronal terminal</a:t>
          </a:r>
        </a:p>
      </dsp:txBody>
      <dsp:txXfrm rot="10800000">
        <a:off x="0" y="1248308"/>
        <a:ext cx="5918001" cy="818763"/>
      </dsp:txXfrm>
    </dsp:sp>
    <dsp:sp modelId="{D169676D-37EF-445C-91A8-728C11BE1B8B}">
      <dsp:nvSpPr>
        <dsp:cNvPr id="0" name=""/>
        <dsp:cNvSpPr/>
      </dsp:nvSpPr>
      <dsp:spPr>
        <a:xfrm rot="10800000">
          <a:off x="0" y="98853"/>
          <a:ext cx="5918001" cy="1260081"/>
        </a:xfrm>
        <a:prstGeom prst="upArrowCallou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j-lt"/>
              <a:cs typeface="Arial" panose="020B0604020202020204" pitchFamily="34" charset="0"/>
            </a:rPr>
            <a:t>Activation of these adrenoceptors inhibits adenylate cyclase</a:t>
          </a:r>
        </a:p>
      </dsp:txBody>
      <dsp:txXfrm rot="10800000">
        <a:off x="0" y="98853"/>
        <a:ext cx="5918001" cy="81876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B18F72-AD2F-42DA-AABF-367A26073046}" type="datetimeFigureOut">
              <a:rPr lang="en-US" smtClean="0"/>
              <a:t>3/6/2024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FEDE72D-0DBE-46E7-AE28-19E082D3741D}" type="slidenum">
              <a:rPr lang="en-US" smtClean="0"/>
              <a:t>‹#›</a:t>
            </a:fld>
            <a:endParaRPr lang="en-US"/>
          </a:p>
        </p:txBody>
      </p:sp>
    </p:spTree>
    <p:extLst>
      <p:ext uri="{BB962C8B-B14F-4D97-AF65-F5344CB8AC3E}">
        <p14:creationId xmlns:p14="http://schemas.microsoft.com/office/powerpoint/2010/main" val="4267564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0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320516" name="Header Placeholder 3"/>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a:defRPr/>
            </a:pPr>
            <a:r>
              <a:rPr lang="en-US"/>
              <a:t>BIO 201</a:t>
            </a:r>
          </a:p>
        </p:txBody>
      </p:sp>
      <p:sp>
        <p:nvSpPr>
          <p:cNvPr id="320517" name="Footer Placeholder 4"/>
          <p:cNvSpPr>
            <a:spLocks noGrp="1"/>
          </p:cNvSpPr>
          <p:nvPr>
            <p:ph type="ftr" sz="quarter" idx="4"/>
          </p:nvPr>
        </p:nvSpPr>
        <p:spPr bwMode="auto">
          <a:ln>
            <a:miter lim="800000"/>
            <a:headEnd/>
            <a:tailEnd/>
          </a:ln>
        </p:spPr>
        <p:txBody>
          <a:bodyPr wrap="square" numCol="1" anchorCtr="0" compatLnSpc="1">
            <a:prstTxWarp prst="textNoShape">
              <a:avLst/>
            </a:prstTxWarp>
          </a:bodyPr>
          <a:lstStyle/>
          <a:p>
            <a:pPr>
              <a:defRPr/>
            </a:pPr>
            <a:r>
              <a:rPr lang="en-US"/>
              <a:t>Autonomic Nervous System</a:t>
            </a:r>
          </a:p>
        </p:txBody>
      </p:sp>
      <p:sp>
        <p:nvSpPr>
          <p:cNvPr id="320518" name="Slide Number Placeholder 5"/>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9025242B-6C85-49B4-BDCC-AA92EC944A4F}"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1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89F73CEE-5EAB-4037-9FB1-4076AB5FE035}" type="slidenum">
              <a:rPr lang="en-US" smtClean="0"/>
              <a:pPr>
                <a:defRPr/>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a:defRPr/>
            </a:pPr>
            <a:r>
              <a:rPr lang="en-US"/>
              <a:t>BIO 201</a:t>
            </a:r>
          </a:p>
        </p:txBody>
      </p:sp>
      <p:sp>
        <p:nvSpPr>
          <p:cNvPr id="322563"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a:defRPr/>
            </a:pPr>
            <a:r>
              <a:rPr lang="en-US"/>
              <a:t>Autonomic Nervous System</a:t>
            </a:r>
          </a:p>
        </p:txBody>
      </p:sp>
      <p:sp>
        <p:nvSpPr>
          <p:cNvPr id="322564"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a:defRPr/>
            </a:pPr>
            <a:fld id="{A9B7333A-778D-4F06-A83D-0A9F0BB133F1}" type="slidenum">
              <a:rPr lang="en-US" smtClean="0"/>
              <a:pPr>
                <a:defRPr/>
              </a:pPr>
              <a:t>11</a:t>
            </a:fld>
            <a:endParaRPr lang="en-US"/>
          </a:p>
        </p:txBody>
      </p:sp>
      <p:sp>
        <p:nvSpPr>
          <p:cNvPr id="29286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287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a:defRPr/>
            </a:pPr>
            <a:r>
              <a:rPr lang="en-US"/>
              <a:t>BIO 201</a:t>
            </a:r>
          </a:p>
        </p:txBody>
      </p:sp>
      <p:sp>
        <p:nvSpPr>
          <p:cNvPr id="326659"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a:defRPr/>
            </a:pPr>
            <a:r>
              <a:rPr lang="en-US"/>
              <a:t>Autonomic Nervous System</a:t>
            </a:r>
          </a:p>
        </p:txBody>
      </p:sp>
      <p:sp>
        <p:nvSpPr>
          <p:cNvPr id="326660"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a:defRPr/>
            </a:pPr>
            <a:fld id="{FA0AC412-751A-4191-8E6F-A23A8412D351}" type="slidenum">
              <a:rPr lang="en-US" smtClean="0"/>
              <a:pPr>
                <a:defRPr/>
              </a:pPr>
              <a:t>21</a:t>
            </a:fld>
            <a:endParaRPr lang="en-US"/>
          </a:p>
        </p:txBody>
      </p:sp>
      <p:sp>
        <p:nvSpPr>
          <p:cNvPr id="29491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491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5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32461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3E8E3B27-8F0B-44EA-B233-BCD6AC76C6B6}" type="slidenum">
              <a:rPr lang="en-US" smtClean="0"/>
              <a:pPr>
                <a:defRPr/>
              </a:pPr>
              <a:t>23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9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sr-Cyrl-CS" dirty="0"/>
              <a:t>Schematic illustration of a generalized cholinergic junction (not to scale). Choline is transported into the presynaptic nerve terminal by a sodium-dependent choline transporter (CHT). This transporter can be inhibited by hemicholinium drugs. In the cytoplasm, acetylcholine is synthesized from choline and acetyl Co-A (AcCoA) by the enzyme choline acetyltransferase (ChAT). ACh is then transported into the storage vesicle by a second carrier, the vesicle-associated transporter (VAT), which can be inhibited by vesamicol. Peptides (P), adenosine triphosphate (ATP), and proteoglycan are also stored in the vesicle. Release of transmitter occurs when voltage-sensitive calcium channels in the terminal membrane are opened, allowing an influx of calcium. The resulting increase in intracellular calcium causes fusion of vesicles with the surface membrane and exocytotic expulsion of ACh and cotransmitters into the junctional cleft (see text). This step can be blocked by botulinum toxin. Acetylcholine's action is terminated by metabolism by the enzyme acetylcholinesterase. Receptors on the presynaptic nerve ending regulate transmitter release. (SNAPs, synaptosome-associated proteins; VAMPs, vesicle-associated membrane proteins.)</a:t>
            </a:r>
          </a:p>
          <a:p>
            <a:endParaRPr lang="en-GB" dirty="0"/>
          </a:p>
        </p:txBody>
      </p:sp>
      <p:sp>
        <p:nvSpPr>
          <p:cNvPr id="32973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03374B0E-56AF-42B7-AB31-2B5C2C071771}" type="slidenum">
              <a:rPr lang="en-US" smtClean="0"/>
              <a:pPr>
                <a:defRPr/>
              </a:pPr>
              <a:t>36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Slide Image Placeholder 1"/>
          <p:cNvSpPr>
            <a:spLocks noGrp="1" noRot="1" noChangeAspect="1" noTextEdit="1"/>
          </p:cNvSpPr>
          <p:nvPr>
            <p:ph type="sldImg"/>
          </p:nvPr>
        </p:nvSpPr>
        <p:spPr bwMode="auto">
          <a:xfrm>
            <a:off x="1150938" y="692150"/>
            <a:ext cx="4554537"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0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atin typeface="Times New Roman" pitchFamily="18" charset="0"/>
            </a:endParaRPr>
          </a:p>
        </p:txBody>
      </p:sp>
      <p:sp>
        <p:nvSpPr>
          <p:cNvPr id="33075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F14FC542-E1DF-4E07-B656-E8EDF30C0EED}" type="slidenum">
              <a:rPr lang="en-US" smtClean="0">
                <a:latin typeface="Times New Roman" pitchFamily="18" charset="0"/>
              </a:rPr>
              <a:pPr>
                <a:defRPr/>
              </a:pPr>
              <a:t>37</a:t>
            </a:fld>
            <a:endParaRPr 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1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sr-Cyrl-CS"/>
              <a:t>Biosynthesis of catecholamines. The rate-limiting step, conversion of tyrosine to dopa, can be inhibited by metyrosine ( -methyltyrosine). The alternative pathways shown by the dashed arrows have not been found to be of physiologic significance in humans. However, tyramine and octopamine may accumulate in patients treated with monoamine oxidase inhibitors.</a:t>
            </a:r>
            <a:endParaRPr lang="en-GB"/>
          </a:p>
        </p:txBody>
      </p:sp>
      <p:sp>
        <p:nvSpPr>
          <p:cNvPr id="33178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67F5466A-7A7F-4567-B725-115142DEC49D}" type="slidenum">
              <a:rPr lang="en-US" smtClean="0"/>
              <a:pPr>
                <a:defRPr/>
              </a:pPr>
              <a:t>41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pitchFamily="2" charset="2"/>
              <a:buNone/>
              <a:defRPr/>
            </a:pPr>
            <a:endParaRPr lang="en-US" sz="1200" dirty="0">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Times New Roman" panose="02020603050405020304" pitchFamily="18" charset="0"/>
                <a:cs typeface="Times New Roman" panose="02020603050405020304" pitchFamily="18" charset="0"/>
              </a:rPr>
              <a:t>With the exception of eccrine sweat glands and some blood vessels, norepinephrine is released by postganglionic sympathetic fibers at end-organ tissues  </a:t>
            </a:r>
          </a:p>
          <a:p>
            <a:endParaRPr lang="en-US" dirty="0"/>
          </a:p>
        </p:txBody>
      </p:sp>
      <p:sp>
        <p:nvSpPr>
          <p:cNvPr id="4" name="Slide Number Placeholder 3"/>
          <p:cNvSpPr>
            <a:spLocks noGrp="1"/>
          </p:cNvSpPr>
          <p:nvPr>
            <p:ph type="sldNum" sz="quarter" idx="5"/>
          </p:nvPr>
        </p:nvSpPr>
        <p:spPr/>
        <p:txBody>
          <a:bodyPr/>
          <a:lstStyle/>
          <a:p>
            <a:fld id="{4FEDE72D-0DBE-46E7-AE28-19E082D3741D}" type="slidenum">
              <a:rPr lang="en-US" smtClean="0"/>
              <a:t>53</a:t>
            </a:fld>
            <a:endParaRPr lang="en-US"/>
          </a:p>
        </p:txBody>
      </p:sp>
    </p:spTree>
    <p:extLst>
      <p:ext uri="{BB962C8B-B14F-4D97-AF65-F5344CB8AC3E}">
        <p14:creationId xmlns:p14="http://schemas.microsoft.com/office/powerpoint/2010/main" val="3814330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C2F072C5-7E38-2B6B-CD4E-7F0EEAC012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2BB75D83-CE07-8204-6D6F-D11FBF45A5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en-US" sz="1800" b="0" i="0" u="none" strike="noStrike" baseline="0" dirty="0">
                <a:latin typeface="MinionPro-Regular"/>
              </a:rPr>
              <a:t>Adrenergic receptors are divided into two general categories: </a:t>
            </a:r>
            <a:r>
              <a:rPr lang="en-US" sz="1800" b="0" i="0" u="none" strike="noStrike" baseline="0" dirty="0">
                <a:latin typeface="Symbol" panose="05050102010706020507" pitchFamily="18" charset="2"/>
              </a:rPr>
              <a:t>α </a:t>
            </a:r>
            <a:r>
              <a:rPr lang="en-US" sz="1800" b="0" i="0" u="none" strike="noStrike" baseline="0" dirty="0">
                <a:latin typeface="MinionPro-Regular"/>
              </a:rPr>
              <a:t>and </a:t>
            </a:r>
            <a:r>
              <a:rPr lang="en-US" sz="1800" b="0" i="0" u="none" strike="noStrike" baseline="0" dirty="0">
                <a:latin typeface="Symbol" panose="05050102010706020507" pitchFamily="18" charset="2"/>
              </a:rPr>
              <a:t>β</a:t>
            </a:r>
            <a:r>
              <a:rPr lang="en-US" sz="1800" b="0" i="0" u="none" strike="noStrike" baseline="0" dirty="0">
                <a:latin typeface="MinionPro-Regular"/>
              </a:rPr>
              <a:t>. Each of these has been further subdivided into at least two subtypes: </a:t>
            </a:r>
            <a:r>
              <a:rPr lang="en-US" sz="1800" b="0" i="0" u="none" strike="noStrike" baseline="0" dirty="0">
                <a:latin typeface="Symbol" panose="05050102010706020507" pitchFamily="18" charset="2"/>
              </a:rPr>
              <a:t>α </a:t>
            </a:r>
            <a:r>
              <a:rPr lang="en-US" sz="1800" b="0" i="0" u="none" strike="noStrike" baseline="0" dirty="0">
                <a:latin typeface="MinionPro-Regular"/>
              </a:rPr>
              <a:t>1 and </a:t>
            </a:r>
            <a:r>
              <a:rPr lang="en-US" sz="1800" b="0" i="0" u="none" strike="noStrike" baseline="0" dirty="0">
                <a:latin typeface="Symbol" panose="05050102010706020507" pitchFamily="18" charset="2"/>
              </a:rPr>
              <a:t>α </a:t>
            </a:r>
            <a:r>
              <a:rPr lang="en-US" sz="1800" b="0" i="0" u="none" strike="noStrike" baseline="0" dirty="0">
                <a:latin typeface="MinionPro-Regular"/>
              </a:rPr>
              <a:t>2 , and </a:t>
            </a:r>
            <a:r>
              <a:rPr lang="en-US" sz="1800" b="0" i="0" u="none" strike="noStrike" baseline="0" dirty="0">
                <a:latin typeface="Symbol" panose="05050102010706020507" pitchFamily="18" charset="2"/>
              </a:rPr>
              <a:t>β </a:t>
            </a:r>
            <a:r>
              <a:rPr lang="en-US" sz="1800" b="0" i="0" u="none" strike="noStrike" baseline="0" dirty="0">
                <a:latin typeface="MinionPro-Regular"/>
              </a:rPr>
              <a:t>1 , </a:t>
            </a:r>
            <a:r>
              <a:rPr lang="en-US" sz="1800" b="0" i="0" u="none" strike="noStrike" baseline="0" dirty="0">
                <a:latin typeface="Symbol" panose="05050102010706020507" pitchFamily="18" charset="2"/>
              </a:rPr>
              <a:t>β </a:t>
            </a:r>
            <a:r>
              <a:rPr lang="en-US" sz="1800" b="0" i="0" u="none" strike="noStrike" baseline="0" dirty="0">
                <a:latin typeface="MinionPro-Regular"/>
              </a:rPr>
              <a:t>2 , and </a:t>
            </a:r>
            <a:r>
              <a:rPr lang="en-US" sz="1800" b="0" i="0" u="none" strike="noStrike" baseline="0" dirty="0">
                <a:latin typeface="Symbol" panose="05050102010706020507" pitchFamily="18" charset="2"/>
              </a:rPr>
              <a:t>β </a:t>
            </a:r>
            <a:r>
              <a:rPr lang="en-US" sz="1800" b="0" i="0" u="none" strike="noStrike" baseline="0" dirty="0">
                <a:latin typeface="MinionPro-Regular"/>
              </a:rPr>
              <a:t>3 .</a:t>
            </a:r>
          </a:p>
          <a:p>
            <a:pPr algn="l"/>
            <a:r>
              <a:rPr lang="en-US" altLang="en-US" sz="2400" dirty="0">
                <a:latin typeface="Times New Roman" panose="02020603050405020304" pitchFamily="18" charset="0"/>
                <a:cs typeface="Times New Roman" panose="02020603050405020304" pitchFamily="18" charset="0"/>
              </a:rPr>
              <a:t>Based on agonist potencies:</a:t>
            </a:r>
          </a:p>
          <a:p>
            <a:pPr lvl="1" algn="just" eaLnBrk="1" hangingPunct="1">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α: noradrenaline &gt; adrenaline &gt; isoprenaline </a:t>
            </a:r>
          </a:p>
          <a:p>
            <a:pPr lvl="1" algn="just" eaLnBrk="1" hangingPunct="1">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β: isoprenaline &gt; adrenaline &gt; noradrenaline</a:t>
            </a:r>
          </a:p>
          <a:p>
            <a:endParaRPr lang="en-US" altLang="en-US" dirty="0"/>
          </a:p>
        </p:txBody>
      </p:sp>
      <p:sp>
        <p:nvSpPr>
          <p:cNvPr id="12292" name="Slide Number Placeholder 3">
            <a:extLst>
              <a:ext uri="{FF2B5EF4-FFF2-40B4-BE49-F238E27FC236}">
                <a16:creationId xmlns:a16="http://schemas.microsoft.com/office/drawing/2014/main" id="{EA08E769-499A-3B7D-0D1E-51A7B4AAFB9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B6B0CF2-E0C9-4E35-BD89-5A911B93DBDA}" type="slidenum">
              <a:rPr lang="en-US" altLang="en-US">
                <a:latin typeface="Arial" panose="020B0604020202020204" pitchFamily="34" charset="0"/>
              </a:rPr>
              <a:pPr>
                <a:spcBef>
                  <a:spcPct val="0"/>
                </a:spcBef>
              </a:pPr>
              <a:t>54</a:t>
            </a:fld>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a:rPr>
              <a:t>The myocardium possesses </a:t>
            </a:r>
            <a:r>
              <a:rPr lang="el-GR" sz="1800" b="0" i="0" u="none" strike="noStrike" baseline="0" dirty="0">
                <a:latin typeface="Symbol" panose="05050102010706020507" pitchFamily="18" charset="2"/>
              </a:rPr>
              <a:t>α </a:t>
            </a:r>
            <a:r>
              <a:rPr lang="el-GR" sz="1800" b="0" i="0" u="none" strike="noStrike" baseline="0" dirty="0">
                <a:latin typeface="MinionPro-Regular"/>
              </a:rPr>
              <a:t>1 –</a:t>
            </a:r>
            <a:r>
              <a:rPr lang="en-US" sz="1800" b="0" i="0" u="none" strike="noStrike" baseline="0" dirty="0">
                <a:latin typeface="MinionPro-Regular"/>
              </a:rPr>
              <a:t>receptors that have a positive inotropic effect, which might play a role in catecholamine-induced arrhythmia.</a:t>
            </a:r>
            <a:endParaRPr lang="en-US" dirty="0"/>
          </a:p>
        </p:txBody>
      </p:sp>
      <p:sp>
        <p:nvSpPr>
          <p:cNvPr id="4" name="Slide Number Placeholder 3"/>
          <p:cNvSpPr>
            <a:spLocks noGrp="1"/>
          </p:cNvSpPr>
          <p:nvPr>
            <p:ph type="sldNum" sz="quarter" idx="5"/>
          </p:nvPr>
        </p:nvSpPr>
        <p:spPr/>
        <p:txBody>
          <a:bodyPr/>
          <a:lstStyle/>
          <a:p>
            <a:fld id="{4FEDE72D-0DBE-46E7-AE28-19E082D3741D}" type="slidenum">
              <a:rPr lang="en-US" smtClean="0"/>
              <a:t>57</a:t>
            </a:fld>
            <a:endParaRPr lang="en-US"/>
          </a:p>
        </p:txBody>
      </p:sp>
    </p:spTree>
    <p:extLst>
      <p:ext uri="{BB962C8B-B14F-4D97-AF65-F5344CB8AC3E}">
        <p14:creationId xmlns:p14="http://schemas.microsoft.com/office/powerpoint/2010/main" val="4062896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 </a:t>
            </a:r>
            <a:endParaRPr lang="en-US" dirty="0"/>
          </a:p>
        </p:txBody>
      </p:sp>
      <p:sp>
        <p:nvSpPr>
          <p:cNvPr id="4" name="Slide Number Placeholder 3"/>
          <p:cNvSpPr>
            <a:spLocks noGrp="1"/>
          </p:cNvSpPr>
          <p:nvPr>
            <p:ph type="sldNum" sz="quarter" idx="5"/>
          </p:nvPr>
        </p:nvSpPr>
        <p:spPr/>
        <p:txBody>
          <a:bodyPr/>
          <a:lstStyle/>
          <a:p>
            <a:fld id="{AB25DCD1-4C80-4B74-90D8-E17050F6BBEB}" type="slidenum">
              <a:t>58</a:t>
            </a:fld>
            <a:endParaRPr lang="en-US"/>
          </a:p>
        </p:txBody>
      </p:sp>
    </p:spTree>
    <p:extLst>
      <p:ext uri="{BB962C8B-B14F-4D97-AF65-F5344CB8AC3E}">
        <p14:creationId xmlns:p14="http://schemas.microsoft.com/office/powerpoint/2010/main" val="1674261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a:t>
            </a:r>
            <a:endParaRPr lang="en-US" sz="1200" b="0" i="1" u="none" strike="noStrike" baseline="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E9F211A1-C252-450C-998A-D277AD6A9B07}" type="slidenum">
              <a:rPr lang="en-US" smtClean="0"/>
              <a:t>59</a:t>
            </a:fld>
            <a:endParaRPr lang="en-US"/>
          </a:p>
        </p:txBody>
      </p:sp>
    </p:spTree>
    <p:extLst>
      <p:ext uri="{BB962C8B-B14F-4D97-AF65-F5344CB8AC3E}">
        <p14:creationId xmlns:p14="http://schemas.microsoft.com/office/powerpoint/2010/main" val="3350686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a:t>
            </a:r>
            <a:endParaRPr lang="en-US" sz="1200" b="0" i="1" u="none" strike="noStrike" baseline="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E9F211A1-C252-450C-998A-D277AD6A9B07}" type="slidenum">
              <a:rPr lang="en-US" smtClean="0"/>
              <a:t>60</a:t>
            </a:fld>
            <a:endParaRPr lang="en-US"/>
          </a:p>
        </p:txBody>
      </p:sp>
    </p:spTree>
    <p:extLst>
      <p:ext uri="{BB962C8B-B14F-4D97-AF65-F5344CB8AC3E}">
        <p14:creationId xmlns:p14="http://schemas.microsoft.com/office/powerpoint/2010/main" val="3350686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81000" y="304800"/>
            <a:ext cx="5124450" cy="6248400"/>
          </a:xfrm>
        </p:spPr>
        <p:txBody>
          <a:bodyPr rtlCol="0">
            <a:normAutofit/>
          </a:bodyPr>
          <a:lstStyle/>
          <a:p>
            <a:pPr>
              <a:defRPr/>
            </a:pPr>
            <a:r>
              <a:rPr lang="en-US" dirty="0">
                <a:effectLst>
                  <a:outerShdw blurRad="38100" dist="38100" dir="2700000" algn="tl">
                    <a:srgbClr val="000000">
                      <a:alpha val="43137"/>
                    </a:srgbClr>
                  </a:outerShdw>
                </a:effectLst>
                <a:cs typeface="Times New Roman" pitchFamily="18" charset="0"/>
              </a:rPr>
              <a:t>Peripheral autonomic nervous system and pharmacology</a:t>
            </a:r>
          </a:p>
        </p:txBody>
      </p:sp>
      <p:pic>
        <p:nvPicPr>
          <p:cNvPr id="3075" name="Picture 5" descr="autonomi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2288" y="320675"/>
            <a:ext cx="3411537" cy="623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0133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ans 1"/>
          <p:cNvPicPr>
            <a:picLocks noChangeAspect="1" noChangeArrowheads="1"/>
          </p:cNvPicPr>
          <p:nvPr/>
        </p:nvPicPr>
        <p:blipFill>
          <a:blip r:embed="rId2">
            <a:extLst>
              <a:ext uri="{28A0092B-C50C-407E-A947-70E740481C1C}">
                <a14:useLocalDpi xmlns:a14="http://schemas.microsoft.com/office/drawing/2010/main" val="0"/>
              </a:ext>
            </a:extLst>
          </a:blip>
          <a:srcRect b="4839"/>
          <a:stretch>
            <a:fillRect/>
          </a:stretch>
        </p:blipFill>
        <p:spPr bwMode="auto">
          <a:xfrm>
            <a:off x="762000" y="1295400"/>
            <a:ext cx="71628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2"/>
          <p:cNvSpPr>
            <a:spLocks noChangeArrowheads="1"/>
          </p:cNvSpPr>
          <p:nvPr/>
        </p:nvSpPr>
        <p:spPr bwMode="auto">
          <a:xfrm>
            <a:off x="2286000" y="381000"/>
            <a:ext cx="4191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3600" b="1">
                <a:latin typeface="Times New Roman" pitchFamily="18" charset="0"/>
                <a:cs typeface="Times New Roman" pitchFamily="18" charset="0"/>
              </a:rPr>
              <a:t>Introduction</a:t>
            </a:r>
            <a:endParaRPr lang="en-US" sz="3600">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8A460E14-0A5F-D52F-66BD-7245A4A3AB6E}"/>
              </a:ext>
            </a:extLst>
          </p:cNvPr>
          <p:cNvSpPr/>
          <p:nvPr/>
        </p:nvSpPr>
        <p:spPr>
          <a:xfrm>
            <a:off x="0" y="2170113"/>
            <a:ext cx="13716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Nervous system</a:t>
            </a:r>
          </a:p>
        </p:txBody>
      </p:sp>
      <p:cxnSp>
        <p:nvCxnSpPr>
          <p:cNvPr id="5" name="Straight Arrow Connector 4">
            <a:extLst>
              <a:ext uri="{FF2B5EF4-FFF2-40B4-BE49-F238E27FC236}">
                <a16:creationId xmlns:a16="http://schemas.microsoft.com/office/drawing/2014/main" id="{1CF033B7-7628-7C7D-EB5B-844D9CAA9B15}"/>
              </a:ext>
            </a:extLst>
          </p:cNvPr>
          <p:cNvCxnSpPr>
            <a:cxnSpLocks/>
          </p:cNvCxnSpPr>
          <p:nvPr/>
        </p:nvCxnSpPr>
        <p:spPr>
          <a:xfrm flipV="1">
            <a:off x="1447800" y="1941513"/>
            <a:ext cx="990600" cy="496887"/>
          </a:xfrm>
          <a:prstGeom prst="straightConnector1">
            <a:avLst/>
          </a:prstGeom>
          <a:ln>
            <a:tailEnd type="triangle"/>
          </a:ln>
          <a:scene3d>
            <a:camera prst="orthographicFront"/>
            <a:lightRig rig="threePt" dir="t"/>
          </a:scene3d>
          <a:sp3d>
            <a:bevelT/>
          </a:sp3d>
        </p:spPr>
        <p:style>
          <a:lnRef idx="2">
            <a:schemeClr val="accent5"/>
          </a:lnRef>
          <a:fillRef idx="0">
            <a:schemeClr val="accent5"/>
          </a:fillRef>
          <a:effectRef idx="1">
            <a:schemeClr val="accent5"/>
          </a:effectRef>
          <a:fontRef idx="minor">
            <a:schemeClr val="tx1"/>
          </a:fontRef>
        </p:style>
      </p:cxnSp>
      <p:cxnSp>
        <p:nvCxnSpPr>
          <p:cNvPr id="8" name="Straight Arrow Connector 7">
            <a:extLst>
              <a:ext uri="{FF2B5EF4-FFF2-40B4-BE49-F238E27FC236}">
                <a16:creationId xmlns:a16="http://schemas.microsoft.com/office/drawing/2014/main" id="{2F7D1B52-9AA3-838E-AD04-FD2EB893840A}"/>
              </a:ext>
            </a:extLst>
          </p:cNvPr>
          <p:cNvCxnSpPr>
            <a:cxnSpLocks/>
          </p:cNvCxnSpPr>
          <p:nvPr/>
        </p:nvCxnSpPr>
        <p:spPr>
          <a:xfrm>
            <a:off x="1447800" y="2438400"/>
            <a:ext cx="990600" cy="4572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90296569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b="1"/>
              <a:t>Introduction</a:t>
            </a:r>
            <a:endParaRPr lang="en-US"/>
          </a:p>
        </p:txBody>
      </p:sp>
      <p:sp>
        <p:nvSpPr>
          <p:cNvPr id="5123" name="Content Placeholder 2"/>
          <p:cNvSpPr>
            <a:spLocks noGrp="1"/>
          </p:cNvSpPr>
          <p:nvPr>
            <p:ph idx="1"/>
          </p:nvPr>
        </p:nvSpPr>
        <p:spPr/>
        <p:txBody>
          <a:bodyPr>
            <a:normAutofit/>
          </a:bodyPr>
          <a:lstStyle/>
          <a:p>
            <a:pPr algn="just" eaLnBrk="1" hangingPunct="1"/>
            <a:r>
              <a:rPr lang="en-US" sz="2400" dirty="0">
                <a:cs typeface="Times New Roman" pitchFamily="18" charset="0"/>
              </a:rPr>
              <a:t>Anesthesia is the practice of autonomic medicine. </a:t>
            </a:r>
          </a:p>
          <a:p>
            <a:pPr algn="just" eaLnBrk="1" hangingPunct="1"/>
            <a:r>
              <a:rPr lang="en-US" sz="2400" dirty="0">
                <a:cs typeface="Times New Roman" pitchFamily="18" charset="0"/>
              </a:rPr>
              <a:t>Drugs that produce anesthesia also produce potent autonomic side effects. </a:t>
            </a:r>
          </a:p>
          <a:p>
            <a:pPr algn="just" eaLnBrk="1" hangingPunct="1"/>
            <a:r>
              <a:rPr lang="en-US" sz="2400" dirty="0">
                <a:cs typeface="Times New Roman" pitchFamily="18" charset="0"/>
              </a:rPr>
              <a:t>The greater part of our training and practice is spent acquiring skills in averting or using </a:t>
            </a:r>
          </a:p>
          <a:p>
            <a:pPr lvl="1" algn="just"/>
            <a:r>
              <a:rPr lang="en-US" sz="2200" dirty="0">
                <a:cs typeface="Times New Roman" pitchFamily="18" charset="0"/>
              </a:rPr>
              <a:t>the autonomic nervous system (ANS) side effects of anesthetic drugs under a variety of pathophysiologic conditions. </a:t>
            </a:r>
          </a:p>
          <a:p>
            <a:pPr algn="just" eaLnBrk="1" hangingPunct="1"/>
            <a:r>
              <a:rPr lang="en-US" sz="2400" dirty="0">
                <a:cs typeface="Times New Roman" pitchFamily="18" charset="0"/>
              </a:rPr>
              <a:t>The success of any anesthetic depends on how well homeostasis is maintained</a:t>
            </a:r>
          </a:p>
        </p:txBody>
      </p:sp>
    </p:spTree>
    <p:extLst>
      <p:ext uri="{BB962C8B-B14F-4D97-AF65-F5344CB8AC3E}">
        <p14:creationId xmlns:p14="http://schemas.microsoft.com/office/powerpoint/2010/main" val="3284663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dirty="0"/>
              <a:t>Cont.….</a:t>
            </a:r>
          </a:p>
        </p:txBody>
      </p:sp>
      <p:sp>
        <p:nvSpPr>
          <p:cNvPr id="6147" name="Content Placeholder 2"/>
          <p:cNvSpPr>
            <a:spLocks noGrp="1"/>
          </p:cNvSpPr>
          <p:nvPr>
            <p:ph idx="1"/>
          </p:nvPr>
        </p:nvSpPr>
        <p:spPr/>
        <p:txBody>
          <a:bodyPr/>
          <a:lstStyle/>
          <a:p>
            <a:pPr eaLnBrk="1" hangingPunct="1">
              <a:buFont typeface="Wingdings" pitchFamily="2" charset="2"/>
              <a:buChar char="v"/>
            </a:pPr>
            <a:r>
              <a:rPr lang="en-US" sz="2400" dirty="0">
                <a:cs typeface="Times New Roman" pitchFamily="18" charset="0"/>
              </a:rPr>
              <a:t>The nervous system controls all the major function of the body divide in to </a:t>
            </a:r>
          </a:p>
          <a:p>
            <a:pPr lvl="2" eaLnBrk="1" hangingPunct="1">
              <a:buFont typeface="Calibri" pitchFamily="34" charset="0"/>
              <a:buAutoNum type="arabicPeriod"/>
            </a:pPr>
            <a:r>
              <a:rPr lang="en-US" dirty="0">
                <a:cs typeface="Times New Roman" pitchFamily="18" charset="0"/>
              </a:rPr>
              <a:t> central NS </a:t>
            </a:r>
          </a:p>
          <a:p>
            <a:pPr lvl="2" eaLnBrk="1" hangingPunct="1">
              <a:buFont typeface="Calibri" pitchFamily="34" charset="0"/>
              <a:buAutoNum type="arabicPeriod"/>
            </a:pPr>
            <a:r>
              <a:rPr lang="en-US" dirty="0">
                <a:cs typeface="Times New Roman" pitchFamily="18" charset="0"/>
              </a:rPr>
              <a:t>peripheral NS :-</a:t>
            </a:r>
          </a:p>
          <a:p>
            <a:pPr eaLnBrk="1" hangingPunct="1">
              <a:buFont typeface="Wingdings" pitchFamily="2" charset="2"/>
              <a:buChar char="Ø"/>
            </a:pPr>
            <a:r>
              <a:rPr lang="en-US" sz="2400" dirty="0">
                <a:cs typeface="Times New Roman" pitchFamily="18" charset="0"/>
              </a:rPr>
              <a:t> Peripheral NS</a:t>
            </a:r>
          </a:p>
          <a:p>
            <a:pPr lvl="2" algn="just" eaLnBrk="1" hangingPunct="1">
              <a:buFont typeface="Wingdings" pitchFamily="2" charset="2"/>
              <a:buChar char="§"/>
            </a:pPr>
            <a:r>
              <a:rPr lang="en-US" dirty="0">
                <a:cs typeface="Times New Roman" pitchFamily="18" charset="0"/>
              </a:rPr>
              <a:t>ANS (autonomic NS): involuntary function     </a:t>
            </a:r>
          </a:p>
          <a:p>
            <a:pPr lvl="2" algn="just" eaLnBrk="1" hangingPunct="1">
              <a:buFont typeface="Wingdings" pitchFamily="2" charset="2"/>
              <a:buChar char="§"/>
            </a:pPr>
            <a:r>
              <a:rPr lang="en-US" dirty="0">
                <a:cs typeface="Times New Roman" pitchFamily="18" charset="0"/>
              </a:rPr>
              <a:t>somatic NS : control voluntary </a:t>
            </a:r>
          </a:p>
          <a:p>
            <a:pPr eaLnBrk="1" hangingPunct="1">
              <a:buFont typeface="Wingdings" pitchFamily="2" charset="2"/>
              <a:buChar char="Ø"/>
            </a:pPr>
            <a:r>
              <a:rPr lang="en-US" sz="2400" dirty="0">
                <a:cs typeface="Times New Roman" pitchFamily="18" charset="0"/>
              </a:rPr>
              <a:t> Central NS </a:t>
            </a:r>
          </a:p>
          <a:p>
            <a:pPr lvl="1" eaLnBrk="1" hangingPunct="1">
              <a:buFont typeface="Arial" charset="0"/>
              <a:buNone/>
            </a:pPr>
            <a:r>
              <a:rPr lang="en-US" sz="2400" dirty="0">
                <a:cs typeface="Times New Roman" pitchFamily="18" charset="0"/>
              </a:rPr>
              <a:t> brain and spinal cord </a:t>
            </a:r>
          </a:p>
          <a:p>
            <a:pPr eaLnBrk="1" hangingPunct="1"/>
            <a:endParaRPr lang="en-US" sz="2400" dirty="0">
              <a:cs typeface="Times New Roman" pitchFamily="18" charset="0"/>
            </a:endParaRPr>
          </a:p>
        </p:txBody>
      </p:sp>
    </p:spTree>
    <p:extLst>
      <p:ext uri="{BB962C8B-B14F-4D97-AF65-F5344CB8AC3E}">
        <p14:creationId xmlns:p14="http://schemas.microsoft.com/office/powerpoint/2010/main" val="1333346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dirty="0">
                <a:cs typeface="Arial" panose="020B0604020202020204" pitchFamily="34" charset="0"/>
              </a:rPr>
              <a:t>Cont.….</a:t>
            </a:r>
          </a:p>
        </p:txBody>
      </p:sp>
      <p:sp>
        <p:nvSpPr>
          <p:cNvPr id="7171" name="Content Placeholder 2"/>
          <p:cNvSpPr>
            <a:spLocks noGrp="1"/>
          </p:cNvSpPr>
          <p:nvPr>
            <p:ph idx="1"/>
          </p:nvPr>
        </p:nvSpPr>
        <p:spPr/>
        <p:txBody>
          <a:bodyPr/>
          <a:lstStyle/>
          <a:p>
            <a:pPr algn="just" eaLnBrk="1" hangingPunct="1"/>
            <a:r>
              <a:rPr lang="en-US" sz="2400" dirty="0">
                <a:cs typeface="Arial" panose="020B0604020202020204" pitchFamily="34" charset="0"/>
              </a:rPr>
              <a:t>The ANS includes that part of the central and peripheral nervous system concerned with </a:t>
            </a:r>
          </a:p>
          <a:p>
            <a:pPr lvl="1" algn="just"/>
            <a:r>
              <a:rPr lang="en-US" sz="2200" dirty="0">
                <a:cs typeface="Arial" panose="020B0604020202020204" pitchFamily="34" charset="0"/>
              </a:rPr>
              <a:t>involuntary regulation of cardiac muscle, smooth muscle, glandular, and visceral functions. </a:t>
            </a:r>
          </a:p>
          <a:p>
            <a:pPr algn="just" eaLnBrk="1" hangingPunct="1"/>
            <a:r>
              <a:rPr lang="en-US" sz="2400" dirty="0">
                <a:cs typeface="Arial" panose="020B0604020202020204" pitchFamily="34" charset="0"/>
              </a:rPr>
              <a:t>ANS activity refers to visceral reflexes that function below the conscious level. </a:t>
            </a:r>
          </a:p>
          <a:p>
            <a:pPr algn="just" eaLnBrk="1" hangingPunct="1"/>
            <a:r>
              <a:rPr lang="en-US" sz="2400" dirty="0">
                <a:cs typeface="Arial" panose="020B0604020202020204" pitchFamily="34" charset="0"/>
              </a:rPr>
              <a:t>The ANS is also responsive to changes in somatic motor and sensory activities of the body</a:t>
            </a:r>
          </a:p>
        </p:txBody>
      </p:sp>
    </p:spTree>
    <p:extLst>
      <p:ext uri="{BB962C8B-B14F-4D97-AF65-F5344CB8AC3E}">
        <p14:creationId xmlns:p14="http://schemas.microsoft.com/office/powerpoint/2010/main" val="473128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457200" y="609600"/>
            <a:ext cx="8229600" cy="5845175"/>
          </a:xfrm>
        </p:spPr>
        <p:txBody>
          <a:bodyPr>
            <a:normAutofit/>
          </a:bodyPr>
          <a:lstStyle/>
          <a:p>
            <a:pPr algn="just" eaLnBrk="1" hangingPunct="1"/>
            <a:r>
              <a:rPr lang="en-US" sz="2600" dirty="0">
                <a:cs typeface="Times New Roman" pitchFamily="18" charset="0"/>
              </a:rPr>
              <a:t>The autonomic nervous system (ANS) is largely autonomous (independent) in that </a:t>
            </a:r>
          </a:p>
          <a:p>
            <a:pPr lvl="1" algn="just"/>
            <a:r>
              <a:rPr lang="en-US" sz="2300" dirty="0">
                <a:cs typeface="Times New Roman" pitchFamily="18" charset="0"/>
              </a:rPr>
              <a:t>its activities are not under direct conscious control.</a:t>
            </a:r>
          </a:p>
          <a:p>
            <a:pPr eaLnBrk="1" hangingPunct="1">
              <a:buFont typeface="Arial" charset="0"/>
              <a:buNone/>
            </a:pPr>
            <a:endParaRPr lang="en-US" sz="2600" dirty="0"/>
          </a:p>
        </p:txBody>
      </p:sp>
      <p:pic>
        <p:nvPicPr>
          <p:cNvPr id="8195" name="Picture 7" descr="01-03df_OrganSysSum_3"/>
          <p:cNvPicPr>
            <a:picLocks noChangeAspect="1" noChangeArrowheads="1"/>
          </p:cNvPicPr>
          <p:nvPr/>
        </p:nvPicPr>
        <p:blipFill>
          <a:blip r:embed="rId2">
            <a:extLst>
              <a:ext uri="{28A0092B-C50C-407E-A947-70E740481C1C}">
                <a14:useLocalDpi xmlns:a14="http://schemas.microsoft.com/office/drawing/2010/main" val="0"/>
              </a:ext>
            </a:extLst>
          </a:blip>
          <a:srcRect r="66292" b="24469"/>
          <a:stretch>
            <a:fillRect/>
          </a:stretch>
        </p:blipFill>
        <p:spPr bwMode="auto">
          <a:xfrm>
            <a:off x="3810000" y="2286000"/>
            <a:ext cx="423545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5034584"/>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E02B-AF5D-5D70-18CE-98970855E446}"/>
              </a:ext>
            </a:extLst>
          </p:cNvPr>
          <p:cNvSpPr>
            <a:spLocks noGrp="1"/>
          </p:cNvSpPr>
          <p:nvPr>
            <p:ph type="title"/>
          </p:nvPr>
        </p:nvSpPr>
        <p:spPr>
          <a:xfrm>
            <a:off x="457200" y="274638"/>
            <a:ext cx="8229600" cy="944562"/>
          </a:xfrm>
        </p:spPr>
        <p:txBody>
          <a:bodyPr/>
          <a:lstStyle/>
          <a:p>
            <a:r>
              <a:rPr lang="en-US" dirty="0">
                <a:cs typeface="Arial" panose="020B0604020202020204" pitchFamily="34" charset="0"/>
              </a:rPr>
              <a:t>Cont.….</a:t>
            </a:r>
            <a:endParaRPr lang="en-US" dirty="0"/>
          </a:p>
        </p:txBody>
      </p:sp>
      <p:sp>
        <p:nvSpPr>
          <p:cNvPr id="3" name="Content Placeholder 2">
            <a:extLst>
              <a:ext uri="{FF2B5EF4-FFF2-40B4-BE49-F238E27FC236}">
                <a16:creationId xmlns:a16="http://schemas.microsoft.com/office/drawing/2014/main" id="{B7E92B52-0FE0-7F1D-93B9-A644D5E2C101}"/>
              </a:ext>
            </a:extLst>
          </p:cNvPr>
          <p:cNvSpPr>
            <a:spLocks noGrp="1"/>
          </p:cNvSpPr>
          <p:nvPr>
            <p:ph idx="1"/>
          </p:nvPr>
        </p:nvSpPr>
        <p:spPr>
          <a:xfrm>
            <a:off x="457200" y="1219200"/>
            <a:ext cx="8229600" cy="4906963"/>
          </a:xfrm>
        </p:spPr>
        <p:txBody>
          <a:bodyPr/>
          <a:lstStyle/>
          <a:p>
            <a:pPr algn="just" eaLnBrk="1" hangingPunct="1"/>
            <a:r>
              <a:rPr lang="en-US" sz="2400" dirty="0">
                <a:cs typeface="Times New Roman" pitchFamily="18" charset="0"/>
              </a:rPr>
              <a:t>In the periphery, it consists of nerves, ganglia, and plexuses</a:t>
            </a:r>
          </a:p>
          <a:p>
            <a:pPr lvl="1" algn="just"/>
            <a:r>
              <a:rPr lang="en-US" sz="2200" dirty="0">
                <a:cs typeface="Times New Roman" pitchFamily="18" charset="0"/>
              </a:rPr>
              <a:t> that innervate the heart, blood vessels, glands, other visceral organs, and smooth muscle in various tissues.</a:t>
            </a:r>
          </a:p>
          <a:p>
            <a:pPr algn="just" eaLnBrk="1" hangingPunct="1">
              <a:buFont typeface="Wingdings 2" pitchFamily="18" charset="2"/>
              <a:buNone/>
            </a:pPr>
            <a:endParaRPr lang="en-US" sz="800" dirty="0">
              <a:cs typeface="Times New Roman" pitchFamily="18" charset="0"/>
            </a:endParaRPr>
          </a:p>
          <a:p>
            <a:pPr algn="just" eaLnBrk="1" hangingPunct="1"/>
            <a:r>
              <a:rPr lang="en-US" sz="2400" dirty="0">
                <a:cs typeface="Times New Roman" pitchFamily="18" charset="0"/>
              </a:rPr>
              <a:t>It is concerned primarily with visceral functions such as</a:t>
            </a:r>
          </a:p>
          <a:p>
            <a:pPr lvl="1" algn="just"/>
            <a:r>
              <a:rPr lang="en-US" sz="2200" dirty="0">
                <a:cs typeface="Times New Roman" pitchFamily="18" charset="0"/>
              </a:rPr>
              <a:t> </a:t>
            </a:r>
            <a:r>
              <a:rPr lang="en-US" sz="2200" dirty="0">
                <a:solidFill>
                  <a:srgbClr val="FF0000"/>
                </a:solidFill>
                <a:cs typeface="Times New Roman" pitchFamily="18" charset="0"/>
              </a:rPr>
              <a:t>cardiac output, blood flow to various organs, and digestion, </a:t>
            </a:r>
            <a:r>
              <a:rPr lang="en-US" sz="2200" dirty="0">
                <a:cs typeface="Times New Roman" pitchFamily="18" charset="0"/>
              </a:rPr>
              <a:t>which are necessary for life.</a:t>
            </a:r>
          </a:p>
          <a:p>
            <a:endParaRPr lang="en-US" dirty="0"/>
          </a:p>
        </p:txBody>
      </p:sp>
      <p:pic>
        <p:nvPicPr>
          <p:cNvPr id="4" name="Picture 3" descr="15_01">
            <a:extLst>
              <a:ext uri="{FF2B5EF4-FFF2-40B4-BE49-F238E27FC236}">
                <a16:creationId xmlns:a16="http://schemas.microsoft.com/office/drawing/2014/main" id="{B6FCCF7B-B1D1-9C5D-D7C4-11DB7C83DC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499"/>
          <a:stretch>
            <a:fillRect/>
          </a:stretch>
        </p:blipFill>
        <p:spPr bwMode="auto">
          <a:xfrm>
            <a:off x="1676400" y="4038600"/>
            <a:ext cx="66294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40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p:cNvSpPr>
            <a:spLocks noGrp="1"/>
          </p:cNvSpPr>
          <p:nvPr>
            <p:ph idx="1"/>
          </p:nvPr>
        </p:nvSpPr>
        <p:spPr>
          <a:xfrm>
            <a:off x="457200" y="1371600"/>
            <a:ext cx="8229600" cy="5135563"/>
          </a:xfrm>
        </p:spPr>
        <p:txBody>
          <a:bodyPr>
            <a:normAutofit/>
          </a:bodyPr>
          <a:lstStyle/>
          <a:p>
            <a:pPr algn="just" eaLnBrk="1" hangingPunct="1"/>
            <a:r>
              <a:rPr lang="en-US" sz="2600" dirty="0">
                <a:cs typeface="Times New Roman" pitchFamily="18" charset="0"/>
              </a:rPr>
              <a:t>The </a:t>
            </a:r>
            <a:r>
              <a:rPr lang="en-US" sz="2600" dirty="0">
                <a:solidFill>
                  <a:srgbClr val="FF0000"/>
                </a:solidFill>
                <a:cs typeface="Times New Roman" pitchFamily="18" charset="0"/>
              </a:rPr>
              <a:t>somatic division </a:t>
            </a:r>
            <a:r>
              <a:rPr lang="en-US" sz="2600" dirty="0">
                <a:cs typeface="Times New Roman" pitchFamily="18" charset="0"/>
              </a:rPr>
              <a:t>is largely concerned with </a:t>
            </a:r>
          </a:p>
          <a:p>
            <a:pPr lvl="1" algn="just"/>
            <a:r>
              <a:rPr lang="en-US" sz="2400" dirty="0">
                <a:solidFill>
                  <a:srgbClr val="FF0000"/>
                </a:solidFill>
                <a:cs typeface="Times New Roman" pitchFamily="18" charset="0"/>
              </a:rPr>
              <a:t>consciously controlled </a:t>
            </a:r>
            <a:r>
              <a:rPr lang="en-US" sz="2400" dirty="0">
                <a:cs typeface="Times New Roman" pitchFamily="18" charset="0"/>
              </a:rPr>
              <a:t>functions such as movement, respiration, and posture.</a:t>
            </a:r>
          </a:p>
          <a:p>
            <a:pPr eaLnBrk="1" hangingPunct="1">
              <a:buFont typeface="Wingdings 2" pitchFamily="18" charset="2"/>
              <a:buNone/>
            </a:pPr>
            <a:endParaRPr lang="en-US" sz="2600" dirty="0">
              <a:cs typeface="Times New Roman" pitchFamily="18" charset="0"/>
            </a:endParaRPr>
          </a:p>
        </p:txBody>
      </p:sp>
    </p:spTree>
    <p:extLst>
      <p:ext uri="{BB962C8B-B14F-4D97-AF65-F5344CB8AC3E}">
        <p14:creationId xmlns:p14="http://schemas.microsoft.com/office/powerpoint/2010/main" val="1598678521"/>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just" eaLnBrk="1" fontAlgn="auto" hangingPunct="1">
              <a:spcAft>
                <a:spcPts val="0"/>
              </a:spcAft>
              <a:defRPr/>
            </a:pPr>
            <a:r>
              <a:rPr lang="en-US" sz="2600" dirty="0">
                <a:effectLst>
                  <a:outerShdw blurRad="38100" dist="38100" dir="2700000" algn="tl">
                    <a:srgbClr val="000000">
                      <a:alpha val="43137"/>
                    </a:srgbClr>
                  </a:outerShdw>
                </a:effectLst>
              </a:rPr>
              <a:t>Comparison of Somatic and Autonomic Nervous Systems</a:t>
            </a:r>
          </a:p>
        </p:txBody>
      </p:sp>
      <p:sp>
        <p:nvSpPr>
          <p:cNvPr id="3" name="Content Placeholder 2"/>
          <p:cNvSpPr>
            <a:spLocks noGrp="1"/>
          </p:cNvSpPr>
          <p:nvPr>
            <p:ph idx="1"/>
          </p:nvPr>
        </p:nvSpPr>
        <p:spPr>
          <a:xfrm>
            <a:off x="457200" y="1600200"/>
            <a:ext cx="8305800" cy="4525963"/>
          </a:xfrm>
        </p:spPr>
        <p:txBody>
          <a:bodyPr rtlCol="0">
            <a:noAutofit/>
          </a:bodyPr>
          <a:lstStyle/>
          <a:p>
            <a:pPr algn="just" eaLnBrk="1" fontAlgn="auto" hangingPunct="1">
              <a:spcAft>
                <a:spcPts val="0"/>
              </a:spcAft>
              <a:buFont typeface="Arial" pitchFamily="34" charset="0"/>
              <a:buChar char="•"/>
              <a:defRPr/>
            </a:pPr>
            <a:r>
              <a:rPr lang="en-US" sz="2400" dirty="0">
                <a:cs typeface="Times New Roman" pitchFamily="18" charset="0"/>
              </a:rPr>
              <a:t>Although the anatomy of the somatic and ANS sensory pathways is identical, </a:t>
            </a:r>
          </a:p>
          <a:p>
            <a:pPr lvl="1" algn="just">
              <a:buFont typeface="Arial" pitchFamily="34" charset="0"/>
              <a:buChar char="•"/>
              <a:defRPr/>
            </a:pPr>
            <a:r>
              <a:rPr lang="en-US" sz="2400" dirty="0">
                <a:cs typeface="Times New Roman" pitchFamily="18" charset="0"/>
              </a:rPr>
              <a:t>the motor pathways are characteristically different. </a:t>
            </a:r>
          </a:p>
          <a:p>
            <a:pPr algn="just" eaLnBrk="1" fontAlgn="auto" hangingPunct="1">
              <a:spcAft>
                <a:spcPts val="0"/>
              </a:spcAft>
              <a:buFont typeface="Arial" pitchFamily="34" charset="0"/>
              <a:buChar char="•"/>
              <a:defRPr/>
            </a:pPr>
            <a:r>
              <a:rPr lang="en-US" sz="2400" dirty="0">
                <a:solidFill>
                  <a:srgbClr val="FF0000"/>
                </a:solidFill>
                <a:cs typeface="Times New Roman" pitchFamily="18" charset="0"/>
              </a:rPr>
              <a:t>Somatic NS provides motor fibers to skeletal muscle fibers.  </a:t>
            </a:r>
          </a:p>
          <a:p>
            <a:pPr algn="just" eaLnBrk="1" fontAlgn="auto" hangingPunct="1">
              <a:spcAft>
                <a:spcPts val="0"/>
              </a:spcAft>
              <a:buFont typeface="Arial" pitchFamily="34" charset="0"/>
              <a:buChar char="•"/>
              <a:defRPr/>
            </a:pPr>
            <a:r>
              <a:rPr lang="en-US" sz="2400" dirty="0">
                <a:cs typeface="Times New Roman" pitchFamily="18" charset="0"/>
              </a:rPr>
              <a:t>ANS provides motor fibers to </a:t>
            </a:r>
          </a:p>
          <a:p>
            <a:pPr lvl="1" algn="just">
              <a:buFont typeface="Arial" pitchFamily="34" charset="0"/>
              <a:buChar char="•"/>
              <a:defRPr/>
            </a:pPr>
            <a:r>
              <a:rPr lang="en-US" sz="2400" dirty="0">
                <a:cs typeface="Times New Roman" pitchFamily="18" charset="0"/>
              </a:rPr>
              <a:t>smooth and cardiac muscles and glands.</a:t>
            </a:r>
          </a:p>
          <a:p>
            <a:pPr algn="just" eaLnBrk="1" fontAlgn="auto" hangingPunct="1">
              <a:spcAft>
                <a:spcPts val="0"/>
              </a:spcAft>
              <a:buFont typeface="Arial" pitchFamily="34" charset="0"/>
              <a:buChar char="•"/>
              <a:defRPr/>
            </a:pPr>
            <a:r>
              <a:rPr lang="en-US" sz="2400" dirty="0">
                <a:cs typeface="Times New Roman" pitchFamily="18" charset="0"/>
              </a:rPr>
              <a:t>In Somatic NS, a single (unipolar) motor neuron forms the efferent (motor) pathway from the CNS to effectors.  </a:t>
            </a:r>
          </a:p>
          <a:p>
            <a:pPr algn="just" eaLnBrk="1" fontAlgn="auto" hangingPunct="1">
              <a:spcAft>
                <a:spcPts val="0"/>
              </a:spcAft>
              <a:buFont typeface="Arial" pitchFamily="34" charset="0"/>
              <a:buChar char="•"/>
              <a:defRPr/>
            </a:pPr>
            <a:endParaRPr lang="en-US" sz="2400" dirty="0">
              <a:cs typeface="Times New Roman" pitchFamily="18" charset="0"/>
            </a:endParaRPr>
          </a:p>
        </p:txBody>
      </p:sp>
    </p:spTree>
    <p:extLst>
      <p:ext uri="{BB962C8B-B14F-4D97-AF65-F5344CB8AC3E}">
        <p14:creationId xmlns:p14="http://schemas.microsoft.com/office/powerpoint/2010/main" val="2107632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dirty="0">
                <a:cs typeface="Arial" panose="020B0604020202020204" pitchFamily="34" charset="0"/>
              </a:rPr>
              <a:t>Cont.….</a:t>
            </a:r>
            <a:endParaRPr lang="en-US" dirty="0"/>
          </a:p>
        </p:txBody>
      </p:sp>
      <p:sp>
        <p:nvSpPr>
          <p:cNvPr id="3" name="Content Placeholder 2"/>
          <p:cNvSpPr>
            <a:spLocks noGrp="1"/>
          </p:cNvSpPr>
          <p:nvPr>
            <p:ph idx="1"/>
          </p:nvPr>
        </p:nvSpPr>
        <p:spPr>
          <a:xfrm>
            <a:off x="457200" y="1600200"/>
            <a:ext cx="8382000" cy="4525963"/>
          </a:xfrm>
        </p:spPr>
        <p:txBody>
          <a:bodyPr rtlCol="0">
            <a:normAutofit/>
          </a:bodyPr>
          <a:lstStyle/>
          <a:p>
            <a:pPr algn="just" eaLnBrk="1" fontAlgn="auto" hangingPunct="1">
              <a:spcAft>
                <a:spcPts val="0"/>
              </a:spcAft>
              <a:defRPr/>
            </a:pPr>
            <a:r>
              <a:rPr lang="en-US" sz="2400" dirty="0">
                <a:cs typeface="Times New Roman" pitchFamily="18" charset="0"/>
              </a:rPr>
              <a:t> ANS efferent pathway consists of a two (bipolar) neuron chain: </a:t>
            </a:r>
          </a:p>
          <a:p>
            <a:pPr marL="800100" lvl="3" indent="-342900" algn="just">
              <a:defRPr/>
            </a:pPr>
            <a:r>
              <a:rPr lang="en-US" sz="2400" dirty="0">
                <a:cs typeface="Times New Roman" pitchFamily="18" charset="0"/>
              </a:rPr>
              <a:t>the preganglionic neuron in the CNS and </a:t>
            </a:r>
          </a:p>
          <a:p>
            <a:pPr marL="800100" lvl="3" indent="-342900" algn="just">
              <a:defRPr/>
            </a:pPr>
            <a:r>
              <a:rPr lang="en-US" sz="2400" dirty="0">
                <a:cs typeface="Times New Roman" pitchFamily="18" charset="0"/>
              </a:rPr>
              <a:t>postganglionic in a ganglion.</a:t>
            </a:r>
          </a:p>
          <a:p>
            <a:pPr marL="800100" lvl="3" indent="-342900" algn="just">
              <a:defRPr/>
            </a:pPr>
            <a:endParaRPr lang="en-US" sz="2400" dirty="0">
              <a:cs typeface="Times New Roman" pitchFamily="18" charset="0"/>
            </a:endParaRPr>
          </a:p>
          <a:p>
            <a:pPr algn="just" eaLnBrk="1" fontAlgn="auto" hangingPunct="1">
              <a:spcAft>
                <a:spcPts val="0"/>
              </a:spcAft>
              <a:defRPr/>
            </a:pPr>
            <a:r>
              <a:rPr lang="en-US" sz="2400" dirty="0">
                <a:cs typeface="Times New Roman" pitchFamily="18" charset="0"/>
              </a:rPr>
              <a:t>Acetylcholine, the neurotransmitter of somatic neurons is stimulatory to skeletal muscle fibers.  </a:t>
            </a:r>
          </a:p>
          <a:p>
            <a:pPr algn="just" eaLnBrk="1" fontAlgn="auto" hangingPunct="1">
              <a:spcAft>
                <a:spcPts val="0"/>
              </a:spcAft>
              <a:defRPr/>
            </a:pPr>
            <a:endParaRPr lang="en-US" sz="2400" dirty="0">
              <a:cs typeface="Times New Roman" pitchFamily="18" charset="0"/>
            </a:endParaRPr>
          </a:p>
          <a:p>
            <a:pPr algn="just" eaLnBrk="1" fontAlgn="auto" hangingPunct="1">
              <a:spcAft>
                <a:spcPts val="0"/>
              </a:spcAft>
              <a:defRPr/>
            </a:pPr>
            <a:r>
              <a:rPr lang="en-US" sz="2400" dirty="0">
                <a:cs typeface="Times New Roman" pitchFamily="18" charset="0"/>
              </a:rPr>
              <a:t>Neurotransmitters released by ANS motor neurons-</a:t>
            </a:r>
          </a:p>
          <a:p>
            <a:pPr lvl="1" algn="just">
              <a:defRPr/>
            </a:pPr>
            <a:r>
              <a:rPr lang="en-US" sz="2000" dirty="0">
                <a:cs typeface="Times New Roman" pitchFamily="18" charset="0"/>
              </a:rPr>
              <a:t>acetylcholine and norepinephrine -may cause excitation or inhibition</a:t>
            </a:r>
          </a:p>
          <a:p>
            <a:pPr algn="just" eaLnBrk="1" fontAlgn="auto" hangingPunct="1">
              <a:spcAft>
                <a:spcPts val="0"/>
              </a:spcAft>
              <a:defRPr/>
            </a:pPr>
            <a:endParaRPr lang="en-US" sz="2400" dirty="0">
              <a:cs typeface="Times New Roman" pitchFamily="18" charset="0"/>
            </a:endParaRPr>
          </a:p>
        </p:txBody>
      </p:sp>
    </p:spTree>
    <p:extLst>
      <p:ext uri="{BB962C8B-B14F-4D97-AF65-F5344CB8AC3E}">
        <p14:creationId xmlns:p14="http://schemas.microsoft.com/office/powerpoint/2010/main" val="3822215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381000" y="1322388"/>
            <a:ext cx="8382000" cy="48387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defRPr/>
            </a:pPr>
            <a:endParaRPr lang="en-US"/>
          </a:p>
        </p:txBody>
      </p:sp>
      <p:sp>
        <p:nvSpPr>
          <p:cNvPr id="13315" name="Oval 5"/>
          <p:cNvSpPr>
            <a:spLocks noChangeArrowheads="1"/>
          </p:cNvSpPr>
          <p:nvPr/>
        </p:nvSpPr>
        <p:spPr bwMode="auto">
          <a:xfrm>
            <a:off x="1066800" y="1600200"/>
            <a:ext cx="1143000" cy="7620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3316" name="Oval 8"/>
          <p:cNvSpPr>
            <a:spLocks noChangeArrowheads="1"/>
          </p:cNvSpPr>
          <p:nvPr/>
        </p:nvSpPr>
        <p:spPr bwMode="auto">
          <a:xfrm>
            <a:off x="4038600" y="3886200"/>
            <a:ext cx="533400" cy="5334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3317" name="Oval 9"/>
          <p:cNvSpPr>
            <a:spLocks noChangeArrowheads="1"/>
          </p:cNvSpPr>
          <p:nvPr/>
        </p:nvSpPr>
        <p:spPr bwMode="auto">
          <a:xfrm>
            <a:off x="1828800" y="1905000"/>
            <a:ext cx="152400" cy="152400"/>
          </a:xfrm>
          <a:prstGeom prst="ellipse">
            <a:avLst/>
          </a:prstGeom>
          <a:solidFill>
            <a:srgbClr val="FFFF00"/>
          </a:solidFill>
          <a:ln w="9525">
            <a:solidFill>
              <a:schemeClr val="tx1"/>
            </a:solidFill>
            <a:round/>
            <a:headEnd/>
            <a:tailEnd/>
          </a:ln>
        </p:spPr>
        <p:txBody>
          <a:bodyPr wrap="none" anchor="ctr"/>
          <a:lstStyle/>
          <a:p>
            <a:endParaRPr lang="en-US"/>
          </a:p>
        </p:txBody>
      </p:sp>
      <p:sp>
        <p:nvSpPr>
          <p:cNvPr id="13318" name="Oval 12"/>
          <p:cNvSpPr>
            <a:spLocks noChangeArrowheads="1"/>
          </p:cNvSpPr>
          <p:nvPr/>
        </p:nvSpPr>
        <p:spPr bwMode="auto">
          <a:xfrm>
            <a:off x="4267200" y="4114800"/>
            <a:ext cx="152400" cy="152400"/>
          </a:xfrm>
          <a:prstGeom prst="ellipse">
            <a:avLst/>
          </a:prstGeom>
          <a:solidFill>
            <a:srgbClr val="FFFF00"/>
          </a:solidFill>
          <a:ln w="9525">
            <a:solidFill>
              <a:schemeClr val="tx1"/>
            </a:solidFill>
            <a:round/>
            <a:headEnd/>
            <a:tailEnd/>
          </a:ln>
        </p:spPr>
        <p:txBody>
          <a:bodyPr wrap="none" anchor="ctr"/>
          <a:lstStyle/>
          <a:p>
            <a:endParaRPr lang="en-US"/>
          </a:p>
        </p:txBody>
      </p:sp>
      <p:sp>
        <p:nvSpPr>
          <p:cNvPr id="13319" name="Line 13"/>
          <p:cNvSpPr>
            <a:spLocks noChangeShapeType="1"/>
          </p:cNvSpPr>
          <p:nvPr/>
        </p:nvSpPr>
        <p:spPr bwMode="auto">
          <a:xfrm>
            <a:off x="1981200" y="1981200"/>
            <a:ext cx="44958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0" name="Line 15"/>
          <p:cNvSpPr>
            <a:spLocks noChangeShapeType="1"/>
          </p:cNvSpPr>
          <p:nvPr/>
        </p:nvSpPr>
        <p:spPr bwMode="auto">
          <a:xfrm flipV="1">
            <a:off x="6477000" y="1752600"/>
            <a:ext cx="228600" cy="2286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1" name="Line 16"/>
          <p:cNvSpPr>
            <a:spLocks noChangeShapeType="1"/>
          </p:cNvSpPr>
          <p:nvPr/>
        </p:nvSpPr>
        <p:spPr bwMode="auto">
          <a:xfrm>
            <a:off x="6477000" y="1981200"/>
            <a:ext cx="228600" cy="152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2" name="Line 18"/>
          <p:cNvSpPr>
            <a:spLocks noChangeShapeType="1"/>
          </p:cNvSpPr>
          <p:nvPr/>
        </p:nvSpPr>
        <p:spPr bwMode="auto">
          <a:xfrm flipV="1">
            <a:off x="4114800" y="4038600"/>
            <a:ext cx="152400" cy="152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3" name="Line 21"/>
          <p:cNvSpPr>
            <a:spLocks noChangeShapeType="1"/>
          </p:cNvSpPr>
          <p:nvPr/>
        </p:nvSpPr>
        <p:spPr bwMode="auto">
          <a:xfrm>
            <a:off x="4114800" y="4191000"/>
            <a:ext cx="152400" cy="152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4" name="Line 22"/>
          <p:cNvSpPr>
            <a:spLocks noChangeShapeType="1"/>
          </p:cNvSpPr>
          <p:nvPr/>
        </p:nvSpPr>
        <p:spPr bwMode="auto">
          <a:xfrm>
            <a:off x="4419600" y="4191000"/>
            <a:ext cx="19812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5" name="Line 23"/>
          <p:cNvSpPr>
            <a:spLocks noChangeShapeType="1"/>
          </p:cNvSpPr>
          <p:nvPr/>
        </p:nvSpPr>
        <p:spPr bwMode="auto">
          <a:xfrm flipV="1">
            <a:off x="6400800" y="4038600"/>
            <a:ext cx="228600" cy="152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6" name="Line 24"/>
          <p:cNvSpPr>
            <a:spLocks noChangeShapeType="1"/>
          </p:cNvSpPr>
          <p:nvPr/>
        </p:nvSpPr>
        <p:spPr bwMode="auto">
          <a:xfrm>
            <a:off x="6400800" y="4191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7" name="Line 25"/>
          <p:cNvSpPr>
            <a:spLocks noChangeShapeType="1"/>
          </p:cNvSpPr>
          <p:nvPr/>
        </p:nvSpPr>
        <p:spPr bwMode="auto">
          <a:xfrm>
            <a:off x="6400800" y="4191000"/>
            <a:ext cx="228600" cy="152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8" name="Line 26"/>
          <p:cNvSpPr>
            <a:spLocks noChangeShapeType="1"/>
          </p:cNvSpPr>
          <p:nvPr/>
        </p:nvSpPr>
        <p:spPr bwMode="auto">
          <a:xfrm flipV="1">
            <a:off x="3200400" y="4267200"/>
            <a:ext cx="0" cy="7620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9" name="Line 27"/>
          <p:cNvSpPr>
            <a:spLocks noChangeShapeType="1"/>
          </p:cNvSpPr>
          <p:nvPr/>
        </p:nvSpPr>
        <p:spPr bwMode="auto">
          <a:xfrm flipV="1">
            <a:off x="5257800" y="4267200"/>
            <a:ext cx="0" cy="7620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0" name="Line 30"/>
          <p:cNvSpPr>
            <a:spLocks noChangeShapeType="1"/>
          </p:cNvSpPr>
          <p:nvPr/>
        </p:nvSpPr>
        <p:spPr bwMode="auto">
          <a:xfrm>
            <a:off x="4267200" y="3429000"/>
            <a:ext cx="0" cy="4572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1" name="Text Box 36"/>
          <p:cNvSpPr txBox="1">
            <a:spLocks noChangeArrowheads="1"/>
          </p:cNvSpPr>
          <p:nvPr/>
        </p:nvSpPr>
        <p:spPr bwMode="auto">
          <a:xfrm>
            <a:off x="3124200" y="3048000"/>
            <a:ext cx="2438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solidFill>
                  <a:schemeClr val="accent2"/>
                </a:solidFill>
              </a:rPr>
              <a:t>Autonomic ganglia</a:t>
            </a:r>
          </a:p>
        </p:txBody>
      </p:sp>
      <p:sp>
        <p:nvSpPr>
          <p:cNvPr id="13332" name="Text Box 37"/>
          <p:cNvSpPr txBox="1">
            <a:spLocks noChangeArrowheads="1"/>
          </p:cNvSpPr>
          <p:nvPr/>
        </p:nvSpPr>
        <p:spPr bwMode="auto">
          <a:xfrm>
            <a:off x="6858000" y="16764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solidFill>
                  <a:schemeClr val="accent2"/>
                </a:solidFill>
              </a:rPr>
              <a:t>Skeletal muscle</a:t>
            </a:r>
          </a:p>
        </p:txBody>
      </p:sp>
      <p:sp>
        <p:nvSpPr>
          <p:cNvPr id="13333" name="Text Box 38"/>
          <p:cNvSpPr txBox="1">
            <a:spLocks noChangeArrowheads="1"/>
          </p:cNvSpPr>
          <p:nvPr/>
        </p:nvSpPr>
        <p:spPr bwMode="auto">
          <a:xfrm>
            <a:off x="6781800" y="3886200"/>
            <a:ext cx="1981200" cy="132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solidFill>
                  <a:schemeClr val="accent2"/>
                </a:solidFill>
              </a:rPr>
              <a:t>Smooth muscle, cardiac muscle, glands</a:t>
            </a:r>
          </a:p>
          <a:p>
            <a:pPr eaLnBrk="1" hangingPunct="1">
              <a:spcBef>
                <a:spcPct val="50000"/>
              </a:spcBef>
            </a:pPr>
            <a:endParaRPr lang="en-US">
              <a:solidFill>
                <a:schemeClr val="accent2"/>
              </a:solidFill>
            </a:endParaRPr>
          </a:p>
        </p:txBody>
      </p:sp>
      <p:sp>
        <p:nvSpPr>
          <p:cNvPr id="13334" name="Text Box 39"/>
          <p:cNvSpPr txBox="1">
            <a:spLocks noChangeArrowheads="1"/>
          </p:cNvSpPr>
          <p:nvPr/>
        </p:nvSpPr>
        <p:spPr bwMode="auto">
          <a:xfrm>
            <a:off x="2209800" y="5105400"/>
            <a:ext cx="2133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solidFill>
                  <a:schemeClr val="accent2"/>
                </a:solidFill>
              </a:rPr>
              <a:t>Preganglionic</a:t>
            </a:r>
            <a:r>
              <a:rPr lang="en-US"/>
              <a:t> </a:t>
            </a:r>
            <a:r>
              <a:rPr lang="en-US">
                <a:solidFill>
                  <a:schemeClr val="accent2"/>
                </a:solidFill>
              </a:rPr>
              <a:t>neuron</a:t>
            </a:r>
          </a:p>
        </p:txBody>
      </p:sp>
      <p:sp>
        <p:nvSpPr>
          <p:cNvPr id="13335" name="Text Box 40"/>
          <p:cNvSpPr txBox="1">
            <a:spLocks noChangeArrowheads="1"/>
          </p:cNvSpPr>
          <p:nvPr/>
        </p:nvSpPr>
        <p:spPr bwMode="auto">
          <a:xfrm>
            <a:off x="4343400" y="5105400"/>
            <a:ext cx="2133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solidFill>
                  <a:schemeClr val="accent2"/>
                </a:solidFill>
              </a:rPr>
              <a:t>Postganglionic neuron</a:t>
            </a:r>
          </a:p>
        </p:txBody>
      </p:sp>
      <p:sp>
        <p:nvSpPr>
          <p:cNvPr id="13336" name="Oval 44"/>
          <p:cNvSpPr>
            <a:spLocks noChangeArrowheads="1"/>
          </p:cNvSpPr>
          <p:nvPr/>
        </p:nvSpPr>
        <p:spPr bwMode="auto">
          <a:xfrm>
            <a:off x="1143000" y="3810000"/>
            <a:ext cx="1143000" cy="7620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3337" name="Text Box 41"/>
          <p:cNvSpPr txBox="1">
            <a:spLocks noChangeArrowheads="1"/>
          </p:cNvSpPr>
          <p:nvPr/>
        </p:nvSpPr>
        <p:spPr bwMode="auto">
          <a:xfrm>
            <a:off x="1143000" y="17526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solidFill>
                  <a:srgbClr val="3333FF"/>
                </a:solidFill>
              </a:rPr>
              <a:t>CNS</a:t>
            </a:r>
          </a:p>
        </p:txBody>
      </p:sp>
      <p:sp>
        <p:nvSpPr>
          <p:cNvPr id="13338" name="Text Box 42"/>
          <p:cNvSpPr txBox="1">
            <a:spLocks noChangeArrowheads="1"/>
          </p:cNvSpPr>
          <p:nvPr/>
        </p:nvSpPr>
        <p:spPr bwMode="auto">
          <a:xfrm>
            <a:off x="1219200" y="39624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solidFill>
                  <a:srgbClr val="3333FF"/>
                </a:solidFill>
              </a:rPr>
              <a:t>CNS</a:t>
            </a:r>
          </a:p>
        </p:txBody>
      </p:sp>
      <p:sp>
        <p:nvSpPr>
          <p:cNvPr id="13339" name="Line 17"/>
          <p:cNvSpPr>
            <a:spLocks noChangeShapeType="1"/>
          </p:cNvSpPr>
          <p:nvPr/>
        </p:nvSpPr>
        <p:spPr bwMode="auto">
          <a:xfrm>
            <a:off x="2057400" y="4191000"/>
            <a:ext cx="20574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0" name="Oval 10"/>
          <p:cNvSpPr>
            <a:spLocks noChangeArrowheads="1"/>
          </p:cNvSpPr>
          <p:nvPr/>
        </p:nvSpPr>
        <p:spPr bwMode="auto">
          <a:xfrm>
            <a:off x="1905000" y="4114800"/>
            <a:ext cx="152400" cy="152400"/>
          </a:xfrm>
          <a:prstGeom prst="ellipse">
            <a:avLst/>
          </a:prstGeom>
          <a:solidFill>
            <a:srgbClr val="FFFF00"/>
          </a:solidFill>
          <a:ln w="9525">
            <a:solidFill>
              <a:schemeClr val="tx1"/>
            </a:solidFill>
            <a:round/>
            <a:headEnd/>
            <a:tailEnd/>
          </a:ln>
        </p:spPr>
        <p:txBody>
          <a:bodyPr wrap="none" anchor="ctr"/>
          <a:lstStyle/>
          <a:p>
            <a:endParaRPr lang="en-US"/>
          </a:p>
        </p:txBody>
      </p:sp>
      <p:sp>
        <p:nvSpPr>
          <p:cNvPr id="13341" name="Rectangle 49"/>
          <p:cNvSpPr>
            <a:spLocks noGrp="1" noChangeArrowheads="1"/>
          </p:cNvSpPr>
          <p:nvPr>
            <p:ph type="title"/>
          </p:nvPr>
        </p:nvSpPr>
        <p:spPr>
          <a:xfrm>
            <a:off x="228600" y="141288"/>
            <a:ext cx="8686800" cy="1143000"/>
          </a:xfrm>
        </p:spPr>
        <p:txBody>
          <a:bodyPr/>
          <a:lstStyle/>
          <a:p>
            <a:pPr eaLnBrk="1" hangingPunct="1">
              <a:lnSpc>
                <a:spcPct val="70000"/>
              </a:lnSpc>
            </a:pPr>
            <a:r>
              <a:rPr lang="en-US" sz="3600" dirty="0">
                <a:cs typeface="Arial" panose="020B0604020202020204" pitchFamily="34" charset="0"/>
              </a:rPr>
              <a:t>Cont.….</a:t>
            </a:r>
            <a:endParaRPr lang="en-US" sz="3600" dirty="0"/>
          </a:p>
        </p:txBody>
      </p:sp>
    </p:spTree>
    <p:custDataLst>
      <p:tags r:id="rId1"/>
    </p:custDataLst>
    <p:extLst>
      <p:ext uri="{BB962C8B-B14F-4D97-AF65-F5344CB8AC3E}">
        <p14:creationId xmlns:p14="http://schemas.microsoft.com/office/powerpoint/2010/main" val="2144187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16_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81000"/>
            <a:ext cx="8382000" cy="60055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379243"/>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8153400" cy="990600"/>
          </a:xfrm>
        </p:spPr>
        <p:txBody>
          <a:bodyPr rtlCol="0">
            <a:noAutofit/>
          </a:bodyPr>
          <a:lstStyle/>
          <a:p>
            <a:pPr marL="484632" algn="just" eaLnBrk="1" fontAlgn="auto" hangingPunct="1">
              <a:spcAft>
                <a:spcPts val="0"/>
              </a:spcAft>
              <a:defRPr/>
            </a:pPr>
            <a:r>
              <a:rPr lang="en-US" sz="2800" b="1" dirty="0">
                <a:solidFill>
                  <a:schemeClr val="accent1">
                    <a:tint val="83000"/>
                    <a:satMod val="150000"/>
                  </a:schemeClr>
                </a:solidFill>
                <a:effectLst>
                  <a:outerShdw blurRad="38100" dist="38100" dir="2700000" algn="tl">
                    <a:srgbClr val="000000">
                      <a:alpha val="43137"/>
                    </a:srgbClr>
                  </a:outerShdw>
                </a:effectLst>
                <a:cs typeface="Times New Roman" pitchFamily="18" charset="0"/>
              </a:rPr>
              <a:t>ANATOMY OF THE AUTONOMIC NERVOUS SYSTEM</a:t>
            </a:r>
            <a:br>
              <a:rPr lang="en-US" sz="3600" dirty="0">
                <a:solidFill>
                  <a:schemeClr val="accent1">
                    <a:tint val="83000"/>
                    <a:satMod val="150000"/>
                  </a:schemeClr>
                </a:solidFill>
                <a:effectLst>
                  <a:outerShdw blurRad="38100" dist="38100" dir="2700000" algn="tl">
                    <a:srgbClr val="000000">
                      <a:alpha val="43137"/>
                    </a:srgbClr>
                  </a:outerShdw>
                </a:effectLst>
              </a:rPr>
            </a:br>
            <a:endParaRPr lang="en-US" sz="3600" dirty="0">
              <a:solidFill>
                <a:schemeClr val="accent1">
                  <a:tint val="83000"/>
                  <a:satMod val="150000"/>
                </a:schemeClr>
              </a:solidFill>
              <a:effectLst>
                <a:outerShdw blurRad="38100" dist="38100" dir="2700000" algn="tl">
                  <a:srgbClr val="000000">
                    <a:alpha val="43137"/>
                  </a:srgbClr>
                </a:outerShdw>
              </a:effectLst>
            </a:endParaRPr>
          </a:p>
        </p:txBody>
      </p:sp>
      <p:sp>
        <p:nvSpPr>
          <p:cNvPr id="15363" name="Content Placeholder 2"/>
          <p:cNvSpPr>
            <a:spLocks noGrp="1"/>
          </p:cNvSpPr>
          <p:nvPr>
            <p:ph idx="1"/>
          </p:nvPr>
        </p:nvSpPr>
        <p:spPr>
          <a:xfrm>
            <a:off x="609600" y="1524000"/>
            <a:ext cx="8229600" cy="5029200"/>
          </a:xfrm>
        </p:spPr>
        <p:txBody>
          <a:bodyPr>
            <a:normAutofit/>
          </a:bodyPr>
          <a:lstStyle/>
          <a:p>
            <a:pPr marL="447675" indent="-382588" eaLnBrk="1" hangingPunct="1"/>
            <a:r>
              <a:rPr lang="en-US" sz="2400" dirty="0">
                <a:cs typeface="Times New Roman" pitchFamily="18" charset="0"/>
              </a:rPr>
              <a:t>The peripheral ANS is the efferent (motor) component of the ANS and consists of the same two complementary parts, </a:t>
            </a:r>
          </a:p>
          <a:p>
            <a:pPr marL="847725" lvl="1" indent="-382588"/>
            <a:r>
              <a:rPr lang="en-US" sz="2200" dirty="0">
                <a:cs typeface="Times New Roman" pitchFamily="18" charset="0"/>
              </a:rPr>
              <a:t>the Sympathetic nervous system (SNS) and </a:t>
            </a:r>
          </a:p>
          <a:p>
            <a:pPr marL="847725" lvl="1" indent="-382588"/>
            <a:r>
              <a:rPr lang="en-US" sz="2200" dirty="0">
                <a:cs typeface="Times New Roman" pitchFamily="18" charset="0"/>
              </a:rPr>
              <a:t>the Parasympathetic nervous system (PNS). </a:t>
            </a:r>
          </a:p>
          <a:p>
            <a:pPr marL="447675" indent="-382588" eaLnBrk="1" hangingPunct="1"/>
            <a:r>
              <a:rPr lang="en-US" sz="2400" dirty="0">
                <a:cs typeface="Times New Roman" pitchFamily="18" charset="0"/>
              </a:rPr>
              <a:t>Most organs receive fibers from both divisions.</a:t>
            </a:r>
          </a:p>
          <a:p>
            <a:pPr marL="447675" indent="-382588" eaLnBrk="1" hangingPunct="1"/>
            <a:r>
              <a:rPr lang="en-US" sz="2400" dirty="0">
                <a:cs typeface="Times New Roman" pitchFamily="18" charset="0"/>
              </a:rPr>
              <a:t> In general, activities of the two systems produce </a:t>
            </a:r>
            <a:r>
              <a:rPr lang="en-US" sz="2400" dirty="0">
                <a:solidFill>
                  <a:srgbClr val="FF0000"/>
                </a:solidFill>
                <a:cs typeface="Times New Roman" pitchFamily="18" charset="0"/>
              </a:rPr>
              <a:t>opposite</a:t>
            </a:r>
            <a:r>
              <a:rPr lang="en-US" sz="2400" dirty="0">
                <a:cs typeface="Times New Roman" pitchFamily="18" charset="0"/>
              </a:rPr>
              <a:t> but </a:t>
            </a:r>
            <a:r>
              <a:rPr lang="en-US" sz="2400" dirty="0">
                <a:solidFill>
                  <a:srgbClr val="FF0000"/>
                </a:solidFill>
                <a:cs typeface="Times New Roman" pitchFamily="18" charset="0"/>
              </a:rPr>
              <a:t>complementary</a:t>
            </a:r>
            <a:r>
              <a:rPr lang="en-US" sz="2400" dirty="0">
                <a:cs typeface="Times New Roman" pitchFamily="18" charset="0"/>
              </a:rPr>
              <a:t> </a:t>
            </a:r>
            <a:r>
              <a:rPr lang="en-US" sz="2400" dirty="0">
                <a:solidFill>
                  <a:srgbClr val="FF0000"/>
                </a:solidFill>
                <a:cs typeface="Times New Roman" pitchFamily="18" charset="0"/>
              </a:rPr>
              <a:t>effects</a:t>
            </a:r>
            <a:r>
              <a:rPr lang="en-US" sz="2400" dirty="0">
                <a:cs typeface="Times New Roman" pitchFamily="18" charset="0"/>
              </a:rPr>
              <a:t>. </a:t>
            </a:r>
          </a:p>
          <a:p>
            <a:pPr marL="447675" indent="-382588" eaLnBrk="1" hangingPunct="1"/>
            <a:endParaRPr lang="en-US" sz="2400" dirty="0">
              <a:cs typeface="Times New Roman" pitchFamily="18" charset="0"/>
            </a:endParaRPr>
          </a:p>
          <a:p>
            <a:pPr marL="447675" indent="-382588" eaLnBrk="1" hangingPunct="1"/>
            <a:r>
              <a:rPr lang="en-US" sz="2400" dirty="0">
                <a:cs typeface="Times New Roman" pitchFamily="18" charset="0"/>
              </a:rPr>
              <a:t>A few tissues, such as sweat glands and spleen, are innervated only by SNS fibers.</a:t>
            </a:r>
          </a:p>
          <a:p>
            <a:pPr marL="447675" indent="-382588"/>
            <a:endParaRPr lang="en-US" sz="2400" dirty="0">
              <a:cs typeface="Times New Roman" pitchFamily="18" charset="0"/>
            </a:endParaRPr>
          </a:p>
          <a:p>
            <a:pPr marL="65087" indent="0">
              <a:buNone/>
            </a:pPr>
            <a:endParaRPr lang="en-US" sz="2400" dirty="0">
              <a:cs typeface="Times New Roman" pitchFamily="18" charset="0"/>
            </a:endParaRPr>
          </a:p>
          <a:p>
            <a:pPr marL="447675" indent="-382588" eaLnBrk="1" hangingPunct="1"/>
            <a:endParaRPr lang="en-US" sz="2400" dirty="0">
              <a:cs typeface="Times New Roman" pitchFamily="18" charset="0"/>
            </a:endParaRPr>
          </a:p>
        </p:txBody>
      </p:sp>
    </p:spTree>
    <p:extLst>
      <p:ext uri="{BB962C8B-B14F-4D97-AF65-F5344CB8AC3E}">
        <p14:creationId xmlns:p14="http://schemas.microsoft.com/office/powerpoint/2010/main" val="254997108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a:latin typeface="+mn-lt"/>
                <a:cs typeface="Arial" panose="020B0604020202020204" pitchFamily="34" charset="0"/>
              </a:rPr>
              <a:t>Cont.….</a:t>
            </a:r>
            <a:endParaRPr lang="en-US" dirty="0">
              <a:latin typeface="+mn-lt"/>
            </a:endParaRPr>
          </a:p>
        </p:txBody>
      </p:sp>
      <p:sp>
        <p:nvSpPr>
          <p:cNvPr id="3" name="Content Placeholder 2"/>
          <p:cNvSpPr>
            <a:spLocks noGrp="1"/>
          </p:cNvSpPr>
          <p:nvPr>
            <p:ph idx="1"/>
          </p:nvPr>
        </p:nvSpPr>
        <p:spPr/>
        <p:txBody>
          <a:bodyPr rtlCol="0">
            <a:normAutofit/>
          </a:bodyPr>
          <a:lstStyle/>
          <a:p>
            <a:pPr marL="448056" indent="-384048" eaLnBrk="1" fontAlgn="auto" hangingPunct="1">
              <a:spcAft>
                <a:spcPts val="0"/>
              </a:spcAft>
              <a:buFont typeface="Wingdings 2"/>
              <a:buChar char=""/>
              <a:defRPr/>
            </a:pPr>
            <a:r>
              <a:rPr lang="en-US" sz="2400" dirty="0">
                <a:cs typeface="Times New Roman" pitchFamily="18" charset="0"/>
              </a:rPr>
              <a:t>The ANS lends itself to division on anatomic grounds into two major portion:</a:t>
            </a:r>
          </a:p>
          <a:p>
            <a:pPr marL="1106424" lvl="2" eaLnBrk="1" fontAlgn="auto" hangingPunct="1">
              <a:spcAft>
                <a:spcPts val="0"/>
              </a:spcAft>
              <a:buFont typeface="Wingdings" pitchFamily="2" charset="2"/>
              <a:buChar char="ü"/>
              <a:defRPr/>
            </a:pPr>
            <a:r>
              <a:rPr lang="en-US" dirty="0">
                <a:cs typeface="Times New Roman" pitchFamily="18" charset="0"/>
              </a:rPr>
              <a:t>sympathetic (thoracolumbar or thoracoabdominal, and  </a:t>
            </a:r>
          </a:p>
          <a:p>
            <a:pPr marL="1106424" lvl="2" eaLnBrk="1" fontAlgn="auto" hangingPunct="1">
              <a:spcAft>
                <a:spcPts val="0"/>
              </a:spcAft>
              <a:buFont typeface="Wingdings" pitchFamily="2" charset="2"/>
              <a:buChar char="ü"/>
              <a:defRPr/>
            </a:pPr>
            <a:r>
              <a:rPr lang="en-US" dirty="0">
                <a:cs typeface="Times New Roman" pitchFamily="18" charset="0"/>
              </a:rPr>
              <a:t>parasympathetic (</a:t>
            </a:r>
            <a:r>
              <a:rPr lang="en-US" dirty="0" err="1">
                <a:cs typeface="Times New Roman" pitchFamily="18" charset="0"/>
              </a:rPr>
              <a:t>cranio</a:t>
            </a:r>
            <a:r>
              <a:rPr lang="en-US" dirty="0">
                <a:cs typeface="Times New Roman" pitchFamily="18" charset="0"/>
              </a:rPr>
              <a:t>-sacral) division  </a:t>
            </a:r>
          </a:p>
          <a:p>
            <a:pPr marL="448056" indent="-384048" eaLnBrk="1" fontAlgn="auto" hangingPunct="1">
              <a:spcAft>
                <a:spcPts val="0"/>
              </a:spcAft>
              <a:buFont typeface="Wingdings" pitchFamily="2" charset="2"/>
              <a:buChar char="§"/>
              <a:defRPr/>
            </a:pPr>
            <a:r>
              <a:rPr lang="en-US" sz="2400" dirty="0">
                <a:cs typeface="Times New Roman" pitchFamily="18" charset="0"/>
              </a:rPr>
              <a:t>Both divisions originate in nuclei within the central nervous system.</a:t>
            </a:r>
          </a:p>
          <a:p>
            <a:pPr eaLnBrk="1" fontAlgn="auto" hangingPunct="1">
              <a:spcAft>
                <a:spcPts val="0"/>
              </a:spcAft>
              <a:buFont typeface="Arial" pitchFamily="34" charset="0"/>
              <a:buChar char="•"/>
              <a:defRPr/>
            </a:pPr>
            <a:endParaRPr lang="en-US" dirty="0"/>
          </a:p>
        </p:txBody>
      </p:sp>
    </p:spTree>
    <p:extLst>
      <p:ext uri="{BB962C8B-B14F-4D97-AF65-F5344CB8AC3E}">
        <p14:creationId xmlns:p14="http://schemas.microsoft.com/office/powerpoint/2010/main" val="2034100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a:t>The SNS (fight-or-flight system) </a:t>
            </a:r>
          </a:p>
        </p:txBody>
      </p:sp>
      <p:sp>
        <p:nvSpPr>
          <p:cNvPr id="18435" name="Content Placeholder 2"/>
          <p:cNvSpPr>
            <a:spLocks noGrp="1"/>
          </p:cNvSpPr>
          <p:nvPr>
            <p:ph idx="1"/>
          </p:nvPr>
        </p:nvSpPr>
        <p:spPr/>
        <p:txBody>
          <a:bodyPr/>
          <a:lstStyle/>
          <a:p>
            <a:pPr eaLnBrk="1" hangingPunct="1"/>
            <a:endParaRPr lang="en-US" sz="2400">
              <a:latin typeface="Times New Roman" pitchFamily="18" charset="0"/>
              <a:cs typeface="Times New Roman" pitchFamily="18" charset="0"/>
            </a:endParaRPr>
          </a:p>
          <a:p>
            <a:pPr eaLnBrk="1" hangingPunct="1"/>
            <a:endParaRPr lang="en-US" sz="2400">
              <a:latin typeface="Times New Roman" pitchFamily="18" charset="0"/>
              <a:cs typeface="Times New Roman" pitchFamily="18" charset="0"/>
            </a:endParaRPr>
          </a:p>
        </p:txBody>
      </p:sp>
      <p:pic>
        <p:nvPicPr>
          <p:cNvPr id="18436" name="Picture 8"/>
          <p:cNvPicPr>
            <a:picLocks noChangeAspect="1" noChangeArrowheads="1"/>
          </p:cNvPicPr>
          <p:nvPr/>
        </p:nvPicPr>
        <p:blipFill>
          <a:blip r:embed="rId2">
            <a:extLst>
              <a:ext uri="{28A0092B-C50C-407E-A947-70E740481C1C}">
                <a14:useLocalDpi xmlns:a14="http://schemas.microsoft.com/office/drawing/2010/main" val="0"/>
              </a:ext>
            </a:extLst>
          </a:blip>
          <a:srcRect l="1906" t="1019"/>
          <a:stretch>
            <a:fillRect/>
          </a:stretch>
        </p:blipFill>
        <p:spPr bwMode="auto">
          <a:xfrm>
            <a:off x="609600" y="12954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0701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a:t>	Cont.….</a:t>
            </a:r>
          </a:p>
        </p:txBody>
      </p:sp>
      <p:sp>
        <p:nvSpPr>
          <p:cNvPr id="19459" name="Content Placeholder 2"/>
          <p:cNvSpPr>
            <a:spLocks noGrp="1"/>
          </p:cNvSpPr>
          <p:nvPr>
            <p:ph idx="1"/>
          </p:nvPr>
        </p:nvSpPr>
        <p:spPr/>
        <p:txBody>
          <a:bodyPr/>
          <a:lstStyle/>
          <a:p>
            <a:pPr eaLnBrk="1" hangingPunct="1">
              <a:buFont typeface="Wingdings" panose="05000000000000000000" pitchFamily="2" charset="2"/>
              <a:buChar char="q"/>
            </a:pPr>
            <a:r>
              <a:rPr lang="en-US" sz="2800" b="1" dirty="0">
                <a:latin typeface="+mj-lt"/>
                <a:cs typeface="Times New Roman" pitchFamily="18" charset="0"/>
              </a:rPr>
              <a:t>Thoracolumbar division (T1-L3)</a:t>
            </a:r>
          </a:p>
          <a:p>
            <a:pPr eaLnBrk="1" hangingPunct="1"/>
            <a:r>
              <a:rPr lang="en-US" sz="2400" dirty="0">
                <a:latin typeface="+mj-lt"/>
                <a:cs typeface="Times New Roman" pitchFamily="18" charset="0"/>
              </a:rPr>
              <a:t> Activates the body under conditions of emergency</a:t>
            </a:r>
          </a:p>
          <a:p>
            <a:pPr eaLnBrk="1" hangingPunct="1"/>
            <a:r>
              <a:rPr lang="en-US" sz="2400" dirty="0">
                <a:latin typeface="+mj-lt"/>
                <a:cs typeface="Times New Roman" pitchFamily="18" charset="0"/>
              </a:rPr>
              <a:t>Responses include </a:t>
            </a:r>
          </a:p>
          <a:p>
            <a:pPr lvl="1"/>
            <a:r>
              <a:rPr lang="en-US" sz="2400" dirty="0">
                <a:latin typeface="+mj-lt"/>
                <a:cs typeface="Times New Roman" pitchFamily="18" charset="0"/>
              </a:rPr>
              <a:t>dilated pupils (mydriasis), </a:t>
            </a:r>
          </a:p>
          <a:p>
            <a:pPr lvl="1"/>
            <a:r>
              <a:rPr lang="en-US" sz="2400" dirty="0">
                <a:latin typeface="+mj-lt"/>
                <a:cs typeface="Times New Roman" pitchFamily="18" charset="0"/>
              </a:rPr>
              <a:t>increased heart and respiratory rates, </a:t>
            </a:r>
          </a:p>
          <a:p>
            <a:pPr lvl="1"/>
            <a:r>
              <a:rPr lang="en-US" sz="2400" dirty="0">
                <a:latin typeface="+mj-lt"/>
                <a:cs typeface="Times New Roman" pitchFamily="18" charset="0"/>
                <a:sym typeface="Symbol"/>
              </a:rPr>
              <a:t></a:t>
            </a:r>
            <a:r>
              <a:rPr lang="en-US" sz="2400" dirty="0">
                <a:latin typeface="+mj-lt"/>
                <a:cs typeface="Times New Roman" pitchFamily="18" charset="0"/>
              </a:rPr>
              <a:t> Blood Pressure (BP), </a:t>
            </a:r>
          </a:p>
          <a:p>
            <a:pPr lvl="1"/>
            <a:r>
              <a:rPr lang="en-US" sz="2400" dirty="0">
                <a:latin typeface="+mj-lt"/>
                <a:cs typeface="Times New Roman" pitchFamily="18" charset="0"/>
              </a:rPr>
              <a:t>dilation of bronchioles, </a:t>
            </a:r>
          </a:p>
          <a:p>
            <a:pPr lvl="1"/>
            <a:r>
              <a:rPr lang="en-US" sz="2400" dirty="0">
                <a:latin typeface="+mj-lt"/>
                <a:cs typeface="Times New Roman" pitchFamily="18" charset="0"/>
                <a:sym typeface="Symbol"/>
              </a:rPr>
              <a:t></a:t>
            </a:r>
            <a:r>
              <a:rPr lang="en-US" sz="2400" dirty="0">
                <a:latin typeface="+mj-lt"/>
                <a:cs typeface="Times New Roman" pitchFamily="18" charset="0"/>
              </a:rPr>
              <a:t> blood glucose and sweating.</a:t>
            </a:r>
          </a:p>
          <a:p>
            <a:pPr lvl="1"/>
            <a:endParaRPr lang="en-US" sz="2400" dirty="0">
              <a:latin typeface="+mj-lt"/>
            </a:endParaRPr>
          </a:p>
        </p:txBody>
      </p:sp>
    </p:spTree>
    <p:extLst>
      <p:ext uri="{BB962C8B-B14F-4D97-AF65-F5344CB8AC3E}">
        <p14:creationId xmlns:p14="http://schemas.microsoft.com/office/powerpoint/2010/main" val="108669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effectLst>
                  <a:outerShdw blurRad="38100" dist="38100" dir="2700000" algn="tl">
                    <a:srgbClr val="000000">
                      <a:alpha val="43137"/>
                    </a:srgbClr>
                  </a:outerShdw>
                </a:effectLst>
                <a:latin typeface="+mn-lt"/>
              </a:rPr>
              <a:t>Anatomy of thoraco-lumbar division</a:t>
            </a:r>
          </a:p>
        </p:txBody>
      </p:sp>
      <p:sp>
        <p:nvSpPr>
          <p:cNvPr id="3" name="Content Placeholder 2"/>
          <p:cNvSpPr>
            <a:spLocks noGrp="1"/>
          </p:cNvSpPr>
          <p:nvPr>
            <p:ph idx="1"/>
          </p:nvPr>
        </p:nvSpPr>
        <p:spPr>
          <a:xfrm>
            <a:off x="457200" y="1600200"/>
            <a:ext cx="8534400" cy="4525963"/>
          </a:xfrm>
        </p:spPr>
        <p:txBody>
          <a:bodyPr rtlCol="0">
            <a:noAutofit/>
          </a:bodyPr>
          <a:lstStyle/>
          <a:p>
            <a:pPr eaLnBrk="1" fontAlgn="auto" hangingPunct="1">
              <a:spcAft>
                <a:spcPts val="0"/>
              </a:spcAft>
              <a:defRPr/>
            </a:pPr>
            <a:r>
              <a:rPr lang="en-US" sz="2400" dirty="0">
                <a:cs typeface="Times New Roman" pitchFamily="18" charset="0"/>
              </a:rPr>
              <a:t>The preganglionic fibers of the SNS  originate in the intermediolateral gray column of  T1- L3 of the spinal cord.</a:t>
            </a:r>
          </a:p>
          <a:p>
            <a:pPr eaLnBrk="1" fontAlgn="auto" hangingPunct="1">
              <a:spcAft>
                <a:spcPts val="0"/>
              </a:spcAft>
              <a:defRPr/>
            </a:pPr>
            <a:r>
              <a:rPr lang="en-US" sz="2400" dirty="0">
                <a:solidFill>
                  <a:srgbClr val="FF0000"/>
                </a:solidFill>
                <a:cs typeface="Times New Roman" pitchFamily="18" charset="0"/>
              </a:rPr>
              <a:t>Preganglionic fibers are short and postganglionic fibers are long.</a:t>
            </a:r>
          </a:p>
          <a:p>
            <a:pPr eaLnBrk="1" fontAlgn="auto" hangingPunct="1">
              <a:spcAft>
                <a:spcPts val="0"/>
              </a:spcAft>
              <a:defRPr/>
            </a:pPr>
            <a:r>
              <a:rPr lang="en-US" sz="2400" dirty="0">
                <a:cs typeface="Times New Roman" pitchFamily="18" charset="0"/>
              </a:rPr>
              <a:t>Two types of sympathetic ganglia</a:t>
            </a:r>
          </a:p>
          <a:p>
            <a:pPr lvl="1">
              <a:defRPr/>
            </a:pPr>
            <a:r>
              <a:rPr lang="en-US" sz="2400" dirty="0">
                <a:cs typeface="Times New Roman" pitchFamily="18" charset="0"/>
              </a:rPr>
              <a:t>paravertebral and prevertebral.</a:t>
            </a:r>
          </a:p>
          <a:p>
            <a:pPr eaLnBrk="1" fontAlgn="auto" hangingPunct="1">
              <a:spcAft>
                <a:spcPts val="0"/>
              </a:spcAft>
              <a:defRPr/>
            </a:pPr>
            <a:r>
              <a:rPr lang="en-US" sz="2400" dirty="0">
                <a:cs typeface="Times New Roman" pitchFamily="18" charset="0"/>
              </a:rPr>
              <a:t>Preganglionic axons leave the cord and enter the paravertebral ganglia (sympathetic chain ganglia) in the sympathetic trunk.</a:t>
            </a:r>
          </a:p>
          <a:p>
            <a:pPr eaLnBrk="1" fontAlgn="auto" hangingPunct="1">
              <a:spcAft>
                <a:spcPts val="0"/>
              </a:spcAft>
              <a:defRPr/>
            </a:pPr>
            <a:endParaRPr lang="en-US" sz="2400" dirty="0"/>
          </a:p>
        </p:txBody>
      </p:sp>
    </p:spTree>
    <p:extLst>
      <p:ext uri="{BB962C8B-B14F-4D97-AF65-F5344CB8AC3E}">
        <p14:creationId xmlns:p14="http://schemas.microsoft.com/office/powerpoint/2010/main" val="498221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dirty="0"/>
              <a:t>Physiology of SNS</a:t>
            </a:r>
          </a:p>
        </p:txBody>
      </p:sp>
      <p:sp>
        <p:nvSpPr>
          <p:cNvPr id="3" name="Content Placeholder 2"/>
          <p:cNvSpPr>
            <a:spLocks noGrp="1"/>
          </p:cNvSpPr>
          <p:nvPr>
            <p:ph idx="1"/>
          </p:nvPr>
        </p:nvSpPr>
        <p:spPr/>
        <p:txBody>
          <a:bodyPr rtlCol="0">
            <a:normAutofit lnSpcReduction="10000"/>
          </a:bodyPr>
          <a:lstStyle/>
          <a:p>
            <a:pPr eaLnBrk="1" fontAlgn="auto" hangingPunct="1">
              <a:spcAft>
                <a:spcPts val="0"/>
              </a:spcAft>
              <a:buFont typeface="Arial" pitchFamily="34" charset="0"/>
              <a:buChar char="•"/>
              <a:defRPr/>
            </a:pPr>
            <a:r>
              <a:rPr lang="en-US" sz="2400" dirty="0">
                <a:cs typeface="Times New Roman" pitchFamily="18" charset="0"/>
              </a:rPr>
              <a:t>Stimulation of SNS division has two distinctive results: </a:t>
            </a:r>
          </a:p>
          <a:p>
            <a:pPr lvl="1">
              <a:defRPr/>
            </a:pPr>
            <a:r>
              <a:rPr lang="en-US" sz="2400" dirty="0">
                <a:solidFill>
                  <a:srgbClr val="FF0000"/>
                </a:solidFill>
                <a:cs typeface="Times New Roman" pitchFamily="18" charset="0"/>
              </a:rPr>
              <a:t>release of NE at specific locations, and </a:t>
            </a:r>
          </a:p>
          <a:p>
            <a:pPr lvl="1">
              <a:defRPr/>
            </a:pPr>
            <a:r>
              <a:rPr lang="en-US" sz="2400" dirty="0">
                <a:solidFill>
                  <a:srgbClr val="FF0000"/>
                </a:solidFill>
                <a:cs typeface="Times New Roman" pitchFamily="18" charset="0"/>
              </a:rPr>
              <a:t>secretion of E and NE into the general circulation</a:t>
            </a:r>
            <a:r>
              <a:rPr lang="en-US" sz="2000" dirty="0">
                <a:cs typeface="Times New Roman" pitchFamily="18" charset="0"/>
              </a:rPr>
              <a:t>. </a:t>
            </a:r>
          </a:p>
          <a:p>
            <a:pPr eaLnBrk="1" fontAlgn="auto" hangingPunct="1">
              <a:spcAft>
                <a:spcPts val="0"/>
              </a:spcAft>
              <a:buFont typeface="Arial" pitchFamily="34" charset="0"/>
              <a:buChar char="•"/>
              <a:defRPr/>
            </a:pPr>
            <a:r>
              <a:rPr lang="en-US" sz="2400" dirty="0">
                <a:cs typeface="Times New Roman" pitchFamily="18" charset="0"/>
              </a:rPr>
              <a:t>Two types of receptors alpha-for NE and E and beta-for E.</a:t>
            </a:r>
          </a:p>
          <a:p>
            <a:pPr eaLnBrk="1" fontAlgn="auto" hangingPunct="1">
              <a:spcAft>
                <a:spcPts val="0"/>
              </a:spcAft>
              <a:buFont typeface="Arial" pitchFamily="34" charset="0"/>
              <a:buChar char="•"/>
              <a:defRPr/>
            </a:pPr>
            <a:r>
              <a:rPr lang="en-US" sz="2400" dirty="0">
                <a:cs typeface="Times New Roman" pitchFamily="18" charset="0"/>
              </a:rPr>
              <a:t>Most postganglionic fibers are adrenergic, few cholinergic</a:t>
            </a:r>
          </a:p>
          <a:p>
            <a:pPr eaLnBrk="1" fontAlgn="auto" hangingPunct="1">
              <a:spcAft>
                <a:spcPts val="0"/>
              </a:spcAft>
              <a:buFont typeface="Arial" pitchFamily="34" charset="0"/>
              <a:buChar char="•"/>
              <a:defRPr/>
            </a:pPr>
            <a:r>
              <a:rPr lang="en-US" sz="2400" dirty="0">
                <a:cs typeface="Times New Roman" pitchFamily="18" charset="0"/>
              </a:rPr>
              <a:t>With the exception of eccrine sweat glands and some blood vessels, </a:t>
            </a:r>
          </a:p>
          <a:p>
            <a:pPr lvl="1">
              <a:defRPr/>
            </a:pPr>
            <a:r>
              <a:rPr lang="en-US" sz="2300" dirty="0">
                <a:cs typeface="Times New Roman" pitchFamily="18" charset="0"/>
              </a:rPr>
              <a:t>NE  is released by postganglionic sympathetic fibers at end-organ tissues. </a:t>
            </a:r>
          </a:p>
          <a:p>
            <a:pPr eaLnBrk="1" fontAlgn="auto" hangingPunct="1">
              <a:spcAft>
                <a:spcPts val="0"/>
              </a:spcAft>
              <a:buFont typeface="Arial" pitchFamily="34" charset="0"/>
              <a:buChar char="•"/>
              <a:defRPr/>
            </a:pPr>
            <a:r>
              <a:rPr lang="en-US" sz="2400" dirty="0">
                <a:cs typeface="Times New Roman" pitchFamily="18" charset="0"/>
              </a:rPr>
              <a:t>In contrast, acetylcholine is released by </a:t>
            </a:r>
          </a:p>
          <a:p>
            <a:pPr lvl="1">
              <a:defRPr/>
            </a:pPr>
            <a:r>
              <a:rPr lang="en-US" sz="2000" dirty="0">
                <a:cs typeface="Times New Roman" pitchFamily="18" charset="0"/>
              </a:rPr>
              <a:t>preganglionic sympathetic fibers and all parasympathetic fibers.   </a:t>
            </a:r>
          </a:p>
          <a:p>
            <a:pPr marL="0" indent="0" eaLnBrk="1" fontAlgn="auto" hangingPunct="1">
              <a:spcAft>
                <a:spcPts val="0"/>
              </a:spcAft>
              <a:buNone/>
              <a:defRPr/>
            </a:pPr>
            <a:endParaRPr lang="en-US" sz="2400" dirty="0">
              <a:cs typeface="Times New Roman" pitchFamily="18" charset="0"/>
            </a:endParaRPr>
          </a:p>
        </p:txBody>
      </p:sp>
    </p:spTree>
    <p:extLst>
      <p:ext uri="{BB962C8B-B14F-4D97-AF65-F5344CB8AC3E}">
        <p14:creationId xmlns:p14="http://schemas.microsoft.com/office/powerpoint/2010/main" val="1001827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a:effectLst>
                  <a:outerShdw blurRad="38100" dist="38100" dir="2700000" algn="tl">
                    <a:srgbClr val="000000">
                      <a:alpha val="43137"/>
                    </a:srgbClr>
                  </a:outerShdw>
                </a:effectLst>
              </a:rPr>
              <a:t>The PNS (resting-digesting system)</a:t>
            </a:r>
          </a:p>
        </p:txBody>
      </p:sp>
      <p:sp>
        <p:nvSpPr>
          <p:cNvPr id="22531" name="Content Placeholder 2"/>
          <p:cNvSpPr>
            <a:spLocks noGrp="1"/>
          </p:cNvSpPr>
          <p:nvPr>
            <p:ph idx="1"/>
          </p:nvPr>
        </p:nvSpPr>
        <p:spPr/>
        <p:txBody>
          <a:bodyPr>
            <a:normAutofit/>
          </a:bodyPr>
          <a:lstStyle/>
          <a:p>
            <a:pPr eaLnBrk="1" hangingPunct="1">
              <a:buFont typeface="Wingdings" panose="05000000000000000000" pitchFamily="2" charset="2"/>
              <a:buChar char="q"/>
            </a:pPr>
            <a:r>
              <a:rPr lang="en-US" sz="2800" b="1" dirty="0">
                <a:cs typeface="Times New Roman" pitchFamily="18" charset="0"/>
              </a:rPr>
              <a:t>Cranio-sacral division (resting-digesting system).</a:t>
            </a:r>
          </a:p>
          <a:p>
            <a:pPr eaLnBrk="1" hangingPunct="1"/>
            <a:r>
              <a:rPr lang="en-US" sz="2600" dirty="0">
                <a:cs typeface="Times New Roman" pitchFamily="18" charset="0"/>
              </a:rPr>
              <a:t>Conserves body energy and maintains body activities at basal level.  </a:t>
            </a:r>
          </a:p>
          <a:p>
            <a:pPr eaLnBrk="1" hangingPunct="1"/>
            <a:r>
              <a:rPr lang="en-US" sz="2800" dirty="0">
                <a:cs typeface="Times New Roman" pitchFamily="18" charset="0"/>
              </a:rPr>
              <a:t>Effects include </a:t>
            </a:r>
          </a:p>
          <a:p>
            <a:pPr lvl="1"/>
            <a:r>
              <a:rPr lang="en-US" sz="2400" dirty="0">
                <a:solidFill>
                  <a:srgbClr val="FF0000"/>
                </a:solidFill>
                <a:cs typeface="Times New Roman" pitchFamily="18" charset="0"/>
              </a:rPr>
              <a:t>pupillary constriction, </a:t>
            </a:r>
          </a:p>
          <a:p>
            <a:pPr lvl="1"/>
            <a:r>
              <a:rPr lang="en-US" sz="2400" dirty="0">
                <a:solidFill>
                  <a:srgbClr val="FF0000"/>
                </a:solidFill>
                <a:cs typeface="Times New Roman" pitchFamily="18" charset="0"/>
              </a:rPr>
              <a:t>increased digestive tract mobility, and </a:t>
            </a:r>
          </a:p>
          <a:p>
            <a:pPr lvl="1"/>
            <a:r>
              <a:rPr lang="en-US" sz="2400" dirty="0">
                <a:solidFill>
                  <a:srgbClr val="FF0000"/>
                </a:solidFill>
                <a:cs typeface="Times New Roman" pitchFamily="18" charset="0"/>
              </a:rPr>
              <a:t>smooth muscle activity leading to defecation and urination.</a:t>
            </a:r>
          </a:p>
          <a:p>
            <a:pPr lvl="1"/>
            <a:endParaRPr lang="en-US" sz="2400" dirty="0">
              <a:solidFill>
                <a:srgbClr val="FF0000"/>
              </a:solidFill>
              <a:cs typeface="Times New Roman" pitchFamily="18" charset="0"/>
            </a:endParaRPr>
          </a:p>
        </p:txBody>
      </p:sp>
    </p:spTree>
    <p:extLst>
      <p:ext uri="{BB962C8B-B14F-4D97-AF65-F5344CB8AC3E}">
        <p14:creationId xmlns:p14="http://schemas.microsoft.com/office/powerpoint/2010/main" val="3906720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a:effectLst>
                  <a:outerShdw blurRad="38100" dist="38100" dir="2700000" algn="tl">
                    <a:srgbClr val="000000">
                      <a:alpha val="43137"/>
                    </a:srgbClr>
                  </a:outerShdw>
                </a:effectLst>
                <a:cs typeface="Times New Roman" pitchFamily="18" charset="0"/>
              </a:rPr>
              <a:t>Anatomy of cranio-sacral division</a:t>
            </a:r>
          </a:p>
        </p:txBody>
      </p:sp>
      <p:sp>
        <p:nvSpPr>
          <p:cNvPr id="3" name="Content Placeholder 2"/>
          <p:cNvSpPr>
            <a:spLocks noGrp="1"/>
          </p:cNvSpPr>
          <p:nvPr>
            <p:ph idx="1"/>
          </p:nvPr>
        </p:nvSpPr>
        <p:spPr>
          <a:xfrm>
            <a:off x="457200" y="1600200"/>
            <a:ext cx="8458200" cy="4525963"/>
          </a:xfrm>
        </p:spPr>
        <p:txBody>
          <a:bodyPr rtlCol="0">
            <a:noAutofit/>
          </a:bodyPr>
          <a:lstStyle/>
          <a:p>
            <a:pPr algn="just" eaLnBrk="1" fontAlgn="auto" hangingPunct="1">
              <a:spcAft>
                <a:spcPts val="0"/>
              </a:spcAft>
              <a:buFont typeface="Arial" pitchFamily="34" charset="0"/>
              <a:buChar char="•"/>
              <a:defRPr/>
            </a:pPr>
            <a:r>
              <a:rPr lang="en-US" sz="2400" dirty="0">
                <a:cs typeface="Times New Roman" pitchFamily="18" charset="0"/>
              </a:rPr>
              <a:t>It also has both preganglionic and postganglionic neurons. </a:t>
            </a:r>
          </a:p>
          <a:p>
            <a:pPr algn="just" eaLnBrk="1" fontAlgn="auto" hangingPunct="1">
              <a:spcAft>
                <a:spcPts val="0"/>
              </a:spcAft>
              <a:buFont typeface="Arial" pitchFamily="34" charset="0"/>
              <a:buChar char="•"/>
              <a:defRPr/>
            </a:pPr>
            <a:r>
              <a:rPr lang="en-US" sz="2400" dirty="0">
                <a:cs typeface="Times New Roman" pitchFamily="18" charset="0"/>
              </a:rPr>
              <a:t>The preganglionic cell bodies originate in</a:t>
            </a:r>
          </a:p>
          <a:p>
            <a:pPr lvl="1" algn="just">
              <a:defRPr/>
            </a:pPr>
            <a:r>
              <a:rPr lang="en-US" sz="2000" dirty="0">
                <a:cs typeface="Times New Roman" pitchFamily="18" charset="0"/>
              </a:rPr>
              <a:t> </a:t>
            </a:r>
            <a:r>
              <a:rPr lang="en-US" sz="2200" dirty="0">
                <a:cs typeface="Times New Roman" pitchFamily="18" charset="0"/>
              </a:rPr>
              <a:t>the brainstem and</a:t>
            </a:r>
          </a:p>
          <a:p>
            <a:pPr lvl="1" algn="just">
              <a:defRPr/>
            </a:pPr>
            <a:r>
              <a:rPr lang="en-US" sz="2200" dirty="0">
                <a:cs typeface="Times New Roman" pitchFamily="18" charset="0"/>
              </a:rPr>
              <a:t> sacral segments of the spinal cord (S2-S4). </a:t>
            </a:r>
          </a:p>
          <a:p>
            <a:pPr algn="just" eaLnBrk="1" fontAlgn="auto" hangingPunct="1">
              <a:spcAft>
                <a:spcPts val="0"/>
              </a:spcAft>
              <a:buFont typeface="Arial" pitchFamily="34" charset="0"/>
              <a:buChar char="•"/>
              <a:defRPr/>
            </a:pPr>
            <a:r>
              <a:rPr lang="en-US" sz="2400" dirty="0">
                <a:cs typeface="Times New Roman" pitchFamily="18" charset="0"/>
              </a:rPr>
              <a:t>PNS preganglionic fibers are found in cranial nerves</a:t>
            </a:r>
          </a:p>
          <a:p>
            <a:pPr lvl="1" algn="just">
              <a:defRPr/>
            </a:pPr>
            <a:r>
              <a:rPr lang="en-US" sz="2000" dirty="0">
                <a:cs typeface="Times New Roman" pitchFamily="18" charset="0"/>
              </a:rPr>
              <a:t> </a:t>
            </a:r>
            <a:r>
              <a:rPr lang="en-US" sz="2400" dirty="0">
                <a:cs typeface="Times New Roman" pitchFamily="18" charset="0"/>
              </a:rPr>
              <a:t>III (oculomotor), VII (facial),</a:t>
            </a:r>
          </a:p>
          <a:p>
            <a:pPr lvl="1" algn="just">
              <a:defRPr/>
            </a:pPr>
            <a:r>
              <a:rPr lang="en-US" sz="2400" dirty="0">
                <a:cs typeface="Times New Roman" pitchFamily="18" charset="0"/>
              </a:rPr>
              <a:t> IX (glossopharyngeal), and X (vagus).  </a:t>
            </a:r>
          </a:p>
          <a:p>
            <a:pPr algn="just" eaLnBrk="1" fontAlgn="auto" hangingPunct="1">
              <a:spcAft>
                <a:spcPts val="0"/>
              </a:spcAft>
              <a:buFont typeface="Arial" pitchFamily="34" charset="0"/>
              <a:buChar char="•"/>
              <a:defRPr/>
            </a:pPr>
            <a:r>
              <a:rPr lang="en-US" sz="2400" dirty="0">
                <a:cs typeface="Times New Roman" pitchFamily="18" charset="0"/>
              </a:rPr>
              <a:t>The </a:t>
            </a:r>
            <a:r>
              <a:rPr lang="en-US" sz="2400" dirty="0" err="1">
                <a:cs typeface="Times New Roman" pitchFamily="18" charset="0"/>
              </a:rPr>
              <a:t>vagus</a:t>
            </a:r>
            <a:r>
              <a:rPr lang="en-US" sz="2400" dirty="0">
                <a:cs typeface="Times New Roman" pitchFamily="18" charset="0"/>
              </a:rPr>
              <a:t> nerve has the most extensive distribution of all the PNS, accounting for more than 75% of PNS activity.</a:t>
            </a:r>
          </a:p>
          <a:p>
            <a:pPr lvl="1" eaLnBrk="1" fontAlgn="auto" hangingPunct="1">
              <a:spcAft>
                <a:spcPts val="0"/>
              </a:spcAft>
              <a:buFont typeface="Arial" pitchFamily="34" charset="0"/>
              <a:buChar char="–"/>
              <a:defRPr/>
            </a:pPr>
            <a:r>
              <a:rPr lang="en-US" sz="2400" dirty="0">
                <a:cs typeface="Times New Roman" pitchFamily="18" charset="0"/>
              </a:rPr>
              <a:t>It supplies the heart, tracheobronchial tree, liver, spleen, kidney, and the entire GIT except the distal colon. </a:t>
            </a:r>
            <a:br>
              <a:rPr lang="en-US" sz="2400" dirty="0">
                <a:cs typeface="Times New Roman" pitchFamily="18" charset="0"/>
              </a:rPr>
            </a:br>
            <a:endParaRPr lang="en-US" sz="2400" dirty="0">
              <a:cs typeface="Times New Roman" pitchFamily="18" charset="0"/>
            </a:endParaRPr>
          </a:p>
          <a:p>
            <a:pPr algn="just" eaLnBrk="1" fontAlgn="auto" hangingPunct="1">
              <a:spcAft>
                <a:spcPts val="0"/>
              </a:spcAft>
              <a:buFont typeface="Arial" pitchFamily="34" charset="0"/>
              <a:buChar char="•"/>
              <a:defRPr/>
            </a:pPr>
            <a:endParaRPr lang="en-US" sz="2400" dirty="0">
              <a:cs typeface="Times New Roman" pitchFamily="18" charset="0"/>
            </a:endParaRPr>
          </a:p>
        </p:txBody>
      </p:sp>
    </p:spTree>
    <p:extLst>
      <p:ext uri="{BB962C8B-B14F-4D97-AF65-F5344CB8AC3E}">
        <p14:creationId xmlns:p14="http://schemas.microsoft.com/office/powerpoint/2010/main" val="817520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4"/>
          <p:cNvSpPr>
            <a:spLocks noChangeArrowheads="1"/>
          </p:cNvSpPr>
          <p:nvPr/>
        </p:nvSpPr>
        <p:spPr bwMode="auto">
          <a:xfrm>
            <a:off x="457200" y="457200"/>
            <a:ext cx="8229600" cy="57912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defRPr/>
            </a:pPr>
            <a:endParaRPr lang="en-US">
              <a:solidFill>
                <a:srgbClr val="000000"/>
              </a:solidFill>
            </a:endParaRPr>
          </a:p>
        </p:txBody>
      </p:sp>
      <p:grpSp>
        <p:nvGrpSpPr>
          <p:cNvPr id="24579" name="Group 56"/>
          <p:cNvGrpSpPr>
            <a:grpSpLocks/>
          </p:cNvGrpSpPr>
          <p:nvPr/>
        </p:nvGrpSpPr>
        <p:grpSpPr bwMode="auto">
          <a:xfrm>
            <a:off x="1371600" y="2667000"/>
            <a:ext cx="6858000" cy="1143000"/>
            <a:chOff x="864" y="1680"/>
            <a:chExt cx="4320" cy="720"/>
          </a:xfrm>
        </p:grpSpPr>
        <p:sp>
          <p:nvSpPr>
            <p:cNvPr id="24588" name="Oval 5"/>
            <p:cNvSpPr>
              <a:spLocks noChangeArrowheads="1"/>
            </p:cNvSpPr>
            <p:nvPr/>
          </p:nvSpPr>
          <p:spPr bwMode="auto">
            <a:xfrm>
              <a:off x="864" y="1968"/>
              <a:ext cx="240" cy="2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89" name="Oval 6"/>
            <p:cNvSpPr>
              <a:spLocks noChangeArrowheads="1"/>
            </p:cNvSpPr>
            <p:nvPr/>
          </p:nvSpPr>
          <p:spPr bwMode="auto">
            <a:xfrm>
              <a:off x="3312" y="1920"/>
              <a:ext cx="240" cy="2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4590" name="Oval 11"/>
            <p:cNvSpPr>
              <a:spLocks noChangeArrowheads="1"/>
            </p:cNvSpPr>
            <p:nvPr/>
          </p:nvSpPr>
          <p:spPr bwMode="auto">
            <a:xfrm>
              <a:off x="4416" y="1680"/>
              <a:ext cx="768" cy="720"/>
            </a:xfrm>
            <a:prstGeom prst="ellipse">
              <a:avLst/>
            </a:prstGeom>
            <a:solidFill>
              <a:srgbClr val="FFFF00"/>
            </a:solidFill>
            <a:ln w="9525">
              <a:solidFill>
                <a:schemeClr val="tx1"/>
              </a:solidFill>
              <a:round/>
              <a:headEnd/>
              <a:tailEnd/>
            </a:ln>
          </p:spPr>
          <p:txBody>
            <a:bodyPr wrap="none" anchor="ctr"/>
            <a:lstStyle/>
            <a:p>
              <a:endParaRPr lang="en-US"/>
            </a:p>
          </p:txBody>
        </p:sp>
        <p:sp>
          <p:nvSpPr>
            <p:cNvPr id="24591" name="Line 14"/>
            <p:cNvSpPr>
              <a:spLocks noChangeShapeType="1"/>
            </p:cNvSpPr>
            <p:nvPr/>
          </p:nvSpPr>
          <p:spPr bwMode="auto">
            <a:xfrm>
              <a:off x="1104" y="2064"/>
              <a:ext cx="206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2" name="Line 15"/>
            <p:cNvSpPr>
              <a:spLocks noChangeShapeType="1"/>
            </p:cNvSpPr>
            <p:nvPr/>
          </p:nvSpPr>
          <p:spPr bwMode="auto">
            <a:xfrm>
              <a:off x="1680" y="2112"/>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3" name="Line 24"/>
            <p:cNvSpPr>
              <a:spLocks noChangeShapeType="1"/>
            </p:cNvSpPr>
            <p:nvPr/>
          </p:nvSpPr>
          <p:spPr bwMode="auto">
            <a:xfrm flipV="1">
              <a:off x="3168" y="1968"/>
              <a:ext cx="96"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4" name="Line 25"/>
            <p:cNvSpPr>
              <a:spLocks noChangeShapeType="1"/>
            </p:cNvSpPr>
            <p:nvPr/>
          </p:nvSpPr>
          <p:spPr bwMode="auto">
            <a:xfrm>
              <a:off x="3168" y="2064"/>
              <a:ext cx="96"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5" name="Line 26"/>
            <p:cNvSpPr>
              <a:spLocks noChangeShapeType="1"/>
            </p:cNvSpPr>
            <p:nvPr/>
          </p:nvSpPr>
          <p:spPr bwMode="auto">
            <a:xfrm>
              <a:off x="3552" y="2064"/>
              <a:ext cx="72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6" name="Line 27"/>
            <p:cNvSpPr>
              <a:spLocks noChangeShapeType="1"/>
            </p:cNvSpPr>
            <p:nvPr/>
          </p:nvSpPr>
          <p:spPr bwMode="auto">
            <a:xfrm flipV="1">
              <a:off x="4272" y="1968"/>
              <a:ext cx="96"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7" name="Line 28"/>
            <p:cNvSpPr>
              <a:spLocks noChangeShapeType="1"/>
            </p:cNvSpPr>
            <p:nvPr/>
          </p:nvSpPr>
          <p:spPr bwMode="auto">
            <a:xfrm>
              <a:off x="4272" y="2064"/>
              <a:ext cx="96"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4580" name="Text Box 45"/>
          <p:cNvSpPr txBox="1">
            <a:spLocks noChangeArrowheads="1"/>
          </p:cNvSpPr>
          <p:nvPr/>
        </p:nvSpPr>
        <p:spPr bwMode="auto">
          <a:xfrm>
            <a:off x="1050925" y="1331913"/>
            <a:ext cx="2965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b="1" u="sng">
                <a:solidFill>
                  <a:srgbClr val="000000"/>
                </a:solidFill>
              </a:rPr>
              <a:t>Parasympathetic Division</a:t>
            </a:r>
          </a:p>
        </p:txBody>
      </p:sp>
      <p:sp>
        <p:nvSpPr>
          <p:cNvPr id="24581" name="Text Box 46"/>
          <p:cNvSpPr txBox="1">
            <a:spLocks noChangeArrowheads="1"/>
          </p:cNvSpPr>
          <p:nvPr/>
        </p:nvSpPr>
        <p:spPr bwMode="auto">
          <a:xfrm>
            <a:off x="1981200" y="2286000"/>
            <a:ext cx="1905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solidFill>
                  <a:srgbClr val="000000"/>
                </a:solidFill>
              </a:rPr>
              <a:t>Long preganglionic axon</a:t>
            </a:r>
          </a:p>
        </p:txBody>
      </p:sp>
      <p:sp>
        <p:nvSpPr>
          <p:cNvPr id="24582" name="Text Box 47"/>
          <p:cNvSpPr txBox="1">
            <a:spLocks noChangeArrowheads="1"/>
          </p:cNvSpPr>
          <p:nvPr/>
        </p:nvSpPr>
        <p:spPr bwMode="auto">
          <a:xfrm>
            <a:off x="5486400" y="2209800"/>
            <a:ext cx="18288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solidFill>
                  <a:srgbClr val="000000"/>
                </a:solidFill>
              </a:rPr>
              <a:t>Short postganglionic axon</a:t>
            </a:r>
          </a:p>
        </p:txBody>
      </p:sp>
      <p:sp>
        <p:nvSpPr>
          <p:cNvPr id="24583" name="Text Box 48"/>
          <p:cNvSpPr txBox="1">
            <a:spLocks noChangeArrowheads="1"/>
          </p:cNvSpPr>
          <p:nvPr/>
        </p:nvSpPr>
        <p:spPr bwMode="auto">
          <a:xfrm>
            <a:off x="4495800" y="3810000"/>
            <a:ext cx="13843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200" dirty="0">
                <a:solidFill>
                  <a:srgbClr val="000000"/>
                </a:solidFill>
              </a:rPr>
              <a:t>Ach        Nicotinic</a:t>
            </a:r>
          </a:p>
          <a:p>
            <a:pPr eaLnBrk="1" hangingPunct="1"/>
            <a:r>
              <a:rPr lang="en-US" sz="1200" dirty="0">
                <a:solidFill>
                  <a:srgbClr val="000000"/>
                </a:solidFill>
              </a:rPr>
              <a:t>               receptor</a:t>
            </a:r>
          </a:p>
          <a:p>
            <a:pPr eaLnBrk="1" hangingPunct="1"/>
            <a:r>
              <a:rPr lang="en-US" sz="1200" dirty="0">
                <a:solidFill>
                  <a:srgbClr val="000000"/>
                </a:solidFill>
              </a:rPr>
              <a:t>       excitatory</a:t>
            </a:r>
          </a:p>
        </p:txBody>
      </p:sp>
      <p:sp>
        <p:nvSpPr>
          <p:cNvPr id="24584" name="Text Box 51"/>
          <p:cNvSpPr txBox="1">
            <a:spLocks noChangeArrowheads="1"/>
          </p:cNvSpPr>
          <p:nvPr/>
        </p:nvSpPr>
        <p:spPr bwMode="auto">
          <a:xfrm>
            <a:off x="6324600" y="3810000"/>
            <a:ext cx="187642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200" dirty="0">
                <a:solidFill>
                  <a:srgbClr val="000000"/>
                </a:solidFill>
              </a:rPr>
              <a:t>Ach       Muscarinic</a:t>
            </a:r>
          </a:p>
          <a:p>
            <a:pPr eaLnBrk="1" hangingPunct="1"/>
            <a:r>
              <a:rPr lang="en-US" sz="1200" dirty="0">
                <a:solidFill>
                  <a:srgbClr val="000000"/>
                </a:solidFill>
              </a:rPr>
              <a:t>               receptor</a:t>
            </a:r>
          </a:p>
          <a:p>
            <a:pPr eaLnBrk="1" hangingPunct="1"/>
            <a:r>
              <a:rPr lang="en-US" sz="1200" dirty="0">
                <a:solidFill>
                  <a:srgbClr val="000000"/>
                </a:solidFill>
              </a:rPr>
              <a:t>     excitatory or inhibitory</a:t>
            </a:r>
          </a:p>
        </p:txBody>
      </p:sp>
      <p:sp>
        <p:nvSpPr>
          <p:cNvPr id="24585" name="Text Box 52"/>
          <p:cNvSpPr txBox="1">
            <a:spLocks noChangeArrowheads="1"/>
          </p:cNvSpPr>
          <p:nvPr/>
        </p:nvSpPr>
        <p:spPr bwMode="auto">
          <a:xfrm>
            <a:off x="7239000" y="2971800"/>
            <a:ext cx="990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400">
                <a:solidFill>
                  <a:srgbClr val="000000"/>
                </a:solidFill>
              </a:rPr>
              <a:t>Effector organ</a:t>
            </a:r>
          </a:p>
        </p:txBody>
      </p:sp>
      <p:sp>
        <p:nvSpPr>
          <p:cNvPr id="24586" name="Line 53"/>
          <p:cNvSpPr>
            <a:spLocks noChangeShapeType="1"/>
          </p:cNvSpPr>
          <p:nvPr/>
        </p:nvSpPr>
        <p:spPr bwMode="auto">
          <a:xfrm>
            <a:off x="4876800" y="3962400"/>
            <a:ext cx="2286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7" name="Line 54"/>
          <p:cNvSpPr>
            <a:spLocks noChangeShapeType="1"/>
          </p:cNvSpPr>
          <p:nvPr/>
        </p:nvSpPr>
        <p:spPr bwMode="auto">
          <a:xfrm>
            <a:off x="6705600" y="3962400"/>
            <a:ext cx="2286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3262050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a:effectLst>
                  <a:outerShdw blurRad="38100" dist="38100" dir="2700000" algn="tl">
                    <a:srgbClr val="000000">
                      <a:alpha val="43137"/>
                    </a:srgbClr>
                  </a:outerShdw>
                </a:effectLst>
                <a:latin typeface="Agency FB" pitchFamily="34" charset="0"/>
              </a:rPr>
              <a:t>Physiology of PS division</a:t>
            </a:r>
          </a:p>
        </p:txBody>
      </p:sp>
      <p:sp>
        <p:nvSpPr>
          <p:cNvPr id="3" name="Content Placeholder 2"/>
          <p:cNvSpPr>
            <a:spLocks noGrp="1"/>
          </p:cNvSpPr>
          <p:nvPr>
            <p:ph idx="1"/>
          </p:nvPr>
        </p:nvSpPr>
        <p:spPr>
          <a:xfrm>
            <a:off x="533400" y="1600200"/>
            <a:ext cx="8458200" cy="4525963"/>
          </a:xfrm>
        </p:spPr>
        <p:txBody>
          <a:bodyPr rtlCol="0">
            <a:noAutofit/>
          </a:bodyPr>
          <a:lstStyle/>
          <a:p>
            <a:pPr eaLnBrk="1" fontAlgn="auto" hangingPunct="1">
              <a:spcAft>
                <a:spcPts val="0"/>
              </a:spcAft>
              <a:buFont typeface="Arial" pitchFamily="34" charset="0"/>
              <a:buChar char="•"/>
              <a:defRPr/>
            </a:pPr>
            <a:r>
              <a:rPr lang="en-US" sz="2400" dirty="0">
                <a:cs typeface="Times New Roman" pitchFamily="18" charset="0"/>
              </a:rPr>
              <a:t>All parasympathetic preganglionic and postganglionic fibers release Ach at synapses and neuro-effector junctions.  </a:t>
            </a:r>
          </a:p>
          <a:p>
            <a:pPr eaLnBrk="1" fontAlgn="auto" hangingPunct="1">
              <a:spcAft>
                <a:spcPts val="0"/>
              </a:spcAft>
              <a:buFont typeface="Arial" pitchFamily="34" charset="0"/>
              <a:buChar char="•"/>
              <a:defRPr/>
            </a:pPr>
            <a:r>
              <a:rPr lang="en-US" sz="2400" dirty="0">
                <a:cs typeface="Times New Roman" pitchFamily="18" charset="0"/>
              </a:rPr>
              <a:t>The effects are short-lived because of the actions of cholinesterase.</a:t>
            </a:r>
          </a:p>
          <a:p>
            <a:pPr eaLnBrk="1" fontAlgn="auto" hangingPunct="1">
              <a:spcAft>
                <a:spcPts val="0"/>
              </a:spcAft>
              <a:buFont typeface="Arial" pitchFamily="34" charset="0"/>
              <a:buChar char="•"/>
              <a:defRPr/>
            </a:pPr>
            <a:r>
              <a:rPr lang="en-US" sz="2400" dirty="0">
                <a:cs typeface="Times New Roman" pitchFamily="18" charset="0"/>
              </a:rPr>
              <a:t>Stimulation of muscarinic receptors produces a longer lasting effect than does stimulation of nicotinic receptors.</a:t>
            </a:r>
          </a:p>
          <a:p>
            <a:pPr eaLnBrk="1" fontAlgn="auto" hangingPunct="1">
              <a:spcAft>
                <a:spcPts val="0"/>
              </a:spcAft>
              <a:buFont typeface="Arial" pitchFamily="34" charset="0"/>
              <a:buChar char="•"/>
              <a:defRPr/>
            </a:pPr>
            <a:r>
              <a:rPr lang="en-US" sz="2400" dirty="0">
                <a:cs typeface="Times New Roman" pitchFamily="18" charset="0"/>
              </a:rPr>
              <a:t>The effects produced by the PS division center on relaxation, food processing and energy absorption</a:t>
            </a:r>
          </a:p>
          <a:p>
            <a:pPr eaLnBrk="1" fontAlgn="auto" hangingPunct="1">
              <a:spcAft>
                <a:spcPts val="0"/>
              </a:spcAft>
              <a:buFont typeface="Arial" pitchFamily="34" charset="0"/>
              <a:buChar char="•"/>
              <a:defRPr/>
            </a:pPr>
            <a:endParaRPr lang="en-US" sz="2400" dirty="0">
              <a:cs typeface="Times New Roman" pitchFamily="18" charset="0"/>
            </a:endParaRPr>
          </a:p>
        </p:txBody>
      </p:sp>
    </p:spTree>
    <p:extLst>
      <p:ext uri="{BB962C8B-B14F-4D97-AF65-F5344CB8AC3E}">
        <p14:creationId xmlns:p14="http://schemas.microsoft.com/office/powerpoint/2010/main" val="1487600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5" descr="ANS_Signaling_in_sympathetic_and_parasympathetic_syste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533400"/>
            <a:ext cx="80010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3228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52400" y="1447800"/>
            <a:ext cx="8686800" cy="2743200"/>
          </a:xfrm>
        </p:spPr>
        <p:txBody>
          <a:bodyPr rtlCol="0">
            <a:normAutofit/>
          </a:bodyPr>
          <a:lstStyle/>
          <a:p>
            <a:pPr marL="484632" algn="just" eaLnBrk="1" fontAlgn="auto" hangingPunct="1">
              <a:spcAft>
                <a:spcPts val="0"/>
              </a:spcAft>
              <a:defRPr/>
            </a:pPr>
            <a:r>
              <a:rPr lang="en-US" sz="4000" dirty="0">
                <a:effectLst>
                  <a:outerShdw blurRad="38100" dist="38100" dir="2700000" algn="tl">
                    <a:srgbClr val="000000">
                      <a:alpha val="43137"/>
                    </a:srgbClr>
                  </a:outerShdw>
                </a:effectLst>
                <a:cs typeface="Times New Roman" pitchFamily="18" charset="0"/>
              </a:rPr>
              <a:t>NEUROTRANSMITTER CHEMISTRY OF THE AUTONOMIC NERVOUS SYSTEM</a:t>
            </a:r>
            <a:br>
              <a:rPr lang="en-US" sz="4000" dirty="0">
                <a:effectLst>
                  <a:outerShdw blurRad="38100" dist="38100" dir="2700000" algn="tl">
                    <a:srgbClr val="000000">
                      <a:alpha val="43137"/>
                    </a:srgbClr>
                  </a:outerShdw>
                </a:effectLst>
                <a:cs typeface="Times New Roman" pitchFamily="18" charset="0"/>
              </a:rPr>
            </a:br>
            <a:endParaRPr lang="en-US" sz="4000" dirty="0">
              <a:effectLst>
                <a:outerShdw blurRad="38100" dist="38100" dir="2700000" algn="tl">
                  <a:srgbClr val="000000">
                    <a:alpha val="43137"/>
                  </a:srgbClr>
                </a:outerShdw>
              </a:effectLst>
              <a:cs typeface="Times New Roman" pitchFamily="18" charset="0"/>
            </a:endParaRPr>
          </a:p>
        </p:txBody>
      </p:sp>
    </p:spTree>
    <p:extLst>
      <p:ext uri="{BB962C8B-B14F-4D97-AF65-F5344CB8AC3E}">
        <p14:creationId xmlns:p14="http://schemas.microsoft.com/office/powerpoint/2010/main" val="3122963841"/>
      </p:ext>
    </p:extLst>
  </p:cSld>
  <p:clrMapOvr>
    <a:masterClrMapping/>
  </p:clrMapOvr>
  <p:transition>
    <p:wheel spokes="8"/>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0007A-A4BF-7C24-D551-8398A99670BC}"/>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3DBA3AD5-A3F8-0911-7DC4-4CA8962A4050}"/>
              </a:ext>
            </a:extLst>
          </p:cNvPr>
          <p:cNvSpPr>
            <a:spLocks noGrp="1"/>
          </p:cNvSpPr>
          <p:nvPr>
            <p:ph idx="1"/>
          </p:nvPr>
        </p:nvSpPr>
        <p:spPr>
          <a:xfrm>
            <a:off x="228600" y="1600200"/>
            <a:ext cx="8610600" cy="4525963"/>
          </a:xfrm>
        </p:spPr>
        <p:txBody>
          <a:bodyPr>
            <a:normAutofit/>
          </a:bodyPr>
          <a:lstStyle/>
          <a:p>
            <a:pPr marL="448056" indent="-384048" algn="just" eaLnBrk="1" fontAlgn="auto" hangingPunct="1">
              <a:spcAft>
                <a:spcPts val="0"/>
              </a:spcAft>
              <a:defRPr/>
            </a:pPr>
            <a:r>
              <a:rPr lang="en-US" sz="2400" dirty="0">
                <a:cs typeface="Times New Roman" pitchFamily="18" charset="0"/>
              </a:rPr>
              <a:t>An important classification of autonomic nerves is based on </a:t>
            </a:r>
          </a:p>
          <a:p>
            <a:pPr marL="848106" lvl="1" indent="-384048" algn="just">
              <a:defRPr/>
            </a:pPr>
            <a:r>
              <a:rPr lang="en-US" sz="2400" dirty="0">
                <a:cs typeface="Times New Roman" pitchFamily="18" charset="0"/>
              </a:rPr>
              <a:t>the primary transmitter molecules: </a:t>
            </a:r>
          </a:p>
          <a:p>
            <a:pPr marL="1248156" lvl="2" indent="-384048" algn="just">
              <a:defRPr/>
            </a:pPr>
            <a:r>
              <a:rPr lang="en-US" dirty="0">
                <a:cs typeface="Times New Roman" pitchFamily="18" charset="0"/>
              </a:rPr>
              <a:t>acetylcholine or norepinephrine (</a:t>
            </a:r>
            <a:r>
              <a:rPr lang="en-US" sz="2400" dirty="0">
                <a:cs typeface="Times New Roman" pitchFamily="18" charset="0"/>
              </a:rPr>
              <a:t>noradrenaline)</a:t>
            </a:r>
            <a:endParaRPr lang="en-US" dirty="0">
              <a:cs typeface="Times New Roman" pitchFamily="18" charset="0"/>
            </a:endParaRPr>
          </a:p>
          <a:p>
            <a:pPr marL="448056" indent="-384048" algn="just" eaLnBrk="1" fontAlgn="auto" hangingPunct="1">
              <a:spcAft>
                <a:spcPts val="0"/>
              </a:spcAft>
              <a:defRPr/>
            </a:pPr>
            <a:r>
              <a:rPr lang="en-US" sz="2400" dirty="0">
                <a:cs typeface="Times New Roman" pitchFamily="18" charset="0"/>
              </a:rPr>
              <a:t> A large number of peripheral ANS fibers synthesize and release </a:t>
            </a:r>
            <a:r>
              <a:rPr lang="en-US" sz="2400" dirty="0" err="1">
                <a:cs typeface="Times New Roman" pitchFamily="18" charset="0"/>
              </a:rPr>
              <a:t>ACh</a:t>
            </a:r>
            <a:r>
              <a:rPr lang="en-US" sz="2400" dirty="0">
                <a:cs typeface="Times New Roman" pitchFamily="18" charset="0"/>
              </a:rPr>
              <a:t>;</a:t>
            </a:r>
          </a:p>
          <a:p>
            <a:pPr marL="822706" lvl="1" indent="-384048" algn="just">
              <a:buFont typeface="Arial" panose="020B0604020202020204" pitchFamily="34" charset="0"/>
              <a:buChar char="•"/>
              <a:defRPr/>
            </a:pPr>
            <a:r>
              <a:rPr lang="en-US" sz="2400" dirty="0">
                <a:cs typeface="Times New Roman" pitchFamily="18" charset="0"/>
              </a:rPr>
              <a:t> they are cholinergic fibers, i.e., they act by releasing </a:t>
            </a:r>
            <a:r>
              <a:rPr lang="en-US" sz="2400" dirty="0" err="1">
                <a:cs typeface="Times New Roman" pitchFamily="18" charset="0"/>
              </a:rPr>
              <a:t>ACh</a:t>
            </a:r>
            <a:r>
              <a:rPr lang="en-US" sz="2400" dirty="0">
                <a:cs typeface="Times New Roman" pitchFamily="18" charset="0"/>
              </a:rPr>
              <a:t>.</a:t>
            </a:r>
          </a:p>
          <a:p>
            <a:pPr algn="just" eaLnBrk="1" fontAlgn="auto" hangingPunct="1">
              <a:spcAft>
                <a:spcPts val="0"/>
              </a:spcAft>
              <a:defRPr/>
            </a:pPr>
            <a:r>
              <a:rPr lang="en-US" sz="2400" dirty="0">
                <a:cs typeface="Times New Roman" pitchFamily="18" charset="0"/>
              </a:rPr>
              <a:t>Most postganglionic sympathetic fibers release norepinephrine </a:t>
            </a:r>
          </a:p>
          <a:p>
            <a:pPr lvl="1" algn="just">
              <a:defRPr/>
            </a:pPr>
            <a:r>
              <a:rPr lang="en-US" sz="2200" dirty="0">
                <a:cs typeface="Times New Roman" pitchFamily="18" charset="0"/>
              </a:rPr>
              <a:t>They are noradrenergic (often called simply "adrenergic") fibers;</a:t>
            </a:r>
          </a:p>
          <a:p>
            <a:pPr lvl="2" algn="just">
              <a:defRPr/>
            </a:pPr>
            <a:r>
              <a:rPr lang="en-US" sz="2200" dirty="0">
                <a:cs typeface="Times New Roman" pitchFamily="18" charset="0"/>
              </a:rPr>
              <a:t>they act by releasing norepinephrine. </a:t>
            </a:r>
          </a:p>
          <a:p>
            <a:pPr marL="822706" lvl="1" indent="-384048" algn="just" eaLnBrk="1" fontAlgn="auto" hangingPunct="1">
              <a:spcAft>
                <a:spcPts val="0"/>
              </a:spcAft>
              <a:buFont typeface="Arial" panose="020B0604020202020204" pitchFamily="34" charset="0"/>
              <a:buChar char="•"/>
              <a:defRPr/>
            </a:pPr>
            <a:endParaRPr lang="en-US" sz="2400" dirty="0">
              <a:cs typeface="Times New Roman" pitchFamily="18" charset="0"/>
            </a:endParaRPr>
          </a:p>
          <a:p>
            <a:endParaRPr lang="en-US" dirty="0"/>
          </a:p>
        </p:txBody>
      </p:sp>
    </p:spTree>
    <p:extLst>
      <p:ext uri="{BB962C8B-B14F-4D97-AF65-F5344CB8AC3E}">
        <p14:creationId xmlns:p14="http://schemas.microsoft.com/office/powerpoint/2010/main" val="3673565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04800"/>
            <a:ext cx="7772400"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654274"/>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BD52-336B-F592-18E5-09253ABCD9B0}"/>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6934FBD1-7237-A41F-EAA5-C1024CAC4D4C}"/>
              </a:ext>
            </a:extLst>
          </p:cNvPr>
          <p:cNvSpPr>
            <a:spLocks noGrp="1"/>
          </p:cNvSpPr>
          <p:nvPr>
            <p:ph idx="1"/>
          </p:nvPr>
        </p:nvSpPr>
        <p:spPr>
          <a:xfrm>
            <a:off x="457200" y="1646237"/>
            <a:ext cx="8229600" cy="4525963"/>
          </a:xfrm>
        </p:spPr>
        <p:txBody>
          <a:bodyPr/>
          <a:lstStyle/>
          <a:p>
            <a:pPr algn="just" eaLnBrk="1" hangingPunct="1"/>
            <a:r>
              <a:rPr lang="en-US" sz="2400" dirty="0">
                <a:cs typeface="Times New Roman" pitchFamily="18" charset="0"/>
              </a:rPr>
              <a:t>Five key features of neurotransmitter function provide potential targets for pharmacologic therapy:</a:t>
            </a:r>
          </a:p>
          <a:p>
            <a:pPr lvl="2" algn="just" eaLnBrk="1" hangingPunct="1">
              <a:buFont typeface="Wingdings" pitchFamily="2" charset="2"/>
              <a:buChar char="ü"/>
            </a:pPr>
            <a:r>
              <a:rPr lang="en-US" dirty="0">
                <a:cs typeface="Times New Roman" pitchFamily="18" charset="0"/>
              </a:rPr>
              <a:t>synthesis, </a:t>
            </a:r>
          </a:p>
          <a:p>
            <a:pPr lvl="2" algn="just" eaLnBrk="1" hangingPunct="1">
              <a:buFont typeface="Wingdings" pitchFamily="2" charset="2"/>
              <a:buChar char="ü"/>
            </a:pPr>
            <a:r>
              <a:rPr lang="en-US" dirty="0">
                <a:cs typeface="Times New Roman" pitchFamily="18" charset="0"/>
              </a:rPr>
              <a:t>storage,</a:t>
            </a:r>
          </a:p>
          <a:p>
            <a:pPr lvl="2" algn="just" eaLnBrk="1" hangingPunct="1">
              <a:buFont typeface="Wingdings" pitchFamily="2" charset="2"/>
              <a:buChar char="ü"/>
            </a:pPr>
            <a:r>
              <a:rPr lang="en-US" dirty="0">
                <a:cs typeface="Times New Roman" pitchFamily="18" charset="0"/>
              </a:rPr>
              <a:t>release, and </a:t>
            </a:r>
          </a:p>
          <a:p>
            <a:pPr lvl="2" algn="just" eaLnBrk="1" hangingPunct="1">
              <a:buFont typeface="Wingdings" pitchFamily="2" charset="2"/>
              <a:buChar char="ü"/>
            </a:pPr>
            <a:r>
              <a:rPr lang="en-US" dirty="0">
                <a:cs typeface="Times New Roman" pitchFamily="18" charset="0"/>
              </a:rPr>
              <a:t>termination of action of the transmitter, and </a:t>
            </a:r>
          </a:p>
          <a:p>
            <a:pPr lvl="2" algn="just" eaLnBrk="1" hangingPunct="1">
              <a:buFont typeface="Wingdings" pitchFamily="2" charset="2"/>
              <a:buChar char="ü"/>
            </a:pPr>
            <a:r>
              <a:rPr lang="en-US" dirty="0">
                <a:cs typeface="Times New Roman" pitchFamily="18" charset="0"/>
              </a:rPr>
              <a:t>functions of the receptor.</a:t>
            </a:r>
          </a:p>
          <a:p>
            <a:endParaRPr lang="en-US" dirty="0"/>
          </a:p>
        </p:txBody>
      </p:sp>
    </p:spTree>
    <p:extLst>
      <p:ext uri="{BB962C8B-B14F-4D97-AF65-F5344CB8AC3E}">
        <p14:creationId xmlns:p14="http://schemas.microsoft.com/office/powerpoint/2010/main" val="3643592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rtlCol="0">
            <a:normAutofit fontScale="90000"/>
          </a:bodyPr>
          <a:lstStyle/>
          <a:p>
            <a:pPr marL="484632" algn="l" eaLnBrk="1" fontAlgn="auto" hangingPunct="1">
              <a:spcAft>
                <a:spcPts val="0"/>
              </a:spcAft>
              <a:defRPr/>
            </a:pPr>
            <a:br>
              <a:rPr lang="en-US" b="1" dirty="0">
                <a:solidFill>
                  <a:schemeClr val="accent1">
                    <a:tint val="83000"/>
                    <a:satMod val="150000"/>
                  </a:schemeClr>
                </a:solidFill>
              </a:rPr>
            </a:br>
            <a:br>
              <a:rPr lang="en-US" b="1" dirty="0">
                <a:solidFill>
                  <a:schemeClr val="accent1">
                    <a:tint val="83000"/>
                    <a:satMod val="150000"/>
                  </a:schemeClr>
                </a:solidFill>
              </a:rPr>
            </a:br>
            <a:r>
              <a:rPr lang="en-US" b="1" dirty="0">
                <a:solidFill>
                  <a:schemeClr val="accent1">
                    <a:tint val="83000"/>
                    <a:satMod val="150000"/>
                  </a:schemeClr>
                </a:solidFill>
              </a:rPr>
              <a:t>Cholinergic Transmission</a:t>
            </a:r>
            <a:br>
              <a:rPr lang="en-US" b="1" dirty="0">
                <a:solidFill>
                  <a:schemeClr val="accent1">
                    <a:tint val="83000"/>
                    <a:satMod val="150000"/>
                  </a:schemeClr>
                </a:solidFill>
              </a:rPr>
            </a:br>
            <a:br>
              <a:rPr lang="en-US" dirty="0">
                <a:solidFill>
                  <a:schemeClr val="accent1">
                    <a:tint val="83000"/>
                    <a:satMod val="150000"/>
                  </a:schemeClr>
                </a:solidFill>
              </a:rPr>
            </a:br>
            <a:endParaRPr lang="en-US" dirty="0">
              <a:solidFill>
                <a:schemeClr val="accent1">
                  <a:tint val="83000"/>
                  <a:satMod val="150000"/>
                </a:schemeClr>
              </a:solidFill>
            </a:endParaRPr>
          </a:p>
        </p:txBody>
      </p:sp>
      <p:sp>
        <p:nvSpPr>
          <p:cNvPr id="3" name="Content Placeholder 2"/>
          <p:cNvSpPr>
            <a:spLocks noGrp="1"/>
          </p:cNvSpPr>
          <p:nvPr>
            <p:ph idx="1"/>
          </p:nvPr>
        </p:nvSpPr>
        <p:spPr>
          <a:xfrm>
            <a:off x="457200" y="1600200"/>
            <a:ext cx="8229600" cy="4854575"/>
          </a:xfrm>
        </p:spPr>
        <p:txBody>
          <a:bodyPr rtlCol="0">
            <a:normAutofit/>
          </a:bodyPr>
          <a:lstStyle/>
          <a:p>
            <a:pPr marL="514350" indent="-514350" eaLnBrk="1" fontAlgn="auto" hangingPunct="1">
              <a:spcAft>
                <a:spcPts val="0"/>
              </a:spcAft>
              <a:buFont typeface="Arial" charset="0"/>
              <a:buAutoNum type="alphaUcPeriod"/>
              <a:defRPr/>
            </a:pPr>
            <a:r>
              <a:rPr lang="en-US" sz="3600" b="1" dirty="0">
                <a:cs typeface="Times New Roman" pitchFamily="18" charset="0"/>
              </a:rPr>
              <a:t>Synthesis of ACh</a:t>
            </a:r>
          </a:p>
          <a:p>
            <a:pPr marL="448056" indent="-384048" algn="just" eaLnBrk="1" fontAlgn="auto" hangingPunct="1">
              <a:spcAft>
                <a:spcPts val="0"/>
              </a:spcAft>
              <a:defRPr/>
            </a:pPr>
            <a:r>
              <a:rPr lang="en-US" sz="2400" dirty="0">
                <a:cs typeface="Times New Roman" pitchFamily="18" charset="0"/>
              </a:rPr>
              <a:t>ACh is synthesized in the cytoplasm from </a:t>
            </a:r>
            <a:r>
              <a:rPr lang="en-US" sz="2400" dirty="0">
                <a:solidFill>
                  <a:srgbClr val="FF0000"/>
                </a:solidFill>
                <a:cs typeface="Times New Roman" pitchFamily="18" charset="0"/>
              </a:rPr>
              <a:t>acetyl-CoA</a:t>
            </a:r>
            <a:r>
              <a:rPr lang="en-US" sz="2400" dirty="0">
                <a:cs typeface="Times New Roman" pitchFamily="18" charset="0"/>
              </a:rPr>
              <a:t> and </a:t>
            </a:r>
            <a:r>
              <a:rPr lang="en-US" sz="2400" dirty="0">
                <a:solidFill>
                  <a:srgbClr val="FF0000"/>
                </a:solidFill>
                <a:cs typeface="Times New Roman" pitchFamily="18" charset="0"/>
              </a:rPr>
              <a:t>choline</a:t>
            </a:r>
            <a:r>
              <a:rPr lang="en-US" sz="2400" dirty="0">
                <a:cs typeface="Times New Roman" pitchFamily="18" charset="0"/>
              </a:rPr>
              <a:t> through the catalytic action of the enzyme </a:t>
            </a:r>
            <a:r>
              <a:rPr lang="en-US" sz="2400" dirty="0">
                <a:solidFill>
                  <a:srgbClr val="FF0000"/>
                </a:solidFill>
                <a:cs typeface="Times New Roman" pitchFamily="18" charset="0"/>
              </a:rPr>
              <a:t>choline</a:t>
            </a:r>
            <a:r>
              <a:rPr lang="en-US" sz="2400" dirty="0">
                <a:cs typeface="Times New Roman" pitchFamily="18" charset="0"/>
              </a:rPr>
              <a:t> </a:t>
            </a:r>
            <a:r>
              <a:rPr lang="en-US" sz="2400" dirty="0">
                <a:solidFill>
                  <a:srgbClr val="FF0000"/>
                </a:solidFill>
                <a:cs typeface="Times New Roman" pitchFamily="18" charset="0"/>
              </a:rPr>
              <a:t>acetyltransferase</a:t>
            </a:r>
            <a:r>
              <a:rPr lang="en-US" sz="2400" dirty="0">
                <a:cs typeface="Times New Roman" pitchFamily="18" charset="0"/>
              </a:rPr>
              <a:t> (ChAT). </a:t>
            </a:r>
          </a:p>
          <a:p>
            <a:pPr marL="848106" lvl="1" indent="-384048" algn="just">
              <a:defRPr/>
            </a:pPr>
            <a:r>
              <a:rPr lang="en-US" sz="2000" dirty="0">
                <a:cs typeface="Times New Roman" pitchFamily="18" charset="0"/>
              </a:rPr>
              <a:t>Acetyl-CoA is synthesized in mitochondria.</a:t>
            </a:r>
          </a:p>
          <a:p>
            <a:pPr marL="848106" lvl="1" indent="-384048" algn="just">
              <a:buFont typeface="Wingdings 2"/>
              <a:buChar char=""/>
              <a:defRPr/>
            </a:pPr>
            <a:r>
              <a:rPr lang="en-US" sz="2000" dirty="0">
                <a:cs typeface="Times New Roman" pitchFamily="18" charset="0"/>
              </a:rPr>
              <a:t>Choline is transported from the extracellular fluid into the neuron terminal by a sodium-dependent membrane choline transporter.</a:t>
            </a:r>
          </a:p>
          <a:p>
            <a:pPr marL="1223010" lvl="2" algn="just">
              <a:buFont typeface="Wingdings" pitchFamily="2" charset="2"/>
              <a:buChar char="ü"/>
              <a:defRPr/>
            </a:pPr>
            <a:r>
              <a:rPr lang="en-US" sz="2000" dirty="0">
                <a:cs typeface="Times New Roman" pitchFamily="18" charset="0"/>
              </a:rPr>
              <a:t>This transporter can be blocked by a group of research drugs called </a:t>
            </a:r>
            <a:r>
              <a:rPr lang="en-US" sz="2000" dirty="0" err="1">
                <a:solidFill>
                  <a:srgbClr val="FF0000"/>
                </a:solidFill>
                <a:cs typeface="Times New Roman" pitchFamily="18" charset="0"/>
              </a:rPr>
              <a:t>hemicholiniums</a:t>
            </a:r>
            <a:r>
              <a:rPr lang="en-US" sz="2000" dirty="0">
                <a:cs typeface="Times New Roman" pitchFamily="18" charset="0"/>
              </a:rPr>
              <a:t>.</a:t>
            </a:r>
          </a:p>
          <a:p>
            <a:pPr marL="514350" indent="-514350" eaLnBrk="1" fontAlgn="auto" hangingPunct="1">
              <a:spcAft>
                <a:spcPts val="0"/>
              </a:spcAft>
              <a:buFont typeface="Arial" charset="0"/>
              <a:buNone/>
              <a:defRPr/>
            </a:pPr>
            <a:endParaRPr lang="en-US" sz="2400" dirty="0">
              <a:cs typeface="Times New Roman" pitchFamily="18" charset="0"/>
            </a:endParaRPr>
          </a:p>
          <a:p>
            <a:pPr marL="514350" indent="-514350" eaLnBrk="1" fontAlgn="auto" hangingPunct="1">
              <a:spcAft>
                <a:spcPts val="0"/>
              </a:spcAft>
              <a:buFont typeface="Arial" charset="0"/>
              <a:buNone/>
              <a:defRPr/>
            </a:pPr>
            <a:endParaRPr lang="en-US" sz="2400" dirty="0">
              <a:cs typeface="Times New Roman" pitchFamily="18" charset="0"/>
            </a:endParaRPr>
          </a:p>
          <a:p>
            <a:pPr marL="448056" indent="-384048" eaLnBrk="1" fontAlgn="auto" hangingPunct="1">
              <a:spcAft>
                <a:spcPts val="0"/>
              </a:spcAft>
              <a:buFont typeface="Arial" charset="0"/>
              <a:buNone/>
              <a:defRPr/>
            </a:pPr>
            <a:endParaRPr lang="en-US" sz="2400" dirty="0">
              <a:cs typeface="Times New Roman" pitchFamily="18" charset="0"/>
            </a:endParaRPr>
          </a:p>
        </p:txBody>
      </p:sp>
    </p:spTree>
    <p:extLst>
      <p:ext uri="{BB962C8B-B14F-4D97-AF65-F5344CB8AC3E}">
        <p14:creationId xmlns:p14="http://schemas.microsoft.com/office/powerpoint/2010/main" val="2186484903"/>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B54CF-DB5D-5F25-2E72-69D67C670D25}"/>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4046C4D6-7BCF-1990-120B-6444622C12CA}"/>
              </a:ext>
            </a:extLst>
          </p:cNvPr>
          <p:cNvSpPr>
            <a:spLocks noGrp="1"/>
          </p:cNvSpPr>
          <p:nvPr>
            <p:ph idx="1"/>
          </p:nvPr>
        </p:nvSpPr>
        <p:spPr/>
        <p:txBody>
          <a:bodyPr>
            <a:normAutofit/>
          </a:bodyPr>
          <a:lstStyle/>
          <a:p>
            <a:pPr marL="880110" lvl="1" indent="-342900" algn="just" eaLnBrk="1" fontAlgn="auto" hangingPunct="1">
              <a:spcAft>
                <a:spcPts val="0"/>
              </a:spcAft>
              <a:buFont typeface="Arial" panose="020B0604020202020204" pitchFamily="34" charset="0"/>
              <a:buChar char="•"/>
              <a:defRPr/>
            </a:pPr>
            <a:endParaRPr lang="en-US" sz="2400" dirty="0">
              <a:cs typeface="Times New Roman" pitchFamily="18" charset="0"/>
            </a:endParaRPr>
          </a:p>
          <a:p>
            <a:pPr marL="521208" indent="-457200" algn="just" eaLnBrk="1" fontAlgn="auto" hangingPunct="1">
              <a:spcAft>
                <a:spcPts val="0"/>
              </a:spcAft>
              <a:defRPr/>
            </a:pPr>
            <a:r>
              <a:rPr lang="en-US" sz="2400" dirty="0">
                <a:cs typeface="Times New Roman" pitchFamily="18" charset="0"/>
              </a:rPr>
              <a:t>Once synthesized, Ach is transported from </a:t>
            </a:r>
          </a:p>
          <a:p>
            <a:pPr marL="921258" lvl="1" indent="-457200" algn="just">
              <a:defRPr/>
            </a:pPr>
            <a:r>
              <a:rPr lang="en-US" sz="2400" dirty="0">
                <a:cs typeface="Times New Roman" pitchFamily="18" charset="0"/>
              </a:rPr>
              <a:t>the </a:t>
            </a:r>
            <a:r>
              <a:rPr lang="en-US" sz="2400" dirty="0">
                <a:solidFill>
                  <a:srgbClr val="FF0000"/>
                </a:solidFill>
                <a:cs typeface="Times New Roman" pitchFamily="18" charset="0"/>
              </a:rPr>
              <a:t>cytoplasm into the vesicles by a vesicle-associated transporter (VAT).</a:t>
            </a:r>
          </a:p>
          <a:p>
            <a:pPr marL="1222756" lvl="2" indent="-384048" algn="just">
              <a:defRPr/>
            </a:pPr>
            <a:r>
              <a:rPr lang="en-US" dirty="0">
                <a:cs typeface="Times New Roman" pitchFamily="18" charset="0"/>
              </a:rPr>
              <a:t> This transporter can be blocked by the research drug </a:t>
            </a:r>
            <a:r>
              <a:rPr lang="en-US" i="1" dirty="0" err="1">
                <a:solidFill>
                  <a:srgbClr val="FF0000"/>
                </a:solidFill>
                <a:cs typeface="Times New Roman" pitchFamily="18" charset="0"/>
              </a:rPr>
              <a:t>vesamicol</a:t>
            </a:r>
            <a:r>
              <a:rPr lang="en-US" i="1" dirty="0">
                <a:solidFill>
                  <a:srgbClr val="FF0000"/>
                </a:solidFill>
                <a:cs typeface="Times New Roman" pitchFamily="18" charset="0"/>
              </a:rPr>
              <a:t>. </a:t>
            </a:r>
          </a:p>
          <a:p>
            <a:pPr marL="448056" indent="-384048" eaLnBrk="1" fontAlgn="auto" hangingPunct="1">
              <a:spcAft>
                <a:spcPts val="0"/>
              </a:spcAft>
              <a:defRPr/>
            </a:pPr>
            <a:endParaRPr lang="en-US" sz="2400" dirty="0">
              <a:cs typeface="Times New Roman" pitchFamily="18" charset="0"/>
            </a:endParaRPr>
          </a:p>
          <a:p>
            <a:endParaRPr lang="en-US" sz="2400" dirty="0"/>
          </a:p>
        </p:txBody>
      </p:sp>
    </p:spTree>
    <p:extLst>
      <p:ext uri="{BB962C8B-B14F-4D97-AF65-F5344CB8AC3E}">
        <p14:creationId xmlns:p14="http://schemas.microsoft.com/office/powerpoint/2010/main" val="31454464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762000"/>
            <a:ext cx="7086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6852431"/>
      </p:ext>
    </p:extLst>
  </p:cSld>
  <p:clrMapOvr>
    <a:masterClrMapping/>
  </p:clrMapOvr>
  <p:transition>
    <p:wheel spokes="8"/>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ABAB1-1E8D-AD2E-3F37-008AE6C819B9}"/>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1DD4B093-6B47-D52B-6997-0A1E7E3DC442}"/>
              </a:ext>
            </a:extLst>
          </p:cNvPr>
          <p:cNvSpPr>
            <a:spLocks noGrp="1"/>
          </p:cNvSpPr>
          <p:nvPr>
            <p:ph idx="1"/>
          </p:nvPr>
        </p:nvSpPr>
        <p:spPr/>
        <p:txBody>
          <a:bodyPr>
            <a:normAutofit/>
          </a:bodyPr>
          <a:lstStyle/>
          <a:p>
            <a:pPr eaLnBrk="1" hangingPunct="1">
              <a:buFont typeface="Arial" charset="0"/>
              <a:buNone/>
            </a:pPr>
            <a:r>
              <a:rPr lang="en-US" sz="2800" b="1" dirty="0">
                <a:cs typeface="Times New Roman" pitchFamily="18" charset="0"/>
              </a:rPr>
              <a:t>B. Storage of acetylcholine</a:t>
            </a:r>
          </a:p>
          <a:p>
            <a:pPr algn="just" eaLnBrk="1" hangingPunct="1"/>
            <a:r>
              <a:rPr lang="en-US" sz="2800" dirty="0">
                <a:cs typeface="Times New Roman" pitchFamily="18" charset="0"/>
              </a:rPr>
              <a:t>It is accomplished by the packaging of "quanta" of acetylcholine molecules </a:t>
            </a:r>
          </a:p>
          <a:p>
            <a:pPr lvl="1" algn="just"/>
            <a:r>
              <a:rPr lang="en-US" sz="2400" dirty="0">
                <a:cs typeface="Times New Roman" pitchFamily="18" charset="0"/>
              </a:rPr>
              <a:t>(usually 1000-50,000 molecules in each vesicle).</a:t>
            </a:r>
          </a:p>
          <a:p>
            <a:pPr algn="just" eaLnBrk="1" hangingPunct="1">
              <a:buFont typeface="Arial" charset="0"/>
              <a:buNone/>
            </a:pPr>
            <a:endParaRPr lang="en-US" sz="2800" dirty="0">
              <a:cs typeface="Times New Roman" pitchFamily="18" charset="0"/>
            </a:endParaRPr>
          </a:p>
          <a:p>
            <a:pPr algn="just" eaLnBrk="1" hangingPunct="1">
              <a:buFont typeface="Wingdings 2" pitchFamily="18" charset="2"/>
              <a:buNone/>
            </a:pPr>
            <a:endParaRPr lang="en-US" sz="2800" dirty="0">
              <a:cs typeface="Times New Roman" pitchFamily="18" charset="0"/>
            </a:endParaRPr>
          </a:p>
          <a:p>
            <a:pPr algn="just" eaLnBrk="1" hangingPunct="1">
              <a:buFont typeface="Arial" charset="0"/>
              <a:buNone/>
            </a:pPr>
            <a:r>
              <a:rPr lang="en-US" sz="2800" dirty="0">
                <a:cs typeface="Times New Roman" pitchFamily="18" charset="0"/>
              </a:rPr>
              <a:t> </a:t>
            </a:r>
          </a:p>
          <a:p>
            <a:endParaRPr lang="en-US" sz="2800" dirty="0"/>
          </a:p>
        </p:txBody>
      </p:sp>
    </p:spTree>
    <p:extLst>
      <p:ext uri="{BB962C8B-B14F-4D97-AF65-F5344CB8AC3E}">
        <p14:creationId xmlns:p14="http://schemas.microsoft.com/office/powerpoint/2010/main" val="1107530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0939F-1313-D45D-B361-654B91AA8D41}"/>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7A1068DA-55DB-58B7-2310-DD52732D66D6}"/>
              </a:ext>
            </a:extLst>
          </p:cNvPr>
          <p:cNvSpPr>
            <a:spLocks noGrp="1"/>
          </p:cNvSpPr>
          <p:nvPr>
            <p:ph idx="1"/>
          </p:nvPr>
        </p:nvSpPr>
        <p:spPr/>
        <p:txBody>
          <a:bodyPr/>
          <a:lstStyle/>
          <a:p>
            <a:pPr eaLnBrk="1" hangingPunct="1">
              <a:buFont typeface="Arial" charset="0"/>
              <a:buNone/>
            </a:pPr>
            <a:r>
              <a:rPr lang="en-US" b="1" dirty="0">
                <a:cs typeface="Times New Roman" pitchFamily="18" charset="0"/>
              </a:rPr>
              <a:t>C. Release of acetylcholine</a:t>
            </a:r>
          </a:p>
          <a:p>
            <a:pPr algn="just" eaLnBrk="1" hangingPunct="1"/>
            <a:r>
              <a:rPr lang="en-US" sz="2400" dirty="0">
                <a:cs typeface="Times New Roman" pitchFamily="18" charset="0"/>
              </a:rPr>
              <a:t>Release of transmitter from the vesicles is </a:t>
            </a:r>
            <a:r>
              <a:rPr lang="en-US" sz="2400" dirty="0">
                <a:solidFill>
                  <a:srgbClr val="FF0000"/>
                </a:solidFill>
                <a:cs typeface="Times New Roman" pitchFamily="18" charset="0"/>
              </a:rPr>
              <a:t>dependent on extracellular calcium.</a:t>
            </a:r>
          </a:p>
          <a:p>
            <a:pPr marL="904875" lvl="3" indent="-382588" algn="just">
              <a:buSzPct val="80000"/>
              <a:buFont typeface="Wingdings 2" pitchFamily="18" charset="2"/>
              <a:buChar char=""/>
            </a:pPr>
            <a:r>
              <a:rPr lang="en-US" dirty="0">
                <a:cs typeface="Times New Roman" pitchFamily="18" charset="0"/>
              </a:rPr>
              <a:t>The acetylcholine vesicle release process is blocked by botulinum toxin through the enzymatic removal of two amino acids from one or more of fusion proteins.</a:t>
            </a:r>
          </a:p>
          <a:p>
            <a:pPr marL="447675" lvl="2" indent="-382588" algn="just" eaLnBrk="1" hangingPunct="1">
              <a:buSzPct val="80000"/>
              <a:buFont typeface="Wingdings 2" pitchFamily="18" charset="2"/>
              <a:buNone/>
            </a:pPr>
            <a:endParaRPr lang="en-US" dirty="0">
              <a:cs typeface="Times New Roman" pitchFamily="18" charset="0"/>
            </a:endParaRPr>
          </a:p>
          <a:p>
            <a:pPr marL="407987" lvl="2" indent="-342900" algn="just" eaLnBrk="1" hangingPunct="1">
              <a:buSzPct val="80000"/>
            </a:pPr>
            <a:r>
              <a:rPr lang="en-US" dirty="0">
                <a:cs typeface="Times New Roman" pitchFamily="18" charset="0"/>
              </a:rPr>
              <a:t>After release from the presynaptic terminal, </a:t>
            </a:r>
          </a:p>
          <a:p>
            <a:pPr marL="865187" lvl="3" indent="-342900" algn="just">
              <a:buSzPct val="80000"/>
            </a:pPr>
            <a:r>
              <a:rPr lang="en-US" sz="2400" dirty="0">
                <a:cs typeface="Times New Roman" pitchFamily="18" charset="0"/>
              </a:rPr>
              <a:t>acetylcholine molecules may bind to and activate an acetylcholine receptor (cholinoceptor). </a:t>
            </a:r>
          </a:p>
          <a:p>
            <a:pPr marL="447675" lvl="2" indent="-382588" algn="just" eaLnBrk="1" hangingPunct="1">
              <a:buSzPct val="80000"/>
              <a:buFont typeface="Wingdings 2" pitchFamily="18" charset="2"/>
              <a:buChar char=""/>
            </a:pPr>
            <a:endParaRPr lang="en-US" dirty="0">
              <a:cs typeface="Times New Roman" pitchFamily="18" charset="0"/>
            </a:endParaRPr>
          </a:p>
          <a:p>
            <a:pPr algn="just" eaLnBrk="1" hangingPunct="1"/>
            <a:endParaRPr lang="en-US" sz="2400" dirty="0">
              <a:cs typeface="Times New Roman" pitchFamily="18" charset="0"/>
            </a:endParaRPr>
          </a:p>
          <a:p>
            <a:pPr algn="just" eaLnBrk="1" hangingPunct="1">
              <a:buFont typeface="Wingdings 2" pitchFamily="18" charset="2"/>
              <a:buNone/>
            </a:pPr>
            <a:endParaRPr lang="en-US" sz="2400" dirty="0">
              <a:cs typeface="Times New Roman" pitchFamily="18" charset="0"/>
            </a:endParaRPr>
          </a:p>
          <a:p>
            <a:pPr algn="just" eaLnBrk="1" hangingPunct="1">
              <a:buFont typeface="Wingdings 2" pitchFamily="18" charset="2"/>
              <a:buNone/>
            </a:pPr>
            <a:endParaRPr lang="en-US" sz="2400" dirty="0">
              <a:cs typeface="Times New Roman" pitchFamily="18" charset="0"/>
            </a:endParaRPr>
          </a:p>
          <a:p>
            <a:pPr eaLnBrk="1" hangingPunct="1">
              <a:buFont typeface="Arial" charset="0"/>
              <a:buNone/>
            </a:pPr>
            <a:endParaRPr lang="en-US" sz="2400" dirty="0">
              <a:cs typeface="Times New Roman" pitchFamily="18" charset="0"/>
            </a:endParaRPr>
          </a:p>
          <a:p>
            <a:pPr eaLnBrk="1" hangingPunct="1"/>
            <a:endParaRPr lang="en-US" sz="2400" dirty="0">
              <a:cs typeface="Times New Roman" pitchFamily="18" charset="0"/>
            </a:endParaRPr>
          </a:p>
          <a:p>
            <a:endParaRPr lang="en-US" dirty="0"/>
          </a:p>
        </p:txBody>
      </p:sp>
    </p:spTree>
    <p:extLst>
      <p:ext uri="{BB962C8B-B14F-4D97-AF65-F5344CB8AC3E}">
        <p14:creationId xmlns:p14="http://schemas.microsoft.com/office/powerpoint/2010/main" val="369448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93170-E978-0172-509B-7974AD2A60D5}"/>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72940C1A-43B6-D50F-3F07-63A347D91AC4}"/>
              </a:ext>
            </a:extLst>
          </p:cNvPr>
          <p:cNvSpPr>
            <a:spLocks noGrp="1"/>
          </p:cNvSpPr>
          <p:nvPr>
            <p:ph idx="1"/>
          </p:nvPr>
        </p:nvSpPr>
        <p:spPr/>
        <p:txBody>
          <a:bodyPr>
            <a:normAutofit/>
          </a:bodyPr>
          <a:lstStyle/>
          <a:p>
            <a:pPr eaLnBrk="1" hangingPunct="1">
              <a:buFont typeface="Arial" charset="0"/>
              <a:buNone/>
            </a:pPr>
            <a:r>
              <a:rPr lang="en-US" b="1" dirty="0">
                <a:latin typeface="Times New Roman" pitchFamily="18" charset="0"/>
                <a:cs typeface="Times New Roman" pitchFamily="18" charset="0"/>
              </a:rPr>
              <a:t>D. Inactivation of acetylcholine</a:t>
            </a:r>
          </a:p>
          <a:p>
            <a:pPr algn="just" eaLnBrk="1" hangingPunct="1"/>
            <a:r>
              <a:rPr lang="en-US" sz="2400" dirty="0">
                <a:cs typeface="Times New Roman" pitchFamily="18" charset="0"/>
              </a:rPr>
              <a:t>Eventually (and usually very rapidly), all of the acetylcholine released diffuses </a:t>
            </a:r>
          </a:p>
          <a:p>
            <a:pPr lvl="1" algn="just"/>
            <a:r>
              <a:rPr lang="en-US" sz="2400" dirty="0">
                <a:cs typeface="Times New Roman" pitchFamily="18" charset="0"/>
              </a:rPr>
              <a:t>within range of an acetylcholinesterase (</a:t>
            </a:r>
            <a:r>
              <a:rPr lang="en-US" sz="2400" dirty="0" err="1">
                <a:cs typeface="Times New Roman" pitchFamily="18" charset="0"/>
              </a:rPr>
              <a:t>AChE</a:t>
            </a:r>
            <a:r>
              <a:rPr lang="en-US" sz="2400" dirty="0">
                <a:cs typeface="Times New Roman" pitchFamily="18" charset="0"/>
              </a:rPr>
              <a:t>) molecule.</a:t>
            </a:r>
          </a:p>
          <a:p>
            <a:pPr algn="just" eaLnBrk="1" hangingPunct="1">
              <a:buFont typeface="Wingdings 2" pitchFamily="18" charset="2"/>
              <a:buNone/>
            </a:pPr>
            <a:endParaRPr lang="en-US" sz="2400" dirty="0">
              <a:cs typeface="Times New Roman" pitchFamily="18" charset="0"/>
            </a:endParaRPr>
          </a:p>
          <a:p>
            <a:pPr algn="just" eaLnBrk="1" hangingPunct="1"/>
            <a:r>
              <a:rPr lang="en-US" sz="2400" dirty="0">
                <a:cs typeface="Times New Roman" pitchFamily="18" charset="0"/>
              </a:rPr>
              <a:t> </a:t>
            </a:r>
            <a:r>
              <a:rPr lang="en-US" sz="2400" dirty="0" err="1">
                <a:cs typeface="Times New Roman" pitchFamily="18" charset="0"/>
              </a:rPr>
              <a:t>AChE</a:t>
            </a:r>
            <a:r>
              <a:rPr lang="en-US" sz="2400" dirty="0">
                <a:cs typeface="Times New Roman" pitchFamily="18" charset="0"/>
              </a:rPr>
              <a:t> very efficiently splits acetylcholine into choline and acetate, and thereby terminates the action of the transmitter.</a:t>
            </a:r>
          </a:p>
          <a:p>
            <a:pPr eaLnBrk="1" hangingPunct="1">
              <a:buFont typeface="Arial" charset="0"/>
              <a:buNone/>
            </a:pPr>
            <a:endParaRPr lang="en-US" sz="2400" dirty="0">
              <a:cs typeface="Times New Roman" pitchFamily="18" charset="0"/>
            </a:endParaRPr>
          </a:p>
          <a:p>
            <a:pPr eaLnBrk="1" hangingPunct="1"/>
            <a:endParaRPr lang="en-US" sz="32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1560075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818F5-CE31-E110-6643-E8C38A6A2C62}"/>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14B26541-34F3-579B-CA66-9DA59BA26F4A}"/>
              </a:ext>
            </a:extLst>
          </p:cNvPr>
          <p:cNvSpPr>
            <a:spLocks noGrp="1"/>
          </p:cNvSpPr>
          <p:nvPr>
            <p:ph idx="1"/>
          </p:nvPr>
        </p:nvSpPr>
        <p:spPr/>
        <p:txBody>
          <a:bodyPr/>
          <a:lstStyle/>
          <a:p>
            <a:pPr algn="just" eaLnBrk="1" hangingPunct="1"/>
            <a:r>
              <a:rPr lang="en-US" sz="2400" dirty="0">
                <a:cs typeface="Times New Roman" pitchFamily="18" charset="0"/>
              </a:rPr>
              <a:t>Most cholinergic synapses are richly supplied with acetyl cholinesterase; </a:t>
            </a:r>
          </a:p>
          <a:p>
            <a:pPr lvl="1" algn="just"/>
            <a:r>
              <a:rPr lang="en-US" sz="2400" dirty="0">
                <a:cs typeface="Times New Roman" pitchFamily="18" charset="0"/>
              </a:rPr>
              <a:t>the half-life of acetylcholine in the synapse is therefore very short (seconds).</a:t>
            </a:r>
          </a:p>
          <a:p>
            <a:pPr algn="just" eaLnBrk="1" hangingPunct="1">
              <a:buFont typeface="Arial" charset="0"/>
              <a:buNone/>
            </a:pPr>
            <a:endParaRPr lang="en-US" sz="2400" dirty="0">
              <a:cs typeface="Times New Roman" pitchFamily="18" charset="0"/>
            </a:endParaRPr>
          </a:p>
          <a:p>
            <a:pPr algn="just" eaLnBrk="1" hangingPunct="1"/>
            <a:r>
              <a:rPr lang="en-US" sz="2400" dirty="0">
                <a:cs typeface="Times New Roman" pitchFamily="18" charset="0"/>
              </a:rPr>
              <a:t> Acetyl cholinesterase is also found in other tissues:</a:t>
            </a:r>
          </a:p>
          <a:p>
            <a:pPr lvl="2" algn="just" eaLnBrk="1" hangingPunct="1">
              <a:buFont typeface="Wingdings" pitchFamily="2" charset="2"/>
              <a:buChar char="ü"/>
            </a:pPr>
            <a:r>
              <a:rPr lang="en-US" dirty="0">
                <a:cs typeface="Times New Roman" pitchFamily="18" charset="0"/>
              </a:rPr>
              <a:t>Red blood cells</a:t>
            </a:r>
          </a:p>
          <a:p>
            <a:pPr lvl="2" algn="just" eaLnBrk="1" hangingPunct="1">
              <a:buFont typeface="Wingdings" pitchFamily="2" charset="2"/>
              <a:buChar char="ü"/>
            </a:pPr>
            <a:r>
              <a:rPr lang="en-US" dirty="0">
                <a:cs typeface="Times New Roman" pitchFamily="18" charset="0"/>
              </a:rPr>
              <a:t>Butyrylcholinesterase (pseudocholinesterase), is found in blood plasma, liver, glia, and many other tissues.</a:t>
            </a:r>
          </a:p>
          <a:p>
            <a:pPr eaLnBrk="1" hangingPunct="1"/>
            <a:endParaRPr lang="en-US" sz="2400" dirty="0">
              <a:cs typeface="Times New Roman" pitchFamily="18" charset="0"/>
            </a:endParaRPr>
          </a:p>
          <a:p>
            <a:endParaRPr lang="en-US" dirty="0"/>
          </a:p>
        </p:txBody>
      </p:sp>
    </p:spTree>
    <p:extLst>
      <p:ext uri="{BB962C8B-B14F-4D97-AF65-F5344CB8AC3E}">
        <p14:creationId xmlns:p14="http://schemas.microsoft.com/office/powerpoint/2010/main" val="36858000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57200"/>
            <a:ext cx="72390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3914317"/>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57200"/>
            <a:ext cx="4981575"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6587783"/>
      </p:ext>
    </p:extLst>
  </p:cSld>
  <p:clrMapOvr>
    <a:masterClrMapping/>
  </p:clrMapOvr>
  <p:transition>
    <p:wheel spokes="8"/>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1018"/>
          <p:cNvGrpSpPr>
            <a:grpSpLocks/>
          </p:cNvGrpSpPr>
          <p:nvPr/>
        </p:nvGrpSpPr>
        <p:grpSpPr bwMode="auto">
          <a:xfrm>
            <a:off x="76200" y="4343400"/>
            <a:ext cx="2514600" cy="533400"/>
            <a:chOff x="96" y="2832"/>
            <a:chExt cx="1584" cy="336"/>
          </a:xfrm>
        </p:grpSpPr>
        <p:sp>
          <p:nvSpPr>
            <p:cNvPr id="42068" name="AutoShape 883"/>
            <p:cNvSpPr>
              <a:spLocks noChangeArrowheads="1"/>
            </p:cNvSpPr>
            <p:nvPr/>
          </p:nvSpPr>
          <p:spPr bwMode="auto">
            <a:xfrm>
              <a:off x="129" y="2832"/>
              <a:ext cx="1152" cy="336"/>
            </a:xfrm>
            <a:prstGeom prst="rightArrow">
              <a:avLst>
                <a:gd name="adj1" fmla="val 50000"/>
                <a:gd name="adj2" fmla="val 85714"/>
              </a:avLst>
            </a:prstGeom>
            <a:solidFill>
              <a:schemeClr val="accent1"/>
            </a:solidFill>
            <a:ln w="9525">
              <a:solidFill>
                <a:schemeClr val="tx1"/>
              </a:solidFill>
              <a:miter lim="800000"/>
              <a:headEnd/>
              <a:tailEnd/>
            </a:ln>
          </p:spPr>
          <p:txBody>
            <a:bodyPr wrap="none" anchor="ctr"/>
            <a:lstStyle/>
            <a:p>
              <a:endParaRPr lang="en-US"/>
            </a:p>
          </p:txBody>
        </p:sp>
        <p:sp>
          <p:nvSpPr>
            <p:cNvPr id="42069" name="Text Box 884"/>
            <p:cNvSpPr txBox="1">
              <a:spLocks noChangeArrowheads="1"/>
            </p:cNvSpPr>
            <p:nvPr/>
          </p:nvSpPr>
          <p:spPr bwMode="auto">
            <a:xfrm>
              <a:off x="96" y="2888"/>
              <a:ext cx="15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US" sz="1600" b="1"/>
                <a:t>Action Potential</a:t>
              </a:r>
            </a:p>
          </p:txBody>
        </p:sp>
      </p:grpSp>
      <p:sp>
        <p:nvSpPr>
          <p:cNvPr id="41987" name="Rectangle 900"/>
          <p:cNvSpPr>
            <a:spLocks noChangeArrowheads="1"/>
          </p:cNvSpPr>
          <p:nvPr/>
        </p:nvSpPr>
        <p:spPr bwMode="auto">
          <a:xfrm>
            <a:off x="8715375" y="3602038"/>
            <a:ext cx="146050" cy="16764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1988" name="Text Box 891"/>
          <p:cNvSpPr txBox="1">
            <a:spLocks noChangeArrowheads="1"/>
          </p:cNvSpPr>
          <p:nvPr/>
        </p:nvSpPr>
        <p:spPr bwMode="auto">
          <a:xfrm>
            <a:off x="2047875" y="24384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US" b="1"/>
              <a:t>Na</a:t>
            </a:r>
            <a:r>
              <a:rPr lang="en-US" b="1" baseline="30000"/>
              <a:t>+</a:t>
            </a:r>
            <a:endParaRPr lang="en-US" b="1"/>
          </a:p>
        </p:txBody>
      </p:sp>
      <p:sp>
        <p:nvSpPr>
          <p:cNvPr id="41989" name="Text Box 892"/>
          <p:cNvSpPr txBox="1">
            <a:spLocks noChangeArrowheads="1"/>
          </p:cNvSpPr>
          <p:nvPr/>
        </p:nvSpPr>
        <p:spPr bwMode="auto">
          <a:xfrm rot="1912125">
            <a:off x="5238750" y="1604963"/>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US" b="1"/>
              <a:t>Ca</a:t>
            </a:r>
            <a:r>
              <a:rPr lang="en-US" b="1" baseline="30000"/>
              <a:t>2+</a:t>
            </a:r>
            <a:endParaRPr lang="en-US" b="1"/>
          </a:p>
        </p:txBody>
      </p:sp>
      <p:sp>
        <p:nvSpPr>
          <p:cNvPr id="41990" name="Freeform 996"/>
          <p:cNvSpPr>
            <a:spLocks/>
          </p:cNvSpPr>
          <p:nvPr/>
        </p:nvSpPr>
        <p:spPr bwMode="auto">
          <a:xfrm rot="489949">
            <a:off x="6392863" y="3673475"/>
            <a:ext cx="700087" cy="144463"/>
          </a:xfrm>
          <a:custGeom>
            <a:avLst/>
            <a:gdLst>
              <a:gd name="T0" fmla="*/ 2147483647 w 589"/>
              <a:gd name="T1" fmla="*/ 2147483647 h 143"/>
              <a:gd name="T2" fmla="*/ 2147483647 w 589"/>
              <a:gd name="T3" fmla="*/ 2147483647 h 143"/>
              <a:gd name="T4" fmla="*/ 2147483647 w 589"/>
              <a:gd name="T5" fmla="*/ 2147483647 h 143"/>
              <a:gd name="T6" fmla="*/ 2147483647 w 589"/>
              <a:gd name="T7" fmla="*/ 2147483647 h 143"/>
              <a:gd name="T8" fmla="*/ 2147483647 w 589"/>
              <a:gd name="T9" fmla="*/ 2147483647 h 143"/>
              <a:gd name="T10" fmla="*/ 2147483647 w 589"/>
              <a:gd name="T11" fmla="*/ 2147483647 h 143"/>
              <a:gd name="T12" fmla="*/ 2147483647 w 589"/>
              <a:gd name="T13" fmla="*/ 2147483647 h 143"/>
              <a:gd name="T14" fmla="*/ 2147483647 w 589"/>
              <a:gd name="T15" fmla="*/ 2147483647 h 143"/>
              <a:gd name="T16" fmla="*/ 2147483647 w 589"/>
              <a:gd name="T17" fmla="*/ 2147483647 h 143"/>
              <a:gd name="T18" fmla="*/ 2147483647 w 589"/>
              <a:gd name="T19" fmla="*/ 2147483647 h 143"/>
              <a:gd name="T20" fmla="*/ 2147483647 w 589"/>
              <a:gd name="T21" fmla="*/ 2147483647 h 143"/>
              <a:gd name="T22" fmla="*/ 2147483647 w 589"/>
              <a:gd name="T23" fmla="*/ 2147483647 h 143"/>
              <a:gd name="T24" fmla="*/ 2147483647 w 589"/>
              <a:gd name="T25" fmla="*/ 2147483647 h 143"/>
              <a:gd name="T26" fmla="*/ 2147483647 w 589"/>
              <a:gd name="T27" fmla="*/ 2147483647 h 143"/>
              <a:gd name="T28" fmla="*/ 2147483647 w 589"/>
              <a:gd name="T29" fmla="*/ 2147483647 h 143"/>
              <a:gd name="T30" fmla="*/ 2147483647 w 589"/>
              <a:gd name="T31" fmla="*/ 2147483647 h 143"/>
              <a:gd name="T32" fmla="*/ 2147483647 w 589"/>
              <a:gd name="T33" fmla="*/ 2147483647 h 143"/>
              <a:gd name="T34" fmla="*/ 2147483647 w 589"/>
              <a:gd name="T35" fmla="*/ 2147483647 h 143"/>
              <a:gd name="T36" fmla="*/ 2147483647 w 589"/>
              <a:gd name="T37" fmla="*/ 2147483647 h 143"/>
              <a:gd name="T38" fmla="*/ 2147483647 w 589"/>
              <a:gd name="T39" fmla="*/ 2147483647 h 143"/>
              <a:gd name="T40" fmla="*/ 2147483647 w 589"/>
              <a:gd name="T41" fmla="*/ 2147483647 h 143"/>
              <a:gd name="T42" fmla="*/ 2147483647 w 589"/>
              <a:gd name="T43" fmla="*/ 2147483647 h 143"/>
              <a:gd name="T44" fmla="*/ 2147483647 w 589"/>
              <a:gd name="T45" fmla="*/ 2147483647 h 143"/>
              <a:gd name="T46" fmla="*/ 2147483647 w 589"/>
              <a:gd name="T47" fmla="*/ 2147483647 h 14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89"/>
              <a:gd name="T73" fmla="*/ 0 h 143"/>
              <a:gd name="T74" fmla="*/ 589 w 589"/>
              <a:gd name="T75" fmla="*/ 143 h 14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89" h="143">
                <a:moveTo>
                  <a:pt x="589" y="13"/>
                </a:moveTo>
                <a:cubicBezTo>
                  <a:pt x="546" y="0"/>
                  <a:pt x="503" y="8"/>
                  <a:pt x="461" y="20"/>
                </a:cubicBezTo>
                <a:cubicBezTo>
                  <a:pt x="438" y="42"/>
                  <a:pt x="417" y="60"/>
                  <a:pt x="390" y="77"/>
                </a:cubicBezTo>
                <a:cubicBezTo>
                  <a:pt x="379" y="75"/>
                  <a:pt x="365" y="80"/>
                  <a:pt x="358" y="71"/>
                </a:cubicBezTo>
                <a:cubicBezTo>
                  <a:pt x="340" y="47"/>
                  <a:pt x="393" y="30"/>
                  <a:pt x="403" y="26"/>
                </a:cubicBezTo>
                <a:cubicBezTo>
                  <a:pt x="421" y="83"/>
                  <a:pt x="395" y="95"/>
                  <a:pt x="345" y="103"/>
                </a:cubicBezTo>
                <a:cubicBezTo>
                  <a:pt x="298" y="97"/>
                  <a:pt x="268" y="82"/>
                  <a:pt x="224" y="71"/>
                </a:cubicBezTo>
                <a:cubicBezTo>
                  <a:pt x="198" y="73"/>
                  <a:pt x="172" y="70"/>
                  <a:pt x="147" y="77"/>
                </a:cubicBezTo>
                <a:cubicBezTo>
                  <a:pt x="132" y="81"/>
                  <a:pt x="122" y="94"/>
                  <a:pt x="109" y="103"/>
                </a:cubicBezTo>
                <a:cubicBezTo>
                  <a:pt x="95" y="112"/>
                  <a:pt x="67" y="117"/>
                  <a:pt x="51" y="122"/>
                </a:cubicBezTo>
                <a:cubicBezTo>
                  <a:pt x="38" y="120"/>
                  <a:pt x="24" y="122"/>
                  <a:pt x="13" y="116"/>
                </a:cubicBezTo>
                <a:cubicBezTo>
                  <a:pt x="0" y="109"/>
                  <a:pt x="8" y="77"/>
                  <a:pt x="13" y="71"/>
                </a:cubicBezTo>
                <a:cubicBezTo>
                  <a:pt x="17" y="66"/>
                  <a:pt x="26" y="67"/>
                  <a:pt x="32" y="65"/>
                </a:cubicBezTo>
                <a:cubicBezTo>
                  <a:pt x="47" y="67"/>
                  <a:pt x="62" y="67"/>
                  <a:pt x="77" y="71"/>
                </a:cubicBezTo>
                <a:cubicBezTo>
                  <a:pt x="94" y="76"/>
                  <a:pt x="106" y="93"/>
                  <a:pt x="121" y="103"/>
                </a:cubicBezTo>
                <a:cubicBezTo>
                  <a:pt x="169" y="136"/>
                  <a:pt x="149" y="126"/>
                  <a:pt x="205" y="141"/>
                </a:cubicBezTo>
                <a:cubicBezTo>
                  <a:pt x="222" y="139"/>
                  <a:pt x="241" y="143"/>
                  <a:pt x="256" y="135"/>
                </a:cubicBezTo>
                <a:cubicBezTo>
                  <a:pt x="270" y="127"/>
                  <a:pt x="264" y="105"/>
                  <a:pt x="269" y="90"/>
                </a:cubicBezTo>
                <a:cubicBezTo>
                  <a:pt x="273" y="77"/>
                  <a:pt x="281" y="52"/>
                  <a:pt x="281" y="52"/>
                </a:cubicBezTo>
                <a:cubicBezTo>
                  <a:pt x="331" y="64"/>
                  <a:pt x="298" y="81"/>
                  <a:pt x="352" y="116"/>
                </a:cubicBezTo>
                <a:cubicBezTo>
                  <a:pt x="365" y="124"/>
                  <a:pt x="390" y="141"/>
                  <a:pt x="390" y="141"/>
                </a:cubicBezTo>
                <a:cubicBezTo>
                  <a:pt x="411" y="139"/>
                  <a:pt x="434" y="143"/>
                  <a:pt x="454" y="135"/>
                </a:cubicBezTo>
                <a:cubicBezTo>
                  <a:pt x="494" y="120"/>
                  <a:pt x="472" y="12"/>
                  <a:pt x="531" y="7"/>
                </a:cubicBezTo>
                <a:cubicBezTo>
                  <a:pt x="550" y="5"/>
                  <a:pt x="570" y="11"/>
                  <a:pt x="589" y="13"/>
                </a:cubicBezTo>
                <a:close/>
              </a:path>
            </a:pathLst>
          </a:custGeom>
          <a:solidFill>
            <a:srgbClr val="99CCFF"/>
          </a:solidFill>
          <a:ln w="28575">
            <a:solidFill>
              <a:schemeClr val="tx1"/>
            </a:solidFill>
            <a:round/>
            <a:headEnd type="none" w="sm" len="sm"/>
            <a:tailEnd type="none" w="sm" len="sm"/>
          </a:ln>
        </p:spPr>
        <p:txBody>
          <a:bodyPr wrap="none" anchor="ctr"/>
          <a:lstStyle/>
          <a:p>
            <a:endParaRPr lang="en-US"/>
          </a:p>
        </p:txBody>
      </p:sp>
      <p:sp>
        <p:nvSpPr>
          <p:cNvPr id="41991" name="Rectangle 997"/>
          <p:cNvSpPr>
            <a:spLocks noChangeArrowheads="1"/>
          </p:cNvSpPr>
          <p:nvPr/>
        </p:nvSpPr>
        <p:spPr bwMode="auto">
          <a:xfrm rot="489949">
            <a:off x="7026275" y="3565525"/>
            <a:ext cx="152400" cy="304800"/>
          </a:xfrm>
          <a:prstGeom prst="rect">
            <a:avLst/>
          </a:prstGeom>
          <a:solidFill>
            <a:srgbClr val="99CCFF"/>
          </a:solidFill>
          <a:ln w="19050">
            <a:solidFill>
              <a:schemeClr val="tx1"/>
            </a:solidFill>
            <a:miter lim="800000"/>
            <a:headEnd type="none" w="sm" len="sm"/>
            <a:tailEnd type="none" w="sm" len="sm"/>
          </a:ln>
        </p:spPr>
        <p:txBody>
          <a:bodyPr wrap="none" anchor="ctr"/>
          <a:lstStyle/>
          <a:p>
            <a:endParaRPr lang="en-US"/>
          </a:p>
        </p:txBody>
      </p:sp>
      <p:sp>
        <p:nvSpPr>
          <p:cNvPr id="41992" name="Text Box 998"/>
          <p:cNvSpPr txBox="1">
            <a:spLocks noChangeArrowheads="1"/>
          </p:cNvSpPr>
          <p:nvPr/>
        </p:nvSpPr>
        <p:spPr bwMode="auto">
          <a:xfrm>
            <a:off x="7162800" y="3810000"/>
            <a:ext cx="2209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400" b="1">
                <a:solidFill>
                  <a:schemeClr val="tx2"/>
                </a:solidFill>
              </a:rPr>
              <a:t>Acetylcholinesterase</a:t>
            </a:r>
          </a:p>
        </p:txBody>
      </p:sp>
      <p:sp>
        <p:nvSpPr>
          <p:cNvPr id="41993" name="Text Box 1009"/>
          <p:cNvSpPr txBox="1">
            <a:spLocks noChangeArrowheads="1"/>
          </p:cNvSpPr>
          <p:nvPr/>
        </p:nvSpPr>
        <p:spPr bwMode="auto">
          <a:xfrm>
            <a:off x="381000" y="6338888"/>
            <a:ext cx="3657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solidFill>
                  <a:schemeClr val="tx2"/>
                </a:solidFill>
              </a:rPr>
              <a:t>Presynaptic neuron</a:t>
            </a:r>
          </a:p>
        </p:txBody>
      </p:sp>
      <p:sp>
        <p:nvSpPr>
          <p:cNvPr id="41994" name="Text Box 1010"/>
          <p:cNvSpPr txBox="1">
            <a:spLocks noChangeArrowheads="1"/>
          </p:cNvSpPr>
          <p:nvPr/>
        </p:nvSpPr>
        <p:spPr bwMode="auto">
          <a:xfrm>
            <a:off x="6400800" y="6491288"/>
            <a:ext cx="2743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solidFill>
                  <a:schemeClr val="tx2"/>
                </a:solidFill>
              </a:rPr>
              <a:t>Postsynaptic target</a:t>
            </a:r>
          </a:p>
        </p:txBody>
      </p:sp>
      <p:sp>
        <p:nvSpPr>
          <p:cNvPr id="41995" name="Text Box 1012"/>
          <p:cNvSpPr txBox="1">
            <a:spLocks noChangeArrowheads="1"/>
          </p:cNvSpPr>
          <p:nvPr/>
        </p:nvSpPr>
        <p:spPr bwMode="auto">
          <a:xfrm>
            <a:off x="7848600" y="5410200"/>
            <a:ext cx="129540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600" b="1">
                <a:solidFill>
                  <a:schemeClr val="tx2"/>
                </a:solidFill>
              </a:rPr>
              <a:t>Nicotinic</a:t>
            </a:r>
          </a:p>
          <a:p>
            <a:pPr eaLnBrk="1" hangingPunct="1">
              <a:spcBef>
                <a:spcPct val="50000"/>
              </a:spcBef>
            </a:pPr>
            <a:r>
              <a:rPr lang="en-US" sz="1600" b="1">
                <a:solidFill>
                  <a:schemeClr val="tx2"/>
                </a:solidFill>
              </a:rPr>
              <a:t>Receptor</a:t>
            </a:r>
          </a:p>
        </p:txBody>
      </p:sp>
      <p:sp>
        <p:nvSpPr>
          <p:cNvPr id="41996" name="Arc 1015"/>
          <p:cNvSpPr>
            <a:spLocks/>
          </p:cNvSpPr>
          <p:nvPr/>
        </p:nvSpPr>
        <p:spPr bwMode="auto">
          <a:xfrm flipH="1">
            <a:off x="7162800" y="1752600"/>
            <a:ext cx="1746250" cy="4800600"/>
          </a:xfrm>
          <a:custGeom>
            <a:avLst/>
            <a:gdLst>
              <a:gd name="T0" fmla="*/ 2147483647 w 22717"/>
              <a:gd name="T1" fmla="*/ 0 h 43200"/>
              <a:gd name="T2" fmla="*/ 0 w 22717"/>
              <a:gd name="T3" fmla="*/ 2147483647 h 43200"/>
              <a:gd name="T4" fmla="*/ 2147483647 w 22717"/>
              <a:gd name="T5" fmla="*/ 2147483647 h 43200"/>
              <a:gd name="T6" fmla="*/ 0 60000 65536"/>
              <a:gd name="T7" fmla="*/ 0 60000 65536"/>
              <a:gd name="T8" fmla="*/ 0 60000 65536"/>
              <a:gd name="T9" fmla="*/ 0 w 22717"/>
              <a:gd name="T10" fmla="*/ 0 h 43200"/>
              <a:gd name="T11" fmla="*/ 22717 w 22717"/>
              <a:gd name="T12" fmla="*/ 43200 h 43200"/>
            </a:gdLst>
            <a:ahLst/>
            <a:cxnLst>
              <a:cxn ang="T6">
                <a:pos x="T0" y="T1"/>
              </a:cxn>
              <a:cxn ang="T7">
                <a:pos x="T2" y="T3"/>
              </a:cxn>
              <a:cxn ang="T8">
                <a:pos x="T4" y="T5"/>
              </a:cxn>
            </a:cxnLst>
            <a:rect l="T9" t="T10" r="T11" b="T12"/>
            <a:pathLst>
              <a:path w="22717" h="43200" fill="none" extrusionOk="0">
                <a:moveTo>
                  <a:pt x="1116" y="0"/>
                </a:moveTo>
                <a:cubicBezTo>
                  <a:pt x="13046" y="0"/>
                  <a:pt x="22717" y="9670"/>
                  <a:pt x="22717" y="21600"/>
                </a:cubicBezTo>
                <a:cubicBezTo>
                  <a:pt x="22717" y="33529"/>
                  <a:pt x="13046" y="43200"/>
                  <a:pt x="1117" y="43200"/>
                </a:cubicBezTo>
                <a:cubicBezTo>
                  <a:pt x="744" y="43200"/>
                  <a:pt x="372" y="43190"/>
                  <a:pt x="-1" y="43171"/>
                </a:cubicBezTo>
              </a:path>
              <a:path w="22717" h="43200" stroke="0" extrusionOk="0">
                <a:moveTo>
                  <a:pt x="1116" y="0"/>
                </a:moveTo>
                <a:cubicBezTo>
                  <a:pt x="13046" y="0"/>
                  <a:pt x="22717" y="9670"/>
                  <a:pt x="22717" y="21600"/>
                </a:cubicBezTo>
                <a:cubicBezTo>
                  <a:pt x="22717" y="33529"/>
                  <a:pt x="13046" y="43200"/>
                  <a:pt x="1117" y="43200"/>
                </a:cubicBezTo>
                <a:cubicBezTo>
                  <a:pt x="744" y="43200"/>
                  <a:pt x="372" y="43190"/>
                  <a:pt x="-1" y="43171"/>
                </a:cubicBezTo>
                <a:lnTo>
                  <a:pt x="1117" y="21600"/>
                </a:lnTo>
                <a:lnTo>
                  <a:pt x="1116" y="0"/>
                </a:lnTo>
                <a:close/>
              </a:path>
            </a:pathLst>
          </a:cu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cxnSp>
        <p:nvCxnSpPr>
          <p:cNvPr id="41997" name="AutoShape 874"/>
          <p:cNvCxnSpPr>
            <a:cxnSpLocks noChangeShapeType="1"/>
          </p:cNvCxnSpPr>
          <p:nvPr/>
        </p:nvCxnSpPr>
        <p:spPr bwMode="auto">
          <a:xfrm flipV="1">
            <a:off x="228600" y="3297238"/>
            <a:ext cx="2371725" cy="1905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41998" name="AutoShape 875"/>
          <p:cNvCxnSpPr>
            <a:cxnSpLocks noChangeShapeType="1"/>
          </p:cNvCxnSpPr>
          <p:nvPr/>
        </p:nvCxnSpPr>
        <p:spPr bwMode="auto">
          <a:xfrm flipV="1">
            <a:off x="2520950" y="1828800"/>
            <a:ext cx="1517650" cy="1465263"/>
          </a:xfrm>
          <a:prstGeom prst="curvedConnector3">
            <a:avLst>
              <a:gd name="adj1" fmla="val 50000"/>
            </a:avLst>
          </a:prstGeom>
          <a:noFill/>
          <a:ln w="38100">
            <a:solidFill>
              <a:schemeClr val="tx1"/>
            </a:solidFill>
            <a:round/>
            <a:headEnd/>
            <a:tailEnd/>
          </a:ln>
          <a:extLst>
            <a:ext uri="{909E8E84-426E-40DD-AFC4-6F175D3DCCD1}">
              <a14:hiddenFill xmlns:a14="http://schemas.microsoft.com/office/drawing/2010/main">
                <a:noFill/>
              </a14:hiddenFill>
            </a:ext>
          </a:extLst>
        </p:spPr>
      </p:cxnSp>
      <p:sp>
        <p:nvSpPr>
          <p:cNvPr id="41999" name="Arc 876"/>
          <p:cNvSpPr>
            <a:spLocks/>
          </p:cNvSpPr>
          <p:nvPr/>
        </p:nvSpPr>
        <p:spPr bwMode="auto">
          <a:xfrm>
            <a:off x="3941763" y="1831975"/>
            <a:ext cx="2001837" cy="4797425"/>
          </a:xfrm>
          <a:custGeom>
            <a:avLst/>
            <a:gdLst>
              <a:gd name="T0" fmla="*/ 2147483647 w 21830"/>
              <a:gd name="T1" fmla="*/ 0 h 43200"/>
              <a:gd name="T2" fmla="*/ 0 w 21830"/>
              <a:gd name="T3" fmla="*/ 2147483647 h 43200"/>
              <a:gd name="T4" fmla="*/ 2147483647 w 21830"/>
              <a:gd name="T5" fmla="*/ 2147483647 h 43200"/>
              <a:gd name="T6" fmla="*/ 0 60000 65536"/>
              <a:gd name="T7" fmla="*/ 0 60000 65536"/>
              <a:gd name="T8" fmla="*/ 0 60000 65536"/>
              <a:gd name="T9" fmla="*/ 0 w 21830"/>
              <a:gd name="T10" fmla="*/ 0 h 43200"/>
              <a:gd name="T11" fmla="*/ 21830 w 21830"/>
              <a:gd name="T12" fmla="*/ 43200 h 43200"/>
            </a:gdLst>
            <a:ahLst/>
            <a:cxnLst>
              <a:cxn ang="T6">
                <a:pos x="T0" y="T1"/>
              </a:cxn>
              <a:cxn ang="T7">
                <a:pos x="T2" y="T3"/>
              </a:cxn>
              <a:cxn ang="T8">
                <a:pos x="T4" y="T5"/>
              </a:cxn>
            </a:cxnLst>
            <a:rect l="T9" t="T10" r="T11" b="T12"/>
            <a:pathLst>
              <a:path w="21830" h="43200" fill="none" extrusionOk="0">
                <a:moveTo>
                  <a:pt x="229" y="0"/>
                </a:moveTo>
                <a:cubicBezTo>
                  <a:pt x="12159" y="0"/>
                  <a:pt x="21830" y="9670"/>
                  <a:pt x="21830" y="21600"/>
                </a:cubicBezTo>
                <a:cubicBezTo>
                  <a:pt x="21830" y="33529"/>
                  <a:pt x="12159" y="43200"/>
                  <a:pt x="230" y="43200"/>
                </a:cubicBezTo>
                <a:cubicBezTo>
                  <a:pt x="153" y="43200"/>
                  <a:pt x="76" y="43199"/>
                  <a:pt x="0" y="43198"/>
                </a:cubicBezTo>
              </a:path>
              <a:path w="21830" h="43200" stroke="0" extrusionOk="0">
                <a:moveTo>
                  <a:pt x="229" y="0"/>
                </a:moveTo>
                <a:cubicBezTo>
                  <a:pt x="12159" y="0"/>
                  <a:pt x="21830" y="9670"/>
                  <a:pt x="21830" y="21600"/>
                </a:cubicBezTo>
                <a:cubicBezTo>
                  <a:pt x="21830" y="33529"/>
                  <a:pt x="12159" y="43200"/>
                  <a:pt x="230" y="43200"/>
                </a:cubicBezTo>
                <a:cubicBezTo>
                  <a:pt x="153" y="43200"/>
                  <a:pt x="76" y="43199"/>
                  <a:pt x="0" y="43198"/>
                </a:cubicBezTo>
                <a:lnTo>
                  <a:pt x="230" y="21600"/>
                </a:lnTo>
                <a:lnTo>
                  <a:pt x="229"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cxnSp>
        <p:nvCxnSpPr>
          <p:cNvPr id="42000" name="AutoShape 877"/>
          <p:cNvCxnSpPr>
            <a:cxnSpLocks noChangeShapeType="1"/>
          </p:cNvCxnSpPr>
          <p:nvPr/>
        </p:nvCxnSpPr>
        <p:spPr bwMode="auto">
          <a:xfrm flipV="1">
            <a:off x="228600" y="5175250"/>
            <a:ext cx="2292350" cy="7938"/>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42001" name="AutoShape 878"/>
          <p:cNvCxnSpPr>
            <a:cxnSpLocks noChangeShapeType="1"/>
          </p:cNvCxnSpPr>
          <p:nvPr/>
        </p:nvCxnSpPr>
        <p:spPr bwMode="auto">
          <a:xfrm>
            <a:off x="2441575" y="5160963"/>
            <a:ext cx="1517650" cy="1465262"/>
          </a:xfrm>
          <a:prstGeom prst="curvedConnector3">
            <a:avLst>
              <a:gd name="adj1" fmla="val 50000"/>
            </a:avLst>
          </a:prstGeom>
          <a:noFill/>
          <a:ln w="38100">
            <a:solidFill>
              <a:schemeClr val="tx1"/>
            </a:solidFill>
            <a:round/>
            <a:headEnd/>
            <a:tailEnd/>
          </a:ln>
          <a:extLst>
            <a:ext uri="{909E8E84-426E-40DD-AFC4-6F175D3DCCD1}">
              <a14:hiddenFill xmlns:a14="http://schemas.microsoft.com/office/drawing/2010/main">
                <a:noFill/>
              </a14:hiddenFill>
            </a:ext>
          </a:extLst>
        </p:spPr>
      </p:cxnSp>
      <p:sp>
        <p:nvSpPr>
          <p:cNvPr id="42002" name="Rectangle 879"/>
          <p:cNvSpPr>
            <a:spLocks noChangeArrowheads="1"/>
          </p:cNvSpPr>
          <p:nvPr/>
        </p:nvSpPr>
        <p:spPr bwMode="auto">
          <a:xfrm>
            <a:off x="1116013" y="2895600"/>
            <a:ext cx="958850" cy="931863"/>
          </a:xfrm>
          <a:prstGeom prst="rect">
            <a:avLst/>
          </a:prstGeom>
          <a:solidFill>
            <a:srgbClr val="00005A"/>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p>
            <a:endParaRPr lang="en-US"/>
          </a:p>
        </p:txBody>
      </p:sp>
      <p:sp>
        <p:nvSpPr>
          <p:cNvPr id="42003" name="Arc 880"/>
          <p:cNvSpPr>
            <a:spLocks/>
          </p:cNvSpPr>
          <p:nvPr/>
        </p:nvSpPr>
        <p:spPr bwMode="auto">
          <a:xfrm flipV="1">
            <a:off x="1019175" y="2365375"/>
            <a:ext cx="558800" cy="931863"/>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42004" name="Arc 881"/>
          <p:cNvSpPr>
            <a:spLocks/>
          </p:cNvSpPr>
          <p:nvPr/>
        </p:nvSpPr>
        <p:spPr bwMode="auto">
          <a:xfrm flipH="1">
            <a:off x="1587500" y="3297238"/>
            <a:ext cx="558800" cy="93345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05" name="Line 882"/>
          <p:cNvSpPr>
            <a:spLocks noChangeShapeType="1"/>
          </p:cNvSpPr>
          <p:nvPr/>
        </p:nvSpPr>
        <p:spPr bwMode="auto">
          <a:xfrm>
            <a:off x="1587500" y="2362200"/>
            <a:ext cx="1588" cy="18653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2006" name="Group 1020"/>
          <p:cNvGrpSpPr>
            <a:grpSpLocks/>
          </p:cNvGrpSpPr>
          <p:nvPr/>
        </p:nvGrpSpPr>
        <p:grpSpPr bwMode="auto">
          <a:xfrm>
            <a:off x="2057400" y="2743200"/>
            <a:ext cx="457200" cy="1362075"/>
            <a:chOff x="1296" y="2886"/>
            <a:chExt cx="288" cy="858"/>
          </a:xfrm>
        </p:grpSpPr>
        <p:sp>
          <p:nvSpPr>
            <p:cNvPr id="42063" name="Line 901"/>
            <p:cNvSpPr>
              <a:spLocks noChangeShapeType="1"/>
            </p:cNvSpPr>
            <p:nvPr/>
          </p:nvSpPr>
          <p:spPr bwMode="auto">
            <a:xfrm>
              <a:off x="1440" y="3216"/>
              <a:ext cx="0" cy="528"/>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en-US"/>
            </a:p>
          </p:txBody>
        </p:sp>
        <p:grpSp>
          <p:nvGrpSpPr>
            <p:cNvPr id="42064" name="Group 902"/>
            <p:cNvGrpSpPr>
              <a:grpSpLocks/>
            </p:cNvGrpSpPr>
            <p:nvPr/>
          </p:nvGrpSpPr>
          <p:grpSpPr bwMode="auto">
            <a:xfrm rot="34991">
              <a:off x="1296" y="3072"/>
              <a:ext cx="288" cy="384"/>
              <a:chOff x="2016" y="3120"/>
              <a:chExt cx="432" cy="528"/>
            </a:xfrm>
          </p:grpSpPr>
          <p:sp>
            <p:nvSpPr>
              <p:cNvPr id="42066" name="AutoShape 903"/>
              <p:cNvSpPr>
                <a:spLocks noChangeArrowheads="1"/>
              </p:cNvSpPr>
              <p:nvPr/>
            </p:nvSpPr>
            <p:spPr bwMode="auto">
              <a:xfrm>
                <a:off x="2016" y="3120"/>
                <a:ext cx="432" cy="528"/>
              </a:xfrm>
              <a:prstGeom prst="can">
                <a:avLst>
                  <a:gd name="adj" fmla="val 45369"/>
                </a:avLst>
              </a:prstGeom>
              <a:gradFill rotWithShape="0">
                <a:gsLst>
                  <a:gs pos="0">
                    <a:srgbClr val="005E2F"/>
                  </a:gs>
                  <a:gs pos="50000">
                    <a:srgbClr val="00CC66"/>
                  </a:gs>
                  <a:gs pos="100000">
                    <a:srgbClr val="005E2F"/>
                  </a:gs>
                </a:gsLst>
                <a:lin ang="0" scaled="1"/>
              </a:gradFill>
              <a:ln w="9525">
                <a:solidFill>
                  <a:schemeClr val="tx1"/>
                </a:solidFill>
                <a:round/>
                <a:headEnd/>
                <a:tailEnd/>
              </a:ln>
            </p:spPr>
            <p:txBody>
              <a:bodyPr wrap="none" anchor="ctr"/>
              <a:lstStyle/>
              <a:p>
                <a:endParaRPr lang="en-US"/>
              </a:p>
            </p:txBody>
          </p:sp>
          <p:sp>
            <p:nvSpPr>
              <p:cNvPr id="42067" name="Oval 904"/>
              <p:cNvSpPr>
                <a:spLocks noChangeArrowheads="1"/>
              </p:cNvSpPr>
              <p:nvPr/>
            </p:nvSpPr>
            <p:spPr bwMode="auto">
              <a:xfrm>
                <a:off x="2112" y="3168"/>
                <a:ext cx="240" cy="96"/>
              </a:xfrm>
              <a:prstGeom prst="ellipse">
                <a:avLst/>
              </a:prstGeom>
              <a:gradFill rotWithShape="0">
                <a:gsLst>
                  <a:gs pos="0">
                    <a:srgbClr val="005E2F"/>
                  </a:gs>
                  <a:gs pos="50000">
                    <a:srgbClr val="00CC66"/>
                  </a:gs>
                  <a:gs pos="100000">
                    <a:srgbClr val="005E2F"/>
                  </a:gs>
                </a:gsLst>
                <a:lin ang="0" scaled="1"/>
              </a:gradFill>
              <a:ln w="9525">
                <a:solidFill>
                  <a:schemeClr val="tx1"/>
                </a:solidFill>
                <a:round/>
                <a:headEnd/>
                <a:tailEnd/>
              </a:ln>
            </p:spPr>
            <p:txBody>
              <a:bodyPr wrap="none" anchor="ctr"/>
              <a:lstStyle/>
              <a:p>
                <a:endParaRPr lang="en-US"/>
              </a:p>
            </p:txBody>
          </p:sp>
        </p:grpSp>
        <p:sp>
          <p:nvSpPr>
            <p:cNvPr id="42065" name="Line 905"/>
            <p:cNvSpPr>
              <a:spLocks noChangeShapeType="1"/>
            </p:cNvSpPr>
            <p:nvPr/>
          </p:nvSpPr>
          <p:spPr bwMode="auto">
            <a:xfrm>
              <a:off x="1440" y="2886"/>
              <a:ext cx="0"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07" name="Group 1021"/>
          <p:cNvGrpSpPr>
            <a:grpSpLocks/>
          </p:cNvGrpSpPr>
          <p:nvPr/>
        </p:nvGrpSpPr>
        <p:grpSpPr bwMode="auto">
          <a:xfrm rot="1013159">
            <a:off x="4800600" y="1676400"/>
            <a:ext cx="457200" cy="1308100"/>
            <a:chOff x="2275" y="2325"/>
            <a:chExt cx="288" cy="824"/>
          </a:xfrm>
        </p:grpSpPr>
        <p:sp>
          <p:nvSpPr>
            <p:cNvPr id="42058" name="Line 906"/>
            <p:cNvSpPr>
              <a:spLocks noChangeShapeType="1"/>
            </p:cNvSpPr>
            <p:nvPr/>
          </p:nvSpPr>
          <p:spPr bwMode="auto">
            <a:xfrm rot="1355709">
              <a:off x="2336" y="2621"/>
              <a:ext cx="0" cy="528"/>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en-US"/>
            </a:p>
          </p:txBody>
        </p:sp>
        <p:grpSp>
          <p:nvGrpSpPr>
            <p:cNvPr id="42059" name="Group 907"/>
            <p:cNvGrpSpPr>
              <a:grpSpLocks/>
            </p:cNvGrpSpPr>
            <p:nvPr/>
          </p:nvGrpSpPr>
          <p:grpSpPr bwMode="auto">
            <a:xfrm rot="1390701">
              <a:off x="2275" y="2493"/>
              <a:ext cx="288" cy="384"/>
              <a:chOff x="2016" y="3120"/>
              <a:chExt cx="432" cy="528"/>
            </a:xfrm>
          </p:grpSpPr>
          <p:sp>
            <p:nvSpPr>
              <p:cNvPr id="42061" name="AutoShape 908"/>
              <p:cNvSpPr>
                <a:spLocks noChangeArrowheads="1"/>
              </p:cNvSpPr>
              <p:nvPr/>
            </p:nvSpPr>
            <p:spPr bwMode="auto">
              <a:xfrm>
                <a:off x="2016" y="3120"/>
                <a:ext cx="432" cy="528"/>
              </a:xfrm>
              <a:prstGeom prst="can">
                <a:avLst>
                  <a:gd name="adj" fmla="val 45369"/>
                </a:avLst>
              </a:prstGeom>
              <a:gradFill rotWithShape="0">
                <a:gsLst>
                  <a:gs pos="0">
                    <a:srgbClr val="FF0000"/>
                  </a:gs>
                  <a:gs pos="50000">
                    <a:srgbClr val="760000"/>
                  </a:gs>
                  <a:gs pos="100000">
                    <a:srgbClr val="FF0000"/>
                  </a:gs>
                </a:gsLst>
                <a:lin ang="2700000" scaled="1"/>
              </a:gradFill>
              <a:ln w="9525">
                <a:solidFill>
                  <a:schemeClr val="tx1"/>
                </a:solidFill>
                <a:round/>
                <a:headEnd/>
                <a:tailEnd/>
              </a:ln>
            </p:spPr>
            <p:txBody>
              <a:bodyPr wrap="none" anchor="ctr"/>
              <a:lstStyle/>
              <a:p>
                <a:endParaRPr lang="en-US"/>
              </a:p>
            </p:txBody>
          </p:sp>
          <p:sp>
            <p:nvSpPr>
              <p:cNvPr id="42062" name="Oval 909"/>
              <p:cNvSpPr>
                <a:spLocks noChangeArrowheads="1"/>
              </p:cNvSpPr>
              <p:nvPr/>
            </p:nvSpPr>
            <p:spPr bwMode="auto">
              <a:xfrm>
                <a:off x="2112" y="3168"/>
                <a:ext cx="240" cy="96"/>
              </a:xfrm>
              <a:prstGeom prst="ellipse">
                <a:avLst/>
              </a:prstGeom>
              <a:gradFill rotWithShape="0">
                <a:gsLst>
                  <a:gs pos="0">
                    <a:srgbClr val="FF0000"/>
                  </a:gs>
                  <a:gs pos="50000">
                    <a:srgbClr val="760000"/>
                  </a:gs>
                  <a:gs pos="100000">
                    <a:srgbClr val="FF0000"/>
                  </a:gs>
                </a:gsLst>
                <a:lin ang="2700000" scaled="1"/>
              </a:gradFill>
              <a:ln w="9525">
                <a:solidFill>
                  <a:schemeClr val="tx1"/>
                </a:solidFill>
                <a:round/>
                <a:headEnd/>
                <a:tailEnd/>
              </a:ln>
            </p:spPr>
            <p:txBody>
              <a:bodyPr wrap="none" anchor="ctr"/>
              <a:lstStyle/>
              <a:p>
                <a:endParaRPr lang="en-US"/>
              </a:p>
            </p:txBody>
          </p:sp>
        </p:grpSp>
        <p:sp>
          <p:nvSpPr>
            <p:cNvPr id="42060" name="Line 910"/>
            <p:cNvSpPr>
              <a:spLocks noChangeShapeType="1"/>
            </p:cNvSpPr>
            <p:nvPr/>
          </p:nvSpPr>
          <p:spPr bwMode="auto">
            <a:xfrm rot="1355709">
              <a:off x="2509" y="2325"/>
              <a:ext cx="0"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08" name="Group 993"/>
          <p:cNvGrpSpPr>
            <a:grpSpLocks/>
          </p:cNvGrpSpPr>
          <p:nvPr/>
        </p:nvGrpSpPr>
        <p:grpSpPr bwMode="auto">
          <a:xfrm rot="-1072373">
            <a:off x="7162800" y="5105400"/>
            <a:ext cx="609600" cy="827088"/>
            <a:chOff x="4511" y="2211"/>
            <a:chExt cx="384" cy="521"/>
          </a:xfrm>
        </p:grpSpPr>
        <p:grpSp>
          <p:nvGrpSpPr>
            <p:cNvPr id="42043" name="Group 932"/>
            <p:cNvGrpSpPr>
              <a:grpSpLocks/>
            </p:cNvGrpSpPr>
            <p:nvPr/>
          </p:nvGrpSpPr>
          <p:grpSpPr bwMode="auto">
            <a:xfrm rot="-5400000">
              <a:off x="4463" y="2259"/>
              <a:ext cx="480" cy="384"/>
              <a:chOff x="671" y="3408"/>
              <a:chExt cx="480" cy="384"/>
            </a:xfrm>
          </p:grpSpPr>
          <p:sp>
            <p:nvSpPr>
              <p:cNvPr id="14245" name="AutoShape 933"/>
              <p:cNvSpPr>
                <a:spLocks noChangeArrowheads="1"/>
              </p:cNvSpPr>
              <p:nvPr/>
            </p:nvSpPr>
            <p:spPr bwMode="auto">
              <a:xfrm rot="21634991">
                <a:off x="702" y="3366"/>
                <a:ext cx="480" cy="384"/>
              </a:xfrm>
              <a:prstGeom prst="can">
                <a:avLst>
                  <a:gd name="adj" fmla="val 37120"/>
                </a:avLst>
              </a:prstGeom>
              <a:gradFill rotWithShape="0">
                <a:gsLst>
                  <a:gs pos="0">
                    <a:schemeClr val="hlink">
                      <a:gamma/>
                      <a:shade val="46275"/>
                      <a:invGamma/>
                    </a:schemeClr>
                  </a:gs>
                  <a:gs pos="50000">
                    <a:schemeClr val="hlink"/>
                  </a:gs>
                  <a:gs pos="100000">
                    <a:schemeClr val="hlink">
                      <a:gamma/>
                      <a:shade val="46275"/>
                      <a:invGamma/>
                    </a:schemeClr>
                  </a:gs>
                </a:gsLst>
                <a:lin ang="5400000" scaled="1"/>
              </a:gradFill>
              <a:ln w="9525">
                <a:solidFill>
                  <a:schemeClr val="tx1"/>
                </a:solidFill>
                <a:round/>
                <a:headEnd/>
                <a:tailEnd/>
              </a:ln>
              <a:effectLst/>
            </p:spPr>
            <p:txBody>
              <a:bodyPr wrap="none" anchor="ctr"/>
              <a:lstStyle/>
              <a:p>
                <a:pPr>
                  <a:defRPr/>
                </a:pPr>
                <a:endParaRPr lang="en-US">
                  <a:cs typeface="+mn-cs"/>
                </a:endParaRPr>
              </a:p>
            </p:txBody>
          </p:sp>
          <p:sp>
            <p:nvSpPr>
              <p:cNvPr id="14246" name="Oval 934"/>
              <p:cNvSpPr>
                <a:spLocks noChangeArrowheads="1"/>
              </p:cNvSpPr>
              <p:nvPr/>
            </p:nvSpPr>
            <p:spPr bwMode="auto">
              <a:xfrm rot="21634991">
                <a:off x="857" y="3408"/>
                <a:ext cx="277" cy="61"/>
              </a:xfrm>
              <a:prstGeom prst="ellipse">
                <a:avLst/>
              </a:prstGeom>
              <a:gradFill rotWithShape="0">
                <a:gsLst>
                  <a:gs pos="0">
                    <a:schemeClr val="hlink">
                      <a:gamma/>
                      <a:shade val="46275"/>
                      <a:invGamma/>
                    </a:schemeClr>
                  </a:gs>
                  <a:gs pos="50000">
                    <a:schemeClr val="hlink"/>
                  </a:gs>
                  <a:gs pos="100000">
                    <a:schemeClr val="hlink">
                      <a:gamma/>
                      <a:shade val="46275"/>
                      <a:invGamma/>
                    </a:schemeClr>
                  </a:gs>
                </a:gsLst>
                <a:lin ang="5400000" scaled="1"/>
              </a:gradFill>
              <a:ln w="9525">
                <a:solidFill>
                  <a:schemeClr val="tx1"/>
                </a:solidFill>
                <a:round/>
                <a:headEnd/>
                <a:tailEnd/>
              </a:ln>
              <a:effectLst/>
            </p:spPr>
            <p:txBody>
              <a:bodyPr wrap="none" anchor="ctr"/>
              <a:lstStyle/>
              <a:p>
                <a:pPr>
                  <a:defRPr/>
                </a:pPr>
                <a:endParaRPr lang="en-US">
                  <a:cs typeface="+mn-cs"/>
                </a:endParaRPr>
              </a:p>
            </p:txBody>
          </p:sp>
        </p:grpSp>
        <p:sp>
          <p:nvSpPr>
            <p:cNvPr id="42044" name="Line 935"/>
            <p:cNvSpPr>
              <a:spLocks noChangeShapeType="1"/>
            </p:cNvSpPr>
            <p:nvPr/>
          </p:nvSpPr>
          <p:spPr bwMode="auto">
            <a:xfrm rot="-5400000">
              <a:off x="4773" y="2429"/>
              <a:ext cx="0" cy="2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45" name="Line 936"/>
            <p:cNvSpPr>
              <a:spLocks noChangeShapeType="1"/>
            </p:cNvSpPr>
            <p:nvPr/>
          </p:nvSpPr>
          <p:spPr bwMode="auto">
            <a:xfrm rot="-5400000">
              <a:off x="4766" y="2202"/>
              <a:ext cx="0" cy="25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46" name="Line 937"/>
            <p:cNvSpPr>
              <a:spLocks noChangeShapeType="1"/>
            </p:cNvSpPr>
            <p:nvPr/>
          </p:nvSpPr>
          <p:spPr bwMode="auto">
            <a:xfrm rot="16200000" flipV="1">
              <a:off x="4607" y="2499"/>
              <a:ext cx="48"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47" name="Freeform 938"/>
            <p:cNvSpPr>
              <a:spLocks/>
            </p:cNvSpPr>
            <p:nvPr/>
          </p:nvSpPr>
          <p:spPr bwMode="auto">
            <a:xfrm rot="-5400000">
              <a:off x="4605" y="2323"/>
              <a:ext cx="29" cy="34"/>
            </a:xfrm>
            <a:custGeom>
              <a:avLst/>
              <a:gdLst>
                <a:gd name="T0" fmla="*/ 29 w 29"/>
                <a:gd name="T1" fmla="*/ 34 h 34"/>
                <a:gd name="T2" fmla="*/ 0 w 29"/>
                <a:gd name="T3" fmla="*/ 0 h 34"/>
                <a:gd name="T4" fmla="*/ 0 60000 65536"/>
                <a:gd name="T5" fmla="*/ 0 60000 65536"/>
                <a:gd name="T6" fmla="*/ 0 w 29"/>
                <a:gd name="T7" fmla="*/ 0 h 34"/>
                <a:gd name="T8" fmla="*/ 29 w 29"/>
                <a:gd name="T9" fmla="*/ 34 h 34"/>
              </a:gdLst>
              <a:ahLst/>
              <a:cxnLst>
                <a:cxn ang="T4">
                  <a:pos x="T0" y="T1"/>
                </a:cxn>
                <a:cxn ang="T5">
                  <a:pos x="T2" y="T3"/>
                </a:cxn>
              </a:cxnLst>
              <a:rect l="T6" t="T7" r="T8" b="T9"/>
              <a:pathLst>
                <a:path w="29" h="34">
                  <a:moveTo>
                    <a:pt x="29" y="34"/>
                  </a:moveTo>
                  <a:lnTo>
                    <a:pt x="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48" name="Line 939"/>
            <p:cNvSpPr>
              <a:spLocks noChangeShapeType="1"/>
            </p:cNvSpPr>
            <p:nvPr/>
          </p:nvSpPr>
          <p:spPr bwMode="auto">
            <a:xfrm rot="-3330962">
              <a:off x="4525" y="2596"/>
              <a:ext cx="48"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49" name="Line 940"/>
            <p:cNvSpPr>
              <a:spLocks noChangeShapeType="1"/>
            </p:cNvSpPr>
            <p:nvPr/>
          </p:nvSpPr>
          <p:spPr bwMode="auto">
            <a:xfrm rot="14130962" flipH="1">
              <a:off x="4513" y="2346"/>
              <a:ext cx="48"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50" name="Freeform 941"/>
            <p:cNvSpPr>
              <a:spLocks/>
            </p:cNvSpPr>
            <p:nvPr/>
          </p:nvSpPr>
          <p:spPr bwMode="auto">
            <a:xfrm rot="-6708084">
              <a:off x="4527" y="2476"/>
              <a:ext cx="1" cy="34"/>
            </a:xfrm>
            <a:custGeom>
              <a:avLst/>
              <a:gdLst>
                <a:gd name="T0" fmla="*/ 0 w 1"/>
                <a:gd name="T1" fmla="*/ 0 h 34"/>
                <a:gd name="T2" fmla="*/ 0 w 1"/>
                <a:gd name="T3" fmla="*/ 34 h 34"/>
                <a:gd name="T4" fmla="*/ 0 60000 65536"/>
                <a:gd name="T5" fmla="*/ 0 60000 65536"/>
                <a:gd name="T6" fmla="*/ 0 w 1"/>
                <a:gd name="T7" fmla="*/ 0 h 34"/>
                <a:gd name="T8" fmla="*/ 1 w 1"/>
                <a:gd name="T9" fmla="*/ 34 h 34"/>
              </a:gdLst>
              <a:ahLst/>
              <a:cxnLst>
                <a:cxn ang="T4">
                  <a:pos x="T0" y="T1"/>
                </a:cxn>
                <a:cxn ang="T5">
                  <a:pos x="T2" y="T3"/>
                </a:cxn>
              </a:cxnLst>
              <a:rect l="T6" t="T7" r="T8" b="T9"/>
              <a:pathLst>
                <a:path w="1" h="34">
                  <a:moveTo>
                    <a:pt x="0" y="0"/>
                  </a:moveTo>
                  <a:lnTo>
                    <a:pt x="0" y="3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51" name="Oval 942"/>
            <p:cNvSpPr>
              <a:spLocks noChangeArrowheads="1"/>
            </p:cNvSpPr>
            <p:nvPr/>
          </p:nvSpPr>
          <p:spPr bwMode="auto">
            <a:xfrm rot="-5400000">
              <a:off x="4559" y="2595"/>
              <a:ext cx="48" cy="48"/>
            </a:xfrm>
            <a:prstGeom prst="ellipse">
              <a:avLst/>
            </a:prstGeom>
            <a:gradFill rotWithShape="0">
              <a:gsLst>
                <a:gs pos="0">
                  <a:srgbClr val="FF0000"/>
                </a:gs>
                <a:gs pos="100000">
                  <a:srgbClr val="760000"/>
                </a:gs>
              </a:gsLst>
              <a:path path="shape">
                <a:fillToRect l="50000" t="50000" r="50000" b="50000"/>
              </a:path>
            </a:gradFill>
            <a:ln w="9525">
              <a:solidFill>
                <a:schemeClr val="tx1"/>
              </a:solidFill>
              <a:round/>
              <a:headEnd/>
              <a:tailEnd/>
            </a:ln>
          </p:spPr>
          <p:txBody>
            <a:bodyPr wrap="none" anchor="ctr"/>
            <a:lstStyle/>
            <a:p>
              <a:endParaRPr lang="en-US"/>
            </a:p>
          </p:txBody>
        </p:sp>
        <p:sp>
          <p:nvSpPr>
            <p:cNvPr id="42052" name="Oval 943"/>
            <p:cNvSpPr>
              <a:spLocks noChangeArrowheads="1"/>
            </p:cNvSpPr>
            <p:nvPr/>
          </p:nvSpPr>
          <p:spPr bwMode="auto">
            <a:xfrm rot="-5400000">
              <a:off x="4559" y="2245"/>
              <a:ext cx="48" cy="48"/>
            </a:xfrm>
            <a:prstGeom prst="ellipse">
              <a:avLst/>
            </a:prstGeom>
            <a:gradFill rotWithShape="0">
              <a:gsLst>
                <a:gs pos="0">
                  <a:srgbClr val="FF0000"/>
                </a:gs>
                <a:gs pos="100000">
                  <a:srgbClr val="760000"/>
                </a:gs>
              </a:gsLst>
              <a:path path="shape">
                <a:fillToRect l="50000" t="50000" r="50000" b="50000"/>
              </a:path>
            </a:gradFill>
            <a:ln w="9525">
              <a:solidFill>
                <a:schemeClr val="tx1"/>
              </a:solidFill>
              <a:round/>
              <a:headEnd/>
              <a:tailEnd/>
            </a:ln>
          </p:spPr>
          <p:txBody>
            <a:bodyPr wrap="none" anchor="ctr"/>
            <a:lstStyle/>
            <a:p>
              <a:endParaRPr lang="en-US"/>
            </a:p>
          </p:txBody>
        </p:sp>
        <p:sp>
          <p:nvSpPr>
            <p:cNvPr id="42053" name="Text Box 944"/>
            <p:cNvSpPr txBox="1">
              <a:spLocks noChangeArrowheads="1"/>
            </p:cNvSpPr>
            <p:nvPr/>
          </p:nvSpPr>
          <p:spPr bwMode="auto">
            <a:xfrm rot="-5400000">
              <a:off x="4634" y="2516"/>
              <a:ext cx="1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US" sz="2400">
                  <a:latin typeface="Symbol" pitchFamily="18" charset="2"/>
                </a:rPr>
                <a:t>a</a:t>
              </a:r>
            </a:p>
          </p:txBody>
        </p:sp>
        <p:sp>
          <p:nvSpPr>
            <p:cNvPr id="42054" name="Text Box 945"/>
            <p:cNvSpPr txBox="1">
              <a:spLocks noChangeArrowheads="1"/>
            </p:cNvSpPr>
            <p:nvPr/>
          </p:nvSpPr>
          <p:spPr bwMode="auto">
            <a:xfrm rot="-5400000">
              <a:off x="4628" y="2170"/>
              <a:ext cx="1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US" sz="2400">
                  <a:latin typeface="Symbol" pitchFamily="18" charset="2"/>
                </a:rPr>
                <a:t>a</a:t>
              </a:r>
            </a:p>
          </p:txBody>
        </p:sp>
        <p:sp>
          <p:nvSpPr>
            <p:cNvPr id="42055" name="Text Box 946"/>
            <p:cNvSpPr txBox="1">
              <a:spLocks noChangeArrowheads="1"/>
            </p:cNvSpPr>
            <p:nvPr/>
          </p:nvSpPr>
          <p:spPr bwMode="auto">
            <a:xfrm rot="-5400000">
              <a:off x="4670" y="2328"/>
              <a:ext cx="1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US" sz="2400">
                  <a:latin typeface="Symbol" pitchFamily="18" charset="2"/>
                </a:rPr>
                <a:t>b</a:t>
              </a:r>
            </a:p>
          </p:txBody>
        </p:sp>
      </p:grpSp>
      <p:sp>
        <p:nvSpPr>
          <p:cNvPr id="42009" name="Freeform 1023"/>
          <p:cNvSpPr>
            <a:spLocks/>
          </p:cNvSpPr>
          <p:nvPr/>
        </p:nvSpPr>
        <p:spPr bwMode="auto">
          <a:xfrm rot="-3334203">
            <a:off x="7086600" y="2133600"/>
            <a:ext cx="1219200" cy="762000"/>
          </a:xfrm>
          <a:custGeom>
            <a:avLst/>
            <a:gdLst>
              <a:gd name="T0" fmla="*/ 0 w 2376"/>
              <a:gd name="T1" fmla="*/ 2147483647 h 2184"/>
              <a:gd name="T2" fmla="*/ 2147483647 w 2376"/>
              <a:gd name="T3" fmla="*/ 2147483647 h 2184"/>
              <a:gd name="T4" fmla="*/ 2147483647 w 2376"/>
              <a:gd name="T5" fmla="*/ 2147483647 h 2184"/>
              <a:gd name="T6" fmla="*/ 2147483647 w 2376"/>
              <a:gd name="T7" fmla="*/ 2147483647 h 2184"/>
              <a:gd name="T8" fmla="*/ 2147483647 w 2376"/>
              <a:gd name="T9" fmla="*/ 2147483647 h 2184"/>
              <a:gd name="T10" fmla="*/ 2147483647 w 2376"/>
              <a:gd name="T11" fmla="*/ 2147483647 h 2184"/>
              <a:gd name="T12" fmla="*/ 2147483647 w 2376"/>
              <a:gd name="T13" fmla="*/ 2147483647 h 2184"/>
              <a:gd name="T14" fmla="*/ 2147483647 w 2376"/>
              <a:gd name="T15" fmla="*/ 2147483647 h 2184"/>
              <a:gd name="T16" fmla="*/ 2147483647 w 2376"/>
              <a:gd name="T17" fmla="*/ 2147483647 h 2184"/>
              <a:gd name="T18" fmla="*/ 2147483647 w 2376"/>
              <a:gd name="T19" fmla="*/ 2147483647 h 2184"/>
              <a:gd name="T20" fmla="*/ 2147483647 w 2376"/>
              <a:gd name="T21" fmla="*/ 2147483647 h 2184"/>
              <a:gd name="T22" fmla="*/ 2147483647 w 2376"/>
              <a:gd name="T23" fmla="*/ 2147483647 h 2184"/>
              <a:gd name="T24" fmla="*/ 2147483647 w 2376"/>
              <a:gd name="T25" fmla="*/ 2147483647 h 2184"/>
              <a:gd name="T26" fmla="*/ 2147483647 w 2376"/>
              <a:gd name="T27" fmla="*/ 2147483647 h 2184"/>
              <a:gd name="T28" fmla="*/ 2147483647 w 2376"/>
              <a:gd name="T29" fmla="*/ 2147483647 h 2184"/>
              <a:gd name="T30" fmla="*/ 2147483647 w 2376"/>
              <a:gd name="T31" fmla="*/ 2147483647 h 2184"/>
              <a:gd name="T32" fmla="*/ 2147483647 w 2376"/>
              <a:gd name="T33" fmla="*/ 2147483647 h 2184"/>
              <a:gd name="T34" fmla="*/ 2147483647 w 2376"/>
              <a:gd name="T35" fmla="*/ 2147483647 h 2184"/>
              <a:gd name="T36" fmla="*/ 2147483647 w 2376"/>
              <a:gd name="T37" fmla="*/ 2147483647 h 2184"/>
              <a:gd name="T38" fmla="*/ 2147483647 w 2376"/>
              <a:gd name="T39" fmla="*/ 2147483647 h 2184"/>
              <a:gd name="T40" fmla="*/ 2147483647 w 2376"/>
              <a:gd name="T41" fmla="*/ 2147483647 h 2184"/>
              <a:gd name="T42" fmla="*/ 2147483647 w 2376"/>
              <a:gd name="T43" fmla="*/ 2147483647 h 2184"/>
              <a:gd name="T44" fmla="*/ 2147483647 w 2376"/>
              <a:gd name="T45" fmla="*/ 2147483647 h 2184"/>
              <a:gd name="T46" fmla="*/ 2147483647 w 2376"/>
              <a:gd name="T47" fmla="*/ 2147483647 h 2184"/>
              <a:gd name="T48" fmla="*/ 2147483647 w 2376"/>
              <a:gd name="T49" fmla="*/ 2147483647 h 2184"/>
              <a:gd name="T50" fmla="*/ 2147483647 w 2376"/>
              <a:gd name="T51" fmla="*/ 2147483647 h 2184"/>
              <a:gd name="T52" fmla="*/ 2147483647 w 2376"/>
              <a:gd name="T53" fmla="*/ 2147483647 h 2184"/>
              <a:gd name="T54" fmla="*/ 2147483647 w 2376"/>
              <a:gd name="T55" fmla="*/ 2147483647 h 2184"/>
              <a:gd name="T56" fmla="*/ 2147483647 w 2376"/>
              <a:gd name="T57" fmla="*/ 2147483647 h 2184"/>
              <a:gd name="T58" fmla="*/ 2147483647 w 2376"/>
              <a:gd name="T59" fmla="*/ 2147483647 h 2184"/>
              <a:gd name="T60" fmla="*/ 2147483647 w 2376"/>
              <a:gd name="T61" fmla="*/ 2147483647 h 2184"/>
              <a:gd name="T62" fmla="*/ 2147483647 w 2376"/>
              <a:gd name="T63" fmla="*/ 2147483647 h 2184"/>
              <a:gd name="T64" fmla="*/ 2147483647 w 2376"/>
              <a:gd name="T65" fmla="*/ 2147483647 h 2184"/>
              <a:gd name="T66" fmla="*/ 2147483647 w 2376"/>
              <a:gd name="T67" fmla="*/ 2147483647 h 2184"/>
              <a:gd name="T68" fmla="*/ 2147483647 w 2376"/>
              <a:gd name="T69" fmla="*/ 2147483647 h 2184"/>
              <a:gd name="T70" fmla="*/ 2147483647 w 2376"/>
              <a:gd name="T71" fmla="*/ 2147483647 h 2184"/>
              <a:gd name="T72" fmla="*/ 2147483647 w 2376"/>
              <a:gd name="T73" fmla="*/ 2147483647 h 2184"/>
              <a:gd name="T74" fmla="*/ 2147483647 w 2376"/>
              <a:gd name="T75" fmla="*/ 2147483647 h 218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376"/>
              <a:gd name="T115" fmla="*/ 0 h 2184"/>
              <a:gd name="T116" fmla="*/ 2376 w 2376"/>
              <a:gd name="T117" fmla="*/ 2184 h 218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376" h="2184">
                <a:moveTo>
                  <a:pt x="0" y="216"/>
                </a:moveTo>
                <a:cubicBezTo>
                  <a:pt x="76" y="244"/>
                  <a:pt x="152" y="272"/>
                  <a:pt x="192" y="312"/>
                </a:cubicBezTo>
                <a:cubicBezTo>
                  <a:pt x="232" y="352"/>
                  <a:pt x="232" y="408"/>
                  <a:pt x="240" y="456"/>
                </a:cubicBezTo>
                <a:cubicBezTo>
                  <a:pt x="248" y="504"/>
                  <a:pt x="240" y="496"/>
                  <a:pt x="240" y="600"/>
                </a:cubicBezTo>
                <a:cubicBezTo>
                  <a:pt x="240" y="704"/>
                  <a:pt x="232" y="968"/>
                  <a:pt x="240" y="1080"/>
                </a:cubicBezTo>
                <a:cubicBezTo>
                  <a:pt x="248" y="1192"/>
                  <a:pt x="264" y="1248"/>
                  <a:pt x="288" y="1272"/>
                </a:cubicBezTo>
                <a:cubicBezTo>
                  <a:pt x="312" y="1296"/>
                  <a:pt x="360" y="1256"/>
                  <a:pt x="384" y="1224"/>
                </a:cubicBezTo>
                <a:cubicBezTo>
                  <a:pt x="408" y="1192"/>
                  <a:pt x="424" y="1224"/>
                  <a:pt x="432" y="1080"/>
                </a:cubicBezTo>
                <a:cubicBezTo>
                  <a:pt x="440" y="936"/>
                  <a:pt x="416" y="512"/>
                  <a:pt x="432" y="360"/>
                </a:cubicBezTo>
                <a:cubicBezTo>
                  <a:pt x="448" y="208"/>
                  <a:pt x="496" y="184"/>
                  <a:pt x="528" y="168"/>
                </a:cubicBezTo>
                <a:cubicBezTo>
                  <a:pt x="560" y="152"/>
                  <a:pt x="600" y="216"/>
                  <a:pt x="624" y="264"/>
                </a:cubicBezTo>
                <a:cubicBezTo>
                  <a:pt x="648" y="312"/>
                  <a:pt x="664" y="304"/>
                  <a:pt x="672" y="456"/>
                </a:cubicBezTo>
                <a:cubicBezTo>
                  <a:pt x="680" y="608"/>
                  <a:pt x="680" y="1016"/>
                  <a:pt x="672" y="1176"/>
                </a:cubicBezTo>
                <a:cubicBezTo>
                  <a:pt x="664" y="1336"/>
                  <a:pt x="624" y="1360"/>
                  <a:pt x="624" y="1416"/>
                </a:cubicBezTo>
                <a:cubicBezTo>
                  <a:pt x="624" y="1472"/>
                  <a:pt x="632" y="1496"/>
                  <a:pt x="672" y="1512"/>
                </a:cubicBezTo>
                <a:cubicBezTo>
                  <a:pt x="712" y="1528"/>
                  <a:pt x="824" y="1536"/>
                  <a:pt x="864" y="1512"/>
                </a:cubicBezTo>
                <a:cubicBezTo>
                  <a:pt x="904" y="1488"/>
                  <a:pt x="904" y="1416"/>
                  <a:pt x="912" y="1368"/>
                </a:cubicBezTo>
                <a:cubicBezTo>
                  <a:pt x="920" y="1320"/>
                  <a:pt x="912" y="1288"/>
                  <a:pt x="912" y="1224"/>
                </a:cubicBezTo>
                <a:cubicBezTo>
                  <a:pt x="912" y="1160"/>
                  <a:pt x="912" y="1136"/>
                  <a:pt x="912" y="984"/>
                </a:cubicBezTo>
                <a:cubicBezTo>
                  <a:pt x="912" y="832"/>
                  <a:pt x="904" y="448"/>
                  <a:pt x="912" y="312"/>
                </a:cubicBezTo>
                <a:cubicBezTo>
                  <a:pt x="920" y="176"/>
                  <a:pt x="928" y="192"/>
                  <a:pt x="960" y="168"/>
                </a:cubicBezTo>
                <a:cubicBezTo>
                  <a:pt x="992" y="144"/>
                  <a:pt x="1072" y="136"/>
                  <a:pt x="1104" y="168"/>
                </a:cubicBezTo>
                <a:cubicBezTo>
                  <a:pt x="1136" y="200"/>
                  <a:pt x="1144" y="280"/>
                  <a:pt x="1152" y="360"/>
                </a:cubicBezTo>
                <a:cubicBezTo>
                  <a:pt x="1160" y="440"/>
                  <a:pt x="1152" y="512"/>
                  <a:pt x="1152" y="648"/>
                </a:cubicBezTo>
                <a:cubicBezTo>
                  <a:pt x="1152" y="784"/>
                  <a:pt x="1168" y="1016"/>
                  <a:pt x="1152" y="1176"/>
                </a:cubicBezTo>
                <a:cubicBezTo>
                  <a:pt x="1136" y="1336"/>
                  <a:pt x="1112" y="1520"/>
                  <a:pt x="1056" y="1608"/>
                </a:cubicBezTo>
                <a:cubicBezTo>
                  <a:pt x="1000" y="1696"/>
                  <a:pt x="840" y="1656"/>
                  <a:pt x="816" y="1704"/>
                </a:cubicBezTo>
                <a:cubicBezTo>
                  <a:pt x="792" y="1752"/>
                  <a:pt x="832" y="1872"/>
                  <a:pt x="912" y="1896"/>
                </a:cubicBezTo>
                <a:cubicBezTo>
                  <a:pt x="992" y="1920"/>
                  <a:pt x="1208" y="1896"/>
                  <a:pt x="1296" y="1848"/>
                </a:cubicBezTo>
                <a:cubicBezTo>
                  <a:pt x="1384" y="1800"/>
                  <a:pt x="1408" y="1720"/>
                  <a:pt x="1440" y="1608"/>
                </a:cubicBezTo>
                <a:cubicBezTo>
                  <a:pt x="1472" y="1496"/>
                  <a:pt x="1488" y="1408"/>
                  <a:pt x="1488" y="1176"/>
                </a:cubicBezTo>
                <a:cubicBezTo>
                  <a:pt x="1488" y="944"/>
                  <a:pt x="1432" y="408"/>
                  <a:pt x="1440" y="216"/>
                </a:cubicBezTo>
                <a:cubicBezTo>
                  <a:pt x="1448" y="24"/>
                  <a:pt x="1480" y="48"/>
                  <a:pt x="1536" y="24"/>
                </a:cubicBezTo>
                <a:cubicBezTo>
                  <a:pt x="1592" y="0"/>
                  <a:pt x="1736" y="0"/>
                  <a:pt x="1776" y="72"/>
                </a:cubicBezTo>
                <a:cubicBezTo>
                  <a:pt x="1816" y="144"/>
                  <a:pt x="1776" y="224"/>
                  <a:pt x="1776" y="456"/>
                </a:cubicBezTo>
                <a:cubicBezTo>
                  <a:pt x="1776" y="688"/>
                  <a:pt x="1704" y="1216"/>
                  <a:pt x="1776" y="1464"/>
                </a:cubicBezTo>
                <a:cubicBezTo>
                  <a:pt x="1848" y="1712"/>
                  <a:pt x="2376" y="1824"/>
                  <a:pt x="2208" y="1944"/>
                </a:cubicBezTo>
                <a:cubicBezTo>
                  <a:pt x="2040" y="2064"/>
                  <a:pt x="976" y="2144"/>
                  <a:pt x="768" y="2184"/>
                </a:cubicBezTo>
              </a:path>
            </a:pathLst>
          </a:custGeom>
          <a:noFill/>
          <a:ln w="5715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10" name="Text Box 0"/>
          <p:cNvSpPr txBox="1">
            <a:spLocks noChangeArrowheads="1"/>
          </p:cNvSpPr>
          <p:nvPr/>
        </p:nvSpPr>
        <p:spPr bwMode="auto">
          <a:xfrm>
            <a:off x="7848600" y="2819400"/>
            <a:ext cx="129540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600" b="1">
                <a:solidFill>
                  <a:schemeClr val="tx2"/>
                </a:solidFill>
              </a:rPr>
              <a:t>Muscarinic</a:t>
            </a:r>
          </a:p>
          <a:p>
            <a:pPr eaLnBrk="1" hangingPunct="1">
              <a:spcBef>
                <a:spcPct val="50000"/>
              </a:spcBef>
            </a:pPr>
            <a:r>
              <a:rPr lang="en-US" sz="1600" b="1">
                <a:solidFill>
                  <a:schemeClr val="tx2"/>
                </a:solidFill>
              </a:rPr>
              <a:t>Receptor</a:t>
            </a:r>
          </a:p>
        </p:txBody>
      </p:sp>
      <p:sp>
        <p:nvSpPr>
          <p:cNvPr id="42011" name="Oval 1"/>
          <p:cNvSpPr>
            <a:spLocks noChangeArrowheads="1"/>
          </p:cNvSpPr>
          <p:nvPr/>
        </p:nvSpPr>
        <p:spPr bwMode="auto">
          <a:xfrm>
            <a:off x="4572000" y="4953000"/>
            <a:ext cx="914400" cy="914400"/>
          </a:xfrm>
          <a:prstGeom prst="ellipse">
            <a:avLst/>
          </a:prstGeom>
          <a:solidFill>
            <a:srgbClr val="FFFFCC"/>
          </a:solidFill>
          <a:ln w="38100">
            <a:solidFill>
              <a:srgbClr val="00CC66"/>
            </a:solidFill>
            <a:round/>
            <a:headEnd type="none" w="sm" len="sm"/>
            <a:tailEnd type="none" w="sm" len="sm"/>
          </a:ln>
        </p:spPr>
        <p:txBody>
          <a:bodyPr wrap="none" anchor="ctr"/>
          <a:lstStyle/>
          <a:p>
            <a:endParaRPr lang="en-US"/>
          </a:p>
        </p:txBody>
      </p:sp>
      <p:sp>
        <p:nvSpPr>
          <p:cNvPr id="42012" name="Arc 2"/>
          <p:cNvSpPr>
            <a:spLocks/>
          </p:cNvSpPr>
          <p:nvPr/>
        </p:nvSpPr>
        <p:spPr bwMode="auto">
          <a:xfrm flipH="1">
            <a:off x="5268913" y="3048000"/>
            <a:ext cx="623887" cy="762000"/>
          </a:xfrm>
          <a:custGeom>
            <a:avLst/>
            <a:gdLst>
              <a:gd name="T0" fmla="*/ 2147483647 w 34422"/>
              <a:gd name="T1" fmla="*/ 2147483647 h 43200"/>
              <a:gd name="T2" fmla="*/ 0 w 34422"/>
              <a:gd name="T3" fmla="*/ 2147483647 h 43200"/>
              <a:gd name="T4" fmla="*/ 2147483647 w 34422"/>
              <a:gd name="T5" fmla="*/ 2147483647 h 43200"/>
              <a:gd name="T6" fmla="*/ 0 60000 65536"/>
              <a:gd name="T7" fmla="*/ 0 60000 65536"/>
              <a:gd name="T8" fmla="*/ 0 60000 65536"/>
              <a:gd name="T9" fmla="*/ 0 w 34422"/>
              <a:gd name="T10" fmla="*/ 0 h 43200"/>
              <a:gd name="T11" fmla="*/ 34422 w 34422"/>
              <a:gd name="T12" fmla="*/ 43200 h 43200"/>
            </a:gdLst>
            <a:ahLst/>
            <a:cxnLst>
              <a:cxn ang="T6">
                <a:pos x="T0" y="T1"/>
              </a:cxn>
              <a:cxn ang="T7">
                <a:pos x="T2" y="T3"/>
              </a:cxn>
              <a:cxn ang="T8">
                <a:pos x="T4" y="T5"/>
              </a:cxn>
            </a:cxnLst>
            <a:rect l="T9" t="T10" r="T11" b="T12"/>
            <a:pathLst>
              <a:path w="34422" h="43200" fill="none" extrusionOk="0">
                <a:moveTo>
                  <a:pt x="11092" y="69"/>
                </a:moveTo>
                <a:cubicBezTo>
                  <a:pt x="11667" y="23"/>
                  <a:pt x="12244" y="-1"/>
                  <a:pt x="12822" y="0"/>
                </a:cubicBezTo>
                <a:cubicBezTo>
                  <a:pt x="24751" y="0"/>
                  <a:pt x="34422" y="9670"/>
                  <a:pt x="34422" y="21600"/>
                </a:cubicBezTo>
                <a:cubicBezTo>
                  <a:pt x="34422" y="33529"/>
                  <a:pt x="24751" y="43200"/>
                  <a:pt x="12822" y="43200"/>
                </a:cubicBezTo>
                <a:cubicBezTo>
                  <a:pt x="8207" y="43200"/>
                  <a:pt x="3713" y="41722"/>
                  <a:pt x="0" y="38982"/>
                </a:cubicBezTo>
              </a:path>
              <a:path w="34422" h="43200" stroke="0" extrusionOk="0">
                <a:moveTo>
                  <a:pt x="11092" y="69"/>
                </a:moveTo>
                <a:cubicBezTo>
                  <a:pt x="11667" y="23"/>
                  <a:pt x="12244" y="-1"/>
                  <a:pt x="12822" y="0"/>
                </a:cubicBezTo>
                <a:cubicBezTo>
                  <a:pt x="24751" y="0"/>
                  <a:pt x="34422" y="9670"/>
                  <a:pt x="34422" y="21600"/>
                </a:cubicBezTo>
                <a:cubicBezTo>
                  <a:pt x="34422" y="33529"/>
                  <a:pt x="24751" y="43200"/>
                  <a:pt x="12822" y="43200"/>
                </a:cubicBezTo>
                <a:cubicBezTo>
                  <a:pt x="8207" y="43200"/>
                  <a:pt x="3713" y="41722"/>
                  <a:pt x="0" y="38982"/>
                </a:cubicBezTo>
                <a:lnTo>
                  <a:pt x="12822" y="21600"/>
                </a:lnTo>
                <a:lnTo>
                  <a:pt x="11092" y="69"/>
                </a:lnTo>
                <a:close/>
              </a:path>
            </a:pathLst>
          </a:custGeom>
          <a:solidFill>
            <a:srgbClr val="FFFFCC"/>
          </a:solidFill>
          <a:ln w="38100">
            <a:solidFill>
              <a:srgbClr val="00CC66"/>
            </a:solidFill>
            <a:round/>
            <a:headEnd type="none" w="sm" len="sm"/>
            <a:tailEnd type="none" w="sm" len="sm"/>
          </a:ln>
        </p:spPr>
        <p:txBody>
          <a:bodyPr wrap="none" anchor="ctr"/>
          <a:lstStyle/>
          <a:p>
            <a:endParaRPr lang="en-US"/>
          </a:p>
        </p:txBody>
      </p:sp>
      <p:sp>
        <p:nvSpPr>
          <p:cNvPr id="42013" name="Line 5"/>
          <p:cNvSpPr>
            <a:spLocks noChangeShapeType="1"/>
          </p:cNvSpPr>
          <p:nvPr/>
        </p:nvSpPr>
        <p:spPr bwMode="auto">
          <a:xfrm rot="-8313729">
            <a:off x="3068638" y="4637088"/>
            <a:ext cx="0" cy="8382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en-US"/>
          </a:p>
        </p:txBody>
      </p:sp>
      <p:grpSp>
        <p:nvGrpSpPr>
          <p:cNvPr id="42014" name="Group 6"/>
          <p:cNvGrpSpPr>
            <a:grpSpLocks/>
          </p:cNvGrpSpPr>
          <p:nvPr/>
        </p:nvGrpSpPr>
        <p:grpSpPr bwMode="auto">
          <a:xfrm rot="-8278738">
            <a:off x="2613025" y="5008563"/>
            <a:ext cx="457200" cy="609600"/>
            <a:chOff x="2016" y="3120"/>
            <a:chExt cx="432" cy="528"/>
          </a:xfrm>
        </p:grpSpPr>
        <p:sp>
          <p:nvSpPr>
            <p:cNvPr id="42041" name="AutoShape 7"/>
            <p:cNvSpPr>
              <a:spLocks noChangeArrowheads="1"/>
            </p:cNvSpPr>
            <p:nvPr/>
          </p:nvSpPr>
          <p:spPr bwMode="auto">
            <a:xfrm>
              <a:off x="2016" y="3120"/>
              <a:ext cx="432" cy="528"/>
            </a:xfrm>
            <a:prstGeom prst="can">
              <a:avLst>
                <a:gd name="adj" fmla="val 45369"/>
              </a:avLst>
            </a:prstGeom>
            <a:gradFill rotWithShape="0">
              <a:gsLst>
                <a:gs pos="0">
                  <a:srgbClr val="000028"/>
                </a:gs>
                <a:gs pos="50000">
                  <a:srgbClr val="99CCFF"/>
                </a:gs>
                <a:gs pos="100000">
                  <a:srgbClr val="000028"/>
                </a:gs>
              </a:gsLst>
              <a:lin ang="2700000" scaled="1"/>
            </a:gradFill>
            <a:ln w="19050">
              <a:solidFill>
                <a:schemeClr val="tx1"/>
              </a:solidFill>
              <a:round/>
              <a:headEnd/>
              <a:tailEnd/>
            </a:ln>
          </p:spPr>
          <p:txBody>
            <a:bodyPr wrap="none" anchor="ctr"/>
            <a:lstStyle/>
            <a:p>
              <a:endParaRPr lang="en-US"/>
            </a:p>
          </p:txBody>
        </p:sp>
        <p:sp>
          <p:nvSpPr>
            <p:cNvPr id="42042" name="Oval 8"/>
            <p:cNvSpPr>
              <a:spLocks noChangeArrowheads="1"/>
            </p:cNvSpPr>
            <p:nvPr/>
          </p:nvSpPr>
          <p:spPr bwMode="auto">
            <a:xfrm>
              <a:off x="2112" y="3168"/>
              <a:ext cx="240" cy="96"/>
            </a:xfrm>
            <a:prstGeom prst="ellipse">
              <a:avLst/>
            </a:prstGeom>
            <a:gradFill rotWithShape="0">
              <a:gsLst>
                <a:gs pos="0">
                  <a:srgbClr val="000028"/>
                </a:gs>
                <a:gs pos="50000">
                  <a:srgbClr val="99CCFF"/>
                </a:gs>
                <a:gs pos="100000">
                  <a:srgbClr val="000028"/>
                </a:gs>
              </a:gsLst>
              <a:lin ang="2700000" scaled="1"/>
            </a:gradFill>
            <a:ln w="19050">
              <a:solidFill>
                <a:schemeClr val="tx1"/>
              </a:solidFill>
              <a:round/>
              <a:headEnd/>
              <a:tailEnd/>
            </a:ln>
          </p:spPr>
          <p:txBody>
            <a:bodyPr wrap="none" anchor="ctr"/>
            <a:lstStyle/>
            <a:p>
              <a:endParaRPr lang="en-US"/>
            </a:p>
          </p:txBody>
        </p:sp>
      </p:grpSp>
      <p:sp>
        <p:nvSpPr>
          <p:cNvPr id="42015" name="Text Box 10"/>
          <p:cNvSpPr txBox="1">
            <a:spLocks noChangeArrowheads="1"/>
          </p:cNvSpPr>
          <p:nvPr/>
        </p:nvSpPr>
        <p:spPr bwMode="auto">
          <a:xfrm>
            <a:off x="2438400" y="6019800"/>
            <a:ext cx="1219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400" b="1"/>
              <a:t>Choline</a:t>
            </a:r>
          </a:p>
        </p:txBody>
      </p:sp>
      <p:sp>
        <p:nvSpPr>
          <p:cNvPr id="42016" name="Text Box 11"/>
          <p:cNvSpPr txBox="1">
            <a:spLocks noChangeArrowheads="1"/>
          </p:cNvSpPr>
          <p:nvPr/>
        </p:nvSpPr>
        <p:spPr bwMode="auto">
          <a:xfrm>
            <a:off x="2971800" y="4495800"/>
            <a:ext cx="1219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400" b="1"/>
              <a:t>Choline</a:t>
            </a:r>
          </a:p>
        </p:txBody>
      </p:sp>
      <p:grpSp>
        <p:nvGrpSpPr>
          <p:cNvPr id="42017" name="Group 18"/>
          <p:cNvGrpSpPr>
            <a:grpSpLocks/>
          </p:cNvGrpSpPr>
          <p:nvPr/>
        </p:nvGrpSpPr>
        <p:grpSpPr bwMode="auto">
          <a:xfrm rot="-8649956">
            <a:off x="2155825" y="5367338"/>
            <a:ext cx="914400" cy="457200"/>
            <a:chOff x="2016" y="2160"/>
            <a:chExt cx="576" cy="192"/>
          </a:xfrm>
        </p:grpSpPr>
        <p:sp>
          <p:nvSpPr>
            <p:cNvPr id="42039" name="Arc 16"/>
            <p:cNvSpPr>
              <a:spLocks/>
            </p:cNvSpPr>
            <p:nvPr/>
          </p:nvSpPr>
          <p:spPr bwMode="auto">
            <a:xfrm>
              <a:off x="2016" y="2160"/>
              <a:ext cx="288"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40" name="Arc 17"/>
            <p:cNvSpPr>
              <a:spLocks/>
            </p:cNvSpPr>
            <p:nvPr/>
          </p:nvSpPr>
          <p:spPr bwMode="auto">
            <a:xfrm flipH="1">
              <a:off x="2304" y="2160"/>
              <a:ext cx="288"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42018" name="Text Box 19"/>
          <p:cNvSpPr txBox="1">
            <a:spLocks noChangeArrowheads="1"/>
          </p:cNvSpPr>
          <p:nvPr/>
        </p:nvSpPr>
        <p:spPr bwMode="auto">
          <a:xfrm>
            <a:off x="1752600" y="5257800"/>
            <a:ext cx="95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US" sz="1400" b="1"/>
              <a:t>Na</a:t>
            </a:r>
            <a:r>
              <a:rPr lang="en-US" sz="1400" b="1" baseline="30000"/>
              <a:t>+</a:t>
            </a:r>
            <a:endParaRPr lang="en-US" sz="1400" b="1"/>
          </a:p>
        </p:txBody>
      </p:sp>
      <p:sp>
        <p:nvSpPr>
          <p:cNvPr id="42019" name="Text Box 20"/>
          <p:cNvSpPr txBox="1">
            <a:spLocks noChangeArrowheads="1"/>
          </p:cNvSpPr>
          <p:nvPr/>
        </p:nvSpPr>
        <p:spPr bwMode="auto">
          <a:xfrm>
            <a:off x="2763838" y="4038600"/>
            <a:ext cx="1219200"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algn="ctr" eaLnBrk="1" hangingPunct="1">
              <a:lnSpc>
                <a:spcPct val="80000"/>
              </a:lnSpc>
              <a:spcBef>
                <a:spcPct val="50000"/>
              </a:spcBef>
            </a:pPr>
            <a:r>
              <a:rPr lang="en-US" sz="1400" b="1"/>
              <a:t>Acetyl CoA</a:t>
            </a:r>
          </a:p>
          <a:p>
            <a:pPr algn="ctr" eaLnBrk="1" hangingPunct="1">
              <a:lnSpc>
                <a:spcPct val="80000"/>
              </a:lnSpc>
              <a:spcBef>
                <a:spcPct val="50000"/>
              </a:spcBef>
            </a:pPr>
            <a:r>
              <a:rPr lang="en-US" sz="1400" b="1"/>
              <a:t>+</a:t>
            </a:r>
          </a:p>
        </p:txBody>
      </p:sp>
      <p:sp>
        <p:nvSpPr>
          <p:cNvPr id="42020" name="Freeform 22"/>
          <p:cNvSpPr>
            <a:spLocks/>
          </p:cNvSpPr>
          <p:nvPr/>
        </p:nvSpPr>
        <p:spPr bwMode="auto">
          <a:xfrm>
            <a:off x="5508625" y="2468563"/>
            <a:ext cx="1211263" cy="1284287"/>
          </a:xfrm>
          <a:custGeom>
            <a:avLst/>
            <a:gdLst>
              <a:gd name="T0" fmla="*/ 0 w 763"/>
              <a:gd name="T1" fmla="*/ 2147483647 h 809"/>
              <a:gd name="T2" fmla="*/ 2147483647 w 763"/>
              <a:gd name="T3" fmla="*/ 2147483647 h 809"/>
              <a:gd name="T4" fmla="*/ 2147483647 w 763"/>
              <a:gd name="T5" fmla="*/ 2147483647 h 809"/>
              <a:gd name="T6" fmla="*/ 2147483647 w 763"/>
              <a:gd name="T7" fmla="*/ 2147483647 h 809"/>
              <a:gd name="T8" fmla="*/ 2147483647 w 763"/>
              <a:gd name="T9" fmla="*/ 2147483647 h 809"/>
              <a:gd name="T10" fmla="*/ 2147483647 w 763"/>
              <a:gd name="T11" fmla="*/ 2147483647 h 809"/>
              <a:gd name="T12" fmla="*/ 2147483647 w 763"/>
              <a:gd name="T13" fmla="*/ 2147483647 h 809"/>
              <a:gd name="T14" fmla="*/ 2147483647 w 763"/>
              <a:gd name="T15" fmla="*/ 2147483647 h 809"/>
              <a:gd name="T16" fmla="*/ 2147483647 w 763"/>
              <a:gd name="T17" fmla="*/ 0 h 809"/>
              <a:gd name="T18" fmla="*/ 2147483647 w 763"/>
              <a:gd name="T19" fmla="*/ 2147483647 h 809"/>
              <a:gd name="T20" fmla="*/ 2147483647 w 763"/>
              <a:gd name="T21" fmla="*/ 2147483647 h 809"/>
              <a:gd name="T22" fmla="*/ 2147483647 w 763"/>
              <a:gd name="T23" fmla="*/ 2147483647 h 809"/>
              <a:gd name="T24" fmla="*/ 2147483647 w 763"/>
              <a:gd name="T25" fmla="*/ 2147483647 h 809"/>
              <a:gd name="T26" fmla="*/ 2147483647 w 763"/>
              <a:gd name="T27" fmla="*/ 2147483647 h 809"/>
              <a:gd name="T28" fmla="*/ 2147483647 w 763"/>
              <a:gd name="T29" fmla="*/ 2147483647 h 809"/>
              <a:gd name="T30" fmla="*/ 2147483647 w 763"/>
              <a:gd name="T31" fmla="*/ 2147483647 h 809"/>
              <a:gd name="T32" fmla="*/ 2147483647 w 763"/>
              <a:gd name="T33" fmla="*/ 2147483647 h 809"/>
              <a:gd name="T34" fmla="*/ 2147483647 w 763"/>
              <a:gd name="T35" fmla="*/ 2147483647 h 809"/>
              <a:gd name="T36" fmla="*/ 2147483647 w 763"/>
              <a:gd name="T37" fmla="*/ 2147483647 h 809"/>
              <a:gd name="T38" fmla="*/ 2147483647 w 763"/>
              <a:gd name="T39" fmla="*/ 2147483647 h 809"/>
              <a:gd name="T40" fmla="*/ 2147483647 w 763"/>
              <a:gd name="T41" fmla="*/ 2147483647 h 809"/>
              <a:gd name="T42" fmla="*/ 2147483647 w 763"/>
              <a:gd name="T43" fmla="*/ 2147483647 h 809"/>
              <a:gd name="T44" fmla="*/ 2147483647 w 763"/>
              <a:gd name="T45" fmla="*/ 2147483647 h 809"/>
              <a:gd name="T46" fmla="*/ 2147483647 w 763"/>
              <a:gd name="T47" fmla="*/ 2147483647 h 809"/>
              <a:gd name="T48" fmla="*/ 2147483647 w 763"/>
              <a:gd name="T49" fmla="*/ 2147483647 h 809"/>
              <a:gd name="T50" fmla="*/ 2147483647 w 763"/>
              <a:gd name="T51" fmla="*/ 2147483647 h 80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63"/>
              <a:gd name="T79" fmla="*/ 0 h 809"/>
              <a:gd name="T80" fmla="*/ 763 w 763"/>
              <a:gd name="T81" fmla="*/ 809 h 80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63" h="809">
                <a:moveTo>
                  <a:pt x="0" y="444"/>
                </a:moveTo>
                <a:cubicBezTo>
                  <a:pt x="27" y="434"/>
                  <a:pt x="68" y="410"/>
                  <a:pt x="82" y="413"/>
                </a:cubicBezTo>
                <a:cubicBezTo>
                  <a:pt x="98" y="406"/>
                  <a:pt x="95" y="404"/>
                  <a:pt x="89" y="389"/>
                </a:cubicBezTo>
                <a:cubicBezTo>
                  <a:pt x="106" y="384"/>
                  <a:pt x="113" y="367"/>
                  <a:pt x="130" y="360"/>
                </a:cubicBezTo>
                <a:cubicBezTo>
                  <a:pt x="138" y="352"/>
                  <a:pt x="139" y="345"/>
                  <a:pt x="142" y="334"/>
                </a:cubicBezTo>
                <a:cubicBezTo>
                  <a:pt x="141" y="287"/>
                  <a:pt x="123" y="265"/>
                  <a:pt x="161" y="252"/>
                </a:cubicBezTo>
                <a:cubicBezTo>
                  <a:pt x="187" y="208"/>
                  <a:pt x="167" y="252"/>
                  <a:pt x="180" y="187"/>
                </a:cubicBezTo>
                <a:cubicBezTo>
                  <a:pt x="182" y="177"/>
                  <a:pt x="244" y="167"/>
                  <a:pt x="255" y="163"/>
                </a:cubicBezTo>
                <a:cubicBezTo>
                  <a:pt x="278" y="111"/>
                  <a:pt x="227" y="33"/>
                  <a:pt x="274" y="0"/>
                </a:cubicBezTo>
                <a:cubicBezTo>
                  <a:pt x="294" y="1"/>
                  <a:pt x="314" y="0"/>
                  <a:pt x="334" y="3"/>
                </a:cubicBezTo>
                <a:cubicBezTo>
                  <a:pt x="341" y="4"/>
                  <a:pt x="368" y="60"/>
                  <a:pt x="382" y="75"/>
                </a:cubicBezTo>
                <a:cubicBezTo>
                  <a:pt x="407" y="146"/>
                  <a:pt x="544" y="146"/>
                  <a:pt x="608" y="159"/>
                </a:cubicBezTo>
                <a:cubicBezTo>
                  <a:pt x="618" y="177"/>
                  <a:pt x="620" y="189"/>
                  <a:pt x="622" y="209"/>
                </a:cubicBezTo>
                <a:cubicBezTo>
                  <a:pt x="625" y="283"/>
                  <a:pt x="596" y="354"/>
                  <a:pt x="682" y="372"/>
                </a:cubicBezTo>
                <a:cubicBezTo>
                  <a:pt x="709" y="383"/>
                  <a:pt x="725" y="409"/>
                  <a:pt x="752" y="418"/>
                </a:cubicBezTo>
                <a:cubicBezTo>
                  <a:pt x="763" y="458"/>
                  <a:pt x="726" y="499"/>
                  <a:pt x="689" y="504"/>
                </a:cubicBezTo>
                <a:cubicBezTo>
                  <a:pt x="671" y="511"/>
                  <a:pt x="660" y="514"/>
                  <a:pt x="641" y="516"/>
                </a:cubicBezTo>
                <a:cubicBezTo>
                  <a:pt x="621" y="523"/>
                  <a:pt x="606" y="532"/>
                  <a:pt x="588" y="543"/>
                </a:cubicBezTo>
                <a:cubicBezTo>
                  <a:pt x="574" y="561"/>
                  <a:pt x="582" y="556"/>
                  <a:pt x="569" y="562"/>
                </a:cubicBezTo>
                <a:cubicBezTo>
                  <a:pt x="549" y="561"/>
                  <a:pt x="470" y="553"/>
                  <a:pt x="432" y="557"/>
                </a:cubicBezTo>
                <a:cubicBezTo>
                  <a:pt x="416" y="569"/>
                  <a:pt x="419" y="589"/>
                  <a:pt x="408" y="605"/>
                </a:cubicBezTo>
                <a:cubicBezTo>
                  <a:pt x="403" y="655"/>
                  <a:pt x="408" y="597"/>
                  <a:pt x="408" y="703"/>
                </a:cubicBezTo>
                <a:cubicBezTo>
                  <a:pt x="408" y="737"/>
                  <a:pt x="340" y="746"/>
                  <a:pt x="315" y="754"/>
                </a:cubicBezTo>
                <a:cubicBezTo>
                  <a:pt x="305" y="761"/>
                  <a:pt x="298" y="761"/>
                  <a:pt x="286" y="763"/>
                </a:cubicBezTo>
                <a:cubicBezTo>
                  <a:pt x="265" y="769"/>
                  <a:pt x="245" y="779"/>
                  <a:pt x="224" y="785"/>
                </a:cubicBezTo>
                <a:cubicBezTo>
                  <a:pt x="188" y="808"/>
                  <a:pt x="155" y="809"/>
                  <a:pt x="111" y="809"/>
                </a:cubicBezTo>
              </a:path>
            </a:pathLst>
          </a:custGeom>
          <a:gradFill rotWithShape="0">
            <a:gsLst>
              <a:gs pos="0">
                <a:srgbClr val="FFFFCC"/>
              </a:gs>
              <a:gs pos="100000">
                <a:srgbClr val="000032"/>
              </a:gs>
            </a:gsLst>
            <a:lin ang="18900000" scaled="1"/>
          </a:gra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p>
            <a:endParaRPr lang="en-US"/>
          </a:p>
        </p:txBody>
      </p:sp>
      <p:sp>
        <p:nvSpPr>
          <p:cNvPr id="42021" name="Text Box 24"/>
          <p:cNvSpPr txBox="1">
            <a:spLocks noChangeArrowheads="1"/>
          </p:cNvSpPr>
          <p:nvPr/>
        </p:nvSpPr>
        <p:spPr bwMode="auto">
          <a:xfrm>
            <a:off x="4638675" y="4267200"/>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400" b="1"/>
              <a:t>Acetylcholine</a:t>
            </a:r>
          </a:p>
        </p:txBody>
      </p:sp>
      <p:sp>
        <p:nvSpPr>
          <p:cNvPr id="42022" name="Oval 25" descr="Brown marble"/>
          <p:cNvSpPr>
            <a:spLocks noChangeArrowheads="1"/>
          </p:cNvSpPr>
          <p:nvPr/>
        </p:nvSpPr>
        <p:spPr bwMode="auto">
          <a:xfrm>
            <a:off x="3962400" y="3962400"/>
            <a:ext cx="457200" cy="914400"/>
          </a:xfrm>
          <a:prstGeom prst="ellipse">
            <a:avLst/>
          </a:prstGeom>
          <a:blipFill dpi="0" rotWithShape="0">
            <a:blip r:embed="rId3"/>
            <a:srcRect/>
            <a:tile tx="0" ty="0" sx="100000" sy="100000" flip="none" algn="tl"/>
          </a:blipFill>
          <a:ln w="19050">
            <a:solidFill>
              <a:schemeClr val="tx1"/>
            </a:solidFill>
            <a:round/>
            <a:headEnd type="none" w="sm" len="sm"/>
            <a:tailEnd type="none" w="sm" len="sm"/>
          </a:ln>
        </p:spPr>
        <p:txBody>
          <a:bodyPr wrap="none" anchor="ctr"/>
          <a:lstStyle/>
          <a:p>
            <a:endParaRPr lang="en-US"/>
          </a:p>
        </p:txBody>
      </p:sp>
      <p:sp>
        <p:nvSpPr>
          <p:cNvPr id="42023" name="Line 23"/>
          <p:cNvSpPr>
            <a:spLocks noChangeShapeType="1"/>
          </p:cNvSpPr>
          <p:nvPr/>
        </p:nvSpPr>
        <p:spPr bwMode="auto">
          <a:xfrm>
            <a:off x="3733800" y="4419600"/>
            <a:ext cx="914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2024" name="Text Box 26"/>
          <p:cNvSpPr txBox="1">
            <a:spLocks noChangeArrowheads="1"/>
          </p:cNvSpPr>
          <p:nvPr/>
        </p:nvSpPr>
        <p:spPr bwMode="auto">
          <a:xfrm>
            <a:off x="3352800" y="3581400"/>
            <a:ext cx="19050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lnSpc>
                <a:spcPct val="50000"/>
              </a:lnSpc>
              <a:spcBef>
                <a:spcPct val="50000"/>
              </a:spcBef>
            </a:pPr>
            <a:r>
              <a:rPr lang="en-US" sz="1400" b="1">
                <a:solidFill>
                  <a:schemeClr val="tx2"/>
                </a:solidFill>
              </a:rPr>
              <a:t>Choline</a:t>
            </a:r>
          </a:p>
          <a:p>
            <a:pPr eaLnBrk="1" hangingPunct="1">
              <a:lnSpc>
                <a:spcPct val="50000"/>
              </a:lnSpc>
              <a:spcBef>
                <a:spcPct val="50000"/>
              </a:spcBef>
            </a:pPr>
            <a:r>
              <a:rPr lang="en-US" sz="1400" b="1">
                <a:solidFill>
                  <a:schemeClr val="tx2"/>
                </a:solidFill>
              </a:rPr>
              <a:t>Acetyltransferase</a:t>
            </a:r>
          </a:p>
        </p:txBody>
      </p:sp>
      <p:sp>
        <p:nvSpPr>
          <p:cNvPr id="42025" name="Text Box 27"/>
          <p:cNvSpPr txBox="1">
            <a:spLocks noChangeArrowheads="1"/>
          </p:cNvSpPr>
          <p:nvPr/>
        </p:nvSpPr>
        <p:spPr bwMode="auto">
          <a:xfrm>
            <a:off x="4572000" y="5334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ct val="50000"/>
              </a:spcBef>
            </a:pPr>
            <a:r>
              <a:rPr lang="en-US" sz="1400" b="1">
                <a:solidFill>
                  <a:srgbClr val="000024"/>
                </a:solidFill>
              </a:rPr>
              <a:t>H</a:t>
            </a:r>
            <a:r>
              <a:rPr lang="en-US" sz="1400" b="1" baseline="30000">
                <a:solidFill>
                  <a:srgbClr val="000024"/>
                </a:solidFill>
              </a:rPr>
              <a:t>+</a:t>
            </a:r>
            <a:endParaRPr lang="en-US" sz="1400" b="1">
              <a:solidFill>
                <a:srgbClr val="000024"/>
              </a:solidFill>
            </a:endParaRPr>
          </a:p>
        </p:txBody>
      </p:sp>
      <p:sp>
        <p:nvSpPr>
          <p:cNvPr id="42026" name="AutoShape 28"/>
          <p:cNvSpPr>
            <a:spLocks noChangeArrowheads="1"/>
          </p:cNvSpPr>
          <p:nvPr/>
        </p:nvSpPr>
        <p:spPr bwMode="auto">
          <a:xfrm rot="69806">
            <a:off x="4953000" y="4800600"/>
            <a:ext cx="152400" cy="381000"/>
          </a:xfrm>
          <a:prstGeom prst="can">
            <a:avLst>
              <a:gd name="adj" fmla="val 62500"/>
            </a:avLst>
          </a:prstGeom>
          <a:solidFill>
            <a:srgbClr val="990099"/>
          </a:solidFill>
          <a:ln w="12700">
            <a:solidFill>
              <a:schemeClr val="tx1"/>
            </a:solidFill>
            <a:round/>
            <a:headEnd type="none" w="sm" len="sm"/>
            <a:tailEnd type="none" w="sm" len="sm"/>
          </a:ln>
        </p:spPr>
        <p:txBody>
          <a:bodyPr wrap="none" anchor="ctr"/>
          <a:lstStyle/>
          <a:p>
            <a:endParaRPr lang="en-US"/>
          </a:p>
        </p:txBody>
      </p:sp>
      <p:sp>
        <p:nvSpPr>
          <p:cNvPr id="42027" name="Text Box 31"/>
          <p:cNvSpPr txBox="1">
            <a:spLocks noChangeArrowheads="1"/>
          </p:cNvSpPr>
          <p:nvPr/>
        </p:nvSpPr>
        <p:spPr bwMode="auto">
          <a:xfrm>
            <a:off x="4632325" y="5478463"/>
            <a:ext cx="184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p>
        </p:txBody>
      </p:sp>
      <p:sp>
        <p:nvSpPr>
          <p:cNvPr id="42028" name="Text Box 32"/>
          <p:cNvSpPr txBox="1">
            <a:spLocks noChangeArrowheads="1"/>
          </p:cNvSpPr>
          <p:nvPr/>
        </p:nvSpPr>
        <p:spPr bwMode="auto">
          <a:xfrm>
            <a:off x="4800600" y="5518150"/>
            <a:ext cx="1219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400" b="1" dirty="0">
                <a:solidFill>
                  <a:srgbClr val="000024"/>
                </a:solidFill>
              </a:rPr>
              <a:t>ACH</a:t>
            </a:r>
          </a:p>
        </p:txBody>
      </p:sp>
      <p:sp>
        <p:nvSpPr>
          <p:cNvPr id="42029" name="Text Box 33"/>
          <p:cNvSpPr txBox="1">
            <a:spLocks noChangeArrowheads="1"/>
          </p:cNvSpPr>
          <p:nvPr/>
        </p:nvSpPr>
        <p:spPr bwMode="auto">
          <a:xfrm>
            <a:off x="5334000" y="3200400"/>
            <a:ext cx="1219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400" b="1" dirty="0">
                <a:solidFill>
                  <a:srgbClr val="000024"/>
                </a:solidFill>
              </a:rPr>
              <a:t>ACH</a:t>
            </a:r>
          </a:p>
        </p:txBody>
      </p:sp>
      <p:sp>
        <p:nvSpPr>
          <p:cNvPr id="42030" name="Arc 35"/>
          <p:cNvSpPr>
            <a:spLocks/>
          </p:cNvSpPr>
          <p:nvPr/>
        </p:nvSpPr>
        <p:spPr bwMode="auto">
          <a:xfrm flipV="1">
            <a:off x="4757738" y="5168900"/>
            <a:ext cx="228600" cy="246063"/>
          </a:xfrm>
          <a:custGeom>
            <a:avLst/>
            <a:gdLst>
              <a:gd name="T0" fmla="*/ 2147483647 w 21600"/>
              <a:gd name="T1" fmla="*/ 0 h 17511"/>
              <a:gd name="T2" fmla="*/ 2147483647 w 21600"/>
              <a:gd name="T3" fmla="*/ 2147483647 h 17511"/>
              <a:gd name="T4" fmla="*/ 0 w 21600"/>
              <a:gd name="T5" fmla="*/ 2147483647 h 17511"/>
              <a:gd name="T6" fmla="*/ 0 60000 65536"/>
              <a:gd name="T7" fmla="*/ 0 60000 65536"/>
              <a:gd name="T8" fmla="*/ 0 60000 65536"/>
              <a:gd name="T9" fmla="*/ 0 w 21600"/>
              <a:gd name="T10" fmla="*/ 0 h 17511"/>
              <a:gd name="T11" fmla="*/ 21600 w 21600"/>
              <a:gd name="T12" fmla="*/ 17511 h 17511"/>
            </a:gdLst>
            <a:ahLst/>
            <a:cxnLst>
              <a:cxn ang="T6">
                <a:pos x="T0" y="T1"/>
              </a:cxn>
              <a:cxn ang="T7">
                <a:pos x="T2" y="T3"/>
              </a:cxn>
              <a:cxn ang="T8">
                <a:pos x="T4" y="T5"/>
              </a:cxn>
            </a:cxnLst>
            <a:rect l="T9" t="T10" r="T11" b="T12"/>
            <a:pathLst>
              <a:path w="21600" h="17511" fill="none" extrusionOk="0">
                <a:moveTo>
                  <a:pt x="12646" y="-1"/>
                </a:moveTo>
                <a:cubicBezTo>
                  <a:pt x="18269" y="4060"/>
                  <a:pt x="21600" y="10574"/>
                  <a:pt x="21600" y="17511"/>
                </a:cubicBezTo>
              </a:path>
              <a:path w="21600" h="17511" stroke="0" extrusionOk="0">
                <a:moveTo>
                  <a:pt x="12646" y="-1"/>
                </a:moveTo>
                <a:cubicBezTo>
                  <a:pt x="18269" y="4060"/>
                  <a:pt x="21600" y="10574"/>
                  <a:pt x="21600" y="17511"/>
                </a:cubicBezTo>
                <a:lnTo>
                  <a:pt x="0" y="17511"/>
                </a:lnTo>
                <a:lnTo>
                  <a:pt x="12646" y="-1"/>
                </a:lnTo>
                <a:close/>
              </a:path>
            </a:pathLst>
          </a:custGeom>
          <a:noFill/>
          <a:ln w="38100">
            <a:solidFill>
              <a:srgbClr val="000024"/>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31" name="Arc 36"/>
          <p:cNvSpPr>
            <a:spLocks/>
          </p:cNvSpPr>
          <p:nvPr/>
        </p:nvSpPr>
        <p:spPr bwMode="auto">
          <a:xfrm flipH="1" flipV="1">
            <a:off x="5072063" y="5170488"/>
            <a:ext cx="228600" cy="280987"/>
          </a:xfrm>
          <a:custGeom>
            <a:avLst/>
            <a:gdLst>
              <a:gd name="T0" fmla="*/ 2147483647 w 21600"/>
              <a:gd name="T1" fmla="*/ 0 h 19935"/>
              <a:gd name="T2" fmla="*/ 2147483647 w 21600"/>
              <a:gd name="T3" fmla="*/ 2147483647 h 19935"/>
              <a:gd name="T4" fmla="*/ 0 w 21600"/>
              <a:gd name="T5" fmla="*/ 2147483647 h 19935"/>
              <a:gd name="T6" fmla="*/ 0 60000 65536"/>
              <a:gd name="T7" fmla="*/ 0 60000 65536"/>
              <a:gd name="T8" fmla="*/ 0 60000 65536"/>
              <a:gd name="T9" fmla="*/ 0 w 21600"/>
              <a:gd name="T10" fmla="*/ 0 h 19935"/>
              <a:gd name="T11" fmla="*/ 21600 w 21600"/>
              <a:gd name="T12" fmla="*/ 19935 h 19935"/>
            </a:gdLst>
            <a:ahLst/>
            <a:cxnLst>
              <a:cxn ang="T6">
                <a:pos x="T0" y="T1"/>
              </a:cxn>
              <a:cxn ang="T7">
                <a:pos x="T2" y="T3"/>
              </a:cxn>
              <a:cxn ang="T8">
                <a:pos x="T4" y="T5"/>
              </a:cxn>
            </a:cxnLst>
            <a:rect l="T9" t="T10" r="T11" b="T12"/>
            <a:pathLst>
              <a:path w="21600" h="19935" fill="none" extrusionOk="0">
                <a:moveTo>
                  <a:pt x="8315" y="-1"/>
                </a:moveTo>
                <a:cubicBezTo>
                  <a:pt x="16360" y="3355"/>
                  <a:pt x="21600" y="11218"/>
                  <a:pt x="21600" y="19935"/>
                </a:cubicBezTo>
              </a:path>
              <a:path w="21600" h="19935" stroke="0" extrusionOk="0">
                <a:moveTo>
                  <a:pt x="8315" y="-1"/>
                </a:moveTo>
                <a:cubicBezTo>
                  <a:pt x="16360" y="3355"/>
                  <a:pt x="21600" y="11218"/>
                  <a:pt x="21600" y="19935"/>
                </a:cubicBezTo>
                <a:lnTo>
                  <a:pt x="0" y="19935"/>
                </a:lnTo>
                <a:lnTo>
                  <a:pt x="8315" y="-1"/>
                </a:lnTo>
                <a:close/>
              </a:path>
            </a:pathLst>
          </a:custGeom>
          <a:noFill/>
          <a:ln w="38100">
            <a:solidFill>
              <a:srgbClr val="000024"/>
            </a:solidFill>
            <a:round/>
            <a:headEnd type="triangle" w="sm"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32" name="Arc 37"/>
          <p:cNvSpPr>
            <a:spLocks/>
          </p:cNvSpPr>
          <p:nvPr/>
        </p:nvSpPr>
        <p:spPr bwMode="auto">
          <a:xfrm>
            <a:off x="4767263" y="4594225"/>
            <a:ext cx="228600" cy="280988"/>
          </a:xfrm>
          <a:custGeom>
            <a:avLst/>
            <a:gdLst>
              <a:gd name="T0" fmla="*/ 2147483647 w 21600"/>
              <a:gd name="T1" fmla="*/ 0 h 19935"/>
              <a:gd name="T2" fmla="*/ 2147483647 w 21600"/>
              <a:gd name="T3" fmla="*/ 2147483647 h 19935"/>
              <a:gd name="T4" fmla="*/ 0 w 21600"/>
              <a:gd name="T5" fmla="*/ 2147483647 h 19935"/>
              <a:gd name="T6" fmla="*/ 0 60000 65536"/>
              <a:gd name="T7" fmla="*/ 0 60000 65536"/>
              <a:gd name="T8" fmla="*/ 0 60000 65536"/>
              <a:gd name="T9" fmla="*/ 0 w 21600"/>
              <a:gd name="T10" fmla="*/ 0 h 19935"/>
              <a:gd name="T11" fmla="*/ 21600 w 21600"/>
              <a:gd name="T12" fmla="*/ 19935 h 19935"/>
            </a:gdLst>
            <a:ahLst/>
            <a:cxnLst>
              <a:cxn ang="T6">
                <a:pos x="T0" y="T1"/>
              </a:cxn>
              <a:cxn ang="T7">
                <a:pos x="T2" y="T3"/>
              </a:cxn>
              <a:cxn ang="T8">
                <a:pos x="T4" y="T5"/>
              </a:cxn>
            </a:cxnLst>
            <a:rect l="T9" t="T10" r="T11" b="T12"/>
            <a:pathLst>
              <a:path w="21600" h="19935" fill="none" extrusionOk="0">
                <a:moveTo>
                  <a:pt x="8315" y="-1"/>
                </a:moveTo>
                <a:cubicBezTo>
                  <a:pt x="16360" y="3355"/>
                  <a:pt x="21600" y="11218"/>
                  <a:pt x="21600" y="19935"/>
                </a:cubicBezTo>
              </a:path>
              <a:path w="21600" h="19935" stroke="0" extrusionOk="0">
                <a:moveTo>
                  <a:pt x="8315" y="-1"/>
                </a:moveTo>
                <a:cubicBezTo>
                  <a:pt x="16360" y="3355"/>
                  <a:pt x="21600" y="11218"/>
                  <a:pt x="21600" y="19935"/>
                </a:cubicBezTo>
                <a:lnTo>
                  <a:pt x="0" y="19935"/>
                </a:lnTo>
                <a:lnTo>
                  <a:pt x="8315" y="-1"/>
                </a:lnTo>
                <a:close/>
              </a:path>
            </a:pathLst>
          </a:custGeom>
          <a:noFill/>
          <a:ln w="38100">
            <a:solidFill>
              <a:schemeClr val="tx1"/>
            </a:solidFill>
            <a:round/>
            <a:headEnd type="triangle" w="sm"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33" name="Line 39"/>
          <p:cNvSpPr>
            <a:spLocks noChangeShapeType="1"/>
          </p:cNvSpPr>
          <p:nvPr/>
        </p:nvSpPr>
        <p:spPr bwMode="auto">
          <a:xfrm>
            <a:off x="5073650" y="4560888"/>
            <a:ext cx="0" cy="3048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034" name="Arc 40"/>
          <p:cNvSpPr>
            <a:spLocks/>
          </p:cNvSpPr>
          <p:nvPr/>
        </p:nvSpPr>
        <p:spPr bwMode="auto">
          <a:xfrm>
            <a:off x="5943600" y="3352800"/>
            <a:ext cx="762000" cy="874713"/>
          </a:xfrm>
          <a:custGeom>
            <a:avLst/>
            <a:gdLst>
              <a:gd name="T0" fmla="*/ 0 w 21600"/>
              <a:gd name="T1" fmla="*/ 0 h 27539"/>
              <a:gd name="T2" fmla="*/ 2147483647 w 21600"/>
              <a:gd name="T3" fmla="*/ 2147483647 h 27539"/>
              <a:gd name="T4" fmla="*/ 0 w 21600"/>
              <a:gd name="T5" fmla="*/ 2147483647 h 27539"/>
              <a:gd name="T6" fmla="*/ 0 60000 65536"/>
              <a:gd name="T7" fmla="*/ 0 60000 65536"/>
              <a:gd name="T8" fmla="*/ 0 60000 65536"/>
              <a:gd name="T9" fmla="*/ 0 w 21600"/>
              <a:gd name="T10" fmla="*/ 0 h 27539"/>
              <a:gd name="T11" fmla="*/ 21600 w 21600"/>
              <a:gd name="T12" fmla="*/ 27539 h 27539"/>
            </a:gdLst>
            <a:ahLst/>
            <a:cxnLst>
              <a:cxn ang="T6">
                <a:pos x="T0" y="T1"/>
              </a:cxn>
              <a:cxn ang="T7">
                <a:pos x="T2" y="T3"/>
              </a:cxn>
              <a:cxn ang="T8">
                <a:pos x="T4" y="T5"/>
              </a:cxn>
            </a:cxnLst>
            <a:rect l="T9" t="T10" r="T11" b="T12"/>
            <a:pathLst>
              <a:path w="21600" h="27539" fill="none" extrusionOk="0">
                <a:moveTo>
                  <a:pt x="-1" y="0"/>
                </a:moveTo>
                <a:cubicBezTo>
                  <a:pt x="11929" y="0"/>
                  <a:pt x="21600" y="9670"/>
                  <a:pt x="21600" y="21600"/>
                </a:cubicBezTo>
                <a:cubicBezTo>
                  <a:pt x="21600" y="23608"/>
                  <a:pt x="21319" y="25607"/>
                  <a:pt x="20767" y="27538"/>
                </a:cubicBezTo>
              </a:path>
              <a:path w="21600" h="27539" stroke="0" extrusionOk="0">
                <a:moveTo>
                  <a:pt x="-1" y="0"/>
                </a:moveTo>
                <a:cubicBezTo>
                  <a:pt x="11929" y="0"/>
                  <a:pt x="21600" y="9670"/>
                  <a:pt x="21600" y="21600"/>
                </a:cubicBezTo>
                <a:cubicBezTo>
                  <a:pt x="21600" y="23608"/>
                  <a:pt x="21319" y="25607"/>
                  <a:pt x="20767" y="27538"/>
                </a:cubicBezTo>
                <a:lnTo>
                  <a:pt x="0" y="21600"/>
                </a:lnTo>
                <a:lnTo>
                  <a:pt x="-1" y="0"/>
                </a:lnTo>
                <a:close/>
              </a:path>
            </a:pathLst>
          </a:cu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35" name="Line 42"/>
          <p:cNvSpPr>
            <a:spLocks noChangeShapeType="1"/>
          </p:cNvSpPr>
          <p:nvPr/>
        </p:nvSpPr>
        <p:spPr bwMode="auto">
          <a:xfrm flipH="1">
            <a:off x="6019800" y="4200525"/>
            <a:ext cx="654050" cy="14382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2036" name="Line 43"/>
          <p:cNvSpPr>
            <a:spLocks noChangeShapeType="1"/>
          </p:cNvSpPr>
          <p:nvPr/>
        </p:nvSpPr>
        <p:spPr bwMode="auto">
          <a:xfrm flipH="1">
            <a:off x="6673850" y="4124325"/>
            <a:ext cx="31750" cy="15144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2037" name="Text Box 44"/>
          <p:cNvSpPr txBox="1">
            <a:spLocks noChangeArrowheads="1"/>
          </p:cNvSpPr>
          <p:nvPr/>
        </p:nvSpPr>
        <p:spPr bwMode="auto">
          <a:xfrm>
            <a:off x="5476875" y="5637213"/>
            <a:ext cx="1219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400" b="1"/>
              <a:t>Choline</a:t>
            </a:r>
          </a:p>
        </p:txBody>
      </p:sp>
      <p:sp>
        <p:nvSpPr>
          <p:cNvPr id="42038" name="Text Box 45"/>
          <p:cNvSpPr txBox="1">
            <a:spLocks noChangeArrowheads="1"/>
          </p:cNvSpPr>
          <p:nvPr/>
        </p:nvSpPr>
        <p:spPr bwMode="auto">
          <a:xfrm>
            <a:off x="6248400" y="5637213"/>
            <a:ext cx="1219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22263" indent="-322263" defTabSz="858838" eaLnBrk="0" hangingPunct="0">
              <a:defRPr>
                <a:solidFill>
                  <a:schemeClr val="tx1"/>
                </a:solidFill>
                <a:latin typeface="Arial" charset="0"/>
                <a:cs typeface="Arial" charset="0"/>
              </a:defRPr>
            </a:lvl1pPr>
            <a:lvl2pPr marL="742950" indent="-285750" defTabSz="858838" eaLnBrk="0" hangingPunct="0">
              <a:defRPr>
                <a:solidFill>
                  <a:schemeClr val="tx1"/>
                </a:solidFill>
                <a:latin typeface="Arial" charset="0"/>
                <a:cs typeface="Arial" charset="0"/>
              </a:defRPr>
            </a:lvl2pPr>
            <a:lvl3pPr marL="1143000" indent="-228600" defTabSz="858838" eaLnBrk="0" hangingPunct="0">
              <a:defRPr>
                <a:solidFill>
                  <a:schemeClr val="tx1"/>
                </a:solidFill>
                <a:latin typeface="Arial" charset="0"/>
                <a:cs typeface="Arial" charset="0"/>
              </a:defRPr>
            </a:lvl3pPr>
            <a:lvl4pPr marL="1600200" indent="-228600" defTabSz="858838" eaLnBrk="0" hangingPunct="0">
              <a:defRPr>
                <a:solidFill>
                  <a:schemeClr val="tx1"/>
                </a:solidFill>
                <a:latin typeface="Arial" charset="0"/>
                <a:cs typeface="Arial" charset="0"/>
              </a:defRPr>
            </a:lvl4pPr>
            <a:lvl5pPr marL="2057400" indent="-228600" defTabSz="858838" eaLnBrk="0" hangingPunct="0">
              <a:defRPr>
                <a:solidFill>
                  <a:schemeClr val="tx1"/>
                </a:solidFill>
                <a:latin typeface="Arial" charset="0"/>
                <a:cs typeface="Arial" charset="0"/>
              </a:defRPr>
            </a:lvl5pPr>
            <a:lvl6pPr marL="2514600" indent="-228600" defTabSz="858838" eaLnBrk="0" fontAlgn="base" hangingPunct="0">
              <a:spcBef>
                <a:spcPct val="0"/>
              </a:spcBef>
              <a:spcAft>
                <a:spcPct val="0"/>
              </a:spcAft>
              <a:defRPr>
                <a:solidFill>
                  <a:schemeClr val="tx1"/>
                </a:solidFill>
                <a:latin typeface="Arial" charset="0"/>
                <a:cs typeface="Arial" charset="0"/>
              </a:defRPr>
            </a:lvl6pPr>
            <a:lvl7pPr marL="2971800" indent="-228600" defTabSz="858838" eaLnBrk="0" fontAlgn="base" hangingPunct="0">
              <a:spcBef>
                <a:spcPct val="0"/>
              </a:spcBef>
              <a:spcAft>
                <a:spcPct val="0"/>
              </a:spcAft>
              <a:defRPr>
                <a:solidFill>
                  <a:schemeClr val="tx1"/>
                </a:solidFill>
                <a:latin typeface="Arial" charset="0"/>
                <a:cs typeface="Arial" charset="0"/>
              </a:defRPr>
            </a:lvl7pPr>
            <a:lvl8pPr marL="3429000" indent="-228600" defTabSz="858838" eaLnBrk="0" fontAlgn="base" hangingPunct="0">
              <a:spcBef>
                <a:spcPct val="0"/>
              </a:spcBef>
              <a:spcAft>
                <a:spcPct val="0"/>
              </a:spcAft>
              <a:defRPr>
                <a:solidFill>
                  <a:schemeClr val="tx1"/>
                </a:solidFill>
                <a:latin typeface="Arial" charset="0"/>
                <a:cs typeface="Arial" charset="0"/>
              </a:defRPr>
            </a:lvl8pPr>
            <a:lvl9pPr marL="3886200" indent="-228600" defTabSz="858838"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400" b="1"/>
              <a:t>Acetate</a:t>
            </a:r>
          </a:p>
        </p:txBody>
      </p:sp>
    </p:spTree>
    <p:extLst>
      <p:ext uri="{BB962C8B-B14F-4D97-AF65-F5344CB8AC3E}">
        <p14:creationId xmlns:p14="http://schemas.microsoft.com/office/powerpoint/2010/main" val="1810212001"/>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57200" y="268288"/>
            <a:ext cx="8229600" cy="1255712"/>
          </a:xfrm>
        </p:spPr>
        <p:txBody>
          <a:bodyPr rtlCol="0">
            <a:normAutofit/>
          </a:bodyPr>
          <a:lstStyle/>
          <a:p>
            <a:pPr marL="484632" algn="just" eaLnBrk="1" fontAlgn="auto" hangingPunct="1">
              <a:spcAft>
                <a:spcPts val="0"/>
              </a:spcAft>
              <a:defRPr/>
            </a:pPr>
            <a:r>
              <a:rPr lang="en-US" b="1" dirty="0">
                <a:solidFill>
                  <a:schemeClr val="accent1">
                    <a:tint val="83000"/>
                    <a:satMod val="150000"/>
                  </a:schemeClr>
                </a:solidFill>
              </a:rPr>
              <a:t>Adrenergic Transmission</a:t>
            </a:r>
            <a:endParaRPr lang="en-US" dirty="0">
              <a:solidFill>
                <a:schemeClr val="accent1">
                  <a:tint val="83000"/>
                  <a:satMod val="150000"/>
                </a:schemeClr>
              </a:solidFill>
            </a:endParaRPr>
          </a:p>
        </p:txBody>
      </p:sp>
      <p:sp>
        <p:nvSpPr>
          <p:cNvPr id="43011" name="Content Placeholder 2"/>
          <p:cNvSpPr>
            <a:spLocks noGrp="1"/>
          </p:cNvSpPr>
          <p:nvPr>
            <p:ph idx="1"/>
          </p:nvPr>
        </p:nvSpPr>
        <p:spPr>
          <a:xfrm>
            <a:off x="228600" y="1447800"/>
            <a:ext cx="8458200" cy="5105400"/>
          </a:xfrm>
        </p:spPr>
        <p:txBody>
          <a:bodyPr rtlCol="0">
            <a:normAutofit/>
          </a:bodyPr>
          <a:lstStyle/>
          <a:p>
            <a:pPr marL="578358" indent="-514350" eaLnBrk="1" fontAlgn="auto" hangingPunct="1">
              <a:spcAft>
                <a:spcPts val="0"/>
              </a:spcAft>
              <a:buFont typeface="Arial" pitchFamily="34" charset="0"/>
              <a:buAutoNum type="alphaUcPeriod"/>
              <a:defRPr/>
            </a:pPr>
            <a:r>
              <a:rPr lang="en-US" sz="2800" b="1" dirty="0">
                <a:cs typeface="Times New Roman" pitchFamily="18" charset="0"/>
              </a:rPr>
              <a:t>Synthesis of catecholamines</a:t>
            </a:r>
          </a:p>
          <a:p>
            <a:pPr marL="448056" indent="-384048" algn="just" eaLnBrk="1" fontAlgn="auto" hangingPunct="1">
              <a:spcAft>
                <a:spcPts val="0"/>
              </a:spcAft>
              <a:buFont typeface="Wingdings 2"/>
              <a:buChar char=""/>
              <a:defRPr/>
            </a:pPr>
            <a:r>
              <a:rPr lang="en-US" sz="2400" dirty="0">
                <a:cs typeface="Times New Roman" pitchFamily="18" charset="0"/>
              </a:rPr>
              <a:t>The synthesis of the catecholamine transmitters is more complex than that of </a:t>
            </a:r>
            <a:r>
              <a:rPr lang="en-US" sz="2400" dirty="0" err="1">
                <a:cs typeface="Times New Roman" pitchFamily="18" charset="0"/>
              </a:rPr>
              <a:t>ACh</a:t>
            </a:r>
            <a:r>
              <a:rPr lang="en-US" sz="2400" dirty="0">
                <a:cs typeface="Times New Roman" pitchFamily="18" charset="0"/>
              </a:rPr>
              <a:t>.</a:t>
            </a:r>
          </a:p>
          <a:p>
            <a:pPr marL="448056" indent="-384048" algn="just" eaLnBrk="1" fontAlgn="auto" hangingPunct="1">
              <a:spcAft>
                <a:spcPts val="0"/>
              </a:spcAft>
              <a:buFont typeface="Wingdings 2"/>
              <a:buChar char=""/>
              <a:defRPr/>
            </a:pPr>
            <a:r>
              <a:rPr lang="en-US" sz="2400" dirty="0">
                <a:cs typeface="Times New Roman" pitchFamily="18" charset="0"/>
              </a:rPr>
              <a:t>Norepinephrine is synthesized in the cytoplasm of sympathetic postganglionic nerve endings and stored in the vesicles . </a:t>
            </a:r>
          </a:p>
          <a:p>
            <a:pPr marL="448056" indent="-384048" algn="just" eaLnBrk="1" fontAlgn="auto" hangingPunct="1">
              <a:spcAft>
                <a:spcPts val="0"/>
              </a:spcAft>
              <a:buFont typeface="Wingdings 2" pitchFamily="18" charset="2"/>
              <a:buNone/>
              <a:defRPr/>
            </a:pPr>
            <a:endParaRPr lang="en-US" sz="2400" dirty="0">
              <a:cs typeface="Times New Roman" pitchFamily="18" charset="0"/>
            </a:endParaRPr>
          </a:p>
          <a:p>
            <a:pPr marL="448056" indent="-384048" algn="just" eaLnBrk="1" fontAlgn="auto" hangingPunct="1">
              <a:spcAft>
                <a:spcPts val="0"/>
              </a:spcAft>
              <a:buFont typeface="Wingdings 2"/>
              <a:buChar char=""/>
              <a:defRPr/>
            </a:pPr>
            <a:r>
              <a:rPr lang="en-US" sz="2400" dirty="0">
                <a:solidFill>
                  <a:srgbClr val="FF0000"/>
                </a:solidFill>
                <a:cs typeface="Times New Roman" pitchFamily="18" charset="0"/>
              </a:rPr>
              <a:t>Tyrosine in the blood stream is taken up into nerves and converted into catecholamine.</a:t>
            </a:r>
          </a:p>
          <a:p>
            <a:pPr marL="448056" indent="-384048" algn="just" eaLnBrk="1" fontAlgn="auto" hangingPunct="1">
              <a:spcAft>
                <a:spcPts val="0"/>
              </a:spcAft>
              <a:buFont typeface="Wingdings 2" pitchFamily="18" charset="2"/>
              <a:buNone/>
              <a:defRPr/>
            </a:pPr>
            <a:endParaRPr lang="en-US" sz="2400" dirty="0">
              <a:solidFill>
                <a:srgbClr val="FF0000"/>
              </a:solidFill>
              <a:cs typeface="Times New Roman" pitchFamily="18" charset="0"/>
            </a:endParaRPr>
          </a:p>
          <a:p>
            <a:pPr marL="448056" indent="-384048" eaLnBrk="1" fontAlgn="auto" hangingPunct="1">
              <a:spcAft>
                <a:spcPts val="0"/>
              </a:spcAft>
              <a:buFont typeface="Wingdings 2" pitchFamily="18" charset="2"/>
              <a:buNone/>
              <a:defRPr/>
            </a:pPr>
            <a:endParaRPr lang="en-US" sz="2400" dirty="0">
              <a:solidFill>
                <a:srgbClr val="FF0000"/>
              </a:solidFill>
              <a:cs typeface="Times New Roman" pitchFamily="18" charset="0"/>
            </a:endParaRPr>
          </a:p>
        </p:txBody>
      </p:sp>
    </p:spTree>
    <p:extLst>
      <p:ext uri="{BB962C8B-B14F-4D97-AF65-F5344CB8AC3E}">
        <p14:creationId xmlns:p14="http://schemas.microsoft.com/office/powerpoint/2010/main" val="2681788633"/>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9F5B0-3C12-4AD2-5FAC-1DCC734921F4}"/>
              </a:ext>
            </a:extLst>
          </p:cNvPr>
          <p:cNvSpPr>
            <a:spLocks noGrp="1"/>
          </p:cNvSpPr>
          <p:nvPr>
            <p:ph type="title"/>
          </p:nvPr>
        </p:nvSpPr>
        <p:spPr>
          <a:xfrm>
            <a:off x="457200" y="274638"/>
            <a:ext cx="8229600" cy="868362"/>
          </a:xfrm>
        </p:spPr>
        <p:txBody>
          <a:bodyPr/>
          <a:lstStyle/>
          <a:p>
            <a:r>
              <a:rPr lang="en-US" dirty="0"/>
              <a:t>Cont.…</a:t>
            </a:r>
          </a:p>
        </p:txBody>
      </p:sp>
      <p:sp>
        <p:nvSpPr>
          <p:cNvPr id="3" name="Content Placeholder 2">
            <a:extLst>
              <a:ext uri="{FF2B5EF4-FFF2-40B4-BE49-F238E27FC236}">
                <a16:creationId xmlns:a16="http://schemas.microsoft.com/office/drawing/2014/main" id="{2DF0AF6D-1532-661F-8F71-32C0563A990C}"/>
              </a:ext>
            </a:extLst>
          </p:cNvPr>
          <p:cNvSpPr>
            <a:spLocks noGrp="1"/>
          </p:cNvSpPr>
          <p:nvPr>
            <p:ph idx="1"/>
          </p:nvPr>
        </p:nvSpPr>
        <p:spPr>
          <a:xfrm>
            <a:off x="457200" y="1143000"/>
            <a:ext cx="8229600" cy="4983163"/>
          </a:xfrm>
        </p:spPr>
        <p:txBody>
          <a:bodyPr>
            <a:noAutofit/>
          </a:bodyPr>
          <a:lstStyle/>
          <a:p>
            <a:pPr marL="447675" indent="-382588" algn="just" eaLnBrk="1" hangingPunct="1">
              <a:buFont typeface="Wingdings 2" pitchFamily="18" charset="2"/>
              <a:buChar char=""/>
            </a:pPr>
            <a:r>
              <a:rPr lang="en-US" sz="2400" dirty="0">
                <a:latin typeface="+mj-lt"/>
                <a:cs typeface="Times New Roman" pitchFamily="18" charset="0"/>
              </a:rPr>
              <a:t>The main enzymes which are critical to the formation of catecholamines are:</a:t>
            </a:r>
          </a:p>
          <a:p>
            <a:pPr marL="447675" indent="-382588" algn="just" eaLnBrk="1" hangingPunct="1">
              <a:buFont typeface="Arial" charset="0"/>
              <a:buNone/>
            </a:pPr>
            <a:r>
              <a:rPr lang="en-US" sz="2400" dirty="0">
                <a:solidFill>
                  <a:srgbClr val="FF0000"/>
                </a:solidFill>
                <a:latin typeface="+mj-lt"/>
                <a:cs typeface="Times New Roman" pitchFamily="18" charset="0"/>
              </a:rPr>
              <a:t>a. Tyrosine hydroxylase (tyrosine to dopa) </a:t>
            </a:r>
          </a:p>
          <a:p>
            <a:pPr marL="879475" lvl="1" algn="just"/>
            <a:r>
              <a:rPr lang="en-US" sz="2400" dirty="0">
                <a:latin typeface="+mj-lt"/>
                <a:cs typeface="Times New Roman" pitchFamily="18" charset="0"/>
              </a:rPr>
              <a:t>It is the rate-limiting step in NE synthesis and is located in the cytoplasm.</a:t>
            </a:r>
          </a:p>
          <a:p>
            <a:pPr marL="879475" lvl="1" algn="just"/>
            <a:r>
              <a:rPr lang="en-US" sz="2400" dirty="0">
                <a:latin typeface="+mj-lt"/>
                <a:cs typeface="Times New Roman" pitchFamily="18" charset="0"/>
              </a:rPr>
              <a:t>inhibited by </a:t>
            </a:r>
            <a:r>
              <a:rPr lang="en-US" sz="2400" dirty="0" err="1">
                <a:latin typeface="+mj-lt"/>
                <a:cs typeface="Times New Roman" pitchFamily="18" charset="0"/>
              </a:rPr>
              <a:t>metyrosine</a:t>
            </a:r>
            <a:r>
              <a:rPr lang="en-US" sz="2400" dirty="0">
                <a:latin typeface="+mj-lt"/>
                <a:cs typeface="Times New Roman" pitchFamily="18" charset="0"/>
              </a:rPr>
              <a:t> (a-methyl-p-tyrosine).</a:t>
            </a:r>
          </a:p>
          <a:p>
            <a:pPr marL="447675" indent="-382588" algn="just" eaLnBrk="1" hangingPunct="1">
              <a:buFont typeface="Arial" charset="0"/>
              <a:buNone/>
            </a:pPr>
            <a:r>
              <a:rPr lang="en-US" sz="2400" dirty="0">
                <a:solidFill>
                  <a:srgbClr val="FF0000"/>
                </a:solidFill>
                <a:latin typeface="+mj-lt"/>
                <a:cs typeface="Times New Roman" pitchFamily="18" charset="0"/>
              </a:rPr>
              <a:t>b. Dopa decarboxylase (dopa to dopamine) </a:t>
            </a:r>
          </a:p>
          <a:p>
            <a:pPr marL="879475" lvl="1" algn="just"/>
            <a:r>
              <a:rPr lang="en-US" sz="2400" dirty="0">
                <a:latin typeface="+mj-lt"/>
                <a:cs typeface="Times New Roman" pitchFamily="18" charset="0"/>
              </a:rPr>
              <a:t>found in the cytoplasm of many nonneural and neural tissues.</a:t>
            </a:r>
          </a:p>
          <a:p>
            <a:pPr marL="879475" lvl="1" algn="just"/>
            <a:r>
              <a:rPr lang="en-US" sz="2400" dirty="0">
                <a:latin typeface="+mj-lt"/>
                <a:cs typeface="Times New Roman" pitchFamily="18" charset="0"/>
              </a:rPr>
              <a:t>It had been called "aromatic-L-amino acid decarboxylase" because of its broad substrate specificity.</a:t>
            </a:r>
          </a:p>
          <a:p>
            <a:pPr marL="879475" lvl="1" algn="just"/>
            <a:r>
              <a:rPr lang="en-US" sz="2400" dirty="0">
                <a:latin typeface="+mj-lt"/>
                <a:cs typeface="Times New Roman" pitchFamily="18" charset="0"/>
              </a:rPr>
              <a:t>Peripheral (non-neuronal) dopa decarboxylase can be inhibited by carbidopa.</a:t>
            </a:r>
          </a:p>
          <a:p>
            <a:pPr marL="822325" lvl="1" algn="just" eaLnBrk="1" hangingPunct="1">
              <a:buFont typeface="Wingdings" pitchFamily="2" charset="2"/>
              <a:buChar char="ü"/>
            </a:pPr>
            <a:endParaRPr lang="en-US" sz="2400" dirty="0">
              <a:latin typeface="+mj-lt"/>
              <a:cs typeface="Times New Roman" pitchFamily="18" charset="0"/>
            </a:endParaRPr>
          </a:p>
          <a:p>
            <a:endParaRPr lang="en-US" sz="2400" dirty="0">
              <a:latin typeface="+mj-lt"/>
            </a:endParaRPr>
          </a:p>
        </p:txBody>
      </p:sp>
    </p:spTree>
    <p:extLst>
      <p:ext uri="{BB962C8B-B14F-4D97-AF65-F5344CB8AC3E}">
        <p14:creationId xmlns:p14="http://schemas.microsoft.com/office/powerpoint/2010/main" val="280978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86ED2-D368-E7D0-588F-ABFB065A822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28AE6DCA-8857-F0AF-8089-A942AE80A7D3}"/>
              </a:ext>
            </a:extLst>
          </p:cNvPr>
          <p:cNvSpPr>
            <a:spLocks noGrp="1"/>
          </p:cNvSpPr>
          <p:nvPr>
            <p:ph idx="1"/>
          </p:nvPr>
        </p:nvSpPr>
        <p:spPr/>
        <p:txBody>
          <a:bodyPr>
            <a:normAutofit/>
          </a:bodyPr>
          <a:lstStyle/>
          <a:p>
            <a:pPr marL="447675" indent="-382588" algn="just" eaLnBrk="1" hangingPunct="1">
              <a:buFont typeface="Arial" charset="0"/>
              <a:buNone/>
            </a:pPr>
            <a:r>
              <a:rPr lang="en-US" sz="2400" dirty="0">
                <a:solidFill>
                  <a:srgbClr val="FF0000"/>
                </a:solidFill>
                <a:cs typeface="Times New Roman" pitchFamily="18" charset="0"/>
              </a:rPr>
              <a:t>c. Dopamine-ß- hydroxylase (dopamine to norepinephrine) </a:t>
            </a:r>
          </a:p>
          <a:p>
            <a:pPr marL="936625" lvl="1" indent="-457200" algn="just"/>
            <a:r>
              <a:rPr lang="en-US" sz="2200" dirty="0">
                <a:cs typeface="Times New Roman" pitchFamily="18" charset="0"/>
              </a:rPr>
              <a:t>is a copper-containing enzyme located primarily within the membrane of amine storage granules.</a:t>
            </a:r>
          </a:p>
          <a:p>
            <a:pPr marL="822325" lvl="1" algn="just" eaLnBrk="1" hangingPunct="1">
              <a:buFont typeface="Verdana" pitchFamily="34" charset="0"/>
              <a:buNone/>
            </a:pPr>
            <a:endParaRPr lang="en-US" sz="2400" dirty="0">
              <a:cs typeface="Times New Roman" pitchFamily="18" charset="0"/>
            </a:endParaRPr>
          </a:p>
          <a:p>
            <a:pPr marL="447675" indent="-382588" algn="just" eaLnBrk="1" hangingPunct="1">
              <a:buFont typeface="Arial" charset="0"/>
              <a:buNone/>
            </a:pPr>
            <a:r>
              <a:rPr lang="en-US" sz="2400" dirty="0">
                <a:solidFill>
                  <a:srgbClr val="FF0000"/>
                </a:solidFill>
                <a:cs typeface="Times New Roman" pitchFamily="18" charset="0"/>
              </a:rPr>
              <a:t>d. Phenyl ethanolamine-N- methyl transferase (norepinephrine to epinephrine) </a:t>
            </a:r>
          </a:p>
          <a:p>
            <a:pPr marL="822325" lvl="1" algn="just" eaLnBrk="1" hangingPunct="1">
              <a:buFont typeface="Wingdings" pitchFamily="2" charset="2"/>
              <a:buChar char="ü"/>
            </a:pPr>
            <a:r>
              <a:rPr lang="en-US" sz="2400" dirty="0">
                <a:cs typeface="Times New Roman" pitchFamily="18" charset="0"/>
              </a:rPr>
              <a:t>It is restricted to the adrenal medulla, the brain, with only trace amounts in other locations.</a:t>
            </a:r>
          </a:p>
          <a:p>
            <a:pPr marL="822325" lvl="1" algn="just" eaLnBrk="1" hangingPunct="1">
              <a:buFont typeface="Wingdings" pitchFamily="2" charset="2"/>
              <a:buChar char="ü"/>
            </a:pPr>
            <a:r>
              <a:rPr lang="en-US" sz="2400" dirty="0">
                <a:cs typeface="Times New Roman" pitchFamily="18" charset="0"/>
              </a:rPr>
              <a:t>strongly inhibited by physiological concentrations of epinephrine.</a:t>
            </a:r>
          </a:p>
          <a:p>
            <a:pPr marL="822325" lvl="1" algn="just" eaLnBrk="1" hangingPunct="1">
              <a:buFont typeface="Wingdings" pitchFamily="2" charset="2"/>
              <a:buChar char="ü"/>
            </a:pPr>
            <a:r>
              <a:rPr lang="en-US" sz="2400" dirty="0">
                <a:cs typeface="Times New Roman" pitchFamily="18" charset="0"/>
              </a:rPr>
              <a:t> Glucocorticoid increases enzyme activity.</a:t>
            </a:r>
          </a:p>
          <a:p>
            <a:pPr marL="447675" indent="-382588" eaLnBrk="1" hangingPunct="1">
              <a:buFont typeface="Wingdings 2" pitchFamily="18" charset="2"/>
              <a:buChar char=""/>
            </a:pPr>
            <a:endParaRPr lang="en-US" sz="2400" dirty="0">
              <a:cs typeface="Times New Roman" pitchFamily="18" charset="0"/>
            </a:endParaRPr>
          </a:p>
          <a:p>
            <a:endParaRPr lang="en-US" dirty="0"/>
          </a:p>
        </p:txBody>
      </p:sp>
    </p:spTree>
    <p:extLst>
      <p:ext uri="{BB962C8B-B14F-4D97-AF65-F5344CB8AC3E}">
        <p14:creationId xmlns:p14="http://schemas.microsoft.com/office/powerpoint/2010/main" val="10289066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457200"/>
            <a:ext cx="66294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8108442"/>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70CA0-BAE5-E9B5-A128-1DE466F8565D}"/>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6D74B2E1-4DBD-0438-9CC1-F1D962102398}"/>
              </a:ext>
            </a:extLst>
          </p:cNvPr>
          <p:cNvSpPr>
            <a:spLocks noGrp="1"/>
          </p:cNvSpPr>
          <p:nvPr>
            <p:ph idx="1"/>
          </p:nvPr>
        </p:nvSpPr>
        <p:spPr/>
        <p:txBody>
          <a:bodyPr/>
          <a:lstStyle/>
          <a:p>
            <a:pPr eaLnBrk="1" hangingPunct="1">
              <a:buFont typeface="Arial" charset="0"/>
              <a:buNone/>
            </a:pPr>
            <a:r>
              <a:rPr lang="en-US" sz="3600" b="1" dirty="0">
                <a:cs typeface="Times New Roman" pitchFamily="18" charset="0"/>
              </a:rPr>
              <a:t>B. Storage</a:t>
            </a:r>
          </a:p>
          <a:p>
            <a:pPr algn="just" eaLnBrk="1" hangingPunct="1"/>
            <a:r>
              <a:rPr lang="en-US" sz="2400" dirty="0">
                <a:cs typeface="Times New Roman" pitchFamily="18" charset="0"/>
              </a:rPr>
              <a:t>Vesicles store NE and protect it from breakdown by monoamine oxidase (MAO) in the surrounding cytoplasm.</a:t>
            </a:r>
          </a:p>
          <a:p>
            <a:pPr algn="just" eaLnBrk="1" hangingPunct="1"/>
            <a:r>
              <a:rPr lang="en-US" sz="2400" dirty="0">
                <a:cs typeface="Times New Roman" pitchFamily="18" charset="0"/>
              </a:rPr>
              <a:t>These vesicles are subsequently transported to the neuron terminal region for release.</a:t>
            </a:r>
          </a:p>
          <a:p>
            <a:pPr algn="just" eaLnBrk="1" hangingPunct="1"/>
            <a:r>
              <a:rPr lang="en-US" sz="2400" dirty="0">
                <a:cs typeface="Times New Roman" pitchFamily="18" charset="0"/>
              </a:rPr>
              <a:t> A high-affinity carrier for catecholamines located in the wall of the storage vesicle (vesicular monoamine transporter, VMAT) </a:t>
            </a:r>
          </a:p>
          <a:p>
            <a:pPr lvl="1" algn="just" eaLnBrk="1" hangingPunct="1">
              <a:buFont typeface="Wingdings" pitchFamily="2" charset="2"/>
              <a:buChar char="ü"/>
            </a:pPr>
            <a:r>
              <a:rPr lang="en-US" sz="2400" dirty="0">
                <a:cs typeface="Times New Roman" pitchFamily="18" charset="0"/>
              </a:rPr>
              <a:t>Can be inhibited by the reserpine alkaloids.</a:t>
            </a:r>
          </a:p>
          <a:p>
            <a:pPr lvl="1" algn="just" eaLnBrk="1" hangingPunct="1">
              <a:buFont typeface="Wingdings" pitchFamily="2" charset="2"/>
              <a:buChar char="ü"/>
            </a:pPr>
            <a:r>
              <a:rPr lang="en-US" sz="2400" dirty="0">
                <a:cs typeface="Times New Roman" pitchFamily="18" charset="0"/>
              </a:rPr>
              <a:t>Reserpine causes depletion of transmitter stores.</a:t>
            </a:r>
          </a:p>
          <a:p>
            <a:pPr lvl="1" algn="just" eaLnBrk="1" hangingPunct="1">
              <a:buFont typeface="Wingdings" pitchFamily="2" charset="2"/>
              <a:buChar char="ü"/>
            </a:pPr>
            <a:endParaRPr lang="en-US" sz="2400" dirty="0">
              <a:cs typeface="Times New Roman" pitchFamily="18" charset="0"/>
            </a:endParaRPr>
          </a:p>
          <a:p>
            <a:pPr eaLnBrk="1" hangingPunct="1"/>
            <a:endParaRPr lang="en-US" sz="2400" dirty="0">
              <a:cs typeface="Times New Roman" pitchFamily="18" charset="0"/>
            </a:endParaRPr>
          </a:p>
          <a:p>
            <a:pPr eaLnBrk="1" hangingPunct="1"/>
            <a:endParaRPr lang="en-US" sz="2400" dirty="0">
              <a:cs typeface="Times New Roman" pitchFamily="18" charset="0"/>
            </a:endParaRPr>
          </a:p>
          <a:p>
            <a:pPr eaLnBrk="1" hangingPunct="1"/>
            <a:endParaRPr lang="en-US" sz="2400" dirty="0">
              <a:cs typeface="Times New Roman" pitchFamily="18" charset="0"/>
            </a:endParaRPr>
          </a:p>
          <a:p>
            <a:endParaRPr lang="en-US" dirty="0"/>
          </a:p>
        </p:txBody>
      </p:sp>
    </p:spTree>
    <p:extLst>
      <p:ext uri="{BB962C8B-B14F-4D97-AF65-F5344CB8AC3E}">
        <p14:creationId xmlns:p14="http://schemas.microsoft.com/office/powerpoint/2010/main" val="30523537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60708-119B-F4C2-6D2B-79E38598DA7E}"/>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73B79DA7-93A3-52CA-A0D4-41D242152F8B}"/>
              </a:ext>
            </a:extLst>
          </p:cNvPr>
          <p:cNvSpPr>
            <a:spLocks noGrp="1"/>
          </p:cNvSpPr>
          <p:nvPr>
            <p:ph idx="1"/>
          </p:nvPr>
        </p:nvSpPr>
        <p:spPr>
          <a:xfrm>
            <a:off x="457200" y="1600200"/>
            <a:ext cx="8382000" cy="4525963"/>
          </a:xfrm>
        </p:spPr>
        <p:txBody>
          <a:bodyPr>
            <a:normAutofit/>
          </a:bodyPr>
          <a:lstStyle/>
          <a:p>
            <a:pPr marL="0" indent="0" algn="just">
              <a:buNone/>
            </a:pPr>
            <a:r>
              <a:rPr lang="en-US" dirty="0"/>
              <a:t>C. Release</a:t>
            </a:r>
          </a:p>
          <a:p>
            <a:pPr lvl="1" algn="just"/>
            <a:r>
              <a:rPr lang="en-US" sz="2400" dirty="0"/>
              <a:t>Occurs when </a:t>
            </a:r>
            <a:r>
              <a:rPr lang="en-US" sz="2400" dirty="0" err="1"/>
              <a:t>ACh</a:t>
            </a:r>
            <a:r>
              <a:rPr lang="en-US" sz="2400" dirty="0"/>
              <a:t> liberated from preganglionic neurons induces depolarization of postganglionic sympathetic neurons by acting on a nicotinic receptor.</a:t>
            </a:r>
          </a:p>
          <a:p>
            <a:pPr lvl="1" algn="just"/>
            <a:endParaRPr lang="en-US" sz="2400" dirty="0"/>
          </a:p>
          <a:p>
            <a:pPr lvl="1" algn="just"/>
            <a:r>
              <a:rPr lang="en-US" sz="2400" dirty="0"/>
              <a:t>Release of the vesicular transmitter store from noradrenergic nerve endings is calcium-dependent process.</a:t>
            </a:r>
          </a:p>
          <a:p>
            <a:pPr lvl="1" algn="just"/>
            <a:endParaRPr lang="en-US" sz="2400" dirty="0"/>
          </a:p>
          <a:p>
            <a:pPr algn="just"/>
            <a:endParaRPr lang="en-US" dirty="0"/>
          </a:p>
        </p:txBody>
      </p:sp>
    </p:spTree>
    <p:extLst>
      <p:ext uri="{BB962C8B-B14F-4D97-AF65-F5344CB8AC3E}">
        <p14:creationId xmlns:p14="http://schemas.microsoft.com/office/powerpoint/2010/main" val="28184049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F781-D16D-5C66-4571-7CE792D345A9}"/>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19C55907-0BA7-F8A8-D9B0-A7C962DB0053}"/>
              </a:ext>
            </a:extLst>
          </p:cNvPr>
          <p:cNvSpPr>
            <a:spLocks noGrp="1"/>
          </p:cNvSpPr>
          <p:nvPr>
            <p:ph idx="1"/>
          </p:nvPr>
        </p:nvSpPr>
        <p:spPr/>
        <p:txBody>
          <a:bodyPr>
            <a:normAutofit/>
          </a:bodyPr>
          <a:lstStyle/>
          <a:p>
            <a:pPr algn="just" eaLnBrk="1" hangingPunct="1">
              <a:buFont typeface="Arial" charset="0"/>
              <a:buNone/>
            </a:pPr>
            <a:r>
              <a:rPr lang="en-US" dirty="0">
                <a:cs typeface="Times New Roman" pitchFamily="18" charset="0"/>
              </a:rPr>
              <a:t>D. Inactivation (Termination) </a:t>
            </a:r>
          </a:p>
          <a:p>
            <a:pPr algn="just" eaLnBrk="1" hangingPunct="1"/>
            <a:r>
              <a:rPr lang="en-US" sz="2800" dirty="0">
                <a:cs typeface="Times New Roman" pitchFamily="18" charset="0"/>
              </a:rPr>
              <a:t>Released catecholamines may be</a:t>
            </a:r>
            <a:r>
              <a:rPr lang="en-US" sz="2400" dirty="0">
                <a:cs typeface="Times New Roman" pitchFamily="18" charset="0"/>
              </a:rPr>
              <a:t>: </a:t>
            </a:r>
          </a:p>
          <a:p>
            <a:pPr algn="just" eaLnBrk="1" hangingPunct="1">
              <a:buFont typeface="Arial" charset="0"/>
              <a:buNone/>
            </a:pPr>
            <a:r>
              <a:rPr lang="en-US" sz="2400" dirty="0">
                <a:cs typeface="Times New Roman" pitchFamily="18" charset="0"/>
              </a:rPr>
              <a:t>     </a:t>
            </a:r>
            <a:r>
              <a:rPr lang="en-US" sz="2400" dirty="0" err="1">
                <a:cs typeface="Times New Roman" pitchFamily="18" charset="0"/>
              </a:rPr>
              <a:t>i</a:t>
            </a:r>
            <a:r>
              <a:rPr lang="en-US" sz="2400" dirty="0">
                <a:cs typeface="Times New Roman" pitchFamily="18" charset="0"/>
              </a:rPr>
              <a:t>) retaken up into the neuron    </a:t>
            </a:r>
          </a:p>
          <a:p>
            <a:pPr algn="just" eaLnBrk="1" hangingPunct="1">
              <a:buFont typeface="Arial" charset="0"/>
              <a:buNone/>
            </a:pPr>
            <a:r>
              <a:rPr lang="en-US" sz="2400" dirty="0">
                <a:cs typeface="Times New Roman" pitchFamily="18" charset="0"/>
              </a:rPr>
              <a:t>        (norepinephrine transporter or uptake I), </a:t>
            </a:r>
          </a:p>
          <a:p>
            <a:pPr algn="just" eaLnBrk="1" hangingPunct="1">
              <a:buFont typeface="Arial" charset="0"/>
              <a:buNone/>
            </a:pPr>
            <a:r>
              <a:rPr lang="en-US" sz="2400" dirty="0">
                <a:cs typeface="Times New Roman" pitchFamily="18" charset="0"/>
              </a:rPr>
              <a:t>     ii) taken up by the </a:t>
            </a:r>
            <a:r>
              <a:rPr lang="en-US" sz="2400" dirty="0" err="1">
                <a:cs typeface="Times New Roman" pitchFamily="18" charset="0"/>
              </a:rPr>
              <a:t>extraneuronal</a:t>
            </a:r>
            <a:r>
              <a:rPr lang="en-US" sz="2400" dirty="0">
                <a:cs typeface="Times New Roman" pitchFamily="18" charset="0"/>
              </a:rPr>
              <a:t> tissue   </a:t>
            </a:r>
          </a:p>
          <a:p>
            <a:pPr algn="just" eaLnBrk="1" hangingPunct="1">
              <a:buFont typeface="Arial" charset="0"/>
              <a:buNone/>
            </a:pPr>
            <a:r>
              <a:rPr lang="en-US" sz="2400" dirty="0">
                <a:cs typeface="Times New Roman" pitchFamily="18" charset="0"/>
              </a:rPr>
              <a:t>          (uptake II), or </a:t>
            </a:r>
          </a:p>
          <a:p>
            <a:pPr algn="just" eaLnBrk="1" hangingPunct="1">
              <a:buFont typeface="Arial" charset="0"/>
              <a:buNone/>
            </a:pPr>
            <a:r>
              <a:rPr lang="en-US" sz="2400" dirty="0">
                <a:cs typeface="Times New Roman" pitchFamily="18" charset="0"/>
              </a:rPr>
              <a:t>     iii) washed into the extracellular fluid  </a:t>
            </a:r>
          </a:p>
          <a:p>
            <a:pPr algn="just" eaLnBrk="1" hangingPunct="1">
              <a:buFont typeface="Arial" charset="0"/>
              <a:buNone/>
            </a:pPr>
            <a:r>
              <a:rPr lang="en-US" sz="2400" dirty="0">
                <a:cs typeface="Times New Roman" pitchFamily="18" charset="0"/>
              </a:rPr>
              <a:t>          and ultimately into the circulation.</a:t>
            </a:r>
          </a:p>
          <a:p>
            <a:endParaRPr lang="en-US" dirty="0"/>
          </a:p>
        </p:txBody>
      </p:sp>
    </p:spTree>
    <p:extLst>
      <p:ext uri="{BB962C8B-B14F-4D97-AF65-F5344CB8AC3E}">
        <p14:creationId xmlns:p14="http://schemas.microsoft.com/office/powerpoint/2010/main" val="11908799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43430-ECEC-D2FC-9BDA-C7A38D8A868A}"/>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76E338F7-368A-2650-9CFA-A5BDCBF227BE}"/>
              </a:ext>
            </a:extLst>
          </p:cNvPr>
          <p:cNvSpPr>
            <a:spLocks noGrp="1"/>
          </p:cNvSpPr>
          <p:nvPr>
            <p:ph idx="1"/>
          </p:nvPr>
        </p:nvSpPr>
        <p:spPr>
          <a:xfrm>
            <a:off x="457200" y="1417639"/>
            <a:ext cx="8229600" cy="4754562"/>
          </a:xfrm>
        </p:spPr>
        <p:txBody>
          <a:bodyPr>
            <a:normAutofit/>
          </a:bodyPr>
          <a:lstStyle/>
          <a:p>
            <a:r>
              <a:rPr lang="en-US" sz="2400" dirty="0"/>
              <a:t>Norepinephrine is synthesized in the cytoplasm of sympathetic postganglionic nerve endings and stored in the vesicles . </a:t>
            </a:r>
          </a:p>
          <a:p>
            <a:r>
              <a:rPr lang="en-US" sz="2400" dirty="0"/>
              <a:t>After release by a process of exocytosis, the action of norepinephrine is primarily terminated by </a:t>
            </a:r>
          </a:p>
          <a:p>
            <a:pPr lvl="1"/>
            <a:r>
              <a:rPr lang="en-US" sz="2000" dirty="0"/>
              <a:t>reuptake into the postganglionic nerve endings (inhibited by tricyclic antidepressants), but also </a:t>
            </a:r>
          </a:p>
          <a:p>
            <a:pPr lvl="1"/>
            <a:r>
              <a:rPr lang="en-US" sz="2000" dirty="0"/>
              <a:t>by diffusion from receptor sites, or</a:t>
            </a:r>
          </a:p>
          <a:p>
            <a:pPr lvl="1"/>
            <a:r>
              <a:rPr lang="en-US" sz="2000" dirty="0"/>
              <a:t> via metabolism by monoamine oxidase (inhibited by monoamine oxidase inhibitors) and </a:t>
            </a:r>
          </a:p>
          <a:p>
            <a:pPr lvl="1"/>
            <a:r>
              <a:rPr lang="en-US" sz="2000" dirty="0"/>
              <a:t>via metabolism by catechol- O -methyltransferase</a:t>
            </a:r>
          </a:p>
        </p:txBody>
      </p:sp>
    </p:spTree>
    <p:extLst>
      <p:ext uri="{BB962C8B-B14F-4D97-AF65-F5344CB8AC3E}">
        <p14:creationId xmlns:p14="http://schemas.microsoft.com/office/powerpoint/2010/main" val="37810534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ctrTitle"/>
          </p:nvPr>
        </p:nvSpPr>
        <p:spPr>
          <a:xfrm>
            <a:off x="685800" y="1219200"/>
            <a:ext cx="7772400" cy="1470025"/>
          </a:xfrm>
        </p:spPr>
        <p:txBody>
          <a:bodyPr rtlCol="0">
            <a:normAutofit/>
          </a:bodyPr>
          <a:lstStyle/>
          <a:p>
            <a:pPr marL="484632" eaLnBrk="1" fontAlgn="auto" hangingPunct="1">
              <a:spcAft>
                <a:spcPts val="0"/>
              </a:spcAft>
              <a:defRPr/>
            </a:pPr>
            <a:r>
              <a:rPr lang="en-US" sz="6000" b="1" dirty="0">
                <a:solidFill>
                  <a:schemeClr val="accent1">
                    <a:tint val="83000"/>
                    <a:satMod val="150000"/>
                  </a:schemeClr>
                </a:solidFill>
                <a:effectLst>
                  <a:outerShdw blurRad="38100" dist="38100" dir="2700000" algn="tl">
                    <a:srgbClr val="000000">
                      <a:alpha val="43137"/>
                    </a:srgbClr>
                  </a:outerShdw>
                </a:effectLst>
                <a:latin typeface="Agency FB" pitchFamily="34" charset="0"/>
              </a:rPr>
              <a:t>Autonomic Receptors</a:t>
            </a:r>
            <a:endParaRPr lang="en-US" sz="6000" dirty="0">
              <a:solidFill>
                <a:schemeClr val="accent1">
                  <a:tint val="83000"/>
                  <a:satMod val="150000"/>
                </a:schemeClr>
              </a:solidFill>
              <a:effectLst>
                <a:outerShdw blurRad="38100" dist="38100" dir="2700000" algn="tl">
                  <a:srgbClr val="000000">
                    <a:alpha val="43137"/>
                  </a:srgbClr>
                </a:outerShdw>
              </a:effectLst>
              <a:latin typeface="Agency FB" pitchFamily="34" charset="0"/>
            </a:endParaRPr>
          </a:p>
        </p:txBody>
      </p:sp>
      <p:sp>
        <p:nvSpPr>
          <p:cNvPr id="3" name="Subtitle 2"/>
          <p:cNvSpPr>
            <a:spLocks noGrp="1"/>
          </p:cNvSpPr>
          <p:nvPr>
            <p:ph type="subTitle" idx="1"/>
          </p:nvPr>
        </p:nvSpPr>
        <p:spPr>
          <a:xfrm>
            <a:off x="1295400" y="3352800"/>
            <a:ext cx="6400800" cy="762000"/>
          </a:xfrm>
          <a:ln>
            <a:miter lim="800000"/>
            <a:headEnd/>
            <a:tailEnd/>
          </a:ln>
        </p:spPr>
        <p:txBody>
          <a:bodyPr rtlCol="0">
            <a:noAutofit/>
          </a:bodyPr>
          <a:lstStyle/>
          <a:p>
            <a:pPr marL="514350" indent="-514350" algn="l" eaLnBrk="1" fontAlgn="auto" hangingPunct="1">
              <a:spcAft>
                <a:spcPts val="0"/>
              </a:spcAft>
              <a:buFont typeface="+mj-lt"/>
              <a:buAutoNum type="arabicPeriod"/>
              <a:defRPr/>
            </a:pPr>
            <a:r>
              <a:rPr lang="en-US" sz="5400" b="1" dirty="0">
                <a:effectLst>
                  <a:outerShdw blurRad="38100" dist="38100" dir="2700000" algn="tl">
                    <a:srgbClr val="000000">
                      <a:alpha val="43137"/>
                    </a:srgbClr>
                  </a:outerShdw>
                </a:effectLst>
                <a:latin typeface="Agency FB" pitchFamily="34" charset="0"/>
              </a:rPr>
              <a:t>Acetylcholine receptors</a:t>
            </a:r>
          </a:p>
          <a:p>
            <a:pPr marL="514350" indent="-514350" algn="l" eaLnBrk="1" fontAlgn="auto" hangingPunct="1">
              <a:spcAft>
                <a:spcPts val="0"/>
              </a:spcAft>
              <a:buFont typeface="+mj-lt"/>
              <a:buAutoNum type="arabicPeriod"/>
              <a:defRPr/>
            </a:pPr>
            <a:r>
              <a:rPr lang="en-US" sz="5400" b="1" dirty="0" err="1">
                <a:effectLst>
                  <a:outerShdw blurRad="38100" dist="38100" dir="2700000" algn="tl">
                    <a:srgbClr val="000000">
                      <a:alpha val="43137"/>
                    </a:srgbClr>
                  </a:outerShdw>
                </a:effectLst>
                <a:latin typeface="Agency FB" pitchFamily="34" charset="0"/>
                <a:cs typeface="Times New Roman" pitchFamily="18" charset="0"/>
              </a:rPr>
              <a:t>Adrenoreceptors</a:t>
            </a:r>
            <a:endParaRPr lang="en-US" sz="5400" b="1" dirty="0">
              <a:effectLst>
                <a:outerShdw blurRad="38100" dist="38100" dir="2700000" algn="tl">
                  <a:srgbClr val="000000">
                    <a:alpha val="43137"/>
                  </a:srgbClr>
                </a:outerShdw>
              </a:effectLst>
              <a:latin typeface="Agency FB" pitchFamily="34" charset="0"/>
            </a:endParaRPr>
          </a:p>
          <a:p>
            <a:pPr marL="514350" indent="-514350" eaLnBrk="1" fontAlgn="auto" hangingPunct="1">
              <a:spcAft>
                <a:spcPts val="0"/>
              </a:spcAft>
              <a:buFont typeface="Arial" charset="0"/>
              <a:buAutoNum type="arabicPeriod"/>
              <a:defRPr/>
            </a:pPr>
            <a:endParaRPr lang="en-US" sz="5400" b="1" dirty="0">
              <a:effectLst>
                <a:outerShdw blurRad="38100" dist="38100" dir="2700000" algn="tl">
                  <a:srgbClr val="000000">
                    <a:alpha val="43137"/>
                  </a:srgbClr>
                </a:outerShdw>
              </a:effectLst>
              <a:latin typeface="Agency FB" pitchFamily="34" charset="0"/>
            </a:endParaRPr>
          </a:p>
        </p:txBody>
      </p:sp>
    </p:spTree>
    <p:extLst>
      <p:ext uri="{BB962C8B-B14F-4D97-AF65-F5344CB8AC3E}">
        <p14:creationId xmlns:p14="http://schemas.microsoft.com/office/powerpoint/2010/main" val="3574508410"/>
      </p:ext>
    </p:extLst>
  </p:cSld>
  <p:clrMapOvr>
    <a:masterClrMapping/>
  </p:clrMapOvr>
  <p:transition>
    <p:wheel spokes="3"/>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noAutofit/>
          </a:bodyPr>
          <a:lstStyle/>
          <a:p>
            <a:pPr algn="l"/>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1. </a:t>
            </a:r>
            <a:r>
              <a:rPr lang="en-US" sz="3600" dirty="0">
                <a:effectLst>
                  <a:outerShdw blurRad="38100" dist="38100" dir="2700000" algn="tl">
                    <a:srgbClr val="000000">
                      <a:alpha val="43137"/>
                    </a:srgbClr>
                  </a:outerShdw>
                </a:effectLst>
              </a:rPr>
              <a:t>Acetylcholine (Cholinergic) receptors</a:t>
            </a:r>
            <a:br>
              <a:rPr lang="en-US" sz="3600"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0" indent="0">
              <a:buFont typeface="Arial" charset="0"/>
              <a:buNone/>
              <a:defRPr/>
            </a:pPr>
            <a:r>
              <a:rPr lang="en-US" sz="2600" dirty="0">
                <a:latin typeface="+mj-lt"/>
                <a:cs typeface="Times New Roman" pitchFamily="18" charset="0"/>
              </a:rPr>
              <a:t>There are two major classes of acetylcholine receptor:   </a:t>
            </a:r>
          </a:p>
          <a:p>
            <a:pPr>
              <a:buFont typeface="Wingdings" pitchFamily="2" charset="2"/>
              <a:buChar char="§"/>
              <a:defRPr/>
            </a:pPr>
            <a:r>
              <a:rPr lang="en-US" sz="2600" dirty="0">
                <a:latin typeface="+mj-lt"/>
                <a:cs typeface="Times New Roman" pitchFamily="18" charset="0"/>
              </a:rPr>
              <a:t>nicotinic and </a:t>
            </a:r>
          </a:p>
          <a:p>
            <a:pPr>
              <a:buFont typeface="Wingdings" pitchFamily="2" charset="2"/>
              <a:buChar char="§"/>
              <a:defRPr/>
            </a:pPr>
            <a:r>
              <a:rPr lang="en-US" sz="2600" dirty="0">
                <a:latin typeface="+mj-lt"/>
                <a:cs typeface="Times New Roman" pitchFamily="18" charset="0"/>
              </a:rPr>
              <a:t>muscarinic.</a:t>
            </a:r>
          </a:p>
          <a:p>
            <a:pPr lvl="1">
              <a:buFont typeface="Wingdings" pitchFamily="2" charset="2"/>
              <a:buChar char="ü"/>
              <a:defRPr/>
            </a:pPr>
            <a:r>
              <a:rPr lang="en-US" sz="2400" dirty="0">
                <a:solidFill>
                  <a:srgbClr val="FF0000"/>
                </a:solidFill>
                <a:latin typeface="+mj-lt"/>
                <a:cs typeface="Times New Roman" pitchFamily="18" charset="0"/>
              </a:rPr>
              <a:t>Peripheral visceral organ is typically muscarinic.</a:t>
            </a:r>
          </a:p>
          <a:p>
            <a:pPr>
              <a:buFont typeface="Wingdings" pitchFamily="2" charset="2"/>
              <a:buChar char="ü"/>
              <a:defRPr/>
            </a:pPr>
            <a:r>
              <a:rPr lang="en-US" sz="2600" dirty="0">
                <a:latin typeface="+mj-lt"/>
                <a:cs typeface="Times New Roman" pitchFamily="18" charset="0"/>
              </a:rPr>
              <a:t>The parasympathetic ganglia as well as responses of skeletal muscle are nicotinic.  </a:t>
            </a:r>
          </a:p>
          <a:p>
            <a:pPr>
              <a:buFont typeface="Wingdings" pitchFamily="2" charset="2"/>
              <a:buChar char="ü"/>
              <a:defRPr/>
            </a:pPr>
            <a:endParaRPr lang="en-US" sz="2600" dirty="0">
              <a:latin typeface="+mj-lt"/>
              <a:cs typeface="Times New Roman" pitchFamily="18" charset="0"/>
            </a:endParaRPr>
          </a:p>
          <a:p>
            <a:pPr>
              <a:buFont typeface="Wingdings" pitchFamily="2" charset="2"/>
              <a:buChar char="§"/>
              <a:defRPr/>
            </a:pPr>
            <a:endParaRPr lang="en-US" sz="2600" dirty="0">
              <a:latin typeface="+mj-lt"/>
            </a:endParaRPr>
          </a:p>
        </p:txBody>
      </p:sp>
    </p:spTree>
    <p:extLst>
      <p:ext uri="{BB962C8B-B14F-4D97-AF65-F5344CB8AC3E}">
        <p14:creationId xmlns:p14="http://schemas.microsoft.com/office/powerpoint/2010/main" val="23808152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457200" y="268288"/>
            <a:ext cx="8229600" cy="1103312"/>
          </a:xfrm>
        </p:spPr>
        <p:txBody>
          <a:bodyPr rtlCol="0">
            <a:normAutofit/>
          </a:bodyPr>
          <a:lstStyle/>
          <a:p>
            <a:pPr marL="484632" eaLnBrk="1" fontAlgn="auto" hangingPunct="1">
              <a:spcAft>
                <a:spcPts val="0"/>
              </a:spcAft>
              <a:defRPr/>
            </a:pPr>
            <a:r>
              <a:rPr lang="en-US" b="1" dirty="0">
                <a:solidFill>
                  <a:schemeClr val="accent1">
                    <a:tint val="83000"/>
                    <a:satMod val="150000"/>
                  </a:schemeClr>
                </a:solidFill>
              </a:rPr>
              <a:t>Nicotinic receptors</a:t>
            </a:r>
            <a:endParaRPr lang="en-US" dirty="0">
              <a:solidFill>
                <a:schemeClr val="accent1">
                  <a:tint val="83000"/>
                  <a:satMod val="150000"/>
                </a:schemeClr>
              </a:solidFill>
            </a:endParaRPr>
          </a:p>
        </p:txBody>
      </p:sp>
      <p:sp>
        <p:nvSpPr>
          <p:cNvPr id="57347" name="Content Placeholder 2"/>
          <p:cNvSpPr>
            <a:spLocks noGrp="1"/>
          </p:cNvSpPr>
          <p:nvPr>
            <p:ph idx="1"/>
          </p:nvPr>
        </p:nvSpPr>
        <p:spPr>
          <a:xfrm>
            <a:off x="228600" y="1371600"/>
            <a:ext cx="8686800" cy="5083175"/>
          </a:xfrm>
        </p:spPr>
        <p:txBody>
          <a:bodyPr/>
          <a:lstStyle/>
          <a:p>
            <a:pPr algn="just" eaLnBrk="1" hangingPunct="1"/>
            <a:r>
              <a:rPr lang="en-US" sz="2400" dirty="0">
                <a:latin typeface="+mj-lt"/>
                <a:cs typeface="Times New Roman" pitchFamily="18" charset="0"/>
              </a:rPr>
              <a:t>Nicotinic Receptors - so-called because the effects of nicotine in ganglia and on skeletal muscle mimic the actions of ACh.</a:t>
            </a:r>
          </a:p>
          <a:p>
            <a:pPr algn="just" eaLnBrk="1" hangingPunct="1"/>
            <a:r>
              <a:rPr lang="en-US" sz="2400" dirty="0">
                <a:latin typeface="+mj-lt"/>
                <a:cs typeface="Times New Roman" pitchFamily="18" charset="0"/>
              </a:rPr>
              <a:t>Nicotinic receptors fall into three main classes:</a:t>
            </a:r>
          </a:p>
          <a:p>
            <a:pPr lvl="2" algn="just" eaLnBrk="1" hangingPunct="1">
              <a:buFont typeface="Wingdings" pitchFamily="2" charset="2"/>
              <a:buChar char="ü"/>
            </a:pPr>
            <a:r>
              <a:rPr lang="en-US" dirty="0">
                <a:latin typeface="+mj-lt"/>
                <a:cs typeface="Times New Roman" pitchFamily="18" charset="0"/>
              </a:rPr>
              <a:t>the muscle, </a:t>
            </a:r>
          </a:p>
          <a:p>
            <a:pPr lvl="2" algn="just" eaLnBrk="1" hangingPunct="1">
              <a:buFont typeface="Wingdings" pitchFamily="2" charset="2"/>
              <a:buChar char="ü"/>
            </a:pPr>
            <a:r>
              <a:rPr lang="en-US" dirty="0">
                <a:latin typeface="+mj-lt"/>
                <a:cs typeface="Times New Roman" pitchFamily="18" charset="0"/>
              </a:rPr>
              <a:t>ganglionic and </a:t>
            </a:r>
          </a:p>
          <a:p>
            <a:pPr lvl="2" algn="just" eaLnBrk="1" hangingPunct="1">
              <a:buFont typeface="Wingdings" pitchFamily="2" charset="2"/>
              <a:buChar char="ü"/>
            </a:pPr>
            <a:r>
              <a:rPr lang="en-US" dirty="0">
                <a:latin typeface="+mj-lt"/>
                <a:cs typeface="Times New Roman" pitchFamily="18" charset="0"/>
              </a:rPr>
              <a:t>CNS types; </a:t>
            </a:r>
          </a:p>
          <a:p>
            <a:pPr eaLnBrk="1" hangingPunct="1"/>
            <a:r>
              <a:rPr lang="en-US" sz="2400" dirty="0">
                <a:latin typeface="+mj-lt"/>
                <a:cs typeface="Times New Roman" pitchFamily="18" charset="0"/>
              </a:rPr>
              <a:t>They are typical of ligand-gated ion channels.</a:t>
            </a:r>
          </a:p>
          <a:p>
            <a:pPr eaLnBrk="1" hangingPunct="1"/>
            <a:endParaRPr lang="en-US" sz="2400" dirty="0">
              <a:latin typeface="+mj-lt"/>
              <a:cs typeface="Times New Roman" pitchFamily="18" charset="0"/>
            </a:endParaRPr>
          </a:p>
        </p:txBody>
      </p:sp>
    </p:spTree>
    <p:extLst>
      <p:ext uri="{BB962C8B-B14F-4D97-AF65-F5344CB8AC3E}">
        <p14:creationId xmlns:p14="http://schemas.microsoft.com/office/powerpoint/2010/main" val="608773809"/>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rtlCol="0">
            <a:normAutofit fontScale="90000"/>
          </a:bodyPr>
          <a:lstStyle/>
          <a:p>
            <a:pPr marL="484632" eaLnBrk="1" fontAlgn="auto" hangingPunct="1">
              <a:spcAft>
                <a:spcPts val="0"/>
              </a:spcAft>
              <a:defRPr/>
            </a:pPr>
            <a:r>
              <a:rPr lang="en-US" b="1" dirty="0">
                <a:solidFill>
                  <a:schemeClr val="accent1">
                    <a:tint val="83000"/>
                    <a:satMod val="150000"/>
                  </a:schemeClr>
                </a:solidFill>
              </a:rPr>
              <a:t>Muscarinic receptors </a:t>
            </a:r>
            <a:r>
              <a:rPr lang="en-US" b="1" dirty="0"/>
              <a:t>(M</a:t>
            </a:r>
            <a:r>
              <a:rPr lang="en-US" b="1" baseline="-25000" dirty="0"/>
              <a:t>1</a:t>
            </a:r>
            <a:r>
              <a:rPr lang="en-US" b="1" dirty="0"/>
              <a:t>, M</a:t>
            </a:r>
            <a:r>
              <a:rPr lang="en-US" b="1" baseline="-25000" dirty="0"/>
              <a:t>2</a:t>
            </a:r>
            <a:r>
              <a:rPr lang="en-US" b="1" dirty="0"/>
              <a:t>, M</a:t>
            </a:r>
            <a:r>
              <a:rPr lang="en-US" b="1" baseline="-25000" dirty="0"/>
              <a:t>3</a:t>
            </a:r>
            <a:r>
              <a:rPr lang="en-US" sz="8000" b="1" baseline="-25000" dirty="0"/>
              <a:t>)</a:t>
            </a:r>
            <a:endParaRPr lang="en-US" sz="8000" dirty="0"/>
          </a:p>
        </p:txBody>
      </p:sp>
      <p:sp>
        <p:nvSpPr>
          <p:cNvPr id="61443" name="Content Placeholder 2"/>
          <p:cNvSpPr>
            <a:spLocks noGrp="1"/>
          </p:cNvSpPr>
          <p:nvPr>
            <p:ph idx="1"/>
          </p:nvPr>
        </p:nvSpPr>
        <p:spPr>
          <a:xfrm>
            <a:off x="457200" y="1600200"/>
            <a:ext cx="8229600" cy="4854575"/>
          </a:xfrm>
        </p:spPr>
        <p:txBody>
          <a:bodyPr/>
          <a:lstStyle/>
          <a:p>
            <a:pPr marL="448056" indent="-384048" algn="just" eaLnBrk="1" fontAlgn="auto" hangingPunct="1">
              <a:spcAft>
                <a:spcPts val="0"/>
              </a:spcAft>
              <a:buFont typeface="Wingdings 2"/>
              <a:buChar char=""/>
              <a:defRPr/>
            </a:pPr>
            <a:r>
              <a:rPr lang="en-US" sz="2400" dirty="0">
                <a:cs typeface="Times New Roman" pitchFamily="18" charset="0"/>
              </a:rPr>
              <a:t>M</a:t>
            </a:r>
            <a:r>
              <a:rPr lang="en-US" sz="2400" baseline="-25000" dirty="0">
                <a:cs typeface="Times New Roman" pitchFamily="18" charset="0"/>
              </a:rPr>
              <a:t>1</a:t>
            </a:r>
            <a:r>
              <a:rPr lang="en-US" sz="2400" dirty="0">
                <a:cs typeface="Times New Roman" pitchFamily="18" charset="0"/>
              </a:rPr>
              <a:t>-receptors ('neural') are found mainly on:</a:t>
            </a:r>
          </a:p>
          <a:p>
            <a:pPr marL="822960" lvl="1" algn="just" eaLnBrk="1" fontAlgn="auto" hangingPunct="1">
              <a:spcAft>
                <a:spcPts val="0"/>
              </a:spcAft>
              <a:buFont typeface="Wingdings" pitchFamily="2" charset="2"/>
              <a:buChar char="ü"/>
              <a:defRPr/>
            </a:pPr>
            <a:r>
              <a:rPr lang="en-US" sz="2400" dirty="0">
                <a:cs typeface="Times New Roman" pitchFamily="18" charset="0"/>
              </a:rPr>
              <a:t>CNS neurons</a:t>
            </a:r>
          </a:p>
          <a:p>
            <a:pPr marL="822960" lvl="1" algn="just" eaLnBrk="1" fontAlgn="auto" hangingPunct="1">
              <a:spcAft>
                <a:spcPts val="0"/>
              </a:spcAft>
              <a:buFont typeface="Wingdings" pitchFamily="2" charset="2"/>
              <a:buChar char="ü"/>
              <a:defRPr/>
            </a:pPr>
            <a:r>
              <a:rPr lang="en-US" sz="2400" dirty="0">
                <a:cs typeface="Times New Roman" pitchFamily="18" charset="0"/>
              </a:rPr>
              <a:t>peripheral neurons and </a:t>
            </a:r>
          </a:p>
          <a:p>
            <a:pPr marL="822960" lvl="1" algn="just" eaLnBrk="1" fontAlgn="auto" hangingPunct="1">
              <a:spcAft>
                <a:spcPts val="0"/>
              </a:spcAft>
              <a:buFont typeface="Wingdings" pitchFamily="2" charset="2"/>
              <a:buChar char="ü"/>
              <a:defRPr/>
            </a:pPr>
            <a:r>
              <a:rPr lang="en-US" sz="2400" dirty="0">
                <a:cs typeface="Times New Roman" pitchFamily="18" charset="0"/>
              </a:rPr>
              <a:t>gastric parietal cells</a:t>
            </a:r>
          </a:p>
          <a:p>
            <a:pPr algn="just" eaLnBrk="1" fontAlgn="auto" hangingPunct="1">
              <a:spcAft>
                <a:spcPts val="0"/>
              </a:spcAft>
              <a:buFont typeface="Arial" pitchFamily="34" charset="0"/>
              <a:buChar char="•"/>
              <a:defRPr/>
            </a:pPr>
            <a:r>
              <a:rPr lang="en-US" sz="2400" dirty="0">
                <a:cs typeface="Times New Roman" pitchFamily="18" charset="0"/>
              </a:rPr>
              <a:t>Deficiency of this kind of acetylcholine-mediated effect in the brain is possibly associated with dementia. </a:t>
            </a:r>
          </a:p>
          <a:p>
            <a:pPr algn="just" eaLnBrk="1" fontAlgn="auto" hangingPunct="1">
              <a:spcAft>
                <a:spcPts val="0"/>
              </a:spcAft>
              <a:buFont typeface="Arial" pitchFamily="34" charset="0"/>
              <a:buChar char="•"/>
              <a:defRPr/>
            </a:pPr>
            <a:r>
              <a:rPr lang="en-US" sz="2400" dirty="0">
                <a:cs typeface="Times New Roman" pitchFamily="18" charset="0"/>
              </a:rPr>
              <a:t>M</a:t>
            </a:r>
            <a:r>
              <a:rPr lang="en-US" sz="2400" baseline="-25000" dirty="0">
                <a:cs typeface="Times New Roman" pitchFamily="18" charset="0"/>
              </a:rPr>
              <a:t>1</a:t>
            </a:r>
            <a:r>
              <a:rPr lang="en-US" sz="2400" dirty="0">
                <a:cs typeface="Times New Roman" pitchFamily="18" charset="0"/>
              </a:rPr>
              <a:t>-receptors are also involved in the increase of gastric acid secretion following vagal stimulation.</a:t>
            </a:r>
          </a:p>
        </p:txBody>
      </p:sp>
    </p:spTree>
    <p:extLst>
      <p:ext uri="{BB962C8B-B14F-4D97-AF65-F5344CB8AC3E}">
        <p14:creationId xmlns:p14="http://schemas.microsoft.com/office/powerpoint/2010/main" val="2344897030"/>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304800"/>
            <a:ext cx="8686800" cy="635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01212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2D2B8-915E-A8E6-C85C-18C92D15D2C9}"/>
              </a:ext>
            </a:extLst>
          </p:cNvPr>
          <p:cNvSpPr>
            <a:spLocks noGrp="1"/>
          </p:cNvSpPr>
          <p:nvPr>
            <p:ph type="title"/>
          </p:nvPr>
        </p:nvSpPr>
        <p:spPr/>
        <p:txBody>
          <a:bodyPr/>
          <a:lstStyle/>
          <a:p>
            <a:r>
              <a:rPr lang="en-US" dirty="0">
                <a:latin typeface="+mn-lt"/>
              </a:rPr>
              <a:t>Cont..</a:t>
            </a:r>
          </a:p>
        </p:txBody>
      </p:sp>
      <p:sp>
        <p:nvSpPr>
          <p:cNvPr id="3" name="Content Placeholder 2">
            <a:extLst>
              <a:ext uri="{FF2B5EF4-FFF2-40B4-BE49-F238E27FC236}">
                <a16:creationId xmlns:a16="http://schemas.microsoft.com/office/drawing/2014/main" id="{5C3D94FC-B5F0-89BE-99A0-84C42D12AA4F}"/>
              </a:ext>
            </a:extLst>
          </p:cNvPr>
          <p:cNvSpPr>
            <a:spLocks noGrp="1"/>
          </p:cNvSpPr>
          <p:nvPr>
            <p:ph idx="1"/>
          </p:nvPr>
        </p:nvSpPr>
        <p:spPr/>
        <p:txBody>
          <a:bodyPr/>
          <a:lstStyle/>
          <a:p>
            <a:pPr algn="just" eaLnBrk="1" hangingPunct="1"/>
            <a:r>
              <a:rPr lang="en-US" sz="2400" dirty="0">
                <a:cs typeface="Times New Roman" pitchFamily="18" charset="0"/>
              </a:rPr>
              <a:t>M</a:t>
            </a:r>
            <a:r>
              <a:rPr lang="en-US" sz="2400" baseline="-25000" dirty="0">
                <a:cs typeface="Times New Roman" pitchFamily="18" charset="0"/>
              </a:rPr>
              <a:t>2</a:t>
            </a:r>
            <a:r>
              <a:rPr lang="en-US" sz="2400" dirty="0">
                <a:cs typeface="Times New Roman" pitchFamily="18" charset="0"/>
              </a:rPr>
              <a:t>-receptors ('cardiac') occur in the heart, and also on the presynaptic terminals of peripheral and central neurons.</a:t>
            </a:r>
          </a:p>
          <a:p>
            <a:pPr lvl="1" algn="just" eaLnBrk="1" hangingPunct="1">
              <a:buFont typeface="Arial" charset="0"/>
              <a:buNone/>
            </a:pPr>
            <a:endParaRPr lang="en-US" sz="2400" dirty="0">
              <a:cs typeface="Times New Roman" pitchFamily="18" charset="0"/>
            </a:endParaRPr>
          </a:p>
          <a:p>
            <a:pPr algn="just" eaLnBrk="1" hangingPunct="1"/>
            <a:r>
              <a:rPr lang="en-US" sz="2400" dirty="0">
                <a:cs typeface="Times New Roman" pitchFamily="18" charset="0"/>
              </a:rPr>
              <a:t>M</a:t>
            </a:r>
            <a:r>
              <a:rPr lang="en-US" sz="2400" baseline="-25000" dirty="0">
                <a:cs typeface="Times New Roman" pitchFamily="18" charset="0"/>
              </a:rPr>
              <a:t>2</a:t>
            </a:r>
            <a:r>
              <a:rPr lang="en-US" sz="2400" dirty="0">
                <a:cs typeface="Times New Roman" pitchFamily="18" charset="0"/>
              </a:rPr>
              <a:t>-receptor activation is responsible for the:</a:t>
            </a:r>
          </a:p>
          <a:p>
            <a:pPr lvl="1" algn="just" eaLnBrk="1" hangingPunct="1">
              <a:buFont typeface="Wingdings" pitchFamily="2" charset="2"/>
              <a:buChar char="ü"/>
            </a:pPr>
            <a:r>
              <a:rPr lang="en-US" sz="2400" dirty="0">
                <a:cs typeface="Times New Roman" pitchFamily="18" charset="0"/>
              </a:rPr>
              <a:t>vagal inhibition of the heart</a:t>
            </a:r>
          </a:p>
          <a:p>
            <a:pPr lvl="1" algn="just" eaLnBrk="1" hangingPunct="1">
              <a:buFont typeface="Wingdings" pitchFamily="2" charset="2"/>
              <a:buChar char="ü"/>
            </a:pPr>
            <a:r>
              <a:rPr lang="en-US" sz="2400" dirty="0">
                <a:cs typeface="Times New Roman" pitchFamily="18" charset="0"/>
              </a:rPr>
              <a:t>presynaptic inhibition in the CNS and periphery</a:t>
            </a:r>
          </a:p>
          <a:p>
            <a:endParaRPr lang="en-US" dirty="0"/>
          </a:p>
        </p:txBody>
      </p:sp>
    </p:spTree>
    <p:extLst>
      <p:ext uri="{BB962C8B-B14F-4D97-AF65-F5344CB8AC3E}">
        <p14:creationId xmlns:p14="http://schemas.microsoft.com/office/powerpoint/2010/main" val="530143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F2996-E106-EF81-0EA1-DCB8A0AD715C}"/>
              </a:ext>
            </a:extLst>
          </p:cNvPr>
          <p:cNvSpPr>
            <a:spLocks noGrp="1"/>
          </p:cNvSpPr>
          <p:nvPr>
            <p:ph type="title"/>
          </p:nvPr>
        </p:nvSpPr>
        <p:spPr/>
        <p:txBody>
          <a:bodyPr/>
          <a:lstStyle/>
          <a:p>
            <a:r>
              <a:rPr lang="en-US" dirty="0">
                <a:latin typeface="+mn-lt"/>
              </a:rPr>
              <a:t>Cont..</a:t>
            </a:r>
            <a:endParaRPr lang="en-US" dirty="0"/>
          </a:p>
        </p:txBody>
      </p:sp>
      <p:sp>
        <p:nvSpPr>
          <p:cNvPr id="3" name="Content Placeholder 2">
            <a:extLst>
              <a:ext uri="{FF2B5EF4-FFF2-40B4-BE49-F238E27FC236}">
                <a16:creationId xmlns:a16="http://schemas.microsoft.com/office/drawing/2014/main" id="{9A020551-FCB3-D301-024A-A01F8017CA45}"/>
              </a:ext>
            </a:extLst>
          </p:cNvPr>
          <p:cNvSpPr>
            <a:spLocks noGrp="1"/>
          </p:cNvSpPr>
          <p:nvPr>
            <p:ph idx="1"/>
          </p:nvPr>
        </p:nvSpPr>
        <p:spPr/>
        <p:txBody>
          <a:bodyPr/>
          <a:lstStyle/>
          <a:p>
            <a:pPr algn="just" eaLnBrk="1" hangingPunct="1"/>
            <a:r>
              <a:rPr lang="en-US" sz="2400" dirty="0">
                <a:cs typeface="Times New Roman" pitchFamily="18" charset="0"/>
              </a:rPr>
              <a:t>M</a:t>
            </a:r>
            <a:r>
              <a:rPr lang="en-US" sz="2400" baseline="-25000" dirty="0">
                <a:cs typeface="Times New Roman" pitchFamily="18" charset="0"/>
              </a:rPr>
              <a:t>3</a:t>
            </a:r>
            <a:r>
              <a:rPr lang="en-US" sz="2400" dirty="0">
                <a:cs typeface="Times New Roman" pitchFamily="18" charset="0"/>
              </a:rPr>
              <a:t>-receptors ('glandular/smooth muscle')</a:t>
            </a:r>
          </a:p>
          <a:p>
            <a:pPr lvl="1" algn="just" eaLnBrk="1" hangingPunct="1">
              <a:buFont typeface="Wingdings" pitchFamily="2" charset="2"/>
              <a:buChar char="ü"/>
            </a:pPr>
            <a:r>
              <a:rPr lang="en-US" sz="2400" dirty="0">
                <a:cs typeface="Times New Roman" pitchFamily="18" charset="0"/>
              </a:rPr>
              <a:t>stimulation of glandular secretions (salivary, bronchial, sweat, etc.) and </a:t>
            </a:r>
          </a:p>
          <a:p>
            <a:pPr lvl="1" algn="just" eaLnBrk="1" hangingPunct="1">
              <a:buFont typeface="Wingdings" pitchFamily="2" charset="2"/>
              <a:buChar char="ü"/>
            </a:pPr>
            <a:r>
              <a:rPr lang="en-US" sz="2400" dirty="0">
                <a:cs typeface="Times New Roman" pitchFamily="18" charset="0"/>
              </a:rPr>
              <a:t>contraction of visceral smooth muscle. </a:t>
            </a:r>
          </a:p>
          <a:p>
            <a:pPr lvl="1" algn="just" eaLnBrk="1" hangingPunct="1">
              <a:buFont typeface="Arial" charset="0"/>
              <a:buNone/>
            </a:pPr>
            <a:endParaRPr lang="en-US" sz="2400" dirty="0">
              <a:cs typeface="Times New Roman" pitchFamily="18" charset="0"/>
            </a:endParaRPr>
          </a:p>
          <a:p>
            <a:pPr eaLnBrk="1" hangingPunct="1"/>
            <a:endParaRPr lang="en-US" sz="2400" dirty="0">
              <a:cs typeface="Times New Roman" pitchFamily="18" charset="0"/>
            </a:endParaRPr>
          </a:p>
          <a:p>
            <a:endParaRPr lang="en-US" dirty="0"/>
          </a:p>
        </p:txBody>
      </p:sp>
    </p:spTree>
    <p:extLst>
      <p:ext uri="{BB962C8B-B14F-4D97-AF65-F5344CB8AC3E}">
        <p14:creationId xmlns:p14="http://schemas.microsoft.com/office/powerpoint/2010/main" val="17860950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61EE1-EF47-9A9E-41CB-52DEFAAC5A5E}"/>
              </a:ext>
            </a:extLst>
          </p:cNvPr>
          <p:cNvSpPr>
            <a:spLocks noGrp="1"/>
          </p:cNvSpPr>
          <p:nvPr>
            <p:ph type="title"/>
          </p:nvPr>
        </p:nvSpPr>
        <p:spPr>
          <a:xfrm>
            <a:off x="228600" y="609600"/>
            <a:ext cx="8458200" cy="990600"/>
          </a:xfrm>
        </p:spPr>
        <p:txBody>
          <a:bodyPr>
            <a:noAutofit/>
          </a:bodyPr>
          <a:lstStyle/>
          <a:p>
            <a:pPr algn="just"/>
            <a:r>
              <a:rPr lang="en-US" sz="3600" dirty="0"/>
              <a:t> 2. Adrenoreceptors (Adrenergic receptors)</a:t>
            </a:r>
            <a:br>
              <a:rPr lang="en-US" sz="3600" dirty="0"/>
            </a:br>
            <a:endParaRPr lang="en-US" sz="3600" dirty="0"/>
          </a:p>
        </p:txBody>
      </p:sp>
      <p:sp>
        <p:nvSpPr>
          <p:cNvPr id="3" name="Content Placeholder 2">
            <a:extLst>
              <a:ext uri="{FF2B5EF4-FFF2-40B4-BE49-F238E27FC236}">
                <a16:creationId xmlns:a16="http://schemas.microsoft.com/office/drawing/2014/main" id="{AB2B97AA-BF2B-8293-5204-2081D7EB1458}"/>
              </a:ext>
            </a:extLst>
          </p:cNvPr>
          <p:cNvSpPr>
            <a:spLocks noGrp="1"/>
          </p:cNvSpPr>
          <p:nvPr>
            <p:ph idx="1"/>
          </p:nvPr>
        </p:nvSpPr>
        <p:spPr>
          <a:xfrm>
            <a:off x="228600" y="1600200"/>
            <a:ext cx="8763000" cy="4525963"/>
          </a:xfrm>
        </p:spPr>
        <p:txBody>
          <a:bodyPr>
            <a:normAutofit/>
          </a:bodyPr>
          <a:lstStyle/>
          <a:p>
            <a:pPr algn="l"/>
            <a:endParaRPr lang="en-US" sz="2400" b="0" i="0" u="none" strike="noStrike" baseline="0" dirty="0"/>
          </a:p>
          <a:p>
            <a:pPr algn="l"/>
            <a:r>
              <a:rPr lang="en-US" sz="2800" b="0" i="0" u="none" strike="noStrike" baseline="0" dirty="0"/>
              <a:t>The term “adrenergic” originally referred to the effects of epinephrine ( </a:t>
            </a:r>
            <a:r>
              <a:rPr lang="en-US" sz="2800" b="0" i="1" u="none" strike="noStrike" baseline="0" dirty="0"/>
              <a:t>adren</a:t>
            </a:r>
            <a:r>
              <a:rPr lang="en-US" sz="2800" b="0" i="0" u="none" strike="noStrike" baseline="0" dirty="0"/>
              <a:t>aline), </a:t>
            </a:r>
          </a:p>
          <a:p>
            <a:pPr lvl="1"/>
            <a:r>
              <a:rPr lang="en-US" sz="2400" b="0" i="0" u="none" strike="noStrike" baseline="0" dirty="0"/>
              <a:t>although norepinephrine (noradrenaline) is the primary neurotransmitter responsible</a:t>
            </a:r>
          </a:p>
          <a:p>
            <a:pPr lvl="2"/>
            <a:r>
              <a:rPr lang="en-US" sz="2000" b="0" i="0" u="none" strike="noStrike" baseline="0" dirty="0"/>
              <a:t> for most of the adrenergic activity of the SNS</a:t>
            </a:r>
            <a:endParaRPr lang="en-US" sz="2000" dirty="0"/>
          </a:p>
        </p:txBody>
      </p:sp>
    </p:spTree>
    <p:extLst>
      <p:ext uri="{BB962C8B-B14F-4D97-AF65-F5344CB8AC3E}">
        <p14:creationId xmlns:p14="http://schemas.microsoft.com/office/powerpoint/2010/main" val="33734956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AC21D1F7-C198-5675-1976-10DD9A2CFD14}"/>
              </a:ext>
            </a:extLst>
          </p:cNvPr>
          <p:cNvSpPr>
            <a:spLocks noGrp="1"/>
          </p:cNvSpPr>
          <p:nvPr>
            <p:ph type="title"/>
          </p:nvPr>
        </p:nvSpPr>
        <p:spPr/>
        <p:txBody>
          <a:bodyPr rtlCol="0">
            <a:noAutofit/>
          </a:bodyPr>
          <a:lstStyle/>
          <a:p>
            <a:pPr marL="484632" eaLnBrk="1" fontAlgn="auto" hangingPunct="1">
              <a:spcAft>
                <a:spcPts val="0"/>
              </a:spcAft>
              <a:defRPr/>
            </a:pPr>
            <a:r>
              <a:rPr lang="en-US" sz="3200" dirty="0">
                <a:cs typeface="Times New Roman" pitchFamily="18" charset="0"/>
              </a:rPr>
              <a:t>Cont.…</a:t>
            </a:r>
          </a:p>
        </p:txBody>
      </p:sp>
      <p:sp>
        <p:nvSpPr>
          <p:cNvPr id="81923" name="Content Placeholder 2">
            <a:extLst>
              <a:ext uri="{FF2B5EF4-FFF2-40B4-BE49-F238E27FC236}">
                <a16:creationId xmlns:a16="http://schemas.microsoft.com/office/drawing/2014/main" id="{901CC15E-5D00-95DB-6E8B-B6504226D0DA}"/>
              </a:ext>
            </a:extLst>
          </p:cNvPr>
          <p:cNvSpPr>
            <a:spLocks noGrp="1"/>
          </p:cNvSpPr>
          <p:nvPr>
            <p:ph idx="1"/>
          </p:nvPr>
        </p:nvSpPr>
        <p:spPr>
          <a:xfrm>
            <a:off x="457200" y="1417638"/>
            <a:ext cx="8229600" cy="5135562"/>
          </a:xfrm>
        </p:spPr>
        <p:txBody>
          <a:bodyPr/>
          <a:lstStyle/>
          <a:p>
            <a:pPr algn="just">
              <a:defRPr/>
            </a:pPr>
            <a:r>
              <a:rPr lang="en-US" sz="2400" dirty="0">
                <a:latin typeface="+mj-lt"/>
                <a:cs typeface="Times New Roman" pitchFamily="18" charset="0"/>
              </a:rPr>
              <a:t>Adrenergic receptors are divided into two categories: </a:t>
            </a:r>
            <a:r>
              <a:rPr lang="en-US" sz="2400" b="1" dirty="0">
                <a:latin typeface="+mj-lt"/>
                <a:cs typeface="Times New Roman" pitchFamily="18" charset="0"/>
              </a:rPr>
              <a:t>α and β</a:t>
            </a:r>
            <a:r>
              <a:rPr lang="en-US" sz="2400" dirty="0">
                <a:latin typeface="+mj-lt"/>
                <a:cs typeface="Times New Roman" pitchFamily="18" charset="0"/>
              </a:rPr>
              <a:t>. </a:t>
            </a:r>
          </a:p>
          <a:p>
            <a:pPr algn="just">
              <a:buFont typeface="Wingdings" panose="05000000000000000000" pitchFamily="2" charset="2"/>
              <a:buChar char="ü"/>
              <a:defRPr/>
            </a:pPr>
            <a:r>
              <a:rPr lang="en-US" sz="2800" b="1" dirty="0">
                <a:latin typeface="+mj-lt"/>
                <a:cs typeface="Times New Roman" pitchFamily="18" charset="0"/>
              </a:rPr>
              <a:t>α-adrenoceptor </a:t>
            </a:r>
          </a:p>
          <a:p>
            <a:pPr lvl="2" algn="just" eaLnBrk="1" hangingPunct="1">
              <a:defRPr/>
            </a:pPr>
            <a:r>
              <a:rPr lang="en-US" dirty="0">
                <a:latin typeface="+mj-lt"/>
                <a:cs typeface="Times New Roman" pitchFamily="18" charset="0"/>
              </a:rPr>
              <a:t>α</a:t>
            </a:r>
            <a:r>
              <a:rPr lang="en-US" baseline="-25000" dirty="0">
                <a:latin typeface="+mj-lt"/>
                <a:cs typeface="Times New Roman" pitchFamily="18" charset="0"/>
              </a:rPr>
              <a:t>1</a:t>
            </a:r>
            <a:endParaRPr lang="en-US" dirty="0">
              <a:latin typeface="+mj-lt"/>
              <a:cs typeface="Times New Roman" pitchFamily="18" charset="0"/>
            </a:endParaRPr>
          </a:p>
          <a:p>
            <a:pPr lvl="2" eaLnBrk="1" hangingPunct="1">
              <a:defRPr/>
            </a:pPr>
            <a:r>
              <a:rPr lang="en-US" dirty="0">
                <a:latin typeface="+mj-lt"/>
                <a:cs typeface="Times New Roman" pitchFamily="18" charset="0"/>
              </a:rPr>
              <a:t>α</a:t>
            </a:r>
            <a:r>
              <a:rPr lang="en-US" baseline="-25000" dirty="0">
                <a:latin typeface="+mj-lt"/>
                <a:cs typeface="Times New Roman" pitchFamily="18" charset="0"/>
              </a:rPr>
              <a:t>2</a:t>
            </a:r>
            <a:r>
              <a:rPr lang="en-US" dirty="0">
                <a:latin typeface="+mj-lt"/>
                <a:cs typeface="Times New Roman" pitchFamily="18" charset="0"/>
              </a:rPr>
              <a:t> </a:t>
            </a:r>
          </a:p>
          <a:p>
            <a:pPr eaLnBrk="1" hangingPunct="1">
              <a:buFont typeface="Wingdings" panose="05000000000000000000" pitchFamily="2" charset="2"/>
              <a:buChar char="ü"/>
              <a:defRPr/>
            </a:pPr>
            <a:r>
              <a:rPr lang="en-US" sz="2800" b="1" dirty="0">
                <a:latin typeface="+mj-lt"/>
                <a:cs typeface="Times New Roman" pitchFamily="18" charset="0"/>
              </a:rPr>
              <a:t>β-adrenoceptor </a:t>
            </a:r>
          </a:p>
          <a:p>
            <a:pPr lvl="2" indent="-342900" eaLnBrk="1" hangingPunct="1">
              <a:defRPr/>
            </a:pPr>
            <a:r>
              <a:rPr lang="en-US" dirty="0">
                <a:latin typeface="+mj-lt"/>
                <a:cs typeface="Times New Roman" pitchFamily="18" charset="0"/>
              </a:rPr>
              <a:t>  β</a:t>
            </a:r>
            <a:r>
              <a:rPr lang="en-US" baseline="-25000" dirty="0">
                <a:latin typeface="+mj-lt"/>
                <a:cs typeface="Times New Roman" pitchFamily="18" charset="0"/>
              </a:rPr>
              <a:t>1</a:t>
            </a:r>
            <a:r>
              <a:rPr lang="en-US" dirty="0">
                <a:latin typeface="+mj-lt"/>
                <a:cs typeface="Times New Roman" pitchFamily="18" charset="0"/>
              </a:rPr>
              <a:t>,</a:t>
            </a:r>
          </a:p>
          <a:p>
            <a:pPr lvl="2" indent="-342900" eaLnBrk="1" hangingPunct="1">
              <a:defRPr/>
            </a:pPr>
            <a:r>
              <a:rPr lang="en-US" dirty="0">
                <a:latin typeface="+mj-lt"/>
                <a:cs typeface="Times New Roman" pitchFamily="18" charset="0"/>
              </a:rPr>
              <a:t> β</a:t>
            </a:r>
            <a:r>
              <a:rPr lang="en-US" baseline="-25000" dirty="0">
                <a:latin typeface="+mj-lt"/>
                <a:cs typeface="Times New Roman" pitchFamily="18" charset="0"/>
              </a:rPr>
              <a:t>2</a:t>
            </a:r>
            <a:r>
              <a:rPr lang="en-US" dirty="0">
                <a:latin typeface="+mj-lt"/>
                <a:cs typeface="Times New Roman" pitchFamily="18" charset="0"/>
              </a:rPr>
              <a:t> and</a:t>
            </a:r>
          </a:p>
          <a:p>
            <a:pPr lvl="2" indent="-342900" eaLnBrk="1" hangingPunct="1">
              <a:defRPr/>
            </a:pPr>
            <a:r>
              <a:rPr lang="en-US" dirty="0">
                <a:latin typeface="+mj-lt"/>
                <a:cs typeface="Times New Roman" pitchFamily="18" charset="0"/>
              </a:rPr>
              <a:t> β</a:t>
            </a:r>
            <a:r>
              <a:rPr lang="en-US" baseline="-25000" dirty="0">
                <a:latin typeface="+mj-lt"/>
                <a:cs typeface="Times New Roman" pitchFamily="18" charset="0"/>
              </a:rPr>
              <a:t>3</a:t>
            </a:r>
          </a:p>
          <a:p>
            <a:pPr algn="just">
              <a:buFont typeface="Wingdings" panose="05000000000000000000" pitchFamily="2" charset="2"/>
              <a:buChar char="ü"/>
              <a:defRPr/>
            </a:pPr>
            <a:r>
              <a:rPr lang="en-US" sz="2800" dirty="0">
                <a:latin typeface="+mj-lt"/>
                <a:cs typeface="Times New Roman" pitchFamily="18" charset="0"/>
              </a:rPr>
              <a:t>III. Dopamine (DA)-receptor types</a:t>
            </a:r>
          </a:p>
          <a:p>
            <a:pPr lvl="1" algn="just" eaLnBrk="1" hangingPunct="1">
              <a:buFont typeface="Arial" panose="020B0604020202020204" pitchFamily="34" charset="0"/>
              <a:buChar char="•"/>
              <a:defRPr/>
            </a:pPr>
            <a:endParaRPr lang="en-US" sz="2400" dirty="0">
              <a:latin typeface="+mj-lt"/>
              <a:cs typeface="Times New Roman"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 calcmode="lin" valueType="num">
                                      <p:cBhvr additive="base">
                                        <p:cTn id="7" dur="500" fill="hold"/>
                                        <p:tgtEl>
                                          <p:spTgt spid="819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23">
                                            <p:txEl>
                                              <p:pRg st="1" end="1"/>
                                            </p:txEl>
                                          </p:spTgt>
                                        </p:tgtEl>
                                        <p:attrNameLst>
                                          <p:attrName>style.visibility</p:attrName>
                                        </p:attrNameLst>
                                      </p:cBhvr>
                                      <p:to>
                                        <p:strVal val="visible"/>
                                      </p:to>
                                    </p:set>
                                    <p:anim calcmode="lin" valueType="num">
                                      <p:cBhvr additive="base">
                                        <p:cTn id="13" dur="500" fill="hold"/>
                                        <p:tgtEl>
                                          <p:spTgt spid="819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2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1923">
                                            <p:txEl>
                                              <p:pRg st="2" end="2"/>
                                            </p:txEl>
                                          </p:spTgt>
                                        </p:tgtEl>
                                        <p:attrNameLst>
                                          <p:attrName>style.visibility</p:attrName>
                                        </p:attrNameLst>
                                      </p:cBhvr>
                                      <p:to>
                                        <p:strVal val="visible"/>
                                      </p:to>
                                    </p:set>
                                    <p:anim calcmode="lin" valueType="num">
                                      <p:cBhvr additive="base">
                                        <p:cTn id="17" dur="500" fill="hold"/>
                                        <p:tgtEl>
                                          <p:spTgt spid="8192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192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1923">
                                            <p:txEl>
                                              <p:pRg st="3" end="3"/>
                                            </p:txEl>
                                          </p:spTgt>
                                        </p:tgtEl>
                                        <p:attrNameLst>
                                          <p:attrName>style.visibility</p:attrName>
                                        </p:attrNameLst>
                                      </p:cBhvr>
                                      <p:to>
                                        <p:strVal val="visible"/>
                                      </p:to>
                                    </p:set>
                                    <p:anim calcmode="lin" valueType="num">
                                      <p:cBhvr additive="base">
                                        <p:cTn id="21" dur="500" fill="hold"/>
                                        <p:tgtEl>
                                          <p:spTgt spid="8192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19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81923">
                                            <p:txEl>
                                              <p:pRg st="4" end="4"/>
                                            </p:txEl>
                                          </p:spTgt>
                                        </p:tgtEl>
                                        <p:attrNameLst>
                                          <p:attrName>style.visibility</p:attrName>
                                        </p:attrNameLst>
                                      </p:cBhvr>
                                      <p:to>
                                        <p:strVal val="visible"/>
                                      </p:to>
                                    </p:set>
                                    <p:anim calcmode="lin" valueType="num">
                                      <p:cBhvr additive="base">
                                        <p:cTn id="27" dur="500" fill="hold"/>
                                        <p:tgtEl>
                                          <p:spTgt spid="8192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192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1923">
                                            <p:txEl>
                                              <p:pRg st="5" end="5"/>
                                            </p:txEl>
                                          </p:spTgt>
                                        </p:tgtEl>
                                        <p:attrNameLst>
                                          <p:attrName>style.visibility</p:attrName>
                                        </p:attrNameLst>
                                      </p:cBhvr>
                                      <p:to>
                                        <p:strVal val="visible"/>
                                      </p:to>
                                    </p:set>
                                    <p:anim calcmode="lin" valueType="num">
                                      <p:cBhvr additive="base">
                                        <p:cTn id="31" dur="500" fill="hold"/>
                                        <p:tgtEl>
                                          <p:spTgt spid="8192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2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1923">
                                            <p:txEl>
                                              <p:pRg st="6" end="6"/>
                                            </p:txEl>
                                          </p:spTgt>
                                        </p:tgtEl>
                                        <p:attrNameLst>
                                          <p:attrName>style.visibility</p:attrName>
                                        </p:attrNameLst>
                                      </p:cBhvr>
                                      <p:to>
                                        <p:strVal val="visible"/>
                                      </p:to>
                                    </p:set>
                                    <p:anim calcmode="lin" valueType="num">
                                      <p:cBhvr additive="base">
                                        <p:cTn id="35" dur="500" fill="hold"/>
                                        <p:tgtEl>
                                          <p:spTgt spid="8192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192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81923">
                                            <p:txEl>
                                              <p:pRg st="7" end="7"/>
                                            </p:txEl>
                                          </p:spTgt>
                                        </p:tgtEl>
                                        <p:attrNameLst>
                                          <p:attrName>style.visibility</p:attrName>
                                        </p:attrNameLst>
                                      </p:cBhvr>
                                      <p:to>
                                        <p:strVal val="visible"/>
                                      </p:to>
                                    </p:set>
                                    <p:anim calcmode="lin" valueType="num">
                                      <p:cBhvr additive="base">
                                        <p:cTn id="39" dur="500" fill="hold"/>
                                        <p:tgtEl>
                                          <p:spTgt spid="8192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192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81923">
                                            <p:txEl>
                                              <p:pRg st="8" end="8"/>
                                            </p:txEl>
                                          </p:spTgt>
                                        </p:tgtEl>
                                        <p:attrNameLst>
                                          <p:attrName>style.visibility</p:attrName>
                                        </p:attrNameLst>
                                      </p:cBhvr>
                                      <p:to>
                                        <p:strVal val="visible"/>
                                      </p:to>
                                    </p:set>
                                    <p:anim calcmode="lin" valueType="num">
                                      <p:cBhvr additive="base">
                                        <p:cTn id="43" dur="500" fill="hold"/>
                                        <p:tgtEl>
                                          <p:spTgt spid="8192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192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7958BD4-1540-D104-39A7-500F257D4A70}"/>
              </a:ext>
            </a:extLst>
          </p:cNvPr>
          <p:cNvSpPr>
            <a:spLocks noGrp="1"/>
          </p:cNvSpPr>
          <p:nvPr>
            <p:ph type="title"/>
          </p:nvPr>
        </p:nvSpPr>
        <p:spPr/>
        <p:txBody>
          <a:bodyPr/>
          <a:lstStyle/>
          <a:p>
            <a:r>
              <a:rPr lang="en-US" altLang="en-US" dirty="0"/>
              <a:t>Cont..</a:t>
            </a:r>
          </a:p>
        </p:txBody>
      </p:sp>
      <p:pic>
        <p:nvPicPr>
          <p:cNvPr id="13315" name="Picture 2">
            <a:extLst>
              <a:ext uri="{FF2B5EF4-FFF2-40B4-BE49-F238E27FC236}">
                <a16:creationId xmlns:a16="http://schemas.microsoft.com/office/drawing/2014/main" id="{D613BBF6-015B-B258-AF8B-66A874B0CC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600200"/>
            <a:ext cx="7315200" cy="4937761"/>
          </a:xfr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D79A8-1D1D-566A-6ED9-7A1E093ADC48}"/>
              </a:ext>
            </a:extLst>
          </p:cNvPr>
          <p:cNvSpPr>
            <a:spLocks noGrp="1"/>
          </p:cNvSpPr>
          <p:nvPr>
            <p:ph type="title"/>
          </p:nvPr>
        </p:nvSpPr>
        <p:spPr/>
        <p:txBody>
          <a:bodyPr>
            <a:normAutofit fontScale="90000"/>
          </a:bodyPr>
          <a:lstStyle/>
          <a:p>
            <a:r>
              <a:rPr lang="en-US" sz="4400" dirty="0">
                <a:effectLst>
                  <a:outerShdw blurRad="38100" dist="38100" dir="2700000" algn="tl">
                    <a:srgbClr val="000000">
                      <a:alpha val="43137"/>
                    </a:srgbClr>
                  </a:outerShdw>
                </a:effectLst>
                <a:cs typeface="Times New Roman" pitchFamily="18" charset="0"/>
              </a:rPr>
              <a:t>α</a:t>
            </a:r>
            <a:r>
              <a:rPr lang="en-US" sz="4400" baseline="-25000" dirty="0">
                <a:effectLst>
                  <a:outerShdw blurRad="38100" dist="38100" dir="2700000" algn="tl">
                    <a:srgbClr val="000000">
                      <a:alpha val="43137"/>
                    </a:srgbClr>
                  </a:outerShdw>
                </a:effectLst>
                <a:cs typeface="Times New Roman" pitchFamily="18" charset="0"/>
              </a:rPr>
              <a:t>1</a:t>
            </a:r>
            <a:r>
              <a:rPr lang="en-US" sz="4400" dirty="0">
                <a:effectLst>
                  <a:outerShdw blurRad="38100" dist="38100" dir="2700000" algn="tl">
                    <a:srgbClr val="000000">
                      <a:alpha val="43137"/>
                    </a:srgbClr>
                  </a:outerShdw>
                </a:effectLst>
                <a:cs typeface="Times New Roman" pitchFamily="18" charset="0"/>
              </a:rPr>
              <a:t> -</a:t>
            </a:r>
            <a:r>
              <a:rPr lang="en-US" sz="4400" dirty="0" err="1">
                <a:effectLst>
                  <a:outerShdw blurRad="38100" dist="38100" dir="2700000" algn="tl">
                    <a:srgbClr val="000000">
                      <a:alpha val="43137"/>
                    </a:srgbClr>
                  </a:outerShdw>
                </a:effectLst>
                <a:cs typeface="Times New Roman" pitchFamily="18" charset="0"/>
              </a:rPr>
              <a:t>adereno</a:t>
            </a:r>
            <a:r>
              <a:rPr lang="en-US" dirty="0" err="1">
                <a:effectLst>
                  <a:outerShdw blurRad="38100" dist="38100" dir="2700000" algn="tl">
                    <a:srgbClr val="000000">
                      <a:alpha val="43137"/>
                    </a:srgbClr>
                  </a:outerShdw>
                </a:effectLst>
                <a:cs typeface="Times New Roman" pitchFamily="18" charset="0"/>
              </a:rPr>
              <a:t>ceptors</a:t>
            </a:r>
            <a:br>
              <a:rPr lang="en-US" sz="4400" dirty="0">
                <a:effectLst>
                  <a:outerShdw blurRad="38100" dist="38100" dir="2700000" algn="tl">
                    <a:srgbClr val="000000">
                      <a:alpha val="43137"/>
                    </a:srgbClr>
                  </a:outerShdw>
                </a:effectLst>
              </a:rPr>
            </a:br>
            <a:endParaRPr lang="en-US" dirty="0"/>
          </a:p>
        </p:txBody>
      </p:sp>
      <p:sp>
        <p:nvSpPr>
          <p:cNvPr id="3" name="Content Placeholder 2">
            <a:extLst>
              <a:ext uri="{FF2B5EF4-FFF2-40B4-BE49-F238E27FC236}">
                <a16:creationId xmlns:a16="http://schemas.microsoft.com/office/drawing/2014/main" id="{7495276A-60D6-CA98-6DA7-0A136895EE28}"/>
              </a:ext>
            </a:extLst>
          </p:cNvPr>
          <p:cNvSpPr>
            <a:spLocks noGrp="1"/>
          </p:cNvSpPr>
          <p:nvPr>
            <p:ph idx="1"/>
          </p:nvPr>
        </p:nvSpPr>
        <p:spPr>
          <a:xfrm>
            <a:off x="457200" y="1402398"/>
            <a:ext cx="8229600" cy="4846002"/>
          </a:xfrm>
        </p:spPr>
        <p:txBody>
          <a:bodyPr>
            <a:noAutofit/>
          </a:bodyPr>
          <a:lstStyle/>
          <a:p>
            <a:r>
              <a:rPr lang="en-US" altLang="en-US" sz="2400" dirty="0">
                <a:cs typeface="Times New Roman" panose="02020603050405020304" pitchFamily="18" charset="0"/>
              </a:rPr>
              <a:t>They are p</a:t>
            </a:r>
            <a:r>
              <a:rPr lang="bg-BG" altLang="en-US" sz="2400" dirty="0">
                <a:cs typeface="Times New Roman" panose="02020603050405020304" pitchFamily="18" charset="0"/>
              </a:rPr>
              <a:t>ostsynaptic adrenoceptors</a:t>
            </a:r>
            <a:endParaRPr lang="en-US" altLang="en-US" sz="2400" dirty="0">
              <a:cs typeface="Times New Roman" panose="02020603050405020304" pitchFamily="18" charset="0"/>
            </a:endParaRPr>
          </a:p>
          <a:p>
            <a:pPr lvl="1"/>
            <a:r>
              <a:rPr lang="bg-BG" altLang="en-US" sz="2400" dirty="0">
                <a:cs typeface="Times New Roman" panose="02020603050405020304" pitchFamily="18" charset="0"/>
              </a:rPr>
              <a:t> located in smooth muscle throughout the body</a:t>
            </a:r>
            <a:endParaRPr lang="en-US" altLang="en-US" sz="2400" dirty="0">
              <a:cs typeface="Times New Roman" panose="02020603050405020304" pitchFamily="18" charset="0"/>
            </a:endParaRPr>
          </a:p>
          <a:p>
            <a:pPr lvl="2"/>
            <a:r>
              <a:rPr lang="en-US" b="0" i="0" u="none" strike="noStrike" baseline="0" dirty="0"/>
              <a:t>(in the eye, lung, blood vessels, uterus, gut, and genitourinary system).</a:t>
            </a:r>
            <a:endParaRPr lang="en-US" altLang="en-US" dirty="0">
              <a:cs typeface="Times New Roman" panose="02020603050405020304" pitchFamily="18" charset="0"/>
            </a:endParaRPr>
          </a:p>
          <a:p>
            <a:r>
              <a:rPr lang="en-US" altLang="en-US" sz="2400" dirty="0">
                <a:cs typeface="Times New Roman" panose="02020603050405020304" pitchFamily="18" charset="0"/>
              </a:rPr>
              <a:t> They increases intracellular </a:t>
            </a:r>
            <a:r>
              <a:rPr lang="en-US" altLang="en-US" sz="2400" b="1" dirty="0"/>
              <a:t>Ca</a:t>
            </a:r>
            <a:r>
              <a:rPr lang="en-US" altLang="en-US" sz="2400" b="1" baseline="30000" dirty="0"/>
              <a:t>2+</a:t>
            </a:r>
            <a:r>
              <a:rPr lang="en-US" altLang="en-US" sz="2400" dirty="0">
                <a:cs typeface="Times New Roman" panose="02020603050405020304" pitchFamily="18" charset="0"/>
              </a:rPr>
              <a:t>  concentration which leads to smooth muscle contraction.</a:t>
            </a:r>
          </a:p>
          <a:p>
            <a:pPr marL="0" indent="0">
              <a:buNone/>
            </a:pPr>
            <a:endParaRPr lang="en-US" altLang="en-US" sz="2400" dirty="0">
              <a:cs typeface="Times New Roman" panose="02020603050405020304" pitchFamily="18" charset="0"/>
            </a:endParaRPr>
          </a:p>
          <a:p>
            <a:endParaRPr lang="en-US" altLang="en-US" sz="2400" dirty="0"/>
          </a:p>
        </p:txBody>
      </p:sp>
    </p:spTree>
    <p:extLst>
      <p:ext uri="{BB962C8B-B14F-4D97-AF65-F5344CB8AC3E}">
        <p14:creationId xmlns:p14="http://schemas.microsoft.com/office/powerpoint/2010/main" val="22350273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2293-7335-D1E1-92EF-F426EBB8CEFB}"/>
              </a:ext>
            </a:extLst>
          </p:cNvPr>
          <p:cNvSpPr>
            <a:spLocks noGrp="1"/>
          </p:cNvSpPr>
          <p:nvPr>
            <p:ph type="title"/>
          </p:nvPr>
        </p:nvSpPr>
        <p:spPr/>
        <p:txBody>
          <a:bodyPr>
            <a:normAutofit fontScale="90000"/>
          </a:bodyPr>
          <a:lstStyle/>
          <a:p>
            <a:r>
              <a:rPr lang="en-US" sz="4400" dirty="0">
                <a:effectLst>
                  <a:outerShdw blurRad="38100" dist="38100" dir="2700000" algn="tl">
                    <a:srgbClr val="000000">
                      <a:alpha val="43137"/>
                    </a:srgbClr>
                  </a:outerShdw>
                </a:effectLst>
                <a:latin typeface="Agency FB" pitchFamily="34" charset="0"/>
                <a:cs typeface="Times New Roman" pitchFamily="18" charset="0"/>
              </a:rPr>
              <a:t>α</a:t>
            </a:r>
            <a:r>
              <a:rPr lang="en-US" sz="4400" baseline="-25000" dirty="0">
                <a:effectLst>
                  <a:outerShdw blurRad="38100" dist="38100" dir="2700000" algn="tl">
                    <a:srgbClr val="000000">
                      <a:alpha val="43137"/>
                    </a:srgbClr>
                  </a:outerShdw>
                </a:effectLst>
                <a:latin typeface="Agency FB" pitchFamily="34" charset="0"/>
                <a:cs typeface="Times New Roman" pitchFamily="18" charset="0"/>
              </a:rPr>
              <a:t>1</a:t>
            </a:r>
            <a:r>
              <a:rPr lang="en-US" sz="4400" dirty="0">
                <a:effectLst>
                  <a:outerShdw blurRad="38100" dist="38100" dir="2700000" algn="tl">
                    <a:srgbClr val="000000">
                      <a:alpha val="43137"/>
                    </a:srgbClr>
                  </a:outerShdw>
                </a:effectLst>
                <a:latin typeface="Agency FB" pitchFamily="34" charset="0"/>
                <a:cs typeface="Times New Roman" pitchFamily="18" charset="0"/>
              </a:rPr>
              <a:t> –</a:t>
            </a:r>
            <a:r>
              <a:rPr lang="bg-BG" sz="4400" dirty="0">
                <a:effectLst>
                  <a:outerShdw blurRad="38100" dist="38100" dir="2700000" algn="tl">
                    <a:srgbClr val="000000">
                      <a:alpha val="43137"/>
                    </a:srgbClr>
                  </a:outerShdw>
                </a:effectLst>
              </a:rPr>
              <a:t>Receptors</a:t>
            </a:r>
            <a:r>
              <a:rPr lang="en-US" sz="4400" dirty="0">
                <a:effectLst>
                  <a:outerShdw blurRad="38100" dist="38100" dir="2700000" algn="tl">
                    <a:srgbClr val="000000">
                      <a:alpha val="43137"/>
                    </a:srgbClr>
                  </a:outerShdw>
                </a:effectLst>
              </a:rPr>
              <a:t>…</a:t>
            </a:r>
            <a:br>
              <a:rPr lang="en-US" sz="4400" dirty="0">
                <a:effectLst>
                  <a:outerShdw blurRad="38100" dist="38100" dir="2700000" algn="tl">
                    <a:srgbClr val="000000">
                      <a:alpha val="43137"/>
                    </a:srgbClr>
                  </a:outerShdw>
                </a:effectLst>
                <a:latin typeface="Agency FB" pitchFamily="34" charset="0"/>
              </a:rPr>
            </a:br>
            <a:endParaRPr lang="en-US" dirty="0"/>
          </a:p>
        </p:txBody>
      </p:sp>
      <p:sp>
        <p:nvSpPr>
          <p:cNvPr id="3" name="Content Placeholder 2">
            <a:extLst>
              <a:ext uri="{FF2B5EF4-FFF2-40B4-BE49-F238E27FC236}">
                <a16:creationId xmlns:a16="http://schemas.microsoft.com/office/drawing/2014/main" id="{0747A617-0CB5-3493-180E-C1C6C38A69D8}"/>
              </a:ext>
            </a:extLst>
          </p:cNvPr>
          <p:cNvSpPr>
            <a:spLocks noGrp="1"/>
          </p:cNvSpPr>
          <p:nvPr>
            <p:ph idx="1"/>
          </p:nvPr>
        </p:nvSpPr>
        <p:spPr/>
        <p:txBody>
          <a:bodyPr>
            <a:normAutofit/>
          </a:bodyPr>
          <a:lstStyle/>
          <a:p>
            <a:r>
              <a:rPr lang="en-US" altLang="en-US" dirty="0">
                <a:cs typeface="Times New Roman" panose="02020603050405020304" pitchFamily="18" charset="0"/>
              </a:rPr>
              <a:t>Effects</a:t>
            </a:r>
            <a:endParaRPr lang="en-US" altLang="en-US" sz="2400" dirty="0">
              <a:cs typeface="Times New Roman" panose="02020603050405020304" pitchFamily="18" charset="0"/>
            </a:endParaRPr>
          </a:p>
          <a:p>
            <a:pPr lvl="1"/>
            <a:r>
              <a:rPr lang="bg-BG" altLang="en-US" sz="2400" dirty="0">
                <a:cs typeface="Times New Roman" panose="02020603050405020304" pitchFamily="18" charset="0"/>
              </a:rPr>
              <a:t> </a:t>
            </a:r>
            <a:r>
              <a:rPr lang="en-US" altLang="en-US" sz="2400" dirty="0">
                <a:cs typeface="Times New Roman" panose="02020603050405020304" pitchFamily="18" charset="0"/>
              </a:rPr>
              <a:t>M</a:t>
            </a:r>
            <a:r>
              <a:rPr lang="bg-BG" altLang="en-US" sz="2400" dirty="0">
                <a:cs typeface="Times New Roman" panose="02020603050405020304" pitchFamily="18" charset="0"/>
              </a:rPr>
              <a:t>ydriasis (pupillary dilation due to contraction of the radial eye muscles), </a:t>
            </a:r>
            <a:endParaRPr lang="en-US" altLang="en-US" sz="2400" dirty="0">
              <a:cs typeface="Times New Roman" panose="02020603050405020304" pitchFamily="18" charset="0"/>
            </a:endParaRPr>
          </a:p>
          <a:p>
            <a:pPr lvl="1"/>
            <a:r>
              <a:rPr lang="en-US" altLang="en-US" sz="2400" dirty="0">
                <a:cs typeface="Times New Roman" panose="02020603050405020304" pitchFamily="18" charset="0"/>
              </a:rPr>
              <a:t> V</a:t>
            </a:r>
            <a:r>
              <a:rPr lang="bg-BG" altLang="en-US" sz="2400" dirty="0">
                <a:cs typeface="Times New Roman" panose="02020603050405020304" pitchFamily="18" charset="0"/>
              </a:rPr>
              <a:t>asoconstriction, uterine contracture, and </a:t>
            </a:r>
            <a:r>
              <a:rPr lang="en-US" altLang="en-US" sz="2400" dirty="0">
                <a:cs typeface="Times New Roman" panose="02020603050405020304" pitchFamily="18" charset="0"/>
              </a:rPr>
              <a:t> </a:t>
            </a:r>
            <a:r>
              <a:rPr lang="bg-BG" altLang="en-US" sz="2400" dirty="0">
                <a:cs typeface="Times New Roman" panose="02020603050405020304" pitchFamily="18" charset="0"/>
              </a:rPr>
              <a:t>contraction of sphincters in the </a:t>
            </a:r>
            <a:r>
              <a:rPr lang="en-US" altLang="en-US" sz="2400" dirty="0">
                <a:cs typeface="Times New Roman" panose="02020603050405020304" pitchFamily="18" charset="0"/>
              </a:rPr>
              <a:t>GI</a:t>
            </a:r>
            <a:r>
              <a:rPr lang="bg-BG" altLang="en-US" sz="2400" dirty="0">
                <a:cs typeface="Times New Roman" panose="02020603050405020304" pitchFamily="18" charset="0"/>
              </a:rPr>
              <a:t> and </a:t>
            </a:r>
            <a:r>
              <a:rPr lang="en-US" altLang="en-US" sz="2400" dirty="0">
                <a:cs typeface="Times New Roman" panose="02020603050405020304" pitchFamily="18" charset="0"/>
              </a:rPr>
              <a:t>GUT</a:t>
            </a:r>
          </a:p>
          <a:p>
            <a:pPr lvl="1"/>
            <a:r>
              <a:rPr lang="en-US" altLang="en-US" sz="2400" dirty="0">
                <a:cs typeface="Times New Roman" panose="02020603050405020304" pitchFamily="18" charset="0"/>
              </a:rPr>
              <a:t>inhibits insulin secretion and lipolysis.</a:t>
            </a:r>
          </a:p>
          <a:p>
            <a:r>
              <a:rPr lang="en-US" altLang="en-US" sz="2400" dirty="0">
                <a:cs typeface="Times New Roman" panose="02020603050405020304" pitchFamily="18" charset="0"/>
              </a:rPr>
              <a:t>The most important cardiovascular effect of α 1 - stimulation </a:t>
            </a:r>
          </a:p>
          <a:p>
            <a:pPr lvl="1"/>
            <a:r>
              <a:rPr lang="en-US" altLang="en-US" sz="2300" dirty="0">
                <a:cs typeface="Times New Roman" panose="02020603050405020304" pitchFamily="18" charset="0"/>
              </a:rPr>
              <a:t>vasoconstriction, which increases PVR, left ventricular afterload, and arterial blood pressure.</a:t>
            </a:r>
          </a:p>
          <a:p>
            <a:endParaRPr lang="en-US" sz="2400" dirty="0"/>
          </a:p>
        </p:txBody>
      </p:sp>
    </p:spTree>
    <p:extLst>
      <p:ext uri="{BB962C8B-B14F-4D97-AF65-F5344CB8AC3E}">
        <p14:creationId xmlns:p14="http://schemas.microsoft.com/office/powerpoint/2010/main" val="40077144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a:xfrm>
            <a:off x="152400" y="1655685"/>
            <a:ext cx="2357319" cy="4187345"/>
          </a:xfrm>
        </p:spPr>
        <p:style>
          <a:lnRef idx="2">
            <a:schemeClr val="accent2"/>
          </a:lnRef>
          <a:fillRef idx="1">
            <a:schemeClr val="lt1"/>
          </a:fillRef>
          <a:effectRef idx="0">
            <a:schemeClr val="accent2"/>
          </a:effectRef>
          <a:fontRef idx="minor">
            <a:schemeClr val="dk1"/>
          </a:fontRef>
        </p:style>
        <p:txBody>
          <a:bodyPr>
            <a:normAutofit/>
          </a:bodyPr>
          <a:lstStyle/>
          <a:p>
            <a:pPr algn="just"/>
            <a:r>
              <a:rPr lang="en-GB" altLang="en-US" sz="2400" b="1" dirty="0"/>
              <a:t>a2-</a:t>
            </a:r>
            <a:r>
              <a:rPr lang="en-US" sz="2400" dirty="0">
                <a:effectLst>
                  <a:outerShdw blurRad="38100" dist="38100" dir="2700000" algn="tl">
                    <a:srgbClr val="000000">
                      <a:alpha val="43137"/>
                    </a:srgbClr>
                  </a:outerShdw>
                </a:effectLst>
              </a:rPr>
              <a:t>r</a:t>
            </a:r>
            <a:r>
              <a:rPr lang="bg-BG" sz="2400" dirty="0">
                <a:effectLst>
                  <a:outerShdw blurRad="38100" dist="38100" dir="2700000" algn="tl">
                    <a:srgbClr val="000000">
                      <a:alpha val="43137"/>
                    </a:srgbClr>
                  </a:outerShdw>
                </a:effectLst>
              </a:rPr>
              <a:t>eceptors</a:t>
            </a:r>
            <a:r>
              <a:rPr lang="en-GB" altLang="en-US" sz="2400" b="1" baseline="-25000" dirty="0"/>
              <a:t>    </a:t>
            </a:r>
            <a:br>
              <a:rPr lang="en-GB" altLang="en-US" sz="2400" b="1" baseline="-25000" dirty="0"/>
            </a:br>
            <a:endParaRPr lang="en-US" sz="2400" dirty="0"/>
          </a:p>
        </p:txBody>
      </p:sp>
      <p:graphicFrame>
        <p:nvGraphicFramePr>
          <p:cNvPr id="6" name="Content Placeholder">
            <a:extLst>
              <a:ext uri="{FF2B5EF4-FFF2-40B4-BE49-F238E27FC236}">
                <a16:creationId xmlns:a16="http://schemas.microsoft.com/office/drawing/2014/main" id="{5685DE24-0F85-7282-6630-F25A573581AD}"/>
              </a:ext>
            </a:extLst>
          </p:cNvPr>
          <p:cNvGraphicFramePr>
            <a:graphicFrameLocks noGrp="1"/>
          </p:cNvGraphicFramePr>
          <p:nvPr>
            <p:ph idx="1"/>
            <p:extLst>
              <p:ext uri="{D42A27DB-BD31-4B8C-83A1-F6EECF244321}">
                <p14:modId xmlns:p14="http://schemas.microsoft.com/office/powerpoint/2010/main" val="2941183972"/>
              </p:ext>
            </p:extLst>
          </p:nvPr>
        </p:nvGraphicFramePr>
        <p:xfrm>
          <a:off x="2743200" y="1143000"/>
          <a:ext cx="5918001"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BF6B390A-2591-DDE4-108D-50614FC779B3}"/>
              </a:ext>
            </a:extLst>
          </p:cNvPr>
          <p:cNvSpPr txBox="1"/>
          <p:nvPr/>
        </p:nvSpPr>
        <p:spPr>
          <a:xfrm>
            <a:off x="2895599" y="685800"/>
            <a:ext cx="5638801"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US" altLang="en-US" dirty="0">
                <a:latin typeface="+mj-lt"/>
                <a:cs typeface="Times New Roman" panose="02020603050405020304" pitchFamily="18" charset="0"/>
              </a:rPr>
              <a:t>L</a:t>
            </a:r>
            <a:r>
              <a:rPr lang="bg-BG" altLang="en-US" dirty="0">
                <a:latin typeface="+mj-lt"/>
                <a:cs typeface="Times New Roman" panose="02020603050405020304" pitchFamily="18" charset="0"/>
              </a:rPr>
              <a:t>ocated primarily on the presynaptic nerve terminals. </a:t>
            </a:r>
            <a:endParaRPr lang="en-US" altLang="en-US" dirty="0">
              <a:latin typeface="+mj-lt"/>
              <a:cs typeface="Times New Roman" panose="02020603050405020304" pitchFamily="18" charset="0"/>
            </a:endParaRPr>
          </a:p>
        </p:txBody>
      </p:sp>
    </p:spTree>
    <p:extLst>
      <p:ext uri="{BB962C8B-B14F-4D97-AF65-F5344CB8AC3E}">
        <p14:creationId xmlns:p14="http://schemas.microsoft.com/office/powerpoint/2010/main" val="1115748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6" grpId="0">
        <p:bldAsOne/>
      </p:bldGraphic>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842" y="470195"/>
            <a:ext cx="7309758" cy="901405"/>
          </a:xfrm>
        </p:spPr>
        <p:txBody>
          <a:bodyPr>
            <a:noAutofit/>
          </a:bodyPr>
          <a:lstStyle/>
          <a:p>
            <a:br>
              <a:rPr lang="en-GB" altLang="en-US" sz="3600" b="1" dirty="0"/>
            </a:br>
            <a:br>
              <a:rPr lang="en-GB" altLang="en-US" sz="3600" b="1" dirty="0"/>
            </a:br>
            <a:r>
              <a:rPr lang="en-GB" altLang="en-US" sz="3600" b="1" dirty="0"/>
              <a:t>a2-</a:t>
            </a:r>
            <a:r>
              <a:rPr lang="en-US" sz="3600" dirty="0">
                <a:effectLst>
                  <a:outerShdw blurRad="38100" dist="38100" dir="2700000" algn="tl">
                    <a:srgbClr val="000000">
                      <a:alpha val="43137"/>
                    </a:srgbClr>
                  </a:outerShdw>
                </a:effectLst>
              </a:rPr>
              <a:t>r</a:t>
            </a:r>
            <a:r>
              <a:rPr lang="bg-BG" sz="3600" dirty="0">
                <a:effectLst>
                  <a:outerShdw blurRad="38100" dist="38100" dir="2700000" algn="tl">
                    <a:srgbClr val="000000">
                      <a:alpha val="43137"/>
                    </a:srgbClr>
                  </a:outerShdw>
                </a:effectLst>
              </a:rPr>
              <a:t>eceptors</a:t>
            </a:r>
            <a:r>
              <a:rPr lang="en-GB" altLang="en-US" sz="3600" b="1" baseline="-25000" dirty="0"/>
              <a:t>    </a:t>
            </a:r>
            <a:br>
              <a:rPr lang="en-GB" altLang="en-US" sz="3600" b="1" baseline="-25000" dirty="0"/>
            </a:br>
            <a:endParaRPr lang="en-US" sz="3600" dirty="0">
              <a:cs typeface="Arial" panose="020B0604020202020204" pitchFamily="34" charset="0"/>
            </a:endParaRPr>
          </a:p>
        </p:txBody>
      </p:sp>
      <p:sp>
        <p:nvSpPr>
          <p:cNvPr id="3" name="Text Placeholder 2"/>
          <p:cNvSpPr>
            <a:spLocks noGrp="1"/>
          </p:cNvSpPr>
          <p:nvPr>
            <p:ph type="body" idx="2"/>
          </p:nvPr>
        </p:nvSpPr>
        <p:spPr>
          <a:xfrm>
            <a:off x="538842" y="1752600"/>
            <a:ext cx="3211103" cy="1954178"/>
          </a:xfrm>
        </p:spPr>
        <p:style>
          <a:lnRef idx="2">
            <a:schemeClr val="accent1"/>
          </a:lnRef>
          <a:fillRef idx="1">
            <a:schemeClr val="lt1"/>
          </a:fillRef>
          <a:effectRef idx="0">
            <a:schemeClr val="accent1"/>
          </a:effectRef>
          <a:fontRef idx="minor">
            <a:schemeClr val="dk1"/>
          </a:fontRef>
        </p:style>
        <p:txBody>
          <a:bodyPr>
            <a:normAutofit/>
          </a:bodyPr>
          <a:lstStyle/>
          <a:p>
            <a:r>
              <a:rPr lang="en-US" sz="2000" dirty="0">
                <a:latin typeface="+mj-lt"/>
              </a:rPr>
              <a:t>Stimulation of postsynaptic a2-receptors in the CNS</a:t>
            </a:r>
            <a:endParaRPr lang="en-US" sz="2000" dirty="0">
              <a:latin typeface="+mj-lt"/>
              <a:cs typeface="Arial" panose="020B0604020202020204" pitchFamily="34" charset="0"/>
            </a:endParaRPr>
          </a:p>
        </p:txBody>
      </p:sp>
      <p:sp>
        <p:nvSpPr>
          <p:cNvPr id="9" name="Right Arrow 8"/>
          <p:cNvSpPr/>
          <p:nvPr/>
        </p:nvSpPr>
        <p:spPr>
          <a:xfrm>
            <a:off x="3780426" y="2052791"/>
            <a:ext cx="761094" cy="3634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cs typeface="Arial" panose="020B0604020202020204" pitchFamily="34" charset="0"/>
              </a:rPr>
              <a:t> </a:t>
            </a:r>
          </a:p>
        </p:txBody>
      </p:sp>
      <p:sp>
        <p:nvSpPr>
          <p:cNvPr id="12" name="Horizontal Scroll 40">
            <a:extLst>
              <a:ext uri="{FF2B5EF4-FFF2-40B4-BE49-F238E27FC236}">
                <a16:creationId xmlns:a16="http://schemas.microsoft.com/office/drawing/2014/main" id="{6062EB01-9936-E499-FFF6-96DA0EF2C61C}"/>
              </a:ext>
            </a:extLst>
          </p:cNvPr>
          <p:cNvSpPr/>
          <p:nvPr/>
        </p:nvSpPr>
        <p:spPr>
          <a:xfrm>
            <a:off x="4572000" y="1371600"/>
            <a:ext cx="4415589" cy="1292314"/>
          </a:xfrm>
          <a:prstGeom prst="horizontalScroll">
            <a:avLst/>
          </a:prstGeom>
        </p:spPr>
        <p:style>
          <a:lnRef idx="2">
            <a:schemeClr val="dk1"/>
          </a:lnRef>
          <a:fillRef idx="1">
            <a:schemeClr val="lt1"/>
          </a:fillRef>
          <a:effectRef idx="0">
            <a:schemeClr val="dk1"/>
          </a:effectRef>
          <a:fontRef idx="minor">
            <a:schemeClr val="dk1"/>
          </a:fontRef>
        </p:style>
        <p:txBody>
          <a:bodyPr rtlCol="0" anchor="ctr"/>
          <a:lstStyle/>
          <a:p>
            <a:pPr marL="214313" indent="-214313">
              <a:buFont typeface="Wingdings" panose="05000000000000000000" pitchFamily="2" charset="2"/>
              <a:buChar char="ü"/>
            </a:pPr>
            <a:endParaRPr lang="en-US" sz="2000" dirty="0">
              <a:latin typeface="+mj-lt"/>
              <a:cs typeface="Arial" panose="020B0604020202020204" pitchFamily="34" charset="0"/>
            </a:endParaRPr>
          </a:p>
          <a:p>
            <a:pPr marL="214313" indent="-214313">
              <a:buFont typeface="Wingdings" panose="05000000000000000000" pitchFamily="2" charset="2"/>
              <a:buChar char="ü"/>
            </a:pPr>
            <a:r>
              <a:rPr lang="en-US" sz="2400" dirty="0">
                <a:latin typeface="+mj-lt"/>
                <a:cs typeface="Arial" panose="020B0604020202020204" pitchFamily="34" charset="0"/>
              </a:rPr>
              <a:t>causes sedation and reduces sympathetic outflow, </a:t>
            </a:r>
          </a:p>
          <a:p>
            <a:pPr lvl="0"/>
            <a:endParaRPr lang="en-US" sz="2000" dirty="0">
              <a:latin typeface="+mj-lt"/>
              <a:cs typeface="Arial" panose="020B0604020202020204" pitchFamily="34" charset="0"/>
            </a:endParaRPr>
          </a:p>
          <a:p>
            <a:pPr lvl="0"/>
            <a:endParaRPr lang="en-US" sz="2000" dirty="0">
              <a:latin typeface="+mj-lt"/>
              <a:cs typeface="Arial" panose="020B0604020202020204" pitchFamily="34" charset="0"/>
            </a:endParaRPr>
          </a:p>
        </p:txBody>
      </p:sp>
      <p:sp>
        <p:nvSpPr>
          <p:cNvPr id="4" name="Horizontal Scroll 40">
            <a:extLst>
              <a:ext uri="{FF2B5EF4-FFF2-40B4-BE49-F238E27FC236}">
                <a16:creationId xmlns:a16="http://schemas.microsoft.com/office/drawing/2014/main" id="{FA1340CC-2F82-1A22-3FDE-3A99479E3D25}"/>
              </a:ext>
            </a:extLst>
          </p:cNvPr>
          <p:cNvSpPr/>
          <p:nvPr/>
        </p:nvSpPr>
        <p:spPr>
          <a:xfrm>
            <a:off x="4358439" y="3698670"/>
            <a:ext cx="4629150" cy="1486131"/>
          </a:xfrm>
          <a:prstGeom prst="horizontalScroll">
            <a:avLst/>
          </a:prstGeom>
        </p:spPr>
        <p:style>
          <a:lnRef idx="2">
            <a:schemeClr val="dk1"/>
          </a:lnRef>
          <a:fillRef idx="1">
            <a:schemeClr val="lt1"/>
          </a:fillRef>
          <a:effectRef idx="0">
            <a:schemeClr val="dk1"/>
          </a:effectRef>
          <a:fontRef idx="minor">
            <a:schemeClr val="dk1"/>
          </a:fontRef>
        </p:style>
        <p:txBody>
          <a:bodyPr rtlCol="0" anchor="ctr"/>
          <a:lstStyle/>
          <a:p>
            <a:pPr marL="342900" lvl="0" indent="-342900" algn="just">
              <a:buFont typeface="Wingdings" panose="05000000000000000000" pitchFamily="2" charset="2"/>
              <a:buChar char="ü"/>
            </a:pPr>
            <a:r>
              <a:rPr lang="en-US" sz="2400" dirty="0">
                <a:latin typeface="+mj-lt"/>
                <a:cs typeface="Arial" panose="020B0604020202020204" pitchFamily="34" charset="0"/>
              </a:rPr>
              <a:t>which leads to peripheral vasodilation and lower BP</a:t>
            </a:r>
          </a:p>
          <a:p>
            <a:pPr lvl="0" algn="just"/>
            <a:r>
              <a:rPr lang="en-US" sz="2000" dirty="0">
                <a:latin typeface="+mj-lt"/>
                <a:cs typeface="Arial" panose="020B0604020202020204" pitchFamily="34" charset="0"/>
              </a:rPr>
              <a:t> </a:t>
            </a:r>
          </a:p>
        </p:txBody>
      </p:sp>
      <p:pic>
        <p:nvPicPr>
          <p:cNvPr id="6" name="Picture 5">
            <a:extLst>
              <a:ext uri="{FF2B5EF4-FFF2-40B4-BE49-F238E27FC236}">
                <a16:creationId xmlns:a16="http://schemas.microsoft.com/office/drawing/2014/main" id="{3E998FC5-1DE0-D78E-71AF-2D79D09A41A7}"/>
              </a:ext>
            </a:extLst>
          </p:cNvPr>
          <p:cNvPicPr>
            <a:picLocks noChangeAspect="1"/>
          </p:cNvPicPr>
          <p:nvPr/>
        </p:nvPicPr>
        <p:blipFill>
          <a:blip r:embed="rId3"/>
          <a:stretch>
            <a:fillRect/>
          </a:stretch>
        </p:blipFill>
        <p:spPr>
          <a:xfrm>
            <a:off x="6094127" y="2566679"/>
            <a:ext cx="552386" cy="1185302"/>
          </a:xfrm>
          <a:prstGeom prst="rect">
            <a:avLst/>
          </a:prstGeom>
        </p:spPr>
      </p:pic>
      <p:sp>
        <p:nvSpPr>
          <p:cNvPr id="8" name="TextBox 7">
            <a:extLst>
              <a:ext uri="{FF2B5EF4-FFF2-40B4-BE49-F238E27FC236}">
                <a16:creationId xmlns:a16="http://schemas.microsoft.com/office/drawing/2014/main" id="{F60DFF76-5D44-9177-8F3B-34145E1D8ACD}"/>
              </a:ext>
            </a:extLst>
          </p:cNvPr>
          <p:cNvSpPr txBox="1"/>
          <p:nvPr/>
        </p:nvSpPr>
        <p:spPr>
          <a:xfrm>
            <a:off x="1316387" y="5664516"/>
            <a:ext cx="474726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GB" altLang="en-US" dirty="0">
                <a:latin typeface="Times New Roman" panose="02020603050405020304" pitchFamily="18" charset="0"/>
                <a:cs typeface="Times New Roman" panose="02020603050405020304" pitchFamily="18" charset="0"/>
              </a:rPr>
              <a:t>a2 receptors also s</a:t>
            </a:r>
            <a:r>
              <a:rPr lang="en-GB" altLang="en-US" sz="1800" dirty="0">
                <a:latin typeface="Times New Roman" panose="02020603050405020304" pitchFamily="18" charset="0"/>
                <a:cs typeface="Times New Roman" panose="02020603050405020304" pitchFamily="18" charset="0"/>
              </a:rPr>
              <a:t>timulate platelet aggregation</a:t>
            </a:r>
            <a:endParaRPr lang="en-US"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30836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9" grpId="0" animBg="1"/>
      <p:bldP spid="12" grpId="0" animBg="1"/>
      <p:bldP spid="4" grpId="0" animBg="1"/>
      <p:bldP spid="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576" y="18754"/>
            <a:ext cx="8041224" cy="1136246"/>
          </a:xfrm>
        </p:spPr>
        <p:txBody>
          <a:bodyPr>
            <a:normAutofit/>
          </a:bodyPr>
          <a:lstStyle/>
          <a:p>
            <a:r>
              <a:rPr lang="en-US" altLang="en-US" sz="4400" b="1" dirty="0"/>
              <a:t>β</a:t>
            </a:r>
            <a:r>
              <a:rPr lang="en-US" altLang="en-US" sz="4400" b="1" baseline="-25000" dirty="0"/>
              <a:t>1</a:t>
            </a:r>
            <a:r>
              <a:rPr lang="bg-BG" altLang="en-US" sz="4400" b="1" dirty="0"/>
              <a:t>-Receptors</a:t>
            </a:r>
            <a:endParaRPr lang="en-US" sz="4400" dirty="0">
              <a:cs typeface="Arial" panose="020B0604020202020204" pitchFamily="34" charset="0"/>
            </a:endParaRPr>
          </a:p>
        </p:txBody>
      </p:sp>
      <p:sp>
        <p:nvSpPr>
          <p:cNvPr id="3" name="Text Placeholder 2"/>
          <p:cNvSpPr>
            <a:spLocks noGrp="1"/>
          </p:cNvSpPr>
          <p:nvPr>
            <p:ph type="body" idx="2"/>
          </p:nvPr>
        </p:nvSpPr>
        <p:spPr>
          <a:xfrm>
            <a:off x="184507" y="2610174"/>
            <a:ext cx="2129063" cy="2114550"/>
          </a:xfrm>
        </p:spPr>
        <p:style>
          <a:lnRef idx="2">
            <a:schemeClr val="accent1"/>
          </a:lnRef>
          <a:fillRef idx="1">
            <a:schemeClr val="lt1"/>
          </a:fillRef>
          <a:effectRef idx="0">
            <a:schemeClr val="accent1"/>
          </a:effectRef>
          <a:fontRef idx="minor">
            <a:schemeClr val="dk1"/>
          </a:fontRef>
        </p:style>
        <p:txBody>
          <a:bodyPr/>
          <a:lstStyle/>
          <a:p>
            <a:r>
              <a:rPr lang="bg-BG" altLang="en-US" sz="2000" dirty="0">
                <a:latin typeface="+mj-lt"/>
                <a:cs typeface="Times New Roman" panose="02020603050405020304" pitchFamily="18" charset="0"/>
              </a:rPr>
              <a:t>Stimulation of </a:t>
            </a:r>
            <a:r>
              <a:rPr lang="el-GR" altLang="en-US" sz="2000" dirty="0">
                <a:latin typeface="+mj-lt"/>
                <a:cs typeface="Times New Roman" panose="02020603050405020304" pitchFamily="18" charset="0"/>
              </a:rPr>
              <a:t>β1-</a:t>
            </a:r>
            <a:r>
              <a:rPr lang="en-US" altLang="en-US" sz="2000" dirty="0">
                <a:latin typeface="+mj-lt"/>
                <a:cs typeface="Times New Roman" panose="02020603050405020304" pitchFamily="18" charset="0"/>
              </a:rPr>
              <a:t>Receptors </a:t>
            </a:r>
            <a:r>
              <a:rPr lang="bg-BG" altLang="en-US" sz="2000" dirty="0">
                <a:latin typeface="+mj-lt"/>
                <a:cs typeface="Times New Roman" panose="02020603050405020304" pitchFamily="18" charset="0"/>
              </a:rPr>
              <a:t>activates adenylate cyclase, </a:t>
            </a:r>
            <a:endParaRPr lang="en-US" altLang="en-US" sz="2000" dirty="0">
              <a:latin typeface="+mj-lt"/>
              <a:cs typeface="Times New Roman" panose="02020603050405020304" pitchFamily="18" charset="0"/>
            </a:endParaRPr>
          </a:p>
          <a:p>
            <a:endParaRPr lang="en-US" sz="2000" dirty="0">
              <a:latin typeface="+mj-lt"/>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z="2000" smtClean="0">
                <a:latin typeface="+mj-lt"/>
                <a:cs typeface="Arial" panose="020B0604020202020204" pitchFamily="34" charset="0"/>
              </a:rPr>
              <a:pPr/>
              <a:t>60</a:t>
            </a:fld>
            <a:endParaRPr lang="en-US" sz="2000">
              <a:latin typeface="+mj-lt"/>
              <a:cs typeface="Arial" panose="020B0604020202020204" pitchFamily="34" charset="0"/>
            </a:endParaRPr>
          </a:p>
        </p:txBody>
      </p:sp>
      <p:sp>
        <p:nvSpPr>
          <p:cNvPr id="9" name="Right Arrow 8"/>
          <p:cNvSpPr/>
          <p:nvPr/>
        </p:nvSpPr>
        <p:spPr>
          <a:xfrm>
            <a:off x="2438400" y="2660770"/>
            <a:ext cx="761094" cy="3634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mj-lt"/>
                <a:cs typeface="Arial" panose="020B0604020202020204" pitchFamily="34" charset="0"/>
              </a:rPr>
              <a:t> </a:t>
            </a:r>
          </a:p>
        </p:txBody>
      </p:sp>
      <p:sp>
        <p:nvSpPr>
          <p:cNvPr id="12" name="Horizontal Scroll 40">
            <a:extLst>
              <a:ext uri="{FF2B5EF4-FFF2-40B4-BE49-F238E27FC236}">
                <a16:creationId xmlns:a16="http://schemas.microsoft.com/office/drawing/2014/main" id="{6062EB01-9936-E499-FFF6-96DA0EF2C61C}"/>
              </a:ext>
            </a:extLst>
          </p:cNvPr>
          <p:cNvSpPr/>
          <p:nvPr/>
        </p:nvSpPr>
        <p:spPr>
          <a:xfrm>
            <a:off x="3599507" y="2185883"/>
            <a:ext cx="5087293" cy="1136245"/>
          </a:xfrm>
          <a:prstGeom prst="horizontalScroll">
            <a:avLst/>
          </a:prstGeom>
        </p:spPr>
        <p:style>
          <a:lnRef idx="2">
            <a:schemeClr val="dk1"/>
          </a:lnRef>
          <a:fillRef idx="1">
            <a:schemeClr val="lt1"/>
          </a:fillRef>
          <a:effectRef idx="0">
            <a:schemeClr val="dk1"/>
          </a:effectRef>
          <a:fontRef idx="minor">
            <a:schemeClr val="dk1"/>
          </a:fontRef>
        </p:style>
        <p:txBody>
          <a:bodyPr rtlCol="0" anchor="ctr"/>
          <a:lstStyle/>
          <a:p>
            <a:pPr marL="214313" indent="-214313">
              <a:buFont typeface="Wingdings" panose="05000000000000000000" pitchFamily="2" charset="2"/>
              <a:buChar char="ü"/>
            </a:pPr>
            <a:endParaRPr lang="en-US" sz="2000" dirty="0">
              <a:latin typeface="+mj-lt"/>
              <a:cs typeface="Arial" panose="020B0604020202020204" pitchFamily="34" charset="0"/>
            </a:endParaRPr>
          </a:p>
          <a:p>
            <a:r>
              <a:rPr lang="en-US" altLang="en-US" sz="2000" dirty="0">
                <a:latin typeface="+mj-lt"/>
                <a:cs typeface="Times New Roman" panose="02020603050405020304" pitchFamily="18" charset="0"/>
                <a:sym typeface="Symbol" panose="05050102010706020507" pitchFamily="18" charset="2"/>
              </a:rPr>
              <a:t> </a:t>
            </a:r>
            <a:r>
              <a:rPr lang="bg-BG" altLang="en-US" sz="2000" dirty="0">
                <a:latin typeface="+mj-lt"/>
                <a:cs typeface="Times New Roman" panose="02020603050405020304" pitchFamily="18" charset="0"/>
              </a:rPr>
              <a:t>which converts </a:t>
            </a:r>
            <a:r>
              <a:rPr lang="en-US" altLang="en-US" sz="2000" dirty="0">
                <a:latin typeface="+mj-lt"/>
                <a:cs typeface="Times New Roman" panose="02020603050405020304" pitchFamily="18" charset="0"/>
              </a:rPr>
              <a:t>ATP</a:t>
            </a:r>
            <a:r>
              <a:rPr lang="bg-BG" altLang="en-US" sz="2000" dirty="0">
                <a:latin typeface="+mj-lt"/>
                <a:cs typeface="Times New Roman" panose="02020603050405020304" pitchFamily="18" charset="0"/>
              </a:rPr>
              <a:t> to </a:t>
            </a:r>
            <a:r>
              <a:rPr lang="en-US" altLang="en-US" sz="2000" dirty="0">
                <a:latin typeface="+mj-lt"/>
                <a:cs typeface="Times New Roman" panose="02020603050405020304" pitchFamily="18" charset="0"/>
              </a:rPr>
              <a:t>CAMP </a:t>
            </a:r>
            <a:r>
              <a:rPr lang="bg-BG" altLang="en-US" sz="2000" dirty="0">
                <a:latin typeface="+mj-lt"/>
                <a:cs typeface="Times New Roman" panose="02020603050405020304" pitchFamily="18" charset="0"/>
              </a:rPr>
              <a:t>and initiates a kinase phosphorylation cascade. </a:t>
            </a:r>
            <a:endParaRPr lang="en-US" altLang="en-US" sz="2000" dirty="0">
              <a:latin typeface="+mj-lt"/>
              <a:cs typeface="Times New Roman" panose="02020603050405020304" pitchFamily="18" charset="0"/>
            </a:endParaRPr>
          </a:p>
          <a:p>
            <a:pPr lvl="0"/>
            <a:endParaRPr lang="en-US" sz="2000" dirty="0">
              <a:latin typeface="+mj-lt"/>
              <a:cs typeface="Arial" panose="020B0604020202020204" pitchFamily="34" charset="0"/>
            </a:endParaRPr>
          </a:p>
        </p:txBody>
      </p:sp>
      <p:sp>
        <p:nvSpPr>
          <p:cNvPr id="4" name="Horizontal Scroll 40">
            <a:extLst>
              <a:ext uri="{FF2B5EF4-FFF2-40B4-BE49-F238E27FC236}">
                <a16:creationId xmlns:a16="http://schemas.microsoft.com/office/drawing/2014/main" id="{FA1340CC-2F82-1A22-3FDE-3A99479E3D25}"/>
              </a:ext>
            </a:extLst>
          </p:cNvPr>
          <p:cNvSpPr/>
          <p:nvPr/>
        </p:nvSpPr>
        <p:spPr>
          <a:xfrm>
            <a:off x="3199494" y="3295395"/>
            <a:ext cx="5944506" cy="2644932"/>
          </a:xfrm>
          <a:prstGeom prst="horizontalScroll">
            <a:avLst/>
          </a:prstGeom>
        </p:spPr>
        <p:style>
          <a:lnRef idx="2">
            <a:schemeClr val="dk1"/>
          </a:lnRef>
          <a:fillRef idx="1">
            <a:schemeClr val="lt1"/>
          </a:fillRef>
          <a:effectRef idx="0">
            <a:schemeClr val="dk1"/>
          </a:effectRef>
          <a:fontRef idx="minor">
            <a:schemeClr val="dk1"/>
          </a:fontRef>
        </p:style>
        <p:txBody>
          <a:bodyPr rtlCol="0" anchor="ctr"/>
          <a:lstStyle/>
          <a:p>
            <a:pPr lvl="0"/>
            <a:endParaRPr lang="en-US" sz="2000" dirty="0">
              <a:latin typeface="+mj-lt"/>
              <a:cs typeface="Arial" panose="020B0604020202020204" pitchFamily="34" charset="0"/>
            </a:endParaRPr>
          </a:p>
          <a:p>
            <a:pPr marL="342900" lvl="0" indent="-342900">
              <a:buFont typeface="Wingdings" panose="05000000000000000000" pitchFamily="2" charset="2"/>
              <a:buChar char="q"/>
            </a:pPr>
            <a:r>
              <a:rPr lang="en-US" sz="2000" dirty="0">
                <a:latin typeface="+mj-lt"/>
                <a:cs typeface="Arial" panose="020B0604020202020204" pitchFamily="34" charset="0"/>
              </a:rPr>
              <a:t>Initiation of the cascade has</a:t>
            </a:r>
          </a:p>
          <a:p>
            <a:pPr marL="285750" indent="-285750">
              <a:buFont typeface="Wingdings" panose="05000000000000000000" pitchFamily="2" charset="2"/>
              <a:buChar char="ü"/>
            </a:pPr>
            <a:r>
              <a:rPr lang="en-US" sz="2000" dirty="0">
                <a:latin typeface="+mj-lt"/>
                <a:cs typeface="Arial" panose="020B0604020202020204" pitchFamily="34" charset="0"/>
              </a:rPr>
              <a:t> positive chronotropic (increased heart rate), </a:t>
            </a:r>
          </a:p>
          <a:p>
            <a:pPr marL="285750" indent="-285750">
              <a:buFont typeface="Wingdings" panose="05000000000000000000" pitchFamily="2" charset="2"/>
              <a:buChar char="ü"/>
            </a:pPr>
            <a:r>
              <a:rPr lang="en-US" sz="2000" dirty="0">
                <a:latin typeface="+mj-lt"/>
                <a:cs typeface="Arial" panose="020B0604020202020204" pitchFamily="34" charset="0"/>
              </a:rPr>
              <a:t>positive dromotropic (increased conduction), and</a:t>
            </a:r>
          </a:p>
          <a:p>
            <a:pPr marL="285750" indent="-285750">
              <a:buFont typeface="Wingdings" panose="05000000000000000000" pitchFamily="2" charset="2"/>
              <a:buChar char="ü"/>
            </a:pPr>
            <a:r>
              <a:rPr lang="en-US" sz="2000" dirty="0">
                <a:latin typeface="+mj-lt"/>
                <a:cs typeface="Arial" panose="020B0604020202020204" pitchFamily="34" charset="0"/>
              </a:rPr>
              <a:t>positive inotropic (increased contractility) effects</a:t>
            </a:r>
          </a:p>
          <a:p>
            <a:pPr lvl="0"/>
            <a:r>
              <a:rPr lang="en-US" sz="2000" dirty="0">
                <a:latin typeface="+mj-lt"/>
                <a:cs typeface="Arial" panose="020B0604020202020204" pitchFamily="34" charset="0"/>
              </a:rPr>
              <a:t> </a:t>
            </a:r>
          </a:p>
        </p:txBody>
      </p:sp>
      <p:sp>
        <p:nvSpPr>
          <p:cNvPr id="11" name="Down Arrow 11">
            <a:extLst>
              <a:ext uri="{FF2B5EF4-FFF2-40B4-BE49-F238E27FC236}">
                <a16:creationId xmlns:a16="http://schemas.microsoft.com/office/drawing/2014/main" id="{46B0FCB2-4DF5-AF49-6D05-6418F2EF2C68}"/>
              </a:ext>
            </a:extLst>
          </p:cNvPr>
          <p:cNvSpPr/>
          <p:nvPr/>
        </p:nvSpPr>
        <p:spPr>
          <a:xfrm>
            <a:off x="5850043" y="3251822"/>
            <a:ext cx="384610" cy="501579"/>
          </a:xfrm>
          <a:prstGeom prst="downArrow">
            <a:avLst>
              <a:gd name="adj1" fmla="val 64191"/>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mj-lt"/>
              <a:cs typeface="Arial" panose="020B0604020202020204" pitchFamily="34" charset="0"/>
            </a:endParaRPr>
          </a:p>
        </p:txBody>
      </p:sp>
      <p:sp>
        <p:nvSpPr>
          <p:cNvPr id="6" name="Horizontal Scroll 40">
            <a:extLst>
              <a:ext uri="{FF2B5EF4-FFF2-40B4-BE49-F238E27FC236}">
                <a16:creationId xmlns:a16="http://schemas.microsoft.com/office/drawing/2014/main" id="{D657F187-A4F3-43EF-2D6C-F7F40FFB6341}"/>
              </a:ext>
            </a:extLst>
          </p:cNvPr>
          <p:cNvSpPr/>
          <p:nvPr/>
        </p:nvSpPr>
        <p:spPr>
          <a:xfrm>
            <a:off x="3723011" y="1203608"/>
            <a:ext cx="4775413" cy="838360"/>
          </a:xfrm>
          <a:prstGeom prst="horizontalScroll">
            <a:avLst/>
          </a:prstGeom>
        </p:spPr>
        <p:style>
          <a:lnRef idx="2">
            <a:schemeClr val="dk1"/>
          </a:lnRef>
          <a:fillRef idx="1">
            <a:schemeClr val="lt1"/>
          </a:fillRef>
          <a:effectRef idx="0">
            <a:schemeClr val="dk1"/>
          </a:effectRef>
          <a:fontRef idx="minor">
            <a:schemeClr val="dk1"/>
          </a:fontRef>
        </p:style>
        <p:txBody>
          <a:bodyPr rtlCol="0" anchor="ctr"/>
          <a:lstStyle/>
          <a:p>
            <a:pPr marL="214313" indent="-214313">
              <a:buFont typeface="Wingdings" panose="05000000000000000000" pitchFamily="2" charset="2"/>
              <a:buChar char="ü"/>
            </a:pPr>
            <a:endParaRPr lang="en-US" sz="2000" dirty="0">
              <a:latin typeface="+mj-lt"/>
              <a:cs typeface="Arial" panose="020B0604020202020204" pitchFamily="34" charset="0"/>
            </a:endParaRPr>
          </a:p>
          <a:p>
            <a:pPr marL="214313" indent="-214313">
              <a:buFont typeface="Wingdings" panose="05000000000000000000" pitchFamily="2" charset="2"/>
              <a:buChar char="ü"/>
            </a:pPr>
            <a:r>
              <a:rPr lang="en-US" sz="2000" dirty="0">
                <a:latin typeface="+mj-lt"/>
                <a:cs typeface="Arial" panose="020B0604020202020204" pitchFamily="34" charset="0"/>
              </a:rPr>
              <a:t>Located on postsynaptic membranes in the heart. </a:t>
            </a:r>
          </a:p>
          <a:p>
            <a:pPr lvl="0"/>
            <a:endParaRPr lang="en-US" sz="2000" dirty="0">
              <a:latin typeface="+mj-lt"/>
              <a:cs typeface="Arial" panose="020B0604020202020204" pitchFamily="34" charset="0"/>
            </a:endParaRPr>
          </a:p>
        </p:txBody>
      </p:sp>
      <p:sp>
        <p:nvSpPr>
          <p:cNvPr id="7" name="Horizontal Scroll 40">
            <a:extLst>
              <a:ext uri="{FF2B5EF4-FFF2-40B4-BE49-F238E27FC236}">
                <a16:creationId xmlns:a16="http://schemas.microsoft.com/office/drawing/2014/main" id="{76CF4983-B761-12DF-3E34-EC868F22EBCB}"/>
              </a:ext>
            </a:extLst>
          </p:cNvPr>
          <p:cNvSpPr/>
          <p:nvPr/>
        </p:nvSpPr>
        <p:spPr>
          <a:xfrm>
            <a:off x="184507" y="4937326"/>
            <a:ext cx="2558694" cy="1136246"/>
          </a:xfrm>
          <a:prstGeom prst="horizontalScroll">
            <a:avLst/>
          </a:prstGeom>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Arial" panose="020B0604020202020204" pitchFamily="34" charset="0"/>
              <a:buChar char="•"/>
            </a:pPr>
            <a:endParaRPr lang="en-GB" altLang="en-US" sz="2000" dirty="0">
              <a:latin typeface="+mj-lt"/>
              <a:cs typeface="Times New Roman" panose="02020603050405020304" pitchFamily="18" charset="0"/>
            </a:endParaRPr>
          </a:p>
          <a:p>
            <a:pPr marL="342900" indent="-342900">
              <a:buFont typeface="Arial" panose="020B0604020202020204" pitchFamily="34" charset="0"/>
              <a:buChar char="•"/>
            </a:pPr>
            <a:r>
              <a:rPr lang="en-GB" altLang="en-US" sz="2000" dirty="0">
                <a:latin typeface="+mj-lt"/>
                <a:cs typeface="Times New Roman" panose="02020603050405020304" pitchFamily="18" charset="0"/>
              </a:rPr>
              <a:t>Gut smooth muscle relaxation</a:t>
            </a:r>
          </a:p>
          <a:p>
            <a:pPr marL="342900" indent="-342900">
              <a:buFont typeface="Arial" panose="020B0604020202020204" pitchFamily="34" charset="0"/>
              <a:buChar char="•"/>
            </a:pPr>
            <a:r>
              <a:rPr lang="en-GB" altLang="en-US" sz="2000" dirty="0">
                <a:latin typeface="+mj-lt"/>
                <a:cs typeface="Times New Roman" panose="02020603050405020304" pitchFamily="18" charset="0"/>
              </a:rPr>
              <a:t>Lipolysis</a:t>
            </a:r>
            <a:endParaRPr lang="en-US" sz="2000" dirty="0">
              <a:latin typeface="+mj-lt"/>
              <a:cs typeface="Arial" panose="020B0604020202020204" pitchFamily="34" charset="0"/>
            </a:endParaRPr>
          </a:p>
          <a:p>
            <a:pPr lvl="0"/>
            <a:endParaRPr lang="en-US" sz="2000" dirty="0">
              <a:latin typeface="+mj-lt"/>
              <a:cs typeface="Arial" panose="020B0604020202020204" pitchFamily="34" charset="0"/>
            </a:endParaRPr>
          </a:p>
        </p:txBody>
      </p:sp>
    </p:spTree>
    <p:extLst>
      <p:ext uri="{BB962C8B-B14F-4D97-AF65-F5344CB8AC3E}">
        <p14:creationId xmlns:p14="http://schemas.microsoft.com/office/powerpoint/2010/main" val="41161812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bg/>
                                          </p:spTgt>
                                        </p:tgtEl>
                                        <p:attrNameLst>
                                          <p:attrName>style.visibility</p:attrName>
                                        </p:attrNameLst>
                                      </p:cBhvr>
                                      <p:to>
                                        <p:strVal val="visible"/>
                                      </p:to>
                                    </p:set>
                                    <p:anim calcmode="lin" valueType="num">
                                      <p:cBhvr additive="base">
                                        <p:cTn id="11" dur="500" fill="hold"/>
                                        <p:tgtEl>
                                          <p:spTgt spid="3">
                                            <p:bg/>
                                          </p:spTgt>
                                        </p:tgtEl>
                                        <p:attrNameLst>
                                          <p:attrName>ppt_x</p:attrName>
                                        </p:attrNameLst>
                                      </p:cBhvr>
                                      <p:tavLst>
                                        <p:tav tm="0">
                                          <p:val>
                                            <p:strVal val="#ppt_x"/>
                                          </p:val>
                                        </p:tav>
                                        <p:tav tm="100000">
                                          <p:val>
                                            <p:strVal val="#ppt_x"/>
                                          </p:val>
                                        </p:tav>
                                      </p:tavLst>
                                    </p:anim>
                                    <p:anim calcmode="lin" valueType="num">
                                      <p:cBhvr additive="base">
                                        <p:cTn id="12"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 calcmode="lin" valueType="num">
                                      <p:cBhvr additive="base">
                                        <p:cTn id="1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9" grpId="0" animBg="1"/>
      <p:bldP spid="12" grpId="0" animBg="1"/>
      <p:bldP spid="4" grpId="0" animBg="1"/>
      <p:bldP spid="11" grpId="0" animBg="1"/>
      <p:bldP spid="6" grpId="0" animBg="1"/>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97862A7-F7DC-E217-6E9F-5DBBE2E7A3E8}"/>
              </a:ext>
            </a:extLst>
          </p:cNvPr>
          <p:cNvSpPr>
            <a:spLocks noGrp="1"/>
          </p:cNvSpPr>
          <p:nvPr>
            <p:ph type="title"/>
          </p:nvPr>
        </p:nvSpPr>
        <p:spPr/>
        <p:txBody>
          <a:bodyPr>
            <a:normAutofit fontScale="90000"/>
          </a:bodyPr>
          <a:lstStyle/>
          <a:p>
            <a:r>
              <a:rPr lang="en-US" altLang="en-US" dirty="0">
                <a:latin typeface="+mn-lt"/>
              </a:rPr>
              <a:t>β</a:t>
            </a:r>
            <a:r>
              <a:rPr lang="en-US" altLang="en-US" baseline="-25000" dirty="0">
                <a:latin typeface="+mn-lt"/>
              </a:rPr>
              <a:t>2</a:t>
            </a:r>
            <a:r>
              <a:rPr lang="bg-BG" altLang="en-US" dirty="0">
                <a:latin typeface="+mn-lt"/>
              </a:rPr>
              <a:t>-</a:t>
            </a:r>
            <a:r>
              <a:rPr lang="en-US" altLang="en-US" dirty="0">
                <a:latin typeface="+mn-lt"/>
              </a:rPr>
              <a:t>adereno</a:t>
            </a:r>
            <a:r>
              <a:rPr lang="bg-BG" altLang="en-US" dirty="0">
                <a:latin typeface="+mn-lt"/>
              </a:rPr>
              <a:t>ceptors</a:t>
            </a:r>
            <a:br>
              <a:rPr lang="bg-BG" altLang="en-US" dirty="0">
                <a:latin typeface="+mn-lt"/>
              </a:rPr>
            </a:br>
            <a:endParaRPr lang="en-US" altLang="en-US" dirty="0">
              <a:latin typeface="+mn-lt"/>
            </a:endParaRPr>
          </a:p>
        </p:txBody>
      </p:sp>
      <p:sp>
        <p:nvSpPr>
          <p:cNvPr id="17411" name="Content Placeholder 2">
            <a:extLst>
              <a:ext uri="{FF2B5EF4-FFF2-40B4-BE49-F238E27FC236}">
                <a16:creationId xmlns:a16="http://schemas.microsoft.com/office/drawing/2014/main" id="{E9C3A86E-80D7-9FF1-AF73-F75D691C8C1F}"/>
              </a:ext>
            </a:extLst>
          </p:cNvPr>
          <p:cNvSpPr>
            <a:spLocks noGrp="1"/>
          </p:cNvSpPr>
          <p:nvPr>
            <p:ph idx="1"/>
          </p:nvPr>
        </p:nvSpPr>
        <p:spPr>
          <a:xfrm>
            <a:off x="457200" y="1371600"/>
            <a:ext cx="8534400" cy="4754563"/>
          </a:xfrm>
        </p:spPr>
        <p:txBody>
          <a:bodyPr>
            <a:normAutofit lnSpcReduction="10000"/>
          </a:bodyPr>
          <a:lstStyle/>
          <a:p>
            <a:r>
              <a:rPr lang="en-US" altLang="en-US" sz="2400" dirty="0">
                <a:cs typeface="Times New Roman" panose="02020603050405020304" pitchFamily="18" charset="0"/>
              </a:rPr>
              <a:t>P</a:t>
            </a:r>
            <a:r>
              <a:rPr lang="bg-BG" altLang="en-US" sz="2400" dirty="0">
                <a:cs typeface="Times New Roman" panose="02020603050405020304" pitchFamily="18" charset="0"/>
              </a:rPr>
              <a:t>rimarily postsynaptic adrenoceptors</a:t>
            </a:r>
            <a:endParaRPr lang="en-US" altLang="en-US" sz="2400" dirty="0">
              <a:cs typeface="Times New Roman" panose="02020603050405020304" pitchFamily="18" charset="0"/>
            </a:endParaRPr>
          </a:p>
          <a:p>
            <a:pPr lvl="1"/>
            <a:r>
              <a:rPr lang="bg-BG" altLang="en-US" sz="2400" dirty="0">
                <a:cs typeface="Times New Roman" panose="02020603050405020304" pitchFamily="18" charset="0"/>
              </a:rPr>
              <a:t> located in smooth muscle and gland cells. </a:t>
            </a:r>
            <a:endParaRPr lang="en-US" altLang="en-US" sz="2400" dirty="0">
              <a:cs typeface="Times New Roman" panose="02020603050405020304" pitchFamily="18" charset="0"/>
            </a:endParaRPr>
          </a:p>
          <a:p>
            <a:r>
              <a:rPr lang="bg-BG" altLang="en-US" sz="2400" dirty="0">
                <a:cs typeface="Times New Roman" panose="02020603050405020304" pitchFamily="18" charset="0"/>
              </a:rPr>
              <a:t>They share a common mechanism of action with </a:t>
            </a:r>
            <a:r>
              <a:rPr lang="en-US" altLang="en-US" sz="2400" dirty="0"/>
              <a:t>β</a:t>
            </a:r>
            <a:r>
              <a:rPr lang="bg-BG" altLang="en-US" sz="2400" baseline="-25000" dirty="0">
                <a:cs typeface="Times New Roman" panose="02020603050405020304" pitchFamily="18" charset="0"/>
              </a:rPr>
              <a:t>1</a:t>
            </a:r>
            <a:r>
              <a:rPr lang="bg-BG" altLang="en-US" sz="2400" dirty="0">
                <a:cs typeface="Times New Roman" panose="02020603050405020304" pitchFamily="18" charset="0"/>
              </a:rPr>
              <a:t>-receptors</a:t>
            </a:r>
            <a:endParaRPr lang="en-US" sz="2400" i="0" u="none" strike="noStrike" baseline="0" dirty="0"/>
          </a:p>
          <a:p>
            <a:pPr lvl="1"/>
            <a:r>
              <a:rPr lang="en-US" sz="2400" i="0" u="none" strike="noStrike" baseline="0" dirty="0"/>
              <a:t>adenylate cyclase activation.</a:t>
            </a:r>
            <a:endParaRPr lang="en-US" altLang="en-US" sz="2400" dirty="0">
              <a:cs typeface="Times New Roman" panose="02020603050405020304" pitchFamily="18" charset="0"/>
            </a:endParaRPr>
          </a:p>
          <a:p>
            <a:r>
              <a:rPr lang="en-US" altLang="en-US" sz="2000" dirty="0"/>
              <a:t>Despite this commonality, β</a:t>
            </a:r>
            <a:r>
              <a:rPr lang="en-US" altLang="en-US" sz="2000" baseline="-25000" dirty="0"/>
              <a:t>2  </a:t>
            </a:r>
            <a:r>
              <a:rPr lang="bg-BG" altLang="en-US" sz="2000" dirty="0">
                <a:cs typeface="Times New Roman" panose="02020603050405020304" pitchFamily="18" charset="0"/>
              </a:rPr>
              <a:t>stimulation relaxes smooth muscle, resulting in </a:t>
            </a:r>
            <a:endParaRPr lang="en-US" altLang="en-US" sz="2000" dirty="0">
              <a:cs typeface="Times New Roman" panose="02020603050405020304" pitchFamily="18" charset="0"/>
            </a:endParaRPr>
          </a:p>
          <a:p>
            <a:pPr lvl="1"/>
            <a:r>
              <a:rPr lang="bg-BG" altLang="en-US" sz="2200" dirty="0">
                <a:cs typeface="Times New Roman" panose="02020603050405020304" pitchFamily="18" charset="0"/>
              </a:rPr>
              <a:t>bronchodilation, vasodilation, and relaxation of the uterus (tocolysis), bladder, and gut. </a:t>
            </a:r>
            <a:endParaRPr lang="en-US" altLang="en-US" sz="2200" dirty="0">
              <a:cs typeface="Times New Roman" panose="02020603050405020304" pitchFamily="18" charset="0"/>
            </a:endParaRPr>
          </a:p>
          <a:p>
            <a:pPr lvl="1"/>
            <a:r>
              <a:rPr lang="bg-BG" altLang="en-US" sz="2200" dirty="0">
                <a:cs typeface="Times New Roman" panose="02020603050405020304" pitchFamily="18" charset="0"/>
              </a:rPr>
              <a:t>Glycogenolysis, lipolysis, gluconeogenesis, and</a:t>
            </a:r>
            <a:endParaRPr lang="en-US" altLang="en-US" sz="2200" dirty="0">
              <a:cs typeface="Times New Roman" panose="02020603050405020304" pitchFamily="18" charset="0"/>
            </a:endParaRPr>
          </a:p>
          <a:p>
            <a:pPr lvl="1"/>
            <a:r>
              <a:rPr lang="bg-BG" altLang="en-US" sz="2200" dirty="0">
                <a:cs typeface="Times New Roman" panose="02020603050405020304" pitchFamily="18" charset="0"/>
              </a:rPr>
              <a:t> </a:t>
            </a:r>
            <a:r>
              <a:rPr lang="en-US" altLang="en-US" sz="2200" dirty="0">
                <a:cs typeface="Times New Roman" panose="02020603050405020304" pitchFamily="18" charset="0"/>
              </a:rPr>
              <a:t>increase </a:t>
            </a:r>
            <a:r>
              <a:rPr lang="bg-BG" altLang="en-US" sz="2200" dirty="0">
                <a:cs typeface="Times New Roman" panose="02020603050405020304" pitchFamily="18" charset="0"/>
              </a:rPr>
              <a:t>insulin release </a:t>
            </a:r>
            <a:r>
              <a:rPr lang="en-US" altLang="en-US" sz="2200" dirty="0">
                <a:cs typeface="Times New Roman" panose="02020603050405020304" pitchFamily="18" charset="0"/>
              </a:rPr>
              <a:t> </a:t>
            </a:r>
            <a:r>
              <a:rPr lang="en-US" altLang="en-US" sz="2200" baseline="-25000" dirty="0">
                <a:cs typeface="Times New Roman" panose="02020603050405020304" pitchFamily="18" charset="0"/>
              </a:rPr>
              <a:t> </a:t>
            </a:r>
          </a:p>
          <a:p>
            <a:r>
              <a:rPr lang="en-US" altLang="en-US" sz="2400" dirty="0">
                <a:cs typeface="Times New Roman" panose="02020603050405020304" pitchFamily="18" charset="0"/>
              </a:rPr>
              <a:t>A</a:t>
            </a:r>
            <a:r>
              <a:rPr lang="bg-BG" altLang="en-US" sz="2400" dirty="0">
                <a:cs typeface="Times New Roman" panose="02020603050405020304" pitchFamily="18" charset="0"/>
              </a:rPr>
              <a:t>ctivate the sodium–potassium pump, </a:t>
            </a:r>
            <a:endParaRPr lang="en-US" altLang="en-US" sz="2400" dirty="0">
              <a:cs typeface="Times New Roman" panose="02020603050405020304" pitchFamily="18" charset="0"/>
            </a:endParaRPr>
          </a:p>
          <a:p>
            <a:pPr lvl="1"/>
            <a:r>
              <a:rPr lang="bg-BG" altLang="en-US" sz="2400" dirty="0">
                <a:cs typeface="Times New Roman" panose="02020603050405020304" pitchFamily="18" charset="0"/>
              </a:rPr>
              <a:t>which drives potassium intracellularly and can induce </a:t>
            </a:r>
            <a:r>
              <a:rPr lang="bg-BG" altLang="en-US" sz="2400" dirty="0">
                <a:solidFill>
                  <a:srgbClr val="FF0000"/>
                </a:solidFill>
                <a:cs typeface="Times New Roman" panose="02020603050405020304" pitchFamily="18" charset="0"/>
              </a:rPr>
              <a:t>hypokalemia</a:t>
            </a:r>
            <a:r>
              <a:rPr lang="bg-BG" altLang="en-US" sz="2400" dirty="0">
                <a:cs typeface="Times New Roman" panose="02020603050405020304" pitchFamily="18" charset="0"/>
              </a:rPr>
              <a:t> and dysrhythmias.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5AA04F51-6E4F-0597-0ACC-7E67C5788E89}"/>
              </a:ext>
            </a:extLst>
          </p:cNvPr>
          <p:cNvSpPr>
            <a:spLocks noGrp="1"/>
          </p:cNvSpPr>
          <p:nvPr>
            <p:ph type="title"/>
          </p:nvPr>
        </p:nvSpPr>
        <p:spPr/>
        <p:txBody>
          <a:bodyPr>
            <a:normAutofit fontScale="90000"/>
          </a:bodyPr>
          <a:lstStyle/>
          <a:p>
            <a:r>
              <a:rPr lang="en-US" altLang="en-US">
                <a:cs typeface="Times New Roman" panose="02020603050405020304" pitchFamily="18" charset="0"/>
              </a:rPr>
              <a:t>β</a:t>
            </a:r>
            <a:r>
              <a:rPr lang="bg-BG" altLang="en-US" baseline="-25000">
                <a:cs typeface="Times New Roman" panose="02020603050405020304" pitchFamily="18" charset="0"/>
              </a:rPr>
              <a:t>3</a:t>
            </a:r>
            <a:r>
              <a:rPr lang="bg-BG" altLang="en-US">
                <a:cs typeface="Times New Roman" panose="02020603050405020304" pitchFamily="18" charset="0"/>
              </a:rPr>
              <a:t>-Receptors</a:t>
            </a:r>
            <a:br>
              <a:rPr lang="bg-BG" altLang="en-US">
                <a:cs typeface="Times New Roman" panose="02020603050405020304" pitchFamily="18" charset="0"/>
              </a:rPr>
            </a:br>
            <a:endParaRPr lang="en-US" altLang="en-US"/>
          </a:p>
        </p:txBody>
      </p:sp>
      <p:sp>
        <p:nvSpPr>
          <p:cNvPr id="18435" name="Content Placeholder 2">
            <a:extLst>
              <a:ext uri="{FF2B5EF4-FFF2-40B4-BE49-F238E27FC236}">
                <a16:creationId xmlns:a16="http://schemas.microsoft.com/office/drawing/2014/main" id="{00EFDBF9-4CBB-A908-FC28-D0374B2DD598}"/>
              </a:ext>
            </a:extLst>
          </p:cNvPr>
          <p:cNvSpPr>
            <a:spLocks noGrp="1"/>
          </p:cNvSpPr>
          <p:nvPr>
            <p:ph idx="1"/>
          </p:nvPr>
        </p:nvSpPr>
        <p:spPr/>
        <p:txBody>
          <a:bodyPr/>
          <a:lstStyle/>
          <a:p>
            <a:endParaRPr lang="en-US" altLang="en-US" sz="2800" dirty="0">
              <a:latin typeface="+mj-lt"/>
              <a:cs typeface="Times New Roman" panose="02020603050405020304" pitchFamily="18" charset="0"/>
            </a:endParaRPr>
          </a:p>
          <a:p>
            <a:r>
              <a:rPr lang="en-US" altLang="en-US" sz="2800" dirty="0">
                <a:latin typeface="+mj-lt"/>
                <a:cs typeface="Times New Roman" panose="02020603050405020304" pitchFamily="18" charset="0"/>
              </a:rPr>
              <a:t>F</a:t>
            </a:r>
            <a:r>
              <a:rPr lang="bg-BG" altLang="en-US" sz="2800" dirty="0">
                <a:latin typeface="+mj-lt"/>
                <a:cs typeface="Times New Roman" panose="02020603050405020304" pitchFamily="18" charset="0"/>
              </a:rPr>
              <a:t>ound in the gallbladder and in brain adipose tissue. </a:t>
            </a:r>
            <a:endParaRPr lang="en-US" altLang="en-US" sz="2800" dirty="0">
              <a:latin typeface="+mj-lt"/>
              <a:cs typeface="Times New Roman" panose="02020603050405020304" pitchFamily="18" charset="0"/>
            </a:endParaRPr>
          </a:p>
          <a:p>
            <a:endParaRPr lang="en-US" altLang="en-US" sz="2800" dirty="0">
              <a:latin typeface="+mj-lt"/>
              <a:cs typeface="Times New Roman" panose="02020603050405020304" pitchFamily="18" charset="0"/>
            </a:endParaRPr>
          </a:p>
          <a:p>
            <a:r>
              <a:rPr lang="bg-BG" altLang="en-US" sz="2800" dirty="0">
                <a:latin typeface="+mj-lt"/>
                <a:cs typeface="Times New Roman" panose="02020603050405020304" pitchFamily="18" charset="0"/>
              </a:rPr>
              <a:t>Their role in gallbladder physiology is unknown, </a:t>
            </a:r>
            <a:endParaRPr lang="en-US" altLang="en-US" sz="2800" dirty="0">
              <a:latin typeface="+mj-lt"/>
              <a:cs typeface="Times New Roman" panose="02020603050405020304" pitchFamily="18" charset="0"/>
            </a:endParaRPr>
          </a:p>
          <a:p>
            <a:pPr lvl="1"/>
            <a:r>
              <a:rPr lang="bg-BG" altLang="en-US" sz="2400" dirty="0">
                <a:latin typeface="+mj-lt"/>
                <a:cs typeface="Times New Roman" panose="02020603050405020304" pitchFamily="18" charset="0"/>
              </a:rPr>
              <a:t>but they are thought to play a role in lipolysis and thermogenesis in brown fat.</a:t>
            </a:r>
          </a:p>
          <a:p>
            <a:endParaRPr lang="en-US" altLang="en-US" sz="2800" dirty="0">
              <a:latin typeface="+mj-lt"/>
              <a:cs typeface="Times New Roman" panose="02020603050405020304" pitchFamily="18" charset="0"/>
            </a:endParaRPr>
          </a:p>
          <a:p>
            <a:endParaRPr lang="en-US" altLang="en-US" sz="2800" dirty="0">
              <a:latin typeface="+mj-l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Content Placeholder 20">
            <a:extLst>
              <a:ext uri="{FF2B5EF4-FFF2-40B4-BE49-F238E27FC236}">
                <a16:creationId xmlns:a16="http://schemas.microsoft.com/office/drawing/2014/main" id="{F70F7510-F105-8A6B-E694-19E41F6AB156}"/>
              </a:ext>
            </a:extLst>
          </p:cNvPr>
          <p:cNvPicPr>
            <a:picLocks noGrp="1" noChangeAspect="1"/>
          </p:cNvPicPr>
          <p:nvPr>
            <p:ph idx="1"/>
          </p:nvPr>
        </p:nvPicPr>
        <p:blipFill>
          <a:blip r:embed="rId2"/>
          <a:stretch>
            <a:fillRect/>
          </a:stretch>
        </p:blipFill>
        <p:spPr>
          <a:xfrm>
            <a:off x="342899" y="533400"/>
            <a:ext cx="8458201" cy="5181600"/>
          </a:xfrm>
        </p:spPr>
      </p:pic>
      <p:sp>
        <p:nvSpPr>
          <p:cNvPr id="23" name="TextBox 22">
            <a:extLst>
              <a:ext uri="{FF2B5EF4-FFF2-40B4-BE49-F238E27FC236}">
                <a16:creationId xmlns:a16="http://schemas.microsoft.com/office/drawing/2014/main" id="{D59FB2C6-A8AA-9966-94E4-041A0A6578E2}"/>
              </a:ext>
            </a:extLst>
          </p:cNvPr>
          <p:cNvSpPr txBox="1"/>
          <p:nvPr/>
        </p:nvSpPr>
        <p:spPr>
          <a:xfrm>
            <a:off x="914400" y="6095999"/>
            <a:ext cx="8001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Figure. The SNS organ innervation, receptor type, and response to stimulation.</a:t>
            </a:r>
          </a:p>
        </p:txBody>
      </p:sp>
    </p:spTree>
    <p:extLst>
      <p:ext uri="{BB962C8B-B14F-4D97-AF65-F5344CB8AC3E}">
        <p14:creationId xmlns:p14="http://schemas.microsoft.com/office/powerpoint/2010/main" val="10630384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F1046-F99D-1B41-F65D-5C1D881A18E6}"/>
              </a:ext>
            </a:extLst>
          </p:cNvPr>
          <p:cNvSpPr>
            <a:spLocks noGrp="1"/>
          </p:cNvSpPr>
          <p:nvPr>
            <p:ph type="title"/>
          </p:nvPr>
        </p:nvSpPr>
        <p:spPr/>
        <p:txBody>
          <a:bodyPr>
            <a:normAutofit fontScale="90000"/>
          </a:bodyPr>
          <a:lstStyle/>
          <a:p>
            <a:r>
              <a:rPr lang="en-US" dirty="0"/>
              <a:t>Dopaminergic Receptors</a:t>
            </a:r>
            <a:br>
              <a:rPr lang="en-US" dirty="0"/>
            </a:br>
            <a:endParaRPr lang="en-US" dirty="0"/>
          </a:p>
        </p:txBody>
      </p:sp>
      <p:sp>
        <p:nvSpPr>
          <p:cNvPr id="3" name="Content Placeholder 2">
            <a:extLst>
              <a:ext uri="{FF2B5EF4-FFF2-40B4-BE49-F238E27FC236}">
                <a16:creationId xmlns:a16="http://schemas.microsoft.com/office/drawing/2014/main" id="{2F80AE0A-3530-5208-4FBD-941A1BE9013A}"/>
              </a:ext>
            </a:extLst>
          </p:cNvPr>
          <p:cNvSpPr>
            <a:spLocks noGrp="1"/>
          </p:cNvSpPr>
          <p:nvPr>
            <p:ph idx="1"/>
          </p:nvPr>
        </p:nvSpPr>
        <p:spPr/>
        <p:txBody>
          <a:bodyPr>
            <a:normAutofit/>
          </a:bodyPr>
          <a:lstStyle/>
          <a:p>
            <a:r>
              <a:rPr lang="en-US" sz="2400" dirty="0"/>
              <a:t>Dopamine (DA) receptors are a group of adrenergic receptors that are activated by dopamine.</a:t>
            </a:r>
          </a:p>
          <a:p>
            <a:r>
              <a:rPr lang="en-US" sz="2400" dirty="0"/>
              <a:t>These receptors are classified as D1 and D2 receptors. </a:t>
            </a:r>
          </a:p>
          <a:p>
            <a:r>
              <a:rPr lang="en-US" sz="2400" dirty="0"/>
              <a:t>Activation of D1 receptors mediates vasodilation in the kidney, intestine, and heart. </a:t>
            </a:r>
          </a:p>
          <a:p>
            <a:r>
              <a:rPr lang="en-US" sz="2400" dirty="0"/>
              <a:t>D2 receptors are believed to play a role in the antiemetic action of </a:t>
            </a:r>
            <a:r>
              <a:rPr lang="en-US" sz="2400" dirty="0" err="1"/>
              <a:t>droperidol</a:t>
            </a:r>
            <a:r>
              <a:rPr lang="en-US" sz="2400" dirty="0"/>
              <a:t>.</a:t>
            </a:r>
          </a:p>
        </p:txBody>
      </p:sp>
    </p:spTree>
    <p:extLst>
      <p:ext uri="{BB962C8B-B14F-4D97-AF65-F5344CB8AC3E}">
        <p14:creationId xmlns:p14="http://schemas.microsoft.com/office/powerpoint/2010/main" val="38705179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BABF-6B4B-9872-37DD-A0CE41D6BD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C49C28-E3B5-9661-B4A6-B10009E93EAD}"/>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BF33965F-B20B-22E4-BDF2-0FED05E40F99}"/>
              </a:ext>
            </a:extLst>
          </p:cNvPr>
          <p:cNvSpPr/>
          <p:nvPr/>
        </p:nvSpPr>
        <p:spPr>
          <a:xfrm>
            <a:off x="2988586" y="2967335"/>
            <a:ext cx="3166829" cy="923330"/>
          </a:xfrm>
          <a:prstGeom prst="rect">
            <a:avLst/>
          </a:prstGeom>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Tree>
    <p:extLst>
      <p:ext uri="{BB962C8B-B14F-4D97-AF65-F5344CB8AC3E}">
        <p14:creationId xmlns:p14="http://schemas.microsoft.com/office/powerpoint/2010/main" val="24249990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599</TotalTime>
  <Words>3095</Words>
  <Application>Microsoft Office PowerPoint</Application>
  <PresentationFormat>On-screen Show (4:3)</PresentationFormat>
  <Paragraphs>420</Paragraphs>
  <Slides>65</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65</vt:i4>
      </vt:variant>
    </vt:vector>
  </HeadingPairs>
  <TitlesOfParts>
    <vt:vector size="75" baseType="lpstr">
      <vt:lpstr>Agency FB</vt:lpstr>
      <vt:lpstr>Arial</vt:lpstr>
      <vt:lpstr>Calibri</vt:lpstr>
      <vt:lpstr>MinionPro-Regular</vt:lpstr>
      <vt:lpstr>Symbol</vt:lpstr>
      <vt:lpstr>Times New Roman</vt:lpstr>
      <vt:lpstr>Verdana</vt:lpstr>
      <vt:lpstr>Wingdings</vt:lpstr>
      <vt:lpstr>Wingdings 2</vt:lpstr>
      <vt:lpstr>Office Theme</vt:lpstr>
      <vt:lpstr>Peripheral autonomic nervous system and pharmacology</vt:lpstr>
      <vt:lpstr>PowerPoint Presentation</vt:lpstr>
      <vt:lpstr>Introduction</vt:lpstr>
      <vt:lpstr>Cont.….</vt:lpstr>
      <vt:lpstr>Cont.….</vt:lpstr>
      <vt:lpstr>PowerPoint Presentation</vt:lpstr>
      <vt:lpstr>Cont.….</vt:lpstr>
      <vt:lpstr>PowerPoint Presentation</vt:lpstr>
      <vt:lpstr>Comparison of Somatic and Autonomic Nervous Systems</vt:lpstr>
      <vt:lpstr>Cont.….</vt:lpstr>
      <vt:lpstr>Cont.….</vt:lpstr>
      <vt:lpstr>PowerPoint Presentation</vt:lpstr>
      <vt:lpstr>ANATOMY OF THE AUTONOMIC NERVOUS SYSTEM </vt:lpstr>
      <vt:lpstr>Cont.….</vt:lpstr>
      <vt:lpstr>The SNS (fight-or-flight system) </vt:lpstr>
      <vt:lpstr> Cont.….</vt:lpstr>
      <vt:lpstr>Anatomy of thoraco-lumbar division</vt:lpstr>
      <vt:lpstr>Physiology of SNS</vt:lpstr>
      <vt:lpstr>The PNS (resting-digesting system)</vt:lpstr>
      <vt:lpstr>Anatomy of cranio-sacral division</vt:lpstr>
      <vt:lpstr>PowerPoint Presentation</vt:lpstr>
      <vt:lpstr>Physiology of PS division</vt:lpstr>
      <vt:lpstr>PowerPoint Presentation</vt:lpstr>
      <vt:lpstr>NEUROTRANSMITTER CHEMISTRY OF THE AUTONOMIC NERVOUS SYSTEM </vt:lpstr>
      <vt:lpstr>Cont.…</vt:lpstr>
      <vt:lpstr>PowerPoint Presentation</vt:lpstr>
      <vt:lpstr>Cont.…</vt:lpstr>
      <vt:lpstr>  Cholinergic Transmission  </vt:lpstr>
      <vt:lpstr>Cont.….</vt:lpstr>
      <vt:lpstr>PowerPoint Presentation</vt:lpstr>
      <vt:lpstr>Cont..</vt:lpstr>
      <vt:lpstr>Cont..</vt:lpstr>
      <vt:lpstr>Cont..</vt:lpstr>
      <vt:lpstr>Cont..</vt:lpstr>
      <vt:lpstr>PowerPoint Presentation</vt:lpstr>
      <vt:lpstr>PowerPoint Presentation</vt:lpstr>
      <vt:lpstr>PowerPoint Presentation</vt:lpstr>
      <vt:lpstr>Adrenergic Transmission</vt:lpstr>
      <vt:lpstr>Cont.…</vt:lpstr>
      <vt:lpstr>Cont.…</vt:lpstr>
      <vt:lpstr>PowerPoint Presentation</vt:lpstr>
      <vt:lpstr>Cont.…</vt:lpstr>
      <vt:lpstr>Cont.…</vt:lpstr>
      <vt:lpstr>Cont.…</vt:lpstr>
      <vt:lpstr>Cont.…</vt:lpstr>
      <vt:lpstr>Autonomic Receptors</vt:lpstr>
      <vt:lpstr> 1. Acetylcholine (Cholinergic) receptors </vt:lpstr>
      <vt:lpstr>Nicotinic receptors</vt:lpstr>
      <vt:lpstr>Muscarinic receptors (M1, M2, M3)</vt:lpstr>
      <vt:lpstr>PowerPoint Presentation</vt:lpstr>
      <vt:lpstr>Cont..</vt:lpstr>
      <vt:lpstr>Cont..</vt:lpstr>
      <vt:lpstr> 2. Adrenoreceptors (Adrenergic receptors) </vt:lpstr>
      <vt:lpstr>Cont.…</vt:lpstr>
      <vt:lpstr>Cont..</vt:lpstr>
      <vt:lpstr>α1 -aderenoceptors </vt:lpstr>
      <vt:lpstr>α1 –Receptors… </vt:lpstr>
      <vt:lpstr>a2-receptors     </vt:lpstr>
      <vt:lpstr>  a2-receptors     </vt:lpstr>
      <vt:lpstr>β1-Receptors</vt:lpstr>
      <vt:lpstr>β2-aderenoceptors </vt:lpstr>
      <vt:lpstr>β3-Receptors </vt:lpstr>
      <vt:lpstr>PowerPoint Presentation</vt:lpstr>
      <vt:lpstr>Dopaminergic Receptors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Peripheral autonomic nervous system and pharmacology</dc:title>
  <dc:creator>DELL</dc:creator>
  <cp:lastModifiedBy>Mulualem Sitot</cp:lastModifiedBy>
  <cp:revision>134</cp:revision>
  <dcterms:created xsi:type="dcterms:W3CDTF">2006-08-16T00:00:00Z</dcterms:created>
  <dcterms:modified xsi:type="dcterms:W3CDTF">2024-03-06T19:37:56Z</dcterms:modified>
</cp:coreProperties>
</file>